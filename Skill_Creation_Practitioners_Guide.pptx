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502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05840" y="822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INTERNAL SHARE  ·  PRACTITIONER'S GUIDE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1554480"/>
            <a:ext cx="10515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dirty="0">
                <a:solidFill>
                  <a:srgbClr val="181818"/>
                </a:solidFill>
                <a:latin typeface="Optimist Display" pitchFamily="34" charset="0"/>
                <a:ea typeface="Optimist Display" pitchFamily="34" charset="-122"/>
                <a:cs typeface="Optimist Display" pitchFamily="34" charset="-120"/>
              </a:rPr>
              <a:t>Building Skills</a:t>
            </a:r>
            <a:endParaRPr lang="en-US" sz="5600" dirty="0"/>
          </a:p>
          <a:p>
            <a:pPr indent="0" marL="0">
              <a:buNone/>
            </a:pPr>
            <a:r>
              <a:rPr lang="en-US" sz="5600" dirty="0">
                <a:solidFill>
                  <a:srgbClr val="181818"/>
                </a:solidFill>
                <a:latin typeface="Optimist Display" pitchFamily="34" charset="0"/>
                <a:ea typeface="Optimist Display" pitchFamily="34" charset="-122"/>
                <a:cs typeface="Optimist Display" pitchFamily="34" charset="-120"/>
              </a:rPr>
              <a:t>that trigger, hold up,</a:t>
            </a:r>
            <a:endParaRPr lang="en-US" sz="5600" dirty="0"/>
          </a:p>
          <a:p>
            <a:pPr indent="0" marL="0">
              <a:buNone/>
            </a:pPr>
            <a:r>
              <a:rPr lang="en-US" sz="5600" dirty="0">
                <a:solidFill>
                  <a:srgbClr val="181818"/>
                </a:solidFill>
                <a:latin typeface="Optimist Display" pitchFamily="34" charset="0"/>
                <a:ea typeface="Optimist Display" pitchFamily="34" charset="-122"/>
                <a:cs typeface="Optimist Display" pitchFamily="34" charset="-120"/>
              </a:rPr>
              <a:t>and stay maintainable.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1005840" y="484632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A practitioner's playbook — when to make a Skill, how to make one Claude will actually trigger, the three pitfalls almost everyone hits, and how to keep skills useful as your work and the model evolve.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595360" y="5029200"/>
            <a:ext cx="2926080" cy="1280160"/>
          </a:xfrm>
          <a:prstGeom prst="rect">
            <a:avLst/>
          </a:prstGeom>
          <a:solidFill>
            <a:srgbClr val="EEE5D6"/>
          </a:solidFill>
          <a:ln w="12700">
            <a:solidFill>
              <a:srgbClr val="EEE5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32520" y="512064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1818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Distilled from Gary Chen's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81818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“Skill 實戰教學” walkthrough.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81818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Claude Code examples only.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All examples translated and adapted for English enterprise share.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PREMISE  ·  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81818"/>
                </a:solidFill>
                <a:latin typeface="Optimist Display" pitchFamily="34" charset="0"/>
                <a:ea typeface="Optimist Display" pitchFamily="34" charset="-122"/>
                <a:cs typeface="Optimist Display" pitchFamily="34" charset="-120"/>
              </a:rPr>
              <a:t>Easy to write. Hard to ship.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11247120" cy="0"/>
          </a:xfrm>
          <a:prstGeom prst="line">
            <a:avLst/>
          </a:prstGeom>
          <a:noFill/>
          <a:ln w="9525">
            <a:solidFill>
              <a:srgbClr val="C9BC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Skill Creation — Practitioner's Guide  |  Internal Share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2 / 17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Anyone can draft a SKILL.md. The hard part is the part that compounds: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3657600" cy="3657600"/>
          </a:xfrm>
          <a:prstGeom prst="rect">
            <a:avLst/>
          </a:prstGeom>
          <a:solidFill>
            <a:srgbClr val="EEE5D6"/>
          </a:solidFill>
          <a:ln w="12700">
            <a:solidFill>
              <a:srgbClr val="EEE5D6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697480"/>
            <a:ext cx="548640" cy="5486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31520" y="33832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81818"/>
                </a:solidFill>
                <a:latin typeface="Optimist Display" pitchFamily="34" charset="0"/>
                <a:ea typeface="Optimist Display" pitchFamily="34" charset="-122"/>
                <a:cs typeface="Optimist Display" pitchFamily="34" charset="-120"/>
              </a:rPr>
              <a:t>Triggers reliably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31520" y="411480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1818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The agent invokes the skill on its own — without you reminding it — when a real task matches.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279392" y="2423160"/>
            <a:ext cx="3657600" cy="3657600"/>
          </a:xfrm>
          <a:prstGeom prst="rect">
            <a:avLst/>
          </a:prstGeom>
          <a:solidFill>
            <a:srgbClr val="EEE5D6"/>
          </a:solidFill>
          <a:ln w="12700">
            <a:solidFill>
              <a:srgbClr val="EEE5D6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712" y="2697480"/>
            <a:ext cx="548640" cy="5486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53712" y="33832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81818"/>
                </a:solidFill>
                <a:latin typeface="Optimist Display" pitchFamily="34" charset="0"/>
                <a:ea typeface="Optimist Display" pitchFamily="34" charset="-122"/>
                <a:cs typeface="Optimist Display" pitchFamily="34" charset="-120"/>
              </a:rPr>
              <a:t>Outputs consistently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4553712" y="411480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1818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Same shape, same quality, week after week. Not 'great today, off-format next week.'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8101584" y="2423160"/>
            <a:ext cx="3657600" cy="3657600"/>
          </a:xfrm>
          <a:prstGeom prst="rect">
            <a:avLst/>
          </a:prstGeom>
          <a:solidFill>
            <a:srgbClr val="EEE5D6"/>
          </a:solidFill>
          <a:ln w="12700">
            <a:solidFill>
              <a:srgbClr val="EEE5D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904" y="2697480"/>
            <a:ext cx="548640" cy="5486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75904" y="33832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81818"/>
                </a:solidFill>
                <a:latin typeface="Optimist Display" pitchFamily="34" charset="0"/>
                <a:ea typeface="Optimist Display" pitchFamily="34" charset="-122"/>
                <a:cs typeface="Optimist Display" pitchFamily="34" charset="-120"/>
              </a:rPr>
              <a:t>Stays maintainable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8375904" y="411480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1818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A human can still read it three months later, find the issue, and fix it without rewriting from scratch.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This deck is structured around those three problems and how the practitioner approach solves each.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ANATOMY  ·  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81818"/>
                </a:solidFill>
                <a:latin typeface="Optimist Display" pitchFamily="34" charset="0"/>
                <a:ea typeface="Optimist Display" pitchFamily="34" charset="-122"/>
                <a:cs typeface="Optimist Display" pitchFamily="34" charset="-120"/>
              </a:rPr>
              <a:t>What's in a skill?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11247120" cy="0"/>
          </a:xfrm>
          <a:prstGeom prst="line">
            <a:avLst/>
          </a:prstGeom>
          <a:noFill/>
          <a:ln w="9525">
            <a:solidFill>
              <a:srgbClr val="C9BC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Skill Creation — Practitioner's Guide  |  Internal Share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3 / 17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6035040" cy="4297680"/>
          </a:xfrm>
          <a:prstGeom prst="rect">
            <a:avLst/>
          </a:prstGeom>
          <a:solidFill>
            <a:srgbClr val="1F1A14"/>
          </a:solidFill>
          <a:ln w="12700">
            <a:solidFill>
              <a:srgbClr val="1F1A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116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E6D2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skill-name/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C896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├── SKILL.md</a:t>
            </a:r>
            <a:pPr indent="0" marL="0">
              <a:buNone/>
            </a:pPr>
            <a:r>
              <a:rPr lang="en-US" sz="1200" i="1" dirty="0">
                <a:solidFill>
                  <a:srgbClr val="8E8472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  required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8346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8472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│       frontmatter (name, description)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24612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8472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│       methodology you teach the agent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36576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C896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├── references/</a:t>
            </a:r>
            <a:pPr indent="0" marL="0">
              <a:buNone/>
            </a:pPr>
            <a:r>
              <a:rPr lang="en-US" sz="1200" i="1" dirty="0">
                <a:solidFill>
                  <a:srgbClr val="8E8472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  loaded only when needed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40690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C896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└── scripts/</a:t>
            </a:r>
            <a:pPr indent="0" marL="0">
              <a:buNone/>
            </a:pPr>
            <a:r>
              <a:rPr lang="en-US" sz="1200" i="1" dirty="0">
                <a:solidFill>
                  <a:srgbClr val="8E8472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  agent runs them, output ≠ context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475488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E8472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// One file is required. The other two are how you keep SKILL.md lean.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6656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81818"/>
                </a:solidFill>
                <a:latin typeface="Optimist Display" pitchFamily="34" charset="0"/>
                <a:ea typeface="Optimist Display" pitchFamily="34" charset="-122"/>
                <a:cs typeface="Optimist Display" pitchFamily="34" charset="-120"/>
              </a:rPr>
              <a:t>How they pull together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766560" y="2331720"/>
            <a:ext cx="54864" cy="114300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03720" y="231343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785C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SKILL.md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03720" y="2578608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1818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The contract. Frontmatter (name + description) decides whether the agent triggers it. The body is the methodology you'd otherwise re-explain every conversation.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766560" y="3611880"/>
            <a:ext cx="54864" cy="114300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03720" y="359359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785C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references/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03720" y="3858768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1818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Long-form material that doesn't need to load every time — output formats over a hundred lines, glossaries, variant-specific specs. The agent reads them on demand.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766560" y="4892040"/>
            <a:ext cx="54864" cy="114300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03720" y="487375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785C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scripts/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03720" y="5138928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1818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Code the agent runs verbatim. Use this when an LLM might 'freestyle' a step — pulling 7 days of commits when you wanted 5. The script's output goes into context; the script's source does not.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MECHANICS  ·  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81818"/>
                </a:solidFill>
                <a:latin typeface="Optimist Display" pitchFamily="34" charset="0"/>
                <a:ea typeface="Optimist Display" pitchFamily="34" charset="-122"/>
                <a:cs typeface="Optimist Display" pitchFamily="34" charset="-120"/>
              </a:rPr>
              <a:t>Progressive disclosure: load only what's needed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11247120" cy="0"/>
          </a:xfrm>
          <a:prstGeom prst="line">
            <a:avLst/>
          </a:prstGeom>
          <a:noFill/>
          <a:ln w="9525">
            <a:solidFill>
              <a:srgbClr val="C9BC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Skill Creation — Practitioner's Guide  |  Internal Share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4 / 17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Skills are loaded in three tiers. This is why you can keep dozens of them around without blowing up the context window.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3703320" cy="370332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6060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Tier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288036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Optimist Display" pitchFamily="34" charset="0"/>
                <a:ea typeface="Optimist Display" pitchFamily="34" charset="-122"/>
                <a:cs typeface="Optimist Display" pitchFamily="34" charset="-120"/>
              </a:rPr>
              <a:t>Metadata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85800" y="36576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≈100 tokens — always loaded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4069080"/>
            <a:ext cx="324612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206240"/>
            <a:ext cx="3337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Name + description for every skill. The only thing the agent sees when deciding 'does any of these apply?'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25112" y="2377440"/>
            <a:ext cx="3703320" cy="3703320"/>
          </a:xfrm>
          <a:prstGeom prst="rect">
            <a:avLst/>
          </a:prstGeom>
          <a:solidFill>
            <a:srgbClr val="E1916F"/>
          </a:solidFill>
          <a:ln w="12700">
            <a:solidFill>
              <a:srgbClr val="E191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53712" y="26060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Tier 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53712" y="288036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Optimist Display" pitchFamily="34" charset="0"/>
                <a:ea typeface="Optimist Display" pitchFamily="34" charset="-122"/>
                <a:cs typeface="Optimist Display" pitchFamily="34" charset="-120"/>
              </a:rPr>
              <a:t>SKILL.md body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553712" y="36576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loaded when triggered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53712" y="4069080"/>
            <a:ext cx="324612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53712" y="4206240"/>
            <a:ext cx="3337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The full methodology. Pulled in only when the agent decides this skill matches the task.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193024" y="2377440"/>
            <a:ext cx="3703320" cy="3703320"/>
          </a:xfrm>
          <a:prstGeom prst="rect">
            <a:avLst/>
          </a:prstGeom>
          <a:solidFill>
            <a:srgbClr val="EEE5D6"/>
          </a:solidFill>
          <a:ln w="12700">
            <a:solidFill>
              <a:srgbClr val="EEE5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21624" y="26060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81818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Tier 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421624" y="288036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81818"/>
                </a:solidFill>
                <a:latin typeface="Optimist Display" pitchFamily="34" charset="0"/>
                <a:ea typeface="Optimist Display" pitchFamily="34" charset="-122"/>
                <a:cs typeface="Optimist Display" pitchFamily="34" charset="-120"/>
              </a:rPr>
              <a:t>references / scripts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8421624" y="36576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81818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loaded only when used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421624" y="4069080"/>
            <a:ext cx="3246120" cy="0"/>
          </a:xfrm>
          <a:prstGeom prst="line">
            <a:avLst/>
          </a:prstGeom>
          <a:noFill/>
          <a:ln w="6350">
            <a:solidFill>
              <a:srgbClr val="181818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21624" y="4206240"/>
            <a:ext cx="3337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1818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References are read when the body says to. Scripts run; their source code never enters context — only their output does.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619963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Implication — the description IS the skill at trigger time. Get it wrong and the rest never gets a chance to run.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DECISION  ·  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81818"/>
                </a:solidFill>
                <a:latin typeface="Optimist Display" pitchFamily="34" charset="0"/>
                <a:ea typeface="Optimist Display" pitchFamily="34" charset="-122"/>
                <a:cs typeface="Optimist Display" pitchFamily="34" charset="-120"/>
              </a:rPr>
              <a:t>When does a workflow earn a skill?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11247120" cy="0"/>
          </a:xfrm>
          <a:prstGeom prst="line">
            <a:avLst/>
          </a:prstGeom>
          <a:noFill/>
          <a:ln w="9525">
            <a:solidFill>
              <a:srgbClr val="C9BC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Skill Creation — Practitioner's Guide  |  Internal Share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5 / 17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Three signals. Hit any of them and it's worth wrapping up as a skill — making one is cheap; if it's useless, delete it.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3657600" cy="3383280"/>
          </a:xfrm>
          <a:prstGeom prst="rect">
            <a:avLst/>
          </a:prstGeom>
          <a:solidFill>
            <a:srgbClr val="FAF7F2"/>
          </a:solidFill>
          <a:ln w="6350">
            <a:solidFill>
              <a:srgbClr val="C9BC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6517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CC785C"/>
                </a:solidFill>
                <a:latin typeface="Optimist Display" pitchFamily="34" charset="0"/>
                <a:ea typeface="Optimist Display" pitchFamily="34" charset="-122"/>
                <a:cs typeface="Optimist Display" pitchFamily="34" charset="-120"/>
              </a:rPr>
              <a:t>01</a:t>
            </a:r>
            <a:endParaRPr lang="en-US" sz="28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7560" y="2697480"/>
            <a:ext cx="411480" cy="4114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31520" y="32918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81818"/>
                </a:solidFill>
                <a:latin typeface="Optimist Display" pitchFamily="34" charset="0"/>
                <a:ea typeface="Optimist Display" pitchFamily="34" charset="-122"/>
                <a:cs typeface="Optimist Display" pitchFamily="34" charset="-120"/>
              </a:rPr>
              <a:t>High repetition, fixed steps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731520" y="3931920"/>
            <a:ext cx="502920" cy="0"/>
          </a:xfrm>
          <a:prstGeom prst="line">
            <a:avLst/>
          </a:prstGeom>
          <a:noFill/>
          <a:ln w="19050">
            <a:solidFill>
              <a:srgbClr val="CC7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411480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1818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Same task type recurs. Same flow each time. You're pasting nearly the same prompt into different conversations. That repeated context is exactly what a skill replaces.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279392" y="2423160"/>
            <a:ext cx="3657600" cy="3383280"/>
          </a:xfrm>
          <a:prstGeom prst="rect">
            <a:avLst/>
          </a:prstGeom>
          <a:solidFill>
            <a:srgbClr val="FAF7F2"/>
          </a:solidFill>
          <a:ln w="6350">
            <a:solidFill>
              <a:srgbClr val="C9BCA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53712" y="26517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CC785C"/>
                </a:solidFill>
                <a:latin typeface="Optimist Display" pitchFamily="34" charset="0"/>
                <a:ea typeface="Optimist Display" pitchFamily="34" charset="-122"/>
                <a:cs typeface="Optimist Display" pitchFamily="34" charset="-120"/>
              </a:rPr>
              <a:t>02</a:t>
            </a:r>
            <a:endParaRPr lang="en-US" sz="28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752" y="2697480"/>
            <a:ext cx="411480" cy="4114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53712" y="32918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81818"/>
                </a:solidFill>
                <a:latin typeface="Optimist Display" pitchFamily="34" charset="0"/>
                <a:ea typeface="Optimist Display" pitchFamily="34" charset="-122"/>
                <a:cs typeface="Optimist Display" pitchFamily="34" charset="-120"/>
              </a:rPr>
              <a:t>Domain knowledge the model lacks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4553712" y="3931920"/>
            <a:ext cx="502920" cy="0"/>
          </a:xfrm>
          <a:prstGeom prst="line">
            <a:avLst/>
          </a:prstGeom>
          <a:noFill/>
          <a:ln w="19050">
            <a:solidFill>
              <a:srgbClr val="CC785C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553712" y="411480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1818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Things outside the model's training set: your project paths, your company's doc format, internal terminology, naming conventions. Today you re-explain it every session.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8101584" y="2423160"/>
            <a:ext cx="3657600" cy="3383280"/>
          </a:xfrm>
          <a:prstGeom prst="rect">
            <a:avLst/>
          </a:prstGeom>
          <a:solidFill>
            <a:srgbClr val="FAF7F2"/>
          </a:solidFill>
          <a:ln w="6350">
            <a:solidFill>
              <a:srgbClr val="C9BCA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375904" y="26517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CC785C"/>
                </a:solidFill>
                <a:latin typeface="Optimist Display" pitchFamily="34" charset="0"/>
                <a:ea typeface="Optimist Display" pitchFamily="34" charset="-122"/>
                <a:cs typeface="Optimist Display" pitchFamily="34" charset="-120"/>
              </a:rPr>
              <a:t>03</a:t>
            </a:r>
            <a:endParaRPr lang="en-US" sz="28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1944" y="2697480"/>
            <a:ext cx="411480" cy="41148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375904" y="32918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81818"/>
                </a:solidFill>
                <a:latin typeface="Optimist Display" pitchFamily="34" charset="0"/>
                <a:ea typeface="Optimist Display" pitchFamily="34" charset="-122"/>
                <a:cs typeface="Optimist Display" pitchFamily="34" charset="-120"/>
              </a:rPr>
              <a:t>High cost when it's wrong</a:t>
            </a:r>
            <a:endParaRPr lang="en-US" sz="1800" dirty="0"/>
          </a:p>
        </p:txBody>
      </p:sp>
      <p:sp>
        <p:nvSpPr>
          <p:cNvPr id="25" name="Shape 20"/>
          <p:cNvSpPr/>
          <p:nvPr/>
        </p:nvSpPr>
        <p:spPr>
          <a:xfrm>
            <a:off x="8375904" y="3931920"/>
            <a:ext cx="502920" cy="0"/>
          </a:xfrm>
          <a:prstGeom prst="line">
            <a:avLst/>
          </a:prstGeom>
          <a:noFill/>
          <a:ln w="19050">
            <a:solidFill>
              <a:srgbClr val="CC785C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375904" y="411480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1818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The output is going to a stakeholder, a customer, or feeding another system. You need standardized quality, not 'the model felt creative today.'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You don't need all three — one is enough. Don't over-think it; the cost of writing a skill is now trivially low.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EXAMPLE  ·  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81818"/>
                </a:solidFill>
                <a:latin typeface="Optimist Display" pitchFamily="34" charset="0"/>
                <a:ea typeface="Optimist Display" pitchFamily="34" charset="-122"/>
                <a:cs typeface="Optimist Display" pitchFamily="34" charset="-120"/>
              </a:rPr>
              <a:t>Running example: the weekly status report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11247120" cy="0"/>
          </a:xfrm>
          <a:prstGeom prst="line">
            <a:avLst/>
          </a:prstGeom>
          <a:noFill/>
          <a:ln w="9525">
            <a:solidFill>
              <a:srgbClr val="C9BC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Skill Creation — Practitioner's Guide  |  Internal Share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6 / 17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We'll use one example throughout the rest of the deck — the kind of report most operators write for a manager every week.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81818"/>
                </a:solidFill>
                <a:latin typeface="Optimist Display" pitchFamily="34" charset="0"/>
                <a:ea typeface="Optimist Display" pitchFamily="34" charset="-122"/>
                <a:cs typeface="Optimist Display" pitchFamily="34" charset="-120"/>
              </a:rPr>
              <a:t>Why this fits all three signals</a:t>
            </a:r>
            <a:endParaRPr lang="en-US" sz="18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8892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41248" y="27432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1818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High repetition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41248" y="30175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Every Monday. Same shape: progress, blockers, next steps.</a:t>
            </a:r>
            <a:endParaRPr lang="en-US" sz="12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70332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41248" y="36576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1818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Domain knowledge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841248" y="39319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Your team's vocabulary, your manager's format preferences, your project's repo paths.</a:t>
            </a:r>
            <a:endParaRPr lang="en-US" sz="12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61772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" y="45720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1818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High cost of error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41248" y="48463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Goes to your manager. A wrong commit count or a missing blocker costs you trust, not just time.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0" y="2331720"/>
            <a:ext cx="5303520" cy="3657600"/>
          </a:xfrm>
          <a:prstGeom prst="rect">
            <a:avLst/>
          </a:prstGeom>
          <a:solidFill>
            <a:srgbClr val="EEE5D6"/>
          </a:solidFill>
          <a:ln w="12700">
            <a:solidFill>
              <a:srgbClr val="EEE5D6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583680" y="2468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WORKFLOW THE SKILL CAPTURES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6583680" y="2880360"/>
            <a:ext cx="5029200" cy="640080"/>
          </a:xfrm>
          <a:prstGeom prst="roundRect">
            <a:avLst>
              <a:gd name="adj" fmla="val 8571"/>
            </a:avLst>
          </a:prstGeom>
          <a:solidFill>
            <a:srgbClr val="FAF7F2"/>
          </a:solidFill>
          <a:ln w="6350">
            <a:solidFill>
              <a:srgbClr val="C9BCA6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693408" y="29900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C785C"/>
                </a:solidFill>
                <a:latin typeface="Optimist Display" pitchFamily="34" charset="0"/>
                <a:ea typeface="Optimist Display" pitchFamily="34" charset="-122"/>
                <a:cs typeface="Optimist Display" pitchFamily="34" charset="-120"/>
              </a:rPr>
              <a:t>01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7178040" y="295351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1818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Pull last week's commits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7178040" y="320954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GitHub — your repos, your lookback window.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583680" y="3611880"/>
            <a:ext cx="5029200" cy="640080"/>
          </a:xfrm>
          <a:prstGeom prst="roundRect">
            <a:avLst>
              <a:gd name="adj" fmla="val 8571"/>
            </a:avLst>
          </a:prstGeom>
          <a:solidFill>
            <a:srgbClr val="FAF7F2"/>
          </a:solidFill>
          <a:ln w="6350">
            <a:solidFill>
              <a:srgbClr val="C9BCA6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6693408" y="3721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C785C"/>
                </a:solidFill>
                <a:latin typeface="Optimist Display" pitchFamily="34" charset="0"/>
                <a:ea typeface="Optimist Display" pitchFamily="34" charset="-122"/>
                <a:cs typeface="Optimist Display" pitchFamily="34" charset="-120"/>
              </a:rPr>
              <a:t>02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7178040" y="368503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1818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Pull work log + meeting notes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7178040" y="394106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Google Drive — folders you specify.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6583680" y="4343400"/>
            <a:ext cx="5029200" cy="640080"/>
          </a:xfrm>
          <a:prstGeom prst="roundRect">
            <a:avLst>
              <a:gd name="adj" fmla="val 8571"/>
            </a:avLst>
          </a:prstGeom>
          <a:solidFill>
            <a:srgbClr val="FAF7F2"/>
          </a:solidFill>
          <a:ln w="6350">
            <a:solidFill>
              <a:srgbClr val="C9BCA6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6693408" y="44531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C785C"/>
                </a:solidFill>
                <a:latin typeface="Optimist Display" pitchFamily="34" charset="0"/>
                <a:ea typeface="Optimist Display" pitchFamily="34" charset="-122"/>
                <a:cs typeface="Optimist Display" pitchFamily="34" charset="-120"/>
              </a:rPr>
              <a:t>03</a:t>
            </a:r>
            <a:endParaRPr lang="en-US" sz="1600" dirty="0"/>
          </a:p>
        </p:txBody>
      </p:sp>
      <p:sp>
        <p:nvSpPr>
          <p:cNvPr id="31" name="Text 26"/>
          <p:cNvSpPr/>
          <p:nvPr/>
        </p:nvSpPr>
        <p:spPr>
          <a:xfrm>
            <a:off x="7178040" y="441655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1818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Aggregate against the format</a:t>
            </a:r>
            <a:endParaRPr lang="en-US" sz="1300" dirty="0"/>
          </a:p>
        </p:txBody>
      </p:sp>
      <p:sp>
        <p:nvSpPr>
          <p:cNvPr id="32" name="Text 27"/>
          <p:cNvSpPr/>
          <p:nvPr/>
        </p:nvSpPr>
        <p:spPr>
          <a:xfrm>
            <a:off x="7178040" y="467258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Manager-preferred shape: progress · blockers · next.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6583680" y="5074920"/>
            <a:ext cx="5029200" cy="640080"/>
          </a:xfrm>
          <a:prstGeom prst="roundRect">
            <a:avLst>
              <a:gd name="adj" fmla="val 8571"/>
            </a:avLst>
          </a:prstGeom>
          <a:solidFill>
            <a:srgbClr val="FAF7F2"/>
          </a:solidFill>
          <a:ln w="6350">
            <a:solidFill>
              <a:srgbClr val="C9BCA6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6693408" y="51846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C785C"/>
                </a:solidFill>
                <a:latin typeface="Optimist Display" pitchFamily="34" charset="0"/>
                <a:ea typeface="Optimist Display" pitchFamily="34" charset="-122"/>
                <a:cs typeface="Optimist Display" pitchFamily="34" charset="-120"/>
              </a:rPr>
              <a:t>04</a:t>
            </a:r>
            <a:endParaRPr lang="en-US" sz="1600" dirty="0"/>
          </a:p>
        </p:txBody>
      </p:sp>
      <p:sp>
        <p:nvSpPr>
          <p:cNvPr id="35" name="Text 30"/>
          <p:cNvSpPr/>
          <p:nvPr/>
        </p:nvSpPr>
        <p:spPr>
          <a:xfrm>
            <a:off x="7178040" y="514807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1818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Hand back a draft markdown</a:t>
            </a:r>
            <a:endParaRPr lang="en-US" sz="1300" dirty="0"/>
          </a:p>
        </p:txBody>
      </p:sp>
      <p:sp>
        <p:nvSpPr>
          <p:cNvPr id="36" name="Text 31"/>
          <p:cNvSpPr/>
          <p:nvPr/>
        </p:nvSpPr>
        <p:spPr>
          <a:xfrm>
            <a:off x="7178040" y="540410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Ready to copy into Slack or the doc.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APPROACH  ·  07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81818"/>
                </a:solidFill>
                <a:latin typeface="Optimist Display" pitchFamily="34" charset="0"/>
                <a:ea typeface="Optimist Display" pitchFamily="34" charset="-122"/>
                <a:cs typeface="Optimist Display" pitchFamily="34" charset="-120"/>
              </a:rPr>
              <a:t>Two paths to a skill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11247120" cy="0"/>
          </a:xfrm>
          <a:prstGeom prst="line">
            <a:avLst/>
          </a:prstGeom>
          <a:noFill/>
          <a:ln w="9525">
            <a:solidFill>
              <a:srgbClr val="C9BC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Skill Creation — Practitioner's Guide  |  Internal Share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7 / 17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There are two ways to author one. Most people should start with the first — it's where your most valuable context already lives.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5486400" cy="393192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468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0E6D2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PATH 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274320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Optimist Display" pitchFamily="34" charset="0"/>
                <a:ea typeface="Optimist Display" pitchFamily="34" charset="-122"/>
                <a:cs typeface="Optimist Display" pitchFamily="34" charset="-120"/>
              </a:rPr>
              <a:t>Reverse engineering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85800" y="33375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Recommended for your first skill.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3703320"/>
            <a:ext cx="502920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840480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Run the task with the agent end-to-end first. Ride out the corrections, permissions, and reformats. When the output is right, ask Claude to convert that whole conversation into a reusable skill.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56692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→ Don't close the productive session. That conversation is the most valuable raw material you have.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2331720"/>
            <a:ext cx="5486400" cy="3931920"/>
          </a:xfrm>
          <a:prstGeom prst="rect">
            <a:avLst/>
          </a:prstGeom>
          <a:solidFill>
            <a:srgbClr val="EEE5D6"/>
          </a:solidFill>
          <a:ln w="12700">
            <a:solidFill>
              <a:srgbClr val="EEE5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2468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PATH B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46520" y="274320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81818"/>
                </a:solidFill>
                <a:latin typeface="Optimist Display" pitchFamily="34" charset="0"/>
                <a:ea typeface="Optimist Display" pitchFamily="34" charset="-122"/>
                <a:cs typeface="Optimist Display" pitchFamily="34" charset="-120"/>
              </a:rPr>
              <a:t>Brain dump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446520" y="33375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For workflows you already have crisply in your head.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46520" y="3703320"/>
            <a:ext cx="5029200" cy="0"/>
          </a:xfrm>
          <a:prstGeom prst="line">
            <a:avLst/>
          </a:prstGeom>
          <a:noFill/>
          <a:ln w="6350">
            <a:solidFill>
              <a:srgbClr val="C9BC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3840480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1818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Tell the agent the goal and the standardized flow directly. Skip the discovery loop. Works best when you already know exactly what you want — and have done this dance enough times that the steps are second nature.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46520" y="56692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→ Faster, but easy to leave gaps the agent has to guess at.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REVERSE ENGINEERING  ·  08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81818"/>
                </a:solidFill>
                <a:latin typeface="Optimist Display" pitchFamily="34" charset="0"/>
                <a:ea typeface="Optimist Display" pitchFamily="34" charset="-122"/>
                <a:cs typeface="Optimist Display" pitchFamily="34" charset="-120"/>
              </a:rPr>
              <a:t>Path A: turn a working session into a skill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11247120" cy="0"/>
          </a:xfrm>
          <a:prstGeom prst="line">
            <a:avLst/>
          </a:prstGeom>
          <a:noFill/>
          <a:ln w="9525">
            <a:solidFill>
              <a:srgbClr val="C9BC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Skill Creation — Practitioner's Guide  |  Internal Share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8 / 17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Concrete sequence. Use the weekly-report example to see how a one-off conversation becomes a reusable skill.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2697480" cy="3840480"/>
          </a:xfrm>
          <a:prstGeom prst="rect">
            <a:avLst/>
          </a:prstGeom>
          <a:solidFill>
            <a:srgbClr val="FAF7F2"/>
          </a:solidFill>
          <a:ln w="6350">
            <a:solidFill>
              <a:srgbClr val="C9BC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6060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CC785C"/>
                </a:solidFill>
                <a:latin typeface="Optimist Display" pitchFamily="34" charset="0"/>
                <a:ea typeface="Optimist Display" pitchFamily="34" charset="-122"/>
                <a:cs typeface="Optimist Display" pitchFamily="34" charset="-120"/>
              </a:rPr>
              <a:t>01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85800" y="32461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1818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Run it once, by hand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4069080"/>
            <a:ext cx="457200" cy="0"/>
          </a:xfrm>
          <a:prstGeom prst="line">
            <a:avLst/>
          </a:prstGeom>
          <a:noFill/>
          <a:ln w="19050">
            <a:solidFill>
              <a:srgbClr val="CC78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206240"/>
            <a:ext cx="2240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1818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Open a fresh session. Tell the agent today's task end-to-end: connect Drive, fetch commits, aggregate to the format. Iterate on permissions and corrections until the draft is right.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91840" y="2377440"/>
            <a:ext cx="2697480" cy="3840480"/>
          </a:xfrm>
          <a:prstGeom prst="rect">
            <a:avLst/>
          </a:prstGeom>
          <a:solidFill>
            <a:srgbClr val="FAF7F2"/>
          </a:solidFill>
          <a:ln w="6350">
            <a:solidFill>
              <a:srgbClr val="C9BC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26060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CC785C"/>
                </a:solidFill>
                <a:latin typeface="Optimist Display" pitchFamily="34" charset="0"/>
                <a:ea typeface="Optimist Display" pitchFamily="34" charset="-122"/>
                <a:cs typeface="Optimist Display" pitchFamily="34" charset="-120"/>
              </a:rPr>
              <a:t>02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520440" y="32461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1818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Pause before closing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520440" y="4069080"/>
            <a:ext cx="457200" cy="0"/>
          </a:xfrm>
          <a:prstGeom prst="line">
            <a:avLst/>
          </a:prstGeom>
          <a:noFill/>
          <a:ln w="19050">
            <a:solidFill>
              <a:srgbClr val="CC78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20440" y="4206240"/>
            <a:ext cx="2240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1818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When you're happy, do NOT close the session. That conversation is the corrected, debugged version of your real workflow — that's the gold.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2377440"/>
            <a:ext cx="2697480" cy="3840480"/>
          </a:xfrm>
          <a:prstGeom prst="rect">
            <a:avLst/>
          </a:prstGeom>
          <a:solidFill>
            <a:srgbClr val="FAF7F2"/>
          </a:solidFill>
          <a:ln w="6350">
            <a:solidFill>
              <a:srgbClr val="C9BC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26060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CC785C"/>
                </a:solidFill>
                <a:latin typeface="Optimist Display" pitchFamily="34" charset="0"/>
                <a:ea typeface="Optimist Display" pitchFamily="34" charset="-122"/>
                <a:cs typeface="Optimist Display" pitchFamily="34" charset="-120"/>
              </a:rPr>
              <a:t>03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355080" y="32461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1818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Convert via skill-creator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355080" y="4069080"/>
            <a:ext cx="457200" cy="0"/>
          </a:xfrm>
          <a:prstGeom prst="line">
            <a:avLst/>
          </a:prstGeom>
          <a:noFill/>
          <a:ln w="19050">
            <a:solidFill>
              <a:srgbClr val="CC78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4206240"/>
            <a:ext cx="2240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1818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Install Anthropic's skill-creator (Claude marketplace) and prompt: 'use skill-creator to turn the conversation above into a reusable skill so I never have to redo this.'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961120" y="2377440"/>
            <a:ext cx="2697480" cy="3840480"/>
          </a:xfrm>
          <a:prstGeom prst="rect">
            <a:avLst/>
          </a:prstGeom>
          <a:solidFill>
            <a:srgbClr val="FAF7F2"/>
          </a:solidFill>
          <a:ln w="6350">
            <a:solidFill>
              <a:srgbClr val="C9BC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89720" y="26060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CC785C"/>
                </a:solidFill>
                <a:latin typeface="Optimist Display" pitchFamily="34" charset="0"/>
                <a:ea typeface="Optimist Display" pitchFamily="34" charset="-122"/>
                <a:cs typeface="Optimist Display" pitchFamily="34" charset="-120"/>
              </a:rPr>
              <a:t>04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9189720" y="32461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1818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Test, edit, save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189720" y="4069080"/>
            <a:ext cx="457200" cy="0"/>
          </a:xfrm>
          <a:prstGeom prst="line">
            <a:avLst/>
          </a:prstGeom>
          <a:noFill/>
          <a:ln w="19050">
            <a:solidFill>
              <a:srgbClr val="CC78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89720" y="4206240"/>
            <a:ext cx="2240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1818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Open a brand-new session, ask for a weekly report, and confirm the skill triggers and produces a clean draft. Trim the SKILL.md. Commit.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3550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If you don't have skill-creator installed, the same effect comes from a hand-rolled prompt — point the agent at the convo and ask it to extract the methodology.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GOTCHA  ·  09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81818"/>
                </a:solidFill>
                <a:latin typeface="Optimist Display" pitchFamily="34" charset="0"/>
                <a:ea typeface="Optimist Display" pitchFamily="34" charset="-122"/>
                <a:cs typeface="Optimist Display" pitchFamily="34" charset="-120"/>
              </a:rPr>
              <a:t>Pitfall 1: the agent never triggers it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11247120" cy="0"/>
          </a:xfrm>
          <a:prstGeom prst="line">
            <a:avLst/>
          </a:prstGeom>
          <a:noFill/>
          <a:ln w="9525">
            <a:solidFill>
              <a:srgbClr val="C9BC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Skill Creation — Practitioner's Guide  |  Internal Share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9 / 17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You ship the skill, open a new session, ask for the thing it was built for — and Claude freestyles it from scratch. Almost always a description problem.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81818"/>
                </a:solidFill>
                <a:latin typeface="Optimist Display" pitchFamily="34" charset="0"/>
                <a:ea typeface="Optimist Display" pitchFamily="34" charset="-122"/>
                <a:cs typeface="Optimist Display" pitchFamily="34" charset="-120"/>
              </a:rPr>
              <a:t>Three rules for a description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54864" cy="86868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9077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785C"/>
                </a:solidFill>
                <a:latin typeface="Optimist Display" pitchFamily="34" charset="0"/>
                <a:ea typeface="Optimist Display" pitchFamily="34" charset="-122"/>
                <a:cs typeface="Optimist Display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29077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1818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Both WHAT and WHEN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317296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Only what → Claude doesn't know when to fire. Only when → Claude doesn't know what it does.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886200"/>
            <a:ext cx="54864" cy="86868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86791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785C"/>
                </a:solidFill>
                <a:latin typeface="Optimist Display" pitchFamily="34" charset="0"/>
                <a:ea typeface="Optimist Display" pitchFamily="34" charset="-122"/>
                <a:cs typeface="Optimist Display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38679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1818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Third person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413308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Avoid 'I can help you do X.' First-person clashes with the system view and confuses the model.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846320"/>
            <a:ext cx="54864" cy="86868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82803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785C"/>
                </a:solidFill>
                <a:latin typeface="Optimist Display" pitchFamily="34" charset="0"/>
                <a:ea typeface="Optimist Display" pitchFamily="34" charset="-122"/>
                <a:cs typeface="Optimist Display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43000" y="48280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1818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Trigger words real users say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3000" y="509320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Match the words a user actually types — not a technical term they'd never use.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0" y="24688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81818"/>
                </a:solidFill>
                <a:latin typeface="Optimist Display" pitchFamily="34" charset="0"/>
                <a:ea typeface="Optimist Display" pitchFamily="34" charset="-122"/>
                <a:cs typeface="Optimist Display" pitchFamily="34" charset="-120"/>
              </a:rPr>
              <a:t>Naming convention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00800" y="28803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Lowercase + hyphens. Verb-or-noun phrase. The skill's job should be obvious from the name.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0" y="3383280"/>
            <a:ext cx="5303520" cy="502920"/>
          </a:xfrm>
          <a:prstGeom prst="rect">
            <a:avLst/>
          </a:prstGeom>
          <a:solidFill>
            <a:srgbClr val="1F1A14"/>
          </a:solidFill>
          <a:ln w="12700">
            <a:solidFill>
              <a:srgbClr val="1F1A1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34564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896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weekly-report-drafting   ·   pdf-processing   ·   spreadsheet-analysis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0" y="40690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81818"/>
                </a:solidFill>
                <a:latin typeface="Optimist Display" pitchFamily="34" charset="0"/>
                <a:ea typeface="Optimist Display" pitchFamily="34" charset="-122"/>
                <a:cs typeface="Optimist Display" pitchFamily="34" charset="-120"/>
              </a:rPr>
              <a:t>A description that triggers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00800" y="4434840"/>
            <a:ext cx="5303520" cy="1783080"/>
          </a:xfrm>
          <a:prstGeom prst="rect">
            <a:avLst/>
          </a:prstGeom>
          <a:solidFill>
            <a:srgbClr val="E8DDC9"/>
          </a:solidFill>
          <a:ln w="12700">
            <a:solidFill>
              <a:srgbClr val="E8DDC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452628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81818"/>
                </a:solidFill>
                <a:latin typeface="Optimist Display" pitchFamily="34" charset="0"/>
                <a:ea typeface="Optimist Display" pitchFamily="34" charset="-122"/>
                <a:cs typeface="Optimist Display" pitchFamily="34" charset="-120"/>
              </a:rPr>
              <a:t>"Drafts weekly status updates for managers, aggregating data from Google Drive and GitHub. Use when user mentions weekly reports, team updates, status summaries, or weekly reviews."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537960" y="58521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Says what (drafts updates from Drive + GitHub) AND when (those four trigger phrases).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EXAMPLE  ·  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81818"/>
                </a:solidFill>
                <a:latin typeface="Optimist Display" pitchFamily="34" charset="0"/>
                <a:ea typeface="Optimist Display" pitchFamily="34" charset="-122"/>
                <a:cs typeface="Optimist Display" pitchFamily="34" charset="-120"/>
              </a:rPr>
              <a:t>Description before / after — same user, same words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11247120" cy="0"/>
          </a:xfrm>
          <a:prstGeom prst="line">
            <a:avLst/>
          </a:prstGeom>
          <a:noFill/>
          <a:ln w="9525">
            <a:solidFill>
              <a:srgbClr val="C9BC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Skill Creation — Practitioner's Guide  |  Internal Share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10 / 17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Hold the user's actual phrasing constant and watch how a small description rewrite flips a miss into a clean trigger.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11247120" cy="640080"/>
          </a:xfrm>
          <a:prstGeom prst="rect">
            <a:avLst/>
          </a:prstGeom>
          <a:solidFill>
            <a:srgbClr val="EEE5D6"/>
          </a:solidFill>
          <a:ln w="12700">
            <a:solidFill>
              <a:srgbClr val="EEE5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31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USER TYPES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54203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81818"/>
                </a:solidFill>
                <a:latin typeface="Optimist Display" pitchFamily="34" charset="0"/>
                <a:ea typeface="Optimist Display" pitchFamily="34" charset="-122"/>
                <a:cs typeface="Optimist Display" pitchFamily="34" charset="-120"/>
              </a:rPr>
              <a:t>"hey, can you put together my weekly thing for the boss? same shape as last week."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5486400" cy="3154680"/>
          </a:xfrm>
          <a:prstGeom prst="rect">
            <a:avLst/>
          </a:prstGeom>
          <a:solidFill>
            <a:srgbClr val="FAF7F2"/>
          </a:solidFill>
          <a:ln w="6350">
            <a:solidFill>
              <a:srgbClr val="C9BCA6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46120"/>
            <a:ext cx="365760" cy="36576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097280" y="3246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602F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BEFORE — agent freestyles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0080" y="36576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description: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40080" y="3931920"/>
            <a:ext cx="5120640" cy="914400"/>
          </a:xfrm>
          <a:prstGeom prst="rect">
            <a:avLst/>
          </a:prstGeom>
          <a:solidFill>
            <a:srgbClr val="1F1A14"/>
          </a:solidFill>
          <a:ln w="12700">
            <a:solidFill>
              <a:srgbClr val="1F1A1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7240" y="402336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6D2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"Organizes work documents and report drafts for users."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40080" y="49834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Why it misses: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40080" y="525780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1818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• 'work documents' isn't how the user talks.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81818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• 'weekly thing for the boss' has no anchor in this description.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81818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• Claude shrugs and writes from scratch.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217920" y="3108960"/>
            <a:ext cx="5486400" cy="3154680"/>
          </a:xfrm>
          <a:prstGeom prst="rect">
            <a:avLst/>
          </a:prstGeom>
          <a:solidFill>
            <a:srgbClr val="E8DDC9"/>
          </a:solidFill>
          <a:ln w="12700">
            <a:solidFill>
              <a:srgbClr val="E8DDC9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246120"/>
            <a:ext cx="365760" cy="36576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858000" y="3246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A7D5A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AFTER — agent fires the skill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6400800" y="36576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description: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6400800" y="3931920"/>
            <a:ext cx="5120640" cy="914400"/>
          </a:xfrm>
          <a:prstGeom prst="rect">
            <a:avLst/>
          </a:prstGeom>
          <a:solidFill>
            <a:srgbClr val="1F1A14"/>
          </a:solidFill>
          <a:ln w="12700">
            <a:solidFill>
              <a:srgbClr val="1F1A14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537960" y="402336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6D2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"Drafts weekly status updates for managers, aggregating data from Drive and GitHub. Use when user mentions weekly reports, team updates, status summaries, or 'the weekly thing'."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6400800" y="49834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Why it fires: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6400800" y="525780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1818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• 'weekly reports' / 'status updates' = real user vocabulary.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81818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• 'the weekly thing' added explicitly — covers casual phrasing.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81818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• Both WHAT (drafts updates from Drive + GitHub) and WHEN are present.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EXAMPLE  ·  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81818"/>
                </a:solidFill>
                <a:latin typeface="Optimist Display" pitchFamily="34" charset="0"/>
                <a:ea typeface="Optimist Display" pitchFamily="34" charset="-122"/>
                <a:cs typeface="Optimist Display" pitchFamily="34" charset="-120"/>
              </a:rPr>
              <a:t>Sample SKILL.md — principles in action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11247120" cy="0"/>
          </a:xfrm>
          <a:prstGeom prst="line">
            <a:avLst/>
          </a:prstGeom>
          <a:noFill/>
          <a:ln w="9525">
            <a:solidFill>
              <a:srgbClr val="C9BC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Skill Creation — Practitioner's Guide  |  Internal Share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11 / 17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Concrete answer to Pitfall 2: a recreated SKILL.md for the weekly report. Notice what's NOT in it — no rigid steps, no exhaustive checklists.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7863840" cy="4023360"/>
          </a:xfrm>
          <a:prstGeom prst="rect">
            <a:avLst/>
          </a:prstGeom>
          <a:solidFill>
            <a:srgbClr val="1F1A14"/>
          </a:solidFill>
          <a:ln w="12700">
            <a:solidFill>
              <a:srgbClr val="1F1A1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377440"/>
            <a:ext cx="7589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8472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---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" y="2523744"/>
            <a:ext cx="7589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C896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name: weekly-report-drafting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4360" y="2670048"/>
            <a:ext cx="7589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6D2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description: Drafts weekly status updates for managers...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4360" y="2816352"/>
            <a:ext cx="7589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8472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---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2962656"/>
            <a:ext cx="7589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6D2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 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94360" y="3108960"/>
            <a:ext cx="7589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A87C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# Weekly Report Drafting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3255264"/>
            <a:ext cx="7589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6D2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 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94360" y="3401568"/>
            <a:ext cx="7589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A87C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## Why this skill exists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94360" y="3547872"/>
            <a:ext cx="7589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6D2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The reader is your manager. They are deciding what to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4360" y="3694176"/>
            <a:ext cx="7589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6D2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escalate, what to greenlight, and what to defer. Raw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94360" y="3840480"/>
            <a:ext cx="7589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6D2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output is not what they need; the right slice is.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94360" y="3986784"/>
            <a:ext cx="7589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6D2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 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94360" y="4133088"/>
            <a:ext cx="7589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A87C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## Mindset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94360" y="4279392"/>
            <a:ext cx="7589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6D2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Curate, don't log. The criterion for inclusion is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94360" y="4425696"/>
            <a:ext cx="7589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6D2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'does the manager need to know this' — never 'did I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94360" y="4572000"/>
            <a:ext cx="7589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6D2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do this'. When unsure, omit.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94360" y="4718304"/>
            <a:ext cx="7589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6D2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 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94360" y="4864608"/>
            <a:ext cx="7589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A87C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## Principles (priority order)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94360" y="5010912"/>
            <a:ext cx="7589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6D2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1. Lead with current blockers + next-step actions.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94360" y="5157216"/>
            <a:ext cx="7589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6D2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2. Tie progress to project goals — context &gt; volume.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94360" y="5303520"/>
            <a:ext cx="7589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6D2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3. If a metric moved, judge whether it's worth saying.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94360" y="5449824"/>
            <a:ext cx="7589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6D2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 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94360" y="5596128"/>
            <a:ext cx="7589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A87C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## Inputs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94360" y="5742432"/>
            <a:ext cx="7589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6D2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- Run scripts/fetch_commits.py (last 5 days).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94360" y="5888736"/>
            <a:ext cx="7589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6D2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- Read Drive folder ./manager/weekly/ for notes.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94360" y="6035040"/>
            <a:ext cx="7589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6D2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- Format per references/output_format.md.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503920" y="2286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81818"/>
                </a:solidFill>
                <a:latin typeface="Optimist Display" pitchFamily="34" charset="0"/>
                <a:ea typeface="Optimist Display" pitchFamily="34" charset="-122"/>
                <a:cs typeface="Optimist Display" pitchFamily="34" charset="-120"/>
              </a:rPr>
              <a:t>Why it works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503920" y="2697480"/>
            <a:ext cx="54864" cy="77724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41080" y="267919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785C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Why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641080" y="292608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81818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Names the reader and the decision they're making. The agent now knows what 'good' means.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503920" y="3566160"/>
            <a:ext cx="54864" cy="77724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41080" y="354787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785C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Mindset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641080" y="379476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81818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One sentence of posture. Beats fifty rules about what to include.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503920" y="4434840"/>
            <a:ext cx="54864" cy="77724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641080" y="441655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785C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Principles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641080" y="46634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81818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Priority order. When two things compete, the agent has a tiebreaker.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503920" y="5303520"/>
            <a:ext cx="54864" cy="77724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641080" y="528523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785C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Inputs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641080" y="553212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81818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Scripts + references named explicitly — body stays short, work stays repeatable.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457200" y="6355080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Total body: ~25 lines. Add corner-cases and large output formats to references/, not here.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GOTCHA  ·  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81818"/>
                </a:solidFill>
                <a:latin typeface="Optimist Display" pitchFamily="34" charset="0"/>
                <a:ea typeface="Optimist Display" pitchFamily="34" charset="-122"/>
                <a:cs typeface="Optimist Display" pitchFamily="34" charset="-120"/>
              </a:rPr>
              <a:t>Pitfall 3: the skill grows until it rots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11247120" cy="0"/>
          </a:xfrm>
          <a:prstGeom prst="line">
            <a:avLst/>
          </a:prstGeom>
          <a:noFill/>
          <a:ln w="9525">
            <a:solidFill>
              <a:srgbClr val="C9BC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Skill Creation — Practitioner's Guide  |  Internal Share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12 / 17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Long skills suffer from context rot — recall precision drops as token count climbs. Anthropic recommends splitting beyond 500 lines; in practice, aim for under 200 if you can.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5486400" cy="3657600"/>
          </a:xfrm>
          <a:prstGeom prst="rect">
            <a:avLst/>
          </a:prstGeom>
          <a:solidFill>
            <a:srgbClr val="1F1A14"/>
          </a:solidFill>
          <a:ln w="12700">
            <a:solidFill>
              <a:srgbClr val="1F1A1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060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E8472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CONTEXT ROT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880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E6D2"/>
                </a:solidFill>
                <a:latin typeface="Optimist Display" pitchFamily="34" charset="0"/>
                <a:ea typeface="Optimist Display" pitchFamily="34" charset="-122"/>
                <a:cs typeface="Optimist Display" pitchFamily="34" charset="-120"/>
              </a:rPr>
              <a:t>Recall accuracy vs SKILL.md length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 rot="-5400000">
            <a:off x="548640" y="42976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8472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recall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005840" y="3520440"/>
            <a:ext cx="0" cy="2011680"/>
          </a:xfrm>
          <a:prstGeom prst="line">
            <a:avLst/>
          </a:prstGeom>
          <a:noFill/>
          <a:ln w="6350">
            <a:solidFill>
              <a:srgbClr val="8E847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" y="5532120"/>
            <a:ext cx="4572000" cy="0"/>
          </a:xfrm>
          <a:prstGeom prst="line">
            <a:avLst/>
          </a:prstGeom>
          <a:noFill/>
          <a:ln w="6350">
            <a:solidFill>
              <a:srgbClr val="8E847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3566160"/>
            <a:ext cx="731520" cy="45720"/>
          </a:xfrm>
          <a:prstGeom prst="line">
            <a:avLst/>
          </a:prstGeom>
          <a:noFill/>
          <a:ln w="22225">
            <a:solidFill>
              <a:srgbClr val="E1916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3611880"/>
            <a:ext cx="731520" cy="137160"/>
          </a:xfrm>
          <a:prstGeom prst="line">
            <a:avLst/>
          </a:prstGeom>
          <a:noFill/>
          <a:ln w="22225">
            <a:solidFill>
              <a:srgbClr val="E1916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68880" y="3749040"/>
            <a:ext cx="731520" cy="274320"/>
          </a:xfrm>
          <a:prstGeom prst="line">
            <a:avLst/>
          </a:prstGeom>
          <a:noFill/>
          <a:ln w="22225">
            <a:solidFill>
              <a:srgbClr val="E1916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4023360"/>
            <a:ext cx="731520" cy="411480"/>
          </a:xfrm>
          <a:prstGeom prst="line">
            <a:avLst/>
          </a:prstGeom>
          <a:noFill/>
          <a:ln w="22225">
            <a:solidFill>
              <a:srgbClr val="E1916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31920" y="4434840"/>
            <a:ext cx="731520" cy="457200"/>
          </a:xfrm>
          <a:prstGeom prst="line">
            <a:avLst/>
          </a:prstGeom>
          <a:noFill/>
          <a:ln w="22225">
            <a:solidFill>
              <a:srgbClr val="E1916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4892040"/>
            <a:ext cx="548640" cy="320040"/>
          </a:xfrm>
          <a:prstGeom prst="line">
            <a:avLst/>
          </a:prstGeom>
          <a:noFill/>
          <a:ln w="22225">
            <a:solidFill>
              <a:srgbClr val="E1916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25880" y="5550408"/>
            <a:ext cx="91440" cy="91440"/>
          </a:xfrm>
          <a:prstGeom prst="ellipse">
            <a:avLst/>
          </a:prstGeom>
          <a:solidFill>
            <a:srgbClr val="5A7D5A"/>
          </a:solidFill>
          <a:ln w="12700">
            <a:solidFill>
              <a:srgbClr val="5A7D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56967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D5A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200 lines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2960" y="59161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E8472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sharp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154680" y="5550408"/>
            <a:ext cx="91440" cy="91440"/>
          </a:xfrm>
          <a:prstGeom prst="ellipse">
            <a:avLst/>
          </a:prstGeom>
          <a:solidFill>
            <a:srgbClr val="E8C896"/>
          </a:solidFill>
          <a:ln w="12700">
            <a:solidFill>
              <a:srgbClr val="E8C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51760" y="56967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896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500 lines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651760" y="59161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E8472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fading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983480" y="5550408"/>
            <a:ext cx="91440" cy="91440"/>
          </a:xfrm>
          <a:prstGeom prst="ellipse">
            <a:avLst/>
          </a:prstGeom>
          <a:solidFill>
            <a:srgbClr val="B8602F"/>
          </a:solidFill>
          <a:ln w="12700">
            <a:solidFill>
              <a:srgbClr val="B8602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80560" y="56967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602F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1000+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480560" y="59161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E8472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rotting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17920" y="2468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81818"/>
                </a:solidFill>
                <a:latin typeface="Optimist Display" pitchFamily="34" charset="0"/>
                <a:ea typeface="Optimist Display" pitchFamily="34" charset="-122"/>
                <a:cs typeface="Optimist Display" pitchFamily="34" charset="-120"/>
              </a:rPr>
              <a:t>How to split when you cross the line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217920" y="2880360"/>
            <a:ext cx="54864" cy="96012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5080" y="2862072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785C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→ references/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55080" y="3127248"/>
            <a:ext cx="5349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1818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Output formats (when the spec is 100+ lines).  Glossaries (P0/P1, internal terms).  Variant-specific specs (per client, per region).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17920" y="3977640"/>
            <a:ext cx="54864" cy="96012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55080" y="3959352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785C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→ scripts/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355080" y="4224528"/>
            <a:ext cx="5349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1818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Anything you've watched the LLM 'freestyle' on. Last 5 days of commits. Fixed report headers. Anything where deterministic &gt; 'creative.'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17920" y="5074920"/>
            <a:ext cx="54864" cy="96012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55080" y="5056632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785C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Stays in body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355080" y="5321808"/>
            <a:ext cx="5349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1818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The methodology. The why. The principles. The pointers that say 'when X, read references/X.md.'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TECHNIQUE  ·  13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81818"/>
                </a:solidFill>
                <a:latin typeface="Optimist Display" pitchFamily="34" charset="0"/>
                <a:ea typeface="Optimist Display" pitchFamily="34" charset="-122"/>
                <a:cs typeface="Optimist Display" pitchFamily="34" charset="-120"/>
              </a:rPr>
              <a:t>Scripts: the cheap fix for unstable steps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11247120" cy="0"/>
          </a:xfrm>
          <a:prstGeom prst="line">
            <a:avLst/>
          </a:prstGeom>
          <a:noFill/>
          <a:ln w="9525">
            <a:solidFill>
              <a:srgbClr val="C9BC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Skill Creation — Practitioner's Guide  |  Internal Share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13 / 17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If you've watched the agent freestyle a step, you don't need a longer prompt. You need a script.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Without the script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5486400" cy="3246120"/>
          </a:xfrm>
          <a:prstGeom prst="rect">
            <a:avLst/>
          </a:prstGeom>
          <a:solidFill>
            <a:srgbClr val="FAF7F2"/>
          </a:solidFill>
          <a:ln w="6350">
            <a:solidFill>
              <a:srgbClr val="C9BCA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971800"/>
            <a:ext cx="91440" cy="91440"/>
          </a:xfrm>
          <a:prstGeom prst="ellipse">
            <a:avLst/>
          </a:prstGeom>
          <a:solidFill>
            <a:srgbClr val="B8602F"/>
          </a:solidFill>
          <a:ln w="12700">
            <a:solidFill>
              <a:srgbClr val="B8602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880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1818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Skill says: 'fetch last 5 days of commits.'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474720"/>
            <a:ext cx="91440" cy="91440"/>
          </a:xfrm>
          <a:prstGeom prst="ellipse">
            <a:avLst/>
          </a:prstGeom>
          <a:solidFill>
            <a:srgbClr val="B8602F"/>
          </a:solidFill>
          <a:ln w="12700">
            <a:solidFill>
              <a:srgbClr val="B860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3832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1818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Agent decides on a date range.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977640"/>
            <a:ext cx="91440" cy="91440"/>
          </a:xfrm>
          <a:prstGeom prst="ellipse">
            <a:avLst/>
          </a:prstGeom>
          <a:solidFill>
            <a:srgbClr val="B8602F"/>
          </a:solidFill>
          <a:ln w="12700">
            <a:solidFill>
              <a:srgbClr val="B8602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886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1818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Sometimes it's 5. Sometimes it's 7.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480560"/>
            <a:ext cx="91440" cy="91440"/>
          </a:xfrm>
          <a:prstGeom prst="ellipse">
            <a:avLst/>
          </a:prstGeom>
          <a:solidFill>
            <a:srgbClr val="B8602F"/>
          </a:solidFill>
          <a:ln w="12700">
            <a:solidFill>
              <a:srgbClr val="B860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389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1818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Output drifts week-to-week.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489204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Plus the agent re-figures-out 'how to query GitHub' every single time. That methodology lives in context, costing tokens and stability on every run.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1792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C785C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With a bundled script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17920" y="2743200"/>
            <a:ext cx="5486400" cy="3246120"/>
          </a:xfrm>
          <a:prstGeom prst="rect">
            <a:avLst/>
          </a:prstGeom>
          <a:solidFill>
            <a:srgbClr val="E8DDC9"/>
          </a:solidFill>
          <a:ln w="12700">
            <a:solidFill>
              <a:srgbClr val="E8DDC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2971800"/>
            <a:ext cx="91440" cy="91440"/>
          </a:xfrm>
          <a:prstGeom prst="ellipse">
            <a:avLst/>
          </a:prstGeom>
          <a:solidFill>
            <a:srgbClr val="5A7D5A"/>
          </a:solidFill>
          <a:ln w="12700">
            <a:solidFill>
              <a:srgbClr val="5A7D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2880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1818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scripts/fetch_commits.py — always last 5 days.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0" y="3474720"/>
            <a:ext cx="91440" cy="91440"/>
          </a:xfrm>
          <a:prstGeom prst="ellipse">
            <a:avLst/>
          </a:prstGeom>
          <a:solidFill>
            <a:srgbClr val="5A7D5A"/>
          </a:solidFill>
          <a:ln w="12700">
            <a:solidFill>
              <a:srgbClr val="5A7D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33832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1818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Skill says: 'run the script and read its output.'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0" y="3977640"/>
            <a:ext cx="91440" cy="91440"/>
          </a:xfrm>
          <a:prstGeom prst="ellipse">
            <a:avLst/>
          </a:prstGeom>
          <a:solidFill>
            <a:srgbClr val="5A7D5A"/>
          </a:solidFill>
          <a:ln w="12700">
            <a:solidFill>
              <a:srgbClr val="5A7D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3886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1818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Same input → same output, every time.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0" y="4480560"/>
            <a:ext cx="91440" cy="91440"/>
          </a:xfrm>
          <a:prstGeom prst="ellipse">
            <a:avLst/>
          </a:prstGeom>
          <a:solidFill>
            <a:srgbClr val="5A7D5A"/>
          </a:solidFill>
          <a:ln w="12700">
            <a:solidFill>
              <a:srgbClr val="5A7D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4389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1818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Code never enters context — only the result does.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00800" y="48920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Stable output AND lower token cost — the script's source code stays out of the context window.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EXAMPLE  ·  14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81818"/>
                </a:solidFill>
                <a:latin typeface="Optimist Display" pitchFamily="34" charset="0"/>
                <a:ea typeface="Optimist Display" pitchFamily="34" charset="-122"/>
                <a:cs typeface="Optimist Display" pitchFamily="34" charset="-120"/>
              </a:rPr>
              <a:t>Sample references/glossary.md — extract terminology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11247120" cy="0"/>
          </a:xfrm>
          <a:prstGeom prst="line">
            <a:avLst/>
          </a:prstGeom>
          <a:noFill/>
          <a:ln w="9525">
            <a:solidFill>
              <a:srgbClr val="C9BC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Skill Creation — Practitioner's Guide  |  Internal Share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14 / 17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Concrete answer to Pitfall 3: keep the body lean by moving internal vocabulary into a reference. Loaded only when the body says to consult it.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6949440" cy="4023360"/>
          </a:xfrm>
          <a:prstGeom prst="rect">
            <a:avLst/>
          </a:prstGeom>
          <a:solidFill>
            <a:srgbClr val="1F1A14"/>
          </a:solidFill>
          <a:ln w="12700">
            <a:solidFill>
              <a:srgbClr val="1F1A1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377440"/>
            <a:ext cx="6675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A87C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# Internal Glossary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2542032"/>
            <a:ext cx="6675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6D2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 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2706624"/>
            <a:ext cx="6675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A87C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## Priority labels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2871216"/>
            <a:ext cx="6675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6D2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- P0 — production-down, all hands until cleared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3035808"/>
            <a:ext cx="6675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6D2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- P1 — customer-impacting, fix this sprint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3200400"/>
            <a:ext cx="6675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6D2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- P2 — important, schedule for next sprint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3364992"/>
            <a:ext cx="6675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6D2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- P3 — nice-to-have, backlog candidate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3529584"/>
            <a:ext cx="6675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6D2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 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" y="3694176"/>
            <a:ext cx="6675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A87C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## Roles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3858768"/>
            <a:ext cx="6675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6D2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- DRI — directly responsible individual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4360" y="4023360"/>
            <a:ext cx="6675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6D2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- TPM — technical program manager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4360" y="4187952"/>
            <a:ext cx="6675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6D2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- IC  — individual contributor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" y="4352544"/>
            <a:ext cx="6675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6D2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 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4360" y="4517136"/>
            <a:ext cx="6675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A87C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## Stage tags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" y="4681728"/>
            <a:ext cx="6675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6D2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- ICE — in concept evaluation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" y="4846320"/>
            <a:ext cx="6675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6D2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- WIP — work in progress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" y="5010912"/>
            <a:ext cx="6675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6D2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- BLOCKED — has external dependency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4360" y="5175504"/>
            <a:ext cx="6675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6D2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- SHIPPED — in production for real users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4360" y="5340096"/>
            <a:ext cx="6675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6D2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 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94360" y="5504688"/>
            <a:ext cx="6675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A87C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## Project codes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94360" y="5669280"/>
            <a:ext cx="6675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6D2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- ATLAS — checkout rebuild (see manager/projects/atlas/)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4360" y="5833872"/>
            <a:ext cx="6675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6D2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- HORIZON — billing migration (see ops/horizon/)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589520" y="2286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81818"/>
                </a:solidFill>
                <a:latin typeface="Optimist Display" pitchFamily="34" charset="0"/>
                <a:ea typeface="Optimist Display" pitchFamily="34" charset="-122"/>
                <a:cs typeface="Optimist Display" pitchFamily="34" charset="-120"/>
              </a:rPr>
              <a:t>How the skill uses it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589520" y="2743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In SKILL.md you write: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589520" y="3017520"/>
            <a:ext cx="4114800" cy="960120"/>
          </a:xfrm>
          <a:prstGeom prst="rect">
            <a:avLst/>
          </a:prstGeom>
          <a:solidFill>
            <a:srgbClr val="E8DDC9"/>
          </a:solidFill>
          <a:ln w="12700">
            <a:solidFill>
              <a:srgbClr val="E8DDC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26680" y="310896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81818"/>
                </a:solidFill>
                <a:latin typeface="Optimist Display" pitchFamily="34" charset="0"/>
                <a:ea typeface="Optimist Display" pitchFamily="34" charset="-122"/>
                <a:cs typeface="Optimist Display" pitchFamily="34" charset="-120"/>
              </a:rPr>
              <a:t>"If a commit message uses an internal term (P0/P1/DRI/etc.), consult references/glossary.md before paraphrasing."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589520" y="41605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What this buys you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589520" y="4480560"/>
            <a:ext cx="54864" cy="54864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26680" y="446227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785C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Lean body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726680" y="4681728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81818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Glossary doesn't bloat SKILL.md.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589520" y="5120640"/>
            <a:ext cx="54864" cy="54864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26680" y="510235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785C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On-demand load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726680" y="5321808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81818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Tokens spent only on weeks the term shows up.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7589520" y="5760720"/>
            <a:ext cx="54864" cy="54864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26680" y="574243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785C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Single source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726680" y="5961888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81818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Update the glossary once; every skill that references it benefits.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57200" y="6355080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Same pattern: output_format.md, customer_voice.md, decision_criteria.md — anything that's reusable across skills lives in references/.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MAINTENANCE  ·  15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81818"/>
                </a:solidFill>
                <a:latin typeface="Optimist Display" pitchFamily="34" charset="0"/>
                <a:ea typeface="Optimist Display" pitchFamily="34" charset="-122"/>
                <a:cs typeface="Optimist Display" pitchFamily="34" charset="-120"/>
              </a:rPr>
              <a:t>Skills compound — but only if you maintain them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11247120" cy="0"/>
          </a:xfrm>
          <a:prstGeom prst="line">
            <a:avLst/>
          </a:prstGeom>
          <a:noFill/>
          <a:ln w="9525">
            <a:solidFill>
              <a:srgbClr val="C9BC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Skill Creation — Practitioner's Guide  |  Internal Share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15 / 17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A skill is most valuable a month after you wrote it — IF you've kept it clean. Most people don't, and watch their 200-line skill bloat to 1,000 lines of contradictory advice.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81818"/>
                </a:solidFill>
                <a:latin typeface="Optimist Display" pitchFamily="34" charset="0"/>
                <a:ea typeface="Optimist Display" pitchFamily="34" charset="-122"/>
                <a:cs typeface="Optimist Display" pitchFamily="34" charset="-120"/>
              </a:rPr>
              <a:t>Two natural moments to maintain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2971800"/>
            <a:ext cx="5623560" cy="3200400"/>
          </a:xfrm>
          <a:prstGeom prst="rect">
            <a:avLst/>
          </a:prstGeom>
          <a:solidFill>
            <a:srgbClr val="FAF7F2"/>
          </a:solidFill>
          <a:ln w="6350">
            <a:solidFill>
              <a:srgbClr val="C9BC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2461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CC785C"/>
                </a:solidFill>
                <a:latin typeface="Optimist Display" pitchFamily="34" charset="0"/>
                <a:ea typeface="Optimist Display" pitchFamily="34" charset="-122"/>
                <a:cs typeface="Optimist Display" pitchFamily="34" charset="-120"/>
              </a:rPr>
              <a:t>01</a:t>
            </a:r>
            <a:endParaRPr lang="en-US" sz="28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3291840"/>
            <a:ext cx="457200" cy="4572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31520" y="388620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81818"/>
                </a:solidFill>
                <a:latin typeface="Optimist Display" pitchFamily="34" charset="0"/>
                <a:ea typeface="Optimist Display" pitchFamily="34" charset="-122"/>
                <a:cs typeface="Optimist Display" pitchFamily="34" charset="-120"/>
              </a:rPr>
              <a:t>When the model upgrades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731520" y="4434840"/>
            <a:ext cx="548640" cy="0"/>
          </a:xfrm>
          <a:prstGeom prst="line">
            <a:avLst/>
          </a:prstGeom>
          <a:noFill/>
          <a:ln w="19050">
            <a:solidFill>
              <a:srgbClr val="CC785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4572000"/>
            <a:ext cx="5074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1818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Run every existing skill against the new model. Hunt for the patches you'd written for the OLD model's weaknesses — newer models often handle those natively. Pulling those out means cleaner context, fewer tokens, BETTER output.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263640" y="2971800"/>
            <a:ext cx="5623560" cy="3200400"/>
          </a:xfrm>
          <a:prstGeom prst="rect">
            <a:avLst/>
          </a:prstGeom>
          <a:solidFill>
            <a:srgbClr val="FAF7F2"/>
          </a:solidFill>
          <a:ln w="6350">
            <a:solidFill>
              <a:srgbClr val="C9BCA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37960" y="32461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CC785C"/>
                </a:solidFill>
                <a:latin typeface="Optimist Display" pitchFamily="34" charset="0"/>
                <a:ea typeface="Optimist Display" pitchFamily="34" charset="-122"/>
                <a:cs typeface="Optimist Display" pitchFamily="34" charset="-120"/>
              </a:rPr>
              <a:t>02</a:t>
            </a:r>
            <a:endParaRPr lang="en-US" sz="28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3291840"/>
            <a:ext cx="457200" cy="4572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537960" y="388620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81818"/>
                </a:solidFill>
                <a:latin typeface="Optimist Display" pitchFamily="34" charset="0"/>
                <a:ea typeface="Optimist Display" pitchFamily="34" charset="-122"/>
                <a:cs typeface="Optimist Display" pitchFamily="34" charset="-120"/>
              </a:rPr>
              <a:t>After every workflow run (retro)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6537960" y="4434840"/>
            <a:ext cx="548640" cy="0"/>
          </a:xfrm>
          <a:prstGeom prst="line">
            <a:avLst/>
          </a:prstGeom>
          <a:noFill/>
          <a:ln w="19050">
            <a:solidFill>
              <a:srgbClr val="CC785C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537960" y="4572000"/>
            <a:ext cx="5074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1818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Have the agent retro itself: 'list the mistakes we made, the cause of each, and which ones can be folded into the existing skill.' Quick, cheap, and the highest-signal feedback loop you have.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457200" y="6217920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8602F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WARNING — when the agent edits its own skill, double-check before saving. Agent-for-agent prose can be too terse, and break human maintainability.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EXAMPLE  ·  16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81818"/>
                </a:solidFill>
                <a:latin typeface="Optimist Display" pitchFamily="34" charset="0"/>
                <a:ea typeface="Optimist Display" pitchFamily="34" charset="-122"/>
                <a:cs typeface="Optimist Display" pitchFamily="34" charset="-120"/>
              </a:rPr>
              <a:t>Agent retro — the prompt that does the maintenance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11247120" cy="0"/>
          </a:xfrm>
          <a:prstGeom prst="line">
            <a:avLst/>
          </a:prstGeom>
          <a:noFill/>
          <a:ln w="9525">
            <a:solidFill>
              <a:srgbClr val="C9BC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Skill Creation — Practitioner's Guide  |  Internal Share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16 / 17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Concrete answer to maintenance: a copy-paste prompt to drop in at the end of any workflow. Constrains the agent to small, deliberate edits — not a freestyle rewrite.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6949440" cy="4023360"/>
          </a:xfrm>
          <a:prstGeom prst="rect">
            <a:avLst/>
          </a:prstGeom>
          <a:solidFill>
            <a:srgbClr val="1F1A14"/>
          </a:solidFill>
          <a:ln w="12700">
            <a:solidFill>
              <a:srgbClr val="1F1A1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42316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E8472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RETRO PROMPT  ·  paste at end of session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743200"/>
            <a:ext cx="6583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6D2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Retro the workflow we just completed.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935224"/>
            <a:ext cx="6583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6D2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 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127248"/>
            <a:ext cx="6583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A87C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For each step: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319272"/>
            <a:ext cx="6583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6D2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  - What we got right (skip if not notable).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511296"/>
            <a:ext cx="6583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6D2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  - What we got wrong, AND the underlying cause.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703320"/>
            <a:ext cx="6583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6D2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  - Whether the fix belongs in the skill, or is one-off.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895344"/>
            <a:ext cx="6583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6D2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 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4087368"/>
            <a:ext cx="6583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A87C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For proposed skill edits: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279392"/>
            <a:ext cx="6583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6D2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  - Suggest the SMALLEST possible change.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4471416"/>
            <a:ext cx="6583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6D2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    Lines to add, change, or delete — show diffs.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4663440"/>
            <a:ext cx="6583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6D2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  - Flag anything that pushes the body past 200 lines.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4855464"/>
            <a:ext cx="6583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6D2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  - If a corner-case, propose moving it to references/.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5047488"/>
            <a:ext cx="6583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6D2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 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5239512"/>
            <a:ext cx="6583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A87C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Constraints: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5431536"/>
            <a:ext cx="6583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6D2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  - Do not edit the skill yet. Wait for me to approve.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5623560"/>
            <a:ext cx="6583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6D2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  - Preserve the principles section verbatim.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5815584"/>
            <a:ext cx="6583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6D2"/>
                </a:solidFill>
                <a:latin typeface="Optimist Mono" pitchFamily="34" charset="0"/>
                <a:ea typeface="Optimist Mono" pitchFamily="34" charset="-122"/>
                <a:cs typeface="Optimist Mono" pitchFamily="34" charset="-120"/>
              </a:rPr>
              <a:t>  - If you would rewrite &gt;30% of the body, stop and ask.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589520" y="2331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81818"/>
                </a:solidFill>
                <a:latin typeface="Optimist Display" pitchFamily="34" charset="0"/>
                <a:ea typeface="Optimist Display" pitchFamily="34" charset="-122"/>
                <a:cs typeface="Optimist Display" pitchFamily="34" charset="-120"/>
              </a:rPr>
              <a:t>What this prompt enforces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589520" y="2788920"/>
            <a:ext cx="54864" cy="77724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26680" y="277063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785C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01  Dedupe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726680" y="3017520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81818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'Smallest possible change' resists adding new redundant rules.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589520" y="3657600"/>
            <a:ext cx="54864" cy="77724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26680" y="363931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785C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02  Restructure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726680" y="3886200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81818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'Show diffs' forces the agent to see the existing skeleton first.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589520" y="4526280"/>
            <a:ext cx="54864" cy="77724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26680" y="450799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785C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03  Extract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726680" y="4754880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81818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Corner-cases get pushed to references/, not stuffed into the body.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589520" y="5394960"/>
            <a:ext cx="54864" cy="77724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26680" y="537667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785C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+   Human gate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726680" y="5623560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81818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Wait-for-approval keeps you in the loop. Agents can junk-up structure when left alone.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57200" y="6355080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Bonus — for higher rigor, run the prompt in a fresh session with no workflow context (Session B). Then have a second clean session (Session A) review B's proposed diff against the skill-writing principles in this deck.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502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17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05840" y="822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THE POINT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137160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dirty="0">
                <a:solidFill>
                  <a:srgbClr val="181818"/>
                </a:solidFill>
                <a:latin typeface="Optimist Display" pitchFamily="34" charset="0"/>
                <a:ea typeface="Optimist Display" pitchFamily="34" charset="-122"/>
                <a:cs typeface="Optimist Display" pitchFamily="34" charset="-120"/>
              </a:rPr>
              <a:t>Skills are how your</a:t>
            </a:r>
            <a:endParaRPr lang="en-US" sz="5000" dirty="0"/>
          </a:p>
          <a:p>
            <a:pPr indent="0" marL="0">
              <a:buNone/>
            </a:pPr>
            <a:r>
              <a:rPr lang="en-US" sz="5000" dirty="0">
                <a:solidFill>
                  <a:srgbClr val="181818"/>
                </a:solidFill>
                <a:latin typeface="Optimist Display" pitchFamily="34" charset="0"/>
                <a:ea typeface="Optimist Display" pitchFamily="34" charset="-122"/>
                <a:cs typeface="Optimist Display" pitchFamily="34" charset="-120"/>
              </a:rPr>
              <a:t>expertise compounds.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1005840" y="36118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Every prompt you write is single-use. Every skill you write captures the part of your judgment, vocabulary, and process that the model doesn't know — and reuses it forever.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005840" y="4800600"/>
            <a:ext cx="10607040" cy="1417320"/>
          </a:xfrm>
          <a:prstGeom prst="rect">
            <a:avLst/>
          </a:prstGeom>
          <a:solidFill>
            <a:srgbClr val="181818"/>
          </a:solidFill>
          <a:ln w="12700">
            <a:solidFill>
              <a:srgbClr val="18181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4937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1916F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TAKEAWAYS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88720" y="5285232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6D2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1.  Description = trigger. Both WHAT and WHEN, third person, real user language.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5504688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6D2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2.  Principles, not narrow SOPs — except where right/wrong is objective.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5724144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6D2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3.  Keep SKILL.md lean. Extract to references/ and scripts/ aggressively.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5943600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6D2"/>
                </a:solidFill>
                <a:latin typeface="Optimist Sans" pitchFamily="34" charset="0"/>
                <a:ea typeface="Optimist Sans" pitchFamily="34" charset="-122"/>
                <a:cs typeface="Optimist Sans" pitchFamily="34" charset="-120"/>
              </a:rPr>
              <a:t>4.  Maintain on model upgrades and after every workflow run.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635508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C785C"/>
                </a:solidFill>
                <a:latin typeface="Optimist Display" pitchFamily="34" charset="0"/>
                <a:ea typeface="Optimist Display" pitchFamily="34" charset="-122"/>
                <a:cs typeface="Optimist Display" pitchFamily="34" charset="-120"/>
              </a:rPr>
              <a:t>Pick one workflow you do every week. Reverse-engineer it into a skill this afternoon. Iterate next week.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 Creation — Practitioner's Guide</dc:title>
  <dc:subject>PptxGenJS Presentation</dc:subject>
  <dc:creator>Internal Share</dc:creator>
  <cp:lastModifiedBy>Internal Share</cp:lastModifiedBy>
  <cp:revision>1</cp:revision>
  <dcterms:created xsi:type="dcterms:W3CDTF">2026-05-07T02:10:54Z</dcterms:created>
  <dcterms:modified xsi:type="dcterms:W3CDTF">2026-05-07T02:10:54Z</dcterms:modified>
</cp:coreProperties>
</file>