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shift. AI changes what the team does day to day — from producing the work by hand to directing AI and owning the judgment. Set up the two-part strategy: lift everyone's baseline, and grow a tail of power users on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moves up the value chain — and it splits two ways on the DS/Quant side. Some build models; others do the infrastructure and implementation work, where the job is largely writing data and production code. AI takes the hand-execution in both, and they own the design, architecture, and verification. Analysts likewise: AI writes the queries and drafts the analysis, and they own the interpretation and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the team's AI capability as a distribution. We move on two fronts at once. Front one: shift the whole curve right by training everyone — that's Pillar 1, curriculum and delivery. Front two: grow the tail of power users on real flagship projects, then scale those wins — that's Pillar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shares the same foundation — 101 Foundations and 201 Applied Core — then specializes into one of two tracks. Quants go deep on Claude Code, spec-driven development, and automated testing. Analysts go deep on Workspace, automated reporting, and light coding. Full details are in the Course Catalog.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delivery modes matched to the journey. Self-paced for breadth — Foundations and Applied Core, curated materials, start anytime. Instructor-led cohorts for depth — the specialized tracks, live guidance in small groups, project-based and multi-session. Every associate blends both: breadth on their own, depth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flagship project: a portfolio dashboard that answers back. Fixed views cover the routine questions — exposure, at-risk, PD change, segment breakdown — about ninety percent of what people ask. A chatbot sitting on the same data handles the corner cases in plain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flagship: onboarding becomes a living, searchable knowledge base for the whole commercial-risk org. One search box across onboarding, guides, the model library, past analyses, and a glossary. Built once, reused everywhere — with self-serve learning paths layered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flagship: an agent-driven pipeline across the full model lifecycle. Agents handle data prep, build, test and validate, deploy, and monitor. The quant owns the one step that's highest-judgment — model design. The payoff is standardizing the lifecycle so the design work gets the most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ties it together: the Innovation Hub — the central place every capability connects to. Post an idea, share a tool you built, discover what others made, and reuse or scale it beyond your own team. Ideas in, tools out: that's how the wins compound across the whole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the AI tools everyone has access to on two axes. Horizontal is depth of use — everyday, for-everyone tools on the left, specialist and deep tools on the right. Vertical is power — assistive help at the bottom, autonomous agents at the top. Google Workspace tools cluster in everyday assist and automation; Claude tools sit in the higher-power, more specialist agentic space. Two are flagged as not yet live in our environment — Gemini Enterprise and Claude Cowork. And note the gap on Claude Code: the full-capability ceiling is up and to the right, but what we actually run today is the sandbox version on Opus 4.7 — hence the headroom arrow. The axes are one useful cut — we can reframe them (learning curve, autonomy, data sensitivity) if that's more useful for the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discussion. We expect a few questions — how we handle NPI data, how we manage cost, and when Windows users get access — so here's the short version of each, then open the floor for anything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2395A">
                  <a:alpha val="100000"/>
                </a:srgbClr>
              </a:gs>
              <a:gs pos="46000">
                <a:srgbClr val="0C2C4A">
                  <a:alpha val="100000"/>
                </a:srgbClr>
              </a:gs>
              <a:gs pos="100000">
                <a:srgbClr val="082138">
                  <a:alpha val="100000"/>
                </a:srgbClr>
              </a:gs>
            </a:gsLst>
            <a:path path="circle">
              <a:fillToRect l="82000" t="0" r="18000" b="100000"/>
            </a:path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5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555010"/>
            <a:ext cx="18288000" cy="4731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876300"/>
            <a:ext cx="27391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48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321668" y="947737"/>
            <a:ext cx="285750" cy="9525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778868" y="876300"/>
            <a:ext cx="41919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64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INTERNAL · STRATEGY &amp; ROADMAP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2500" y="3295724"/>
            <a:ext cx="13538835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From running the work to </a:t>
            </a:r>
            <a:pPr algn="l" indent="0" marL="0">
              <a:lnSpc>
                <a:spcPct val="104000"/>
              </a:lnSpc>
              <a:buNone/>
            </a:pPr>
            <a:r>
              <a:rPr lang="en-US" sz="6000" i="1" spc="-120" kern="0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directing it.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952500" y="5213970"/>
            <a:ext cx="981075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AI reshapes what our data scientists, quants, and analysts do — and the two-part strategy to take the whole team there.</a:t>
            </a:r>
            <a:endParaRPr lang="en-US" sz="1950" dirty="0"/>
          </a:p>
        </p:txBody>
      </p:sp>
      <p:sp>
        <p:nvSpPr>
          <p:cNvPr id="9" name="Shape 6"/>
          <p:cNvSpPr/>
          <p:nvPr/>
        </p:nvSpPr>
        <p:spPr>
          <a:xfrm>
            <a:off x="952500" y="8223945"/>
            <a:ext cx="1638300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52500" y="9210675"/>
            <a:ext cx="144867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47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OUR MISSION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2593330" y="8557320"/>
            <a:ext cx="11576685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E2ECF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Spend less time producing the work, and more on the judgment that drives decisions.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SHIFT ·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work is moving up the value chain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1772900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takes on the execution. People move to the judgment — design, verification, interpretation, and the decision.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484090"/>
            <a:ext cx="8029575" cy="6774210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5875" y="3523208"/>
            <a:ext cx="73628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7" name="Text 5"/>
          <p:cNvSpPr/>
          <p:nvPr/>
        </p:nvSpPr>
        <p:spPr>
          <a:xfrm>
            <a:off x="1285875" y="2798415"/>
            <a:ext cx="80991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03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MODEL &amp; PLATFORM BUILDERS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285875" y="3007965"/>
            <a:ext cx="809910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Scientists &amp; Quants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285875" y="4325541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DEVELOPMENT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5875" y="4563666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4716066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7325" y="4906566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 and test models by hand, end to end.</a:t>
            </a:r>
            <a:endParaRPr lang="en-US" sz="1575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69036" y="5155109"/>
            <a:ext cx="247650" cy="152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50036" y="4563666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21486" y="4716066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221486" y="4906566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Direct AI through the build — own design, verification, and how it's communicated.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285875" y="6634758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INFRASTRUCTURE &amp; IMPLEMENTATION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285875" y="6872883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57325" y="7025283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457325" y="7215783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Hand-write data pipelines and production model code.</a:t>
            </a:r>
            <a:endParaRPr lang="en-US" sz="1575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9036" y="7464326"/>
            <a:ext cx="247650" cy="1524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050036" y="6872883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221486" y="7025283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5221486" y="7215783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Direct AI to write the code — own architecture, data quality, and integration.</a:t>
            </a:r>
            <a:endParaRPr lang="en-US" sz="1575" dirty="0"/>
          </a:p>
        </p:txBody>
      </p:sp>
      <p:sp>
        <p:nvSpPr>
          <p:cNvPr id="25" name="Shape 21"/>
          <p:cNvSpPr/>
          <p:nvPr/>
        </p:nvSpPr>
        <p:spPr>
          <a:xfrm>
            <a:off x="9305925" y="2484090"/>
            <a:ext cx="8029575" cy="6774210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639300" y="3523208"/>
            <a:ext cx="73628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7" name="Text 23"/>
          <p:cNvSpPr/>
          <p:nvPr/>
        </p:nvSpPr>
        <p:spPr>
          <a:xfrm>
            <a:off x="9639300" y="2798415"/>
            <a:ext cx="80991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03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INSIGHT MAKERS</a:t>
            </a:r>
            <a:endParaRPr lang="en-US" sz="1125" dirty="0"/>
          </a:p>
        </p:txBody>
      </p:sp>
      <p:sp>
        <p:nvSpPr>
          <p:cNvPr id="28" name="Text 24"/>
          <p:cNvSpPr/>
          <p:nvPr/>
        </p:nvSpPr>
        <p:spPr>
          <a:xfrm>
            <a:off x="9639300" y="3007965"/>
            <a:ext cx="809910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Business Analysts</a:t>
            </a:r>
            <a:endParaRPr lang="en-US" sz="2325" dirty="0"/>
          </a:p>
        </p:txBody>
      </p:sp>
      <p:sp>
        <p:nvSpPr>
          <p:cNvPr id="29" name="Text 25"/>
          <p:cNvSpPr/>
          <p:nvPr/>
        </p:nvSpPr>
        <p:spPr>
          <a:xfrm>
            <a:off x="9639300" y="4418930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&amp; QUERYING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639300" y="4657055"/>
            <a:ext cx="3249811" cy="1055340"/>
          </a:xfrm>
          <a:prstGeom prst="roundRect">
            <a:avLst>
              <a:gd name="adj" fmla="val 7220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810750" y="4809455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9810750" y="4999955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Write SQL and pull the data by hand.</a:t>
            </a:r>
            <a:endParaRPr lang="en-US" sz="1575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22461" y="5108525"/>
            <a:ext cx="247650" cy="15240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13403461" y="4657055"/>
            <a:ext cx="3598664" cy="1055340"/>
          </a:xfrm>
          <a:prstGeom prst="roundRect">
            <a:avLst>
              <a:gd name="adj" fmla="val 7220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3574911" y="4809455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3574911" y="4999955"/>
            <a:ext cx="3353437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in plain language — AI writes the queries and pulls the data.</a:t>
            </a:r>
            <a:endParaRPr lang="en-US" sz="1575" dirty="0"/>
          </a:p>
        </p:txBody>
      </p:sp>
      <p:sp>
        <p:nvSpPr>
          <p:cNvPr id="37" name="Text 32"/>
          <p:cNvSpPr/>
          <p:nvPr/>
        </p:nvSpPr>
        <p:spPr>
          <a:xfrm>
            <a:off x="9639300" y="6541443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REPORTING &amp; INSIGHT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9639300" y="6779568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9810750" y="6931968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9810750" y="7122468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Assemble the reports and dashboards.</a:t>
            </a:r>
            <a:endParaRPr lang="en-US" sz="1575" dirty="0"/>
          </a:p>
        </p:txBody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022461" y="7371011"/>
            <a:ext cx="247650" cy="15240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13403461" y="6779568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13574911" y="6931968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13574911" y="7122468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drafts the analysis — you interpret results and turn them into insight.</a:t>
            </a:r>
            <a:endParaRPr lang="en-US" sz="1575" dirty="0"/>
          </a:p>
        </p:txBody>
      </p:sp>
      <p:sp>
        <p:nvSpPr>
          <p:cNvPr id="45" name="Shape 39"/>
          <p:cNvSpPr/>
          <p:nvPr/>
        </p:nvSpPr>
        <p:spPr>
          <a:xfrm>
            <a:off x="952500" y="95631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6" name="Text 40"/>
          <p:cNvSpPr/>
          <p:nvPr/>
        </p:nvSpPr>
        <p:spPr>
          <a:xfrm>
            <a:off x="952500" y="9763125"/>
            <a:ext cx="447070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role doesn't shrink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it moves to higher-value work.</a:t>
            </a:r>
            <a:endParaRPr lang="en-US" sz="1125" dirty="0"/>
          </a:p>
        </p:txBody>
      </p:sp>
      <p:sp>
        <p:nvSpPr>
          <p:cNvPr id="47" name="Text 41"/>
          <p:cNvSpPr/>
          <p:nvPr/>
        </p:nvSpPr>
        <p:spPr>
          <a:xfrm>
            <a:off x="16861408" y="9763125"/>
            <a:ext cx="55029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/ 11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750835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STRATEGY ·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750835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two-front capability strategy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14800659" y="965895"/>
            <a:ext cx="278832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56657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Lift the floor, grow the tail.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52500" y="1628775"/>
            <a:ext cx="16383000" cy="6349901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81125" y="1943100"/>
            <a:ext cx="209550" cy="28575"/>
          </a:xfrm>
          <a:prstGeom prst="roundRect">
            <a:avLst>
              <a:gd name="adj" fmla="val 50000"/>
            </a:avLst>
          </a:prstGeom>
          <a:solidFill>
            <a:srgbClr val="B9C2CB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1871663"/>
            <a:ext cx="8662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Team today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2695054" y="1943100"/>
            <a:ext cx="209550" cy="28575"/>
          </a:xfrm>
          <a:prstGeom prst="roundRect">
            <a:avLst>
              <a:gd name="adj" fmla="val 50000"/>
            </a:avLst>
          </a:prstGeom>
          <a:solidFill>
            <a:srgbClr val="1E73B8"/>
          </a:solidFill>
          <a:ln/>
        </p:spPr>
      </p:sp>
      <p:sp>
        <p:nvSpPr>
          <p:cNvPr id="9" name="Text 7"/>
          <p:cNvSpPr/>
          <p:nvPr/>
        </p:nvSpPr>
        <p:spPr>
          <a:xfrm>
            <a:off x="2990329" y="1871663"/>
            <a:ext cx="1344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Where we're going</a:t>
            </a:r>
            <a:endParaRPr lang="en-US" sz="1125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125" y="2000250"/>
            <a:ext cx="15525750" cy="555932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81125" y="7616726"/>
            <a:ext cx="173427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5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CAPABILITY →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952500" y="8264426"/>
            <a:ext cx="8048625" cy="1051024"/>
          </a:xfrm>
          <a:prstGeom prst="roundRect">
            <a:avLst>
              <a:gd name="adj" fmla="val 54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52500" y="9305925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4" name="Shape 11"/>
          <p:cNvSpPr/>
          <p:nvPr/>
        </p:nvSpPr>
        <p:spPr>
          <a:xfrm>
            <a:off x="952500" y="8264426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5" name="Shape 12"/>
          <p:cNvSpPr/>
          <p:nvPr/>
        </p:nvSpPr>
        <p:spPr>
          <a:xfrm>
            <a:off x="952500" y="8264426"/>
            <a:ext cx="38100" cy="1051024"/>
          </a:xfrm>
          <a:prstGeom prst="rect">
            <a:avLst/>
          </a:prstGeom>
          <a:solidFill>
            <a:srgbClr val="1E73B8"/>
          </a:solidFill>
          <a:ln/>
        </p:spPr>
      </p:sp>
      <p:sp>
        <p:nvSpPr>
          <p:cNvPr id="16" name="Shape 13"/>
          <p:cNvSpPr/>
          <p:nvPr/>
        </p:nvSpPr>
        <p:spPr>
          <a:xfrm>
            <a:off x="8991600" y="8264426"/>
            <a:ext cx="9525" cy="1051024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7" name="Text 14"/>
          <p:cNvSpPr/>
          <p:nvPr/>
        </p:nvSpPr>
        <p:spPr>
          <a:xfrm>
            <a:off x="1276350" y="8723263"/>
            <a:ext cx="819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FRONT 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86000" y="8502551"/>
            <a:ext cx="5083961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Shift the curve right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2286000" y="8824020"/>
            <a:ext cx="5083961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Train everyone to raise the baseline.</a:t>
            </a:r>
            <a:endParaRPr lang="en-US" sz="1425" dirty="0"/>
          </a:p>
        </p:txBody>
      </p:sp>
      <p:sp>
        <p:nvSpPr>
          <p:cNvPr id="20" name="Text 17"/>
          <p:cNvSpPr/>
          <p:nvPr/>
        </p:nvSpPr>
        <p:spPr>
          <a:xfrm>
            <a:off x="7098283" y="8591848"/>
            <a:ext cx="1607567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Curriculum + Delivery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286875" y="8264426"/>
            <a:ext cx="8048625" cy="1051024"/>
          </a:xfrm>
          <a:prstGeom prst="roundRect">
            <a:avLst>
              <a:gd name="adj" fmla="val 54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286875" y="9305925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3" name="Shape 20"/>
          <p:cNvSpPr/>
          <p:nvPr/>
        </p:nvSpPr>
        <p:spPr>
          <a:xfrm>
            <a:off x="9286875" y="8264426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6875" y="8264426"/>
            <a:ext cx="38100" cy="1051024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25" name="Shape 22"/>
          <p:cNvSpPr/>
          <p:nvPr/>
        </p:nvSpPr>
        <p:spPr>
          <a:xfrm>
            <a:off x="17325975" y="8264426"/>
            <a:ext cx="9525" cy="1051024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6" name="Text 23"/>
          <p:cNvSpPr/>
          <p:nvPr/>
        </p:nvSpPr>
        <p:spPr>
          <a:xfrm>
            <a:off x="9610725" y="8723263"/>
            <a:ext cx="819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0C2C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FRONT 2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620375" y="8502551"/>
            <a:ext cx="5421615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Grow the tail</a:t>
            </a:r>
            <a:endParaRPr lang="en-US" sz="1875" dirty="0"/>
          </a:p>
        </p:txBody>
      </p:sp>
      <p:sp>
        <p:nvSpPr>
          <p:cNvPr id="28" name="Text 25"/>
          <p:cNvSpPr/>
          <p:nvPr/>
        </p:nvSpPr>
        <p:spPr>
          <a:xfrm>
            <a:off x="10620375" y="8824020"/>
            <a:ext cx="5421615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Grow power users on real projects, then scale the wins.</a:t>
            </a:r>
            <a:endParaRPr lang="en-US" sz="1425" dirty="0"/>
          </a:p>
        </p:txBody>
      </p:sp>
      <p:sp>
        <p:nvSpPr>
          <p:cNvPr id="29" name="Text 26"/>
          <p:cNvSpPr/>
          <p:nvPr/>
        </p:nvSpPr>
        <p:spPr>
          <a:xfrm>
            <a:off x="15739616" y="8591848"/>
            <a:ext cx="130060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Flagship projects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52500" y="95631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1" name="Text 28"/>
          <p:cNvSpPr/>
          <p:nvPr/>
        </p:nvSpPr>
        <p:spPr>
          <a:xfrm>
            <a:off x="952500" y="9763125"/>
            <a:ext cx="423520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Advance on both fronts at once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breadth and depth.</a:t>
            </a:r>
            <a:endParaRPr lang="en-US" sz="1125" dirty="0"/>
          </a:p>
        </p:txBody>
      </p:sp>
      <p:sp>
        <p:nvSpPr>
          <p:cNvPr id="32" name="Text 29"/>
          <p:cNvSpPr/>
          <p:nvPr/>
        </p:nvSpPr>
        <p:spPr>
          <a:xfrm>
            <a:off x="16856273" y="9763125"/>
            <a:ext cx="55542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/ 11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· CURRICULUM ·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790575"/>
            <a:ext cx="18021300" cy="493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b="1" spc="-52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curriculum at a glance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952500" y="1350987"/>
            <a:ext cx="12573000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Everyone shares the foundation, then specializes. Full details live in the Course Catalog.</a:t>
            </a:r>
            <a:endParaRPr lang="en-US" sz="1725" dirty="0"/>
          </a:p>
        </p:txBody>
      </p:sp>
      <p:sp>
        <p:nvSpPr>
          <p:cNvPr id="5" name="Text 3"/>
          <p:cNvSpPr/>
          <p:nvPr/>
        </p:nvSpPr>
        <p:spPr>
          <a:xfrm>
            <a:off x="952500" y="1924348"/>
            <a:ext cx="217604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SHARED BY EVERYONE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52500" y="2205335"/>
            <a:ext cx="8086725" cy="916707"/>
          </a:xfrm>
          <a:prstGeom prst="roundRect">
            <a:avLst>
              <a:gd name="adj" fmla="val 8312"/>
            </a:avLst>
          </a:prstGeom>
          <a:solidFill>
            <a:srgbClr val="0C2C4A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2539826"/>
            <a:ext cx="59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101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924050" y="2414885"/>
            <a:ext cx="4986963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924050" y="2693938"/>
            <a:ext cx="4986963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literacy · prompting · Workspace · verification · governance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9248775" y="2205335"/>
            <a:ext cx="8086725" cy="916707"/>
          </a:xfrm>
          <a:prstGeom prst="roundRect">
            <a:avLst>
              <a:gd name="adj" fmla="val 8312"/>
            </a:avLst>
          </a:prstGeom>
          <a:solidFill>
            <a:srgbClr val="0C2C4A"/>
          </a:solidFill>
          <a:ln/>
        </p:spPr>
      </p:sp>
      <p:sp>
        <p:nvSpPr>
          <p:cNvPr id="11" name="Text 9"/>
          <p:cNvSpPr/>
          <p:nvPr/>
        </p:nvSpPr>
        <p:spPr>
          <a:xfrm>
            <a:off x="9496425" y="2539826"/>
            <a:ext cx="59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201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220325" y="2414885"/>
            <a:ext cx="3497029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Applied Core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10220325" y="2693938"/>
            <a:ext cx="349702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 engineering · prompt patterns · QA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952500" y="3355404"/>
            <a:ext cx="7213104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98954" y="3293492"/>
            <a:ext cx="185910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THEN SPECIALIZE 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122396" y="3355404"/>
            <a:ext cx="7213104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" y="3598292"/>
            <a:ext cx="8086725" cy="5888608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209675" y="4093592"/>
            <a:ext cx="757237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9" name="Text 17"/>
          <p:cNvSpPr/>
          <p:nvPr/>
        </p:nvSpPr>
        <p:spPr>
          <a:xfrm>
            <a:off x="1209675" y="3817367"/>
            <a:ext cx="779954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8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DS / QUANT TRACK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1209675" y="4284985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210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1781175" y="4245992"/>
            <a:ext cx="2834082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Code Fundamentals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1209675" y="532477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9675" y="545901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211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1781175" y="5420023"/>
            <a:ext cx="3415829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Spec-Driven Model Development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1209675" y="649880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1209675" y="663304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212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1781175" y="6594053"/>
            <a:ext cx="2493399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Best-Practice AI Coding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1209675" y="7672834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1209675" y="7807077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213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1781175" y="7768084"/>
            <a:ext cx="403809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Automating Model Testing &amp; Validation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209675" y="8846865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32" name="Text 30"/>
          <p:cNvSpPr/>
          <p:nvPr/>
        </p:nvSpPr>
        <p:spPr>
          <a:xfrm>
            <a:off x="1209675" y="8981108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214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1781175" y="8942115"/>
            <a:ext cx="362783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Scaling with Subagents &amp; Pipelines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9248775" y="3598292"/>
            <a:ext cx="8086725" cy="5888608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05950" y="4093592"/>
            <a:ext cx="757237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6" name="Text 34"/>
          <p:cNvSpPr/>
          <p:nvPr/>
        </p:nvSpPr>
        <p:spPr>
          <a:xfrm>
            <a:off x="9505950" y="3817367"/>
            <a:ext cx="779954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8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BUSINESS ANALYST TRACK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9505950" y="4284985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220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10077450" y="4245992"/>
            <a:ext cx="339446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for Workspace Deep Dive</a:t>
            </a:r>
            <a:endParaRPr lang="en-US" sz="1575" dirty="0"/>
          </a:p>
        </p:txBody>
      </p:sp>
      <p:sp>
        <p:nvSpPr>
          <p:cNvPr id="39" name="Shape 37"/>
          <p:cNvSpPr/>
          <p:nvPr/>
        </p:nvSpPr>
        <p:spPr>
          <a:xfrm>
            <a:off x="9505950" y="532477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9505950" y="545901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221</a:t>
            </a:r>
            <a:endParaRPr lang="en-US" sz="1275" dirty="0"/>
          </a:p>
        </p:txBody>
      </p:sp>
      <p:sp>
        <p:nvSpPr>
          <p:cNvPr id="41" name="Text 39"/>
          <p:cNvSpPr/>
          <p:nvPr/>
        </p:nvSpPr>
        <p:spPr>
          <a:xfrm>
            <a:off x="10077450" y="5420023"/>
            <a:ext cx="3385706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Automated Reporting &amp; Analysis</a:t>
            </a:r>
            <a:endParaRPr lang="en-US" sz="1575" dirty="0"/>
          </a:p>
        </p:txBody>
      </p:sp>
      <p:sp>
        <p:nvSpPr>
          <p:cNvPr id="42" name="Shape 40"/>
          <p:cNvSpPr/>
          <p:nvPr/>
        </p:nvSpPr>
        <p:spPr>
          <a:xfrm>
            <a:off x="9505950" y="649880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3" name="Text 41"/>
          <p:cNvSpPr/>
          <p:nvPr/>
        </p:nvSpPr>
        <p:spPr>
          <a:xfrm>
            <a:off x="9505950" y="663304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222</a:t>
            </a:r>
            <a:endParaRPr lang="en-US" sz="1275" dirty="0"/>
          </a:p>
        </p:txBody>
      </p:sp>
      <p:sp>
        <p:nvSpPr>
          <p:cNvPr id="44" name="Text 42"/>
          <p:cNvSpPr/>
          <p:nvPr/>
        </p:nvSpPr>
        <p:spPr>
          <a:xfrm>
            <a:off x="10077450" y="6594053"/>
            <a:ext cx="4299868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Building Automations (Workspace Studio)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9505950" y="7672834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6" name="Text 44"/>
          <p:cNvSpPr/>
          <p:nvPr/>
        </p:nvSpPr>
        <p:spPr>
          <a:xfrm>
            <a:off x="9505950" y="7807077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223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10077450" y="7768084"/>
            <a:ext cx="2095173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From Data to Insight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9505950" y="8846865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9" name="Text 47"/>
          <p:cNvSpPr/>
          <p:nvPr/>
        </p:nvSpPr>
        <p:spPr>
          <a:xfrm>
            <a:off x="9505950" y="8981108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224</a:t>
            </a:r>
            <a:endParaRPr lang="en-US" sz="1275" dirty="0"/>
          </a:p>
        </p:txBody>
      </p:sp>
      <p:sp>
        <p:nvSpPr>
          <p:cNvPr id="50" name="Text 48"/>
          <p:cNvSpPr/>
          <p:nvPr/>
        </p:nvSpPr>
        <p:spPr>
          <a:xfrm>
            <a:off x="10077450" y="8942115"/>
            <a:ext cx="2612090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Light Coding for Analysts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952500" y="96393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52" name="Text 50"/>
          <p:cNvSpPr/>
          <p:nvPr/>
        </p:nvSpPr>
        <p:spPr>
          <a:xfrm>
            <a:off x="952500" y="9801225"/>
            <a:ext cx="760478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See the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Skills Course Catalog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for topics, objectives, best practices and resources per course.</a:t>
            </a:r>
            <a:endParaRPr lang="en-US" sz="1125" dirty="0"/>
          </a:p>
        </p:txBody>
      </p:sp>
      <p:sp>
        <p:nvSpPr>
          <p:cNvPr id="53" name="Text 51"/>
          <p:cNvSpPr/>
          <p:nvPr/>
        </p:nvSpPr>
        <p:spPr>
          <a:xfrm>
            <a:off x="16854488" y="9801225"/>
            <a:ext cx="55721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/ 11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· DELIVERY ·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the learning is delivered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Self-paced for breadth, instructor-led cohorts for depth — matched to where you are in the journey.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37395"/>
            <a:ext cx="16383000" cy="1286768"/>
          </a:xfrm>
          <a:prstGeom prst="roundRect">
            <a:avLst>
              <a:gd name="adj" fmla="val 59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85875" y="2404095"/>
            <a:ext cx="236676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LEARNING JOURNEY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450889" y="2394570"/>
            <a:ext cx="170635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beginner → advanced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02384" y="2718420"/>
            <a:ext cx="3578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58430" y="2947020"/>
            <a:ext cx="1245766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</a:t>
            </a:r>
            <a:endParaRPr lang="en-US" sz="1575" dirty="0"/>
          </a:p>
        </p:txBody>
      </p:sp>
      <p:sp>
        <p:nvSpPr>
          <p:cNvPr id="10" name="Text 8"/>
          <p:cNvSpPr/>
          <p:nvPr/>
        </p:nvSpPr>
        <p:spPr>
          <a:xfrm>
            <a:off x="50387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002884" y="2718420"/>
            <a:ext cx="3578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201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26188" y="2947020"/>
            <a:ext cx="1358637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Applied Core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90392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996687" y="2718420"/>
            <a:ext cx="37125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2xx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479137" y="2947020"/>
            <a:ext cx="1463248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Track courses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30397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4972928" y="2718420"/>
            <a:ext cx="41984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CAP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328279" y="2947020"/>
            <a:ext cx="1796155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Capstone project</a:t>
            </a:r>
            <a:endParaRPr lang="en-US" sz="1575" dirty="0"/>
          </a:p>
        </p:txBody>
      </p:sp>
      <p:sp>
        <p:nvSpPr>
          <p:cNvPr id="19" name="Shape 17"/>
          <p:cNvSpPr/>
          <p:nvPr/>
        </p:nvSpPr>
        <p:spPr>
          <a:xfrm>
            <a:off x="952500" y="3709913"/>
            <a:ext cx="8058150" cy="5643637"/>
          </a:xfrm>
          <a:prstGeom prst="roundRect">
            <a:avLst>
              <a:gd name="adj" fmla="val 135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04925" y="4497586"/>
            <a:ext cx="73533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1" name="Text 19"/>
          <p:cNvSpPr/>
          <p:nvPr/>
        </p:nvSpPr>
        <p:spPr>
          <a:xfrm>
            <a:off x="1304925" y="4024238"/>
            <a:ext cx="1478883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Self-paced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5744542" y="4119488"/>
            <a:ext cx="32050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 &amp; Applied Core · 101–201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1304925" y="475476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76388" y="4749998"/>
            <a:ext cx="44225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Curated materials &amp; step-by-step guides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04925" y="525385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76388" y="5249094"/>
            <a:ext cx="35876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Start anytime — any current level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04925" y="575295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76388" y="5748189"/>
            <a:ext cx="30504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Learn on your own schedule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296400" y="3709913"/>
            <a:ext cx="8039100" cy="5643637"/>
          </a:xfrm>
          <a:prstGeom prst="roundRect">
            <a:avLst>
              <a:gd name="adj" fmla="val 1350"/>
            </a:avLst>
          </a:prstGeom>
          <a:solidFill>
            <a:srgbClr val="0C2C4A"/>
          </a:solidFill>
          <a:ln/>
          <a:effectLst>
            <a:outerShdw sx="100000" sy="100000" kx="0" ky="0" algn="bl" rotWithShape="0" blurRad="28575" dist="9525" dir="5400000">
              <a:srgbClr val="10284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39300" y="4488061"/>
            <a:ext cx="735330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639300" y="4014713"/>
            <a:ext cx="2992882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Instructor-led cohorts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5207407" y="4109963"/>
            <a:ext cx="19637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Specialized tracks · 2xx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9639300" y="474523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10763" y="4740473"/>
            <a:ext cx="3199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Live guidance in small groups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639300" y="524433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910763" y="5239569"/>
            <a:ext cx="331664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Project-based &amp; multi-session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639300" y="574342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10763" y="5738664"/>
            <a:ext cx="30316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Hands-on with an instructor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0" name="Text 38"/>
          <p:cNvSpPr/>
          <p:nvPr/>
        </p:nvSpPr>
        <p:spPr>
          <a:xfrm>
            <a:off x="952500" y="9763125"/>
            <a:ext cx="544126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 associate blends both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breadth on their own, depth together.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16854488" y="9763125"/>
            <a:ext cx="55721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/ 11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1 ·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Portfolio Dashboard + Chatbot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dashboard that answers back: fixed views cover the routine, a chatbot covers the rest.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18345"/>
            <a:ext cx="9244533" cy="723520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2025" y="2127870"/>
            <a:ext cx="9225483" cy="523875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7" name="Shape 5"/>
          <p:cNvSpPr/>
          <p:nvPr/>
        </p:nvSpPr>
        <p:spPr>
          <a:xfrm>
            <a:off x="962025" y="2642220"/>
            <a:ext cx="9225483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8" name="Shape 6"/>
          <p:cNvSpPr/>
          <p:nvPr/>
        </p:nvSpPr>
        <p:spPr>
          <a:xfrm>
            <a:off x="1228725" y="2332658"/>
            <a:ext cx="104775" cy="10477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2299320"/>
            <a:ext cx="183921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spc="14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Portfolio Dashboard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228725" y="2899395"/>
            <a:ext cx="2783012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28750" y="3080370"/>
            <a:ext cx="262125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TOTAL EXPOSURE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428750" y="3299445"/>
            <a:ext cx="262125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6242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$4.2B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4183187" y="2899395"/>
            <a:ext cx="2783086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3212" y="3080370"/>
            <a:ext cx="262134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AT-RISK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383212" y="3299445"/>
            <a:ext cx="2621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6242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6.1%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137722" y="2899395"/>
            <a:ext cx="2783086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7747" y="3080370"/>
            <a:ext cx="262134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PD CHANGE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37747" y="3299445"/>
            <a:ext cx="2621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+0.3%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228725" y="4070970"/>
            <a:ext cx="9561292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EXPOSURE BY SEGMENT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1228725" y="4318620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Corporate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81275" y="4318620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2" name="Shape 20"/>
          <p:cNvSpPr/>
          <p:nvPr/>
        </p:nvSpPr>
        <p:spPr>
          <a:xfrm>
            <a:off x="2581275" y="4318620"/>
            <a:ext cx="6458769" cy="152400"/>
          </a:xfrm>
          <a:prstGeom prst="roundRect">
            <a:avLst>
              <a:gd name="adj" fmla="val 25000"/>
            </a:avLst>
          </a:prstGeom>
          <a:solidFill>
            <a:srgbClr val="1E73B8"/>
          </a:solidFill>
          <a:ln/>
        </p:spPr>
      </p:sp>
      <p:sp>
        <p:nvSpPr>
          <p:cNvPr id="23" name="Text 21"/>
          <p:cNvSpPr/>
          <p:nvPr/>
        </p:nvSpPr>
        <p:spPr>
          <a:xfrm>
            <a:off x="1228725" y="4575795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Commercial 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581275" y="4575795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5" name="Shape 23"/>
          <p:cNvSpPr/>
          <p:nvPr/>
        </p:nvSpPr>
        <p:spPr>
          <a:xfrm>
            <a:off x="2581275" y="4575795"/>
            <a:ext cx="4697239" cy="152400"/>
          </a:xfrm>
          <a:prstGeom prst="roundRect">
            <a:avLst>
              <a:gd name="adj" fmla="val 25000"/>
            </a:avLst>
          </a:prstGeom>
          <a:solidFill>
            <a:srgbClr val="1E73B8"/>
          </a:solidFill>
          <a:ln/>
        </p:spPr>
      </p:sp>
      <p:sp>
        <p:nvSpPr>
          <p:cNvPr id="26" name="Text 24"/>
          <p:cNvSpPr/>
          <p:nvPr/>
        </p:nvSpPr>
        <p:spPr>
          <a:xfrm>
            <a:off x="1228725" y="4832970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SME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81275" y="4832970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8" name="Shape 26"/>
          <p:cNvSpPr/>
          <p:nvPr/>
        </p:nvSpPr>
        <p:spPr>
          <a:xfrm>
            <a:off x="2581275" y="4832970"/>
            <a:ext cx="3449538" cy="152400"/>
          </a:xfrm>
          <a:prstGeom prst="roundRect">
            <a:avLst>
              <a:gd name="adj" fmla="val 25000"/>
            </a:avLst>
          </a:prstGeom>
          <a:solidFill>
            <a:srgbClr val="3D93D6"/>
          </a:solidFill>
          <a:ln/>
        </p:spPr>
      </p:sp>
      <p:sp>
        <p:nvSpPr>
          <p:cNvPr id="29" name="Text 27"/>
          <p:cNvSpPr/>
          <p:nvPr/>
        </p:nvSpPr>
        <p:spPr>
          <a:xfrm>
            <a:off x="1228725" y="5090145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Specialized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581275" y="5090145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81275" y="5090145"/>
            <a:ext cx="2128391" cy="152400"/>
          </a:xfrm>
          <a:prstGeom prst="roundRect">
            <a:avLst>
              <a:gd name="adj" fmla="val 25000"/>
            </a:avLst>
          </a:prstGeom>
          <a:solidFill>
            <a:srgbClr val="3D93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482783" y="2118345"/>
            <a:ext cx="6852717" cy="7235205"/>
          </a:xfrm>
          <a:prstGeom prst="roundRect">
            <a:avLst>
              <a:gd name="adj" fmla="val 139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92308" y="2656508"/>
            <a:ext cx="6833667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4" name="Text 32"/>
          <p:cNvSpPr/>
          <p:nvPr/>
        </p:nvSpPr>
        <p:spPr>
          <a:xfrm>
            <a:off x="10739958" y="2318370"/>
            <a:ext cx="145981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ANYTHING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4316001" y="6781800"/>
            <a:ext cx="2762324" cy="571500"/>
          </a:xfrm>
          <a:prstGeom prst="roundRect">
            <a:avLst>
              <a:gd name="adj" fmla="val 23333"/>
            </a:avLst>
          </a:prstGeom>
          <a:solidFill>
            <a:srgbClr val="0C2C4A"/>
          </a:solidFill>
          <a:ln/>
        </p:spPr>
      </p:sp>
      <p:sp>
        <p:nvSpPr>
          <p:cNvPr id="36" name="Text 34"/>
          <p:cNvSpPr/>
          <p:nvPr/>
        </p:nvSpPr>
        <p:spPr>
          <a:xfrm>
            <a:off x="14506501" y="6934200"/>
            <a:ext cx="24641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Why did Q2 exposure rise?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0739958" y="7524750"/>
            <a:ext cx="5977756" cy="876300"/>
          </a:xfrm>
          <a:prstGeom prst="roundRect">
            <a:avLst>
              <a:gd name="adj" fmla="val 15217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939983" y="7686675"/>
            <a:ext cx="5757039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Concentration in 3 names — here's the breakdown and the trend.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0492308" y="8667750"/>
            <a:ext cx="6833667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0" name="Text 38"/>
          <p:cNvSpPr/>
          <p:nvPr/>
        </p:nvSpPr>
        <p:spPr>
          <a:xfrm>
            <a:off x="10701858" y="8924925"/>
            <a:ext cx="653214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about the portfolio…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16754475" y="8829675"/>
            <a:ext cx="361950" cy="361950"/>
          </a:xfrm>
          <a:prstGeom prst="ellipse">
            <a:avLst/>
          </a:prstGeom>
          <a:solidFill>
            <a:srgbClr val="1E73B8"/>
          </a:solidFill>
          <a:ln/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49725" y="8924925"/>
            <a:ext cx="171450" cy="17145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4" name="Text 41"/>
          <p:cNvSpPr/>
          <p:nvPr/>
        </p:nvSpPr>
        <p:spPr>
          <a:xfrm>
            <a:off x="952500" y="9763125"/>
            <a:ext cx="621454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Fixed views answer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~90% of questions.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chatbot handles the corner cases.</a:t>
            </a:r>
            <a:endParaRPr lang="en-US" sz="1125" dirty="0"/>
          </a:p>
        </p:txBody>
      </p:sp>
      <p:sp>
        <p:nvSpPr>
          <p:cNvPr id="45" name="Text 42"/>
          <p:cNvSpPr/>
          <p:nvPr/>
        </p:nvSpPr>
        <p:spPr>
          <a:xfrm>
            <a:off x="16853446" y="9763125"/>
            <a:ext cx="55825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06 / 11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2 · 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Learning &amp; Knowledge Hub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Onboarding becomes a living, searchable knowledge base for the whole commercial-risk org.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18345"/>
            <a:ext cx="16383000" cy="723520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2025" y="2127870"/>
            <a:ext cx="16363950" cy="523875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7" name="Shape 5"/>
          <p:cNvSpPr/>
          <p:nvPr/>
        </p:nvSpPr>
        <p:spPr>
          <a:xfrm>
            <a:off x="962025" y="2642220"/>
            <a:ext cx="16363950" cy="9525"/>
          </a:xfrm>
          <a:prstGeom prst="rect">
            <a:avLst/>
          </a:prstGeom>
          <a:solidFill>
            <a:srgbClr val="E5EB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725" y="2308845"/>
            <a:ext cx="152400" cy="152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6375" y="2299320"/>
            <a:ext cx="141028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Knowledge Hub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1285875" y="2937495"/>
            <a:ext cx="15716250" cy="571500"/>
          </a:xfrm>
          <a:prstGeom prst="roundRect">
            <a:avLst>
              <a:gd name="adj" fmla="val 16667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4950" y="3118470"/>
            <a:ext cx="209550" cy="2095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47850" y="3123233"/>
            <a:ext cx="435561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75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Search onboarding, guides, past analyses…</a:t>
            </a:r>
            <a:endParaRPr lang="en-US" sz="1575" dirty="0"/>
          </a:p>
        </p:txBody>
      </p:sp>
      <p:sp>
        <p:nvSpPr>
          <p:cNvPr id="13" name="Shape 9"/>
          <p:cNvSpPr/>
          <p:nvPr/>
        </p:nvSpPr>
        <p:spPr>
          <a:xfrm>
            <a:off x="1285875" y="3756645"/>
            <a:ext cx="5111725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43050" y="4698876"/>
            <a:ext cx="285750" cy="2857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43050" y="5117976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Onboarding</a:t>
            </a:r>
            <a:endParaRPr lang="en-US" sz="1725" dirty="0"/>
          </a:p>
        </p:txBody>
      </p:sp>
      <p:sp>
        <p:nvSpPr>
          <p:cNvPr id="16" name="Shape 11"/>
          <p:cNvSpPr/>
          <p:nvPr/>
        </p:nvSpPr>
        <p:spPr>
          <a:xfrm>
            <a:off x="6588100" y="3756645"/>
            <a:ext cx="5111725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45275" y="4698876"/>
            <a:ext cx="285750" cy="2857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45275" y="5117976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Commercial Risk 101</a:t>
            </a:r>
            <a:endParaRPr lang="en-US" sz="1725" dirty="0"/>
          </a:p>
        </p:txBody>
      </p:sp>
      <p:sp>
        <p:nvSpPr>
          <p:cNvPr id="19" name="Shape 13"/>
          <p:cNvSpPr/>
          <p:nvPr/>
        </p:nvSpPr>
        <p:spPr>
          <a:xfrm>
            <a:off x="11890325" y="3756645"/>
            <a:ext cx="5111800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147500" y="4698876"/>
            <a:ext cx="285750" cy="28575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147500" y="5117976"/>
            <a:ext cx="5057195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Library</a:t>
            </a:r>
            <a:endParaRPr lang="en-US" sz="1725" dirty="0"/>
          </a:p>
        </p:txBody>
      </p:sp>
      <p:sp>
        <p:nvSpPr>
          <p:cNvPr id="22" name="Shape 15"/>
          <p:cNvSpPr/>
          <p:nvPr/>
        </p:nvSpPr>
        <p:spPr>
          <a:xfrm>
            <a:off x="1285875" y="6502673"/>
            <a:ext cx="5111725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050" y="7444978"/>
            <a:ext cx="285750" cy="28575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543050" y="7864078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Past Analyses</a:t>
            </a:r>
            <a:endParaRPr lang="en-US" sz="1725" dirty="0"/>
          </a:p>
        </p:txBody>
      </p:sp>
      <p:sp>
        <p:nvSpPr>
          <p:cNvPr id="25" name="Shape 17"/>
          <p:cNvSpPr/>
          <p:nvPr/>
        </p:nvSpPr>
        <p:spPr>
          <a:xfrm>
            <a:off x="6588100" y="6502673"/>
            <a:ext cx="5111725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45275" y="7444978"/>
            <a:ext cx="285750" cy="28575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845275" y="7864078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How-to Guides</a:t>
            </a:r>
            <a:endParaRPr lang="en-US" sz="1725" dirty="0"/>
          </a:p>
        </p:txBody>
      </p:sp>
      <p:sp>
        <p:nvSpPr>
          <p:cNvPr id="28" name="Shape 19"/>
          <p:cNvSpPr/>
          <p:nvPr/>
        </p:nvSpPr>
        <p:spPr>
          <a:xfrm>
            <a:off x="11890325" y="6502673"/>
            <a:ext cx="5111800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147500" y="7444978"/>
            <a:ext cx="285750" cy="28575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2147500" y="7864078"/>
            <a:ext cx="5057195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Glossary</a:t>
            </a:r>
            <a:endParaRPr lang="en-US" sz="1725" dirty="0"/>
          </a:p>
        </p:txBody>
      </p:sp>
      <p:sp>
        <p:nvSpPr>
          <p:cNvPr id="31" name="Shape 21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2" name="Text 22"/>
          <p:cNvSpPr/>
          <p:nvPr/>
        </p:nvSpPr>
        <p:spPr>
          <a:xfrm>
            <a:off x="952500" y="9763125"/>
            <a:ext cx="561602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Built once, reused everywhere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self-serve learning paths on top.</a:t>
            </a:r>
            <a:endParaRPr lang="en-US" sz="1125" dirty="0"/>
          </a:p>
        </p:txBody>
      </p:sp>
      <p:sp>
        <p:nvSpPr>
          <p:cNvPr id="33" name="Text 23"/>
          <p:cNvSpPr/>
          <p:nvPr/>
        </p:nvSpPr>
        <p:spPr>
          <a:xfrm>
            <a:off x="16862450" y="9763125"/>
            <a:ext cx="54925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07 / 11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3 · 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Agentic Model Development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An agent-driven pipeline across the full model lifecycle — so quants focus on the design.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4806776"/>
            <a:ext cx="180975" cy="1809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4288">
            <a:solidFill>
              <a:srgbClr val="CADF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8725" y="4802014"/>
            <a:ext cx="1371749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Agent-automated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0024" y="482106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0C2C4A"/>
          </a:solidFill>
          <a:ln/>
        </p:spPr>
      </p:sp>
      <p:sp>
        <p:nvSpPr>
          <p:cNvPr id="8" name="Text 6"/>
          <p:cNvSpPr/>
          <p:nvPr/>
        </p:nvSpPr>
        <p:spPr>
          <a:xfrm>
            <a:off x="3057674" y="4802014"/>
            <a:ext cx="2214711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Human judgment — the quant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2500" y="5273501"/>
            <a:ext cx="2333030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3475" y="5492576"/>
            <a:ext cx="216818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133475" y="5730701"/>
            <a:ext cx="21681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prep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399830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2730" y="5273501"/>
            <a:ext cx="2431628" cy="1277243"/>
          </a:xfrm>
          <a:prstGeom prst="roundRect">
            <a:avLst>
              <a:gd name="adj" fmla="val 6712"/>
            </a:avLst>
          </a:prstGeom>
          <a:solidFill>
            <a:srgbClr val="0C2C4A"/>
          </a:solidFill>
          <a:ln w="9525">
            <a:solidFill>
              <a:srgbClr val="0C2C4A"/>
            </a:solidFill>
            <a:prstDash val="solid"/>
          </a:ln>
          <a:effectLst>
            <a:outerShdw sx="100000" sy="100000" kx="0" ky="0" algn="bl" rotWithShape="0" blurRad="171450" dist="57150" dir="5400000">
              <a:srgbClr val="0C2C4A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23705" y="5492576"/>
            <a:ext cx="2276646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QUANT-LED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3923705" y="5730701"/>
            <a:ext cx="2276646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design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288658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631558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533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6812533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078962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21862" y="5273501"/>
            <a:ext cx="2333030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2837" y="5492576"/>
            <a:ext cx="216818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9602837" y="5692601"/>
            <a:ext cx="21681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Test &amp; validate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602837" y="6009754"/>
            <a:ext cx="204728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standardized via the Impact framework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11869192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212092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93067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12393067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Deploy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659496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002396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183371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15183371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Monitor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" y="9763125"/>
            <a:ext cx="875116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payoff: standardize the lifecycle so the highest-judgment work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design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gets the most attention.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6852850" y="9763125"/>
            <a:ext cx="55885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08 / 11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INNOVATION HUB · 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9625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Innovation Hub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ties it together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33513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One shared place every capability connects to — so wins get reused across the whole team.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715250" y="4157142"/>
            <a:ext cx="2857500" cy="2857500"/>
          </a:xfrm>
          <a:prstGeom prst="ellipse">
            <a:avLst/>
          </a:prstGeom>
          <a:solidFill>
            <a:srgbClr val="EAF3F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52750" y="2728392"/>
            <a:ext cx="12382500" cy="5715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53375" y="4395267"/>
            <a:ext cx="2381250" cy="2381250"/>
          </a:xfrm>
          <a:prstGeom prst="ellipse">
            <a:avLst/>
          </a:prstGeom>
          <a:gradFill rotWithShape="1">
            <a:gsLst>
              <a:gs pos="0">
                <a:srgbClr val="12395A">
                  <a:alpha val="100000"/>
                </a:srgbClr>
              </a:gs>
              <a:gs pos="55000">
                <a:srgbClr val="0C2C4A">
                  <a:alpha val="100000"/>
                </a:srgbClr>
              </a:gs>
              <a:gs pos="100000">
                <a:srgbClr val="082138">
                  <a:alpha val="100000"/>
                </a:srgbClr>
              </a:gs>
            </a:gsLst>
            <a:path path="circle">
              <a:fillToRect l="30000" t="20000" r="70000" b="80000"/>
            </a:path>
          </a:gradFill>
          <a:ln/>
          <a:effectLst>
            <a:outerShdw sx="100000" sy="100000" kx="0" ky="0" algn="bl" rotWithShape="0" blurRad="400050" dist="171450" dir="5400000">
              <a:srgbClr val="0C2C4A">
                <a:alpha val="3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72698" y="5140896"/>
            <a:ext cx="1542604" cy="69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325" b="1" spc="-23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Innovation Hub</a:t>
            </a:r>
            <a:endParaRPr lang="en-US" sz="2325" dirty="0"/>
          </a:p>
        </p:txBody>
      </p:sp>
      <p:sp>
        <p:nvSpPr>
          <p:cNvPr id="9" name="Text 6"/>
          <p:cNvSpPr/>
          <p:nvPr/>
        </p:nvSpPr>
        <p:spPr>
          <a:xfrm>
            <a:off x="8212157" y="5916588"/>
            <a:ext cx="1863685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IDEAS IN · TOOLS OUT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620000" y="2728392"/>
            <a:ext cx="306705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570119" y="3036763"/>
            <a:ext cx="1166812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Post ideas</a:t>
            </a:r>
            <a:endParaRPr lang="en-US" sz="1725" dirty="0"/>
          </a:p>
        </p:txBody>
      </p:sp>
      <p:sp>
        <p:nvSpPr>
          <p:cNvPr id="12" name="Text 9"/>
          <p:cNvSpPr/>
          <p:nvPr/>
        </p:nvSpPr>
        <p:spPr>
          <a:xfrm>
            <a:off x="8226103" y="3344391"/>
            <a:ext cx="1854845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 what could work</a:t>
            </a:r>
            <a:endParaRPr lang="en-US" sz="1275" dirty="0"/>
          </a:p>
        </p:txBody>
      </p:sp>
      <p:sp>
        <p:nvSpPr>
          <p:cNvPr id="13" name="Shape 10"/>
          <p:cNvSpPr/>
          <p:nvPr/>
        </p:nvSpPr>
        <p:spPr>
          <a:xfrm>
            <a:off x="12477750" y="4919142"/>
            <a:ext cx="2876550" cy="135255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281273" y="5332288"/>
            <a:ext cx="1269504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 tools</a:t>
            </a:r>
            <a:endParaRPr lang="en-US" sz="1725" dirty="0"/>
          </a:p>
        </p:txBody>
      </p:sp>
      <p:sp>
        <p:nvSpPr>
          <p:cNvPr id="15" name="Text 12"/>
          <p:cNvSpPr/>
          <p:nvPr/>
        </p:nvSpPr>
        <p:spPr>
          <a:xfrm>
            <a:off x="13023477" y="5639916"/>
            <a:ext cx="178502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publish what you built</a:t>
            </a:r>
            <a:endParaRPr lang="en-US" sz="1275" dirty="0"/>
          </a:p>
        </p:txBody>
      </p:sp>
      <p:sp>
        <p:nvSpPr>
          <p:cNvPr id="16" name="Shape 13"/>
          <p:cNvSpPr/>
          <p:nvPr/>
        </p:nvSpPr>
        <p:spPr>
          <a:xfrm>
            <a:off x="7620000" y="7319442"/>
            <a:ext cx="306705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654281" y="7627813"/>
            <a:ext cx="9984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Discover</a:t>
            </a:r>
            <a:endParaRPr lang="en-US" sz="1725" dirty="0"/>
          </a:p>
        </p:txBody>
      </p:sp>
      <p:sp>
        <p:nvSpPr>
          <p:cNvPr id="18" name="Text 15"/>
          <p:cNvSpPr/>
          <p:nvPr/>
        </p:nvSpPr>
        <p:spPr>
          <a:xfrm>
            <a:off x="8227334" y="7935441"/>
            <a:ext cx="1852307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find what others made</a:t>
            </a:r>
            <a:endParaRPr lang="en-US" sz="1275" dirty="0"/>
          </a:p>
        </p:txBody>
      </p:sp>
      <p:sp>
        <p:nvSpPr>
          <p:cNvPr id="19" name="Shape 16"/>
          <p:cNvSpPr/>
          <p:nvPr/>
        </p:nvSpPr>
        <p:spPr>
          <a:xfrm>
            <a:off x="2952750" y="4919142"/>
            <a:ext cx="2876550" cy="135255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80250" y="5332288"/>
            <a:ext cx="1621475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Reuse &amp; scale</a:t>
            </a:r>
            <a:endParaRPr lang="en-US" sz="1725" dirty="0"/>
          </a:p>
        </p:txBody>
      </p:sp>
      <p:sp>
        <p:nvSpPr>
          <p:cNvPr id="21" name="Text 18"/>
          <p:cNvSpPr/>
          <p:nvPr/>
        </p:nvSpPr>
        <p:spPr>
          <a:xfrm>
            <a:off x="3329118" y="5639916"/>
            <a:ext cx="212374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apply it beyond your team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3" name="Text 20"/>
          <p:cNvSpPr/>
          <p:nvPr/>
        </p:nvSpPr>
        <p:spPr>
          <a:xfrm>
            <a:off x="952500" y="9763125"/>
            <a:ext cx="483258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Ideas in, tools out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so every win compounds across the org.</a:t>
            </a:r>
            <a:endParaRPr lang="en-US" sz="1125" dirty="0"/>
          </a:p>
        </p:txBody>
      </p:sp>
      <p:sp>
        <p:nvSpPr>
          <p:cNvPr id="24" name="Text 21"/>
          <p:cNvSpPr/>
          <p:nvPr/>
        </p:nvSpPr>
        <p:spPr>
          <a:xfrm>
            <a:off x="16853892" y="9763125"/>
            <a:ext cx="5578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09 / 11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TOOLKIT ·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0100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Your AI toolkit,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mapped</a:t>
            </a:r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.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14463"/>
            <a:ext cx="11772900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Placed by how deep the work goes and how much it does for you — and flagged by what's live in our environment today.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 rot="-5400000">
            <a:off x="-295275" y="5806901"/>
            <a:ext cx="2864739" cy="1714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POWER · ASSISTIVE → AGENTIC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371600" y="2317403"/>
            <a:ext cx="15963900" cy="6874222"/>
          </a:xfrm>
          <a:prstGeom prst="roundRect">
            <a:avLst>
              <a:gd name="adj" fmla="val 1386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53550" y="2326928"/>
            <a:ext cx="9525" cy="6855172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8" name="Shape 6"/>
          <p:cNvSpPr/>
          <p:nvPr/>
        </p:nvSpPr>
        <p:spPr>
          <a:xfrm>
            <a:off x="1381125" y="5754514"/>
            <a:ext cx="1594485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9" name="Shape 7"/>
          <p:cNvSpPr/>
          <p:nvPr/>
        </p:nvSpPr>
        <p:spPr>
          <a:xfrm>
            <a:off x="9353550" y="2326928"/>
            <a:ext cx="7972425" cy="3427586"/>
          </a:xfrm>
          <a:prstGeom prst="rect">
            <a:avLst/>
          </a:prstGeom>
          <a:gradFill rotWithShape="1">
            <a:gsLst>
              <a:gs pos="0">
                <a:srgbClr val="1E73B8">
                  <a:alpha val="5000"/>
                </a:srgbClr>
              </a:gs>
              <a:gs pos="62000">
                <a:srgbClr val="1E73B8">
                  <a:alpha val="0"/>
                </a:srgbClr>
              </a:gs>
            </a:gsLst>
            <a:lin ang="750000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1609725" y="2498378"/>
            <a:ext cx="2064149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AUTOMATE THE ROUTINE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4803621" y="2498378"/>
            <a:ext cx="2293754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AUTONOMOUS · SPECIALIST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609725" y="8849692"/>
            <a:ext cx="1517846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EVERYDAY ASSIST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15474590" y="8849692"/>
            <a:ext cx="1622785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SPECIALIST ASSIST</a:t>
            </a:r>
            <a:endParaRPr lang="en-US" sz="975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125" y="2326928"/>
            <a:ext cx="15944850" cy="685517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 rot="-1860000">
            <a:off x="13151495" y="4301505"/>
            <a:ext cx="771525" cy="1333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10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HEADROOM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969977" y="7571036"/>
            <a:ext cx="224351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4277" y="7699623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18" name="Text 15"/>
          <p:cNvSpPr/>
          <p:nvPr/>
        </p:nvSpPr>
        <p:spPr>
          <a:xfrm>
            <a:off x="3255727" y="7656761"/>
            <a:ext cx="1985896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for Workspace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523769" y="6611317"/>
            <a:ext cx="151380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638069" y="6739905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1" name="Text 18"/>
          <p:cNvSpPr/>
          <p:nvPr/>
        </p:nvSpPr>
        <p:spPr>
          <a:xfrm>
            <a:off x="6809519" y="6697042"/>
            <a:ext cx="1151855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NotebookLM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40846" y="4349130"/>
            <a:ext cx="192844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55146" y="4477717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4" name="Text 21"/>
          <p:cNvSpPr/>
          <p:nvPr/>
        </p:nvSpPr>
        <p:spPr>
          <a:xfrm>
            <a:off x="5326596" y="4434855"/>
            <a:ext cx="1639319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Workspace Studio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8665629" y="5664845"/>
            <a:ext cx="1375842" cy="190500"/>
          </a:xfrm>
          <a:prstGeom prst="roundRect">
            <a:avLst>
              <a:gd name="adj" fmla="val 50000"/>
            </a:avLst>
          </a:prstGeom>
          <a:solidFill>
            <a:srgbClr val="FAF2E1"/>
          </a:solidFill>
          <a:ln w="9525">
            <a:solidFill>
              <a:srgbClr val="E4C89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60879" y="5712470"/>
            <a:ext cx="1261542" cy="1333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90" kern="0" dirty="0">
                <a:solidFill>
                  <a:srgbClr val="9A6A1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 YET AVAILABLE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8391488" y="5912495"/>
            <a:ext cx="1924124" cy="342900"/>
          </a:xfrm>
          <a:prstGeom prst="roundRect">
            <a:avLst>
              <a:gd name="adj" fmla="val 50000"/>
            </a:avLst>
          </a:prstGeom>
          <a:solidFill>
            <a:srgbClr val="FCF6EA"/>
          </a:solidFill>
          <a:ln w="19050">
            <a:solidFill>
              <a:srgbClr val="C0872E"/>
            </a:solidFill>
            <a:prstDash val="dash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515313" y="6041082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9" name="Text 26"/>
          <p:cNvSpPr/>
          <p:nvPr/>
        </p:nvSpPr>
        <p:spPr>
          <a:xfrm>
            <a:off x="8686763" y="5998220"/>
            <a:ext cx="1613617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Enterprise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9622296" y="3608338"/>
            <a:ext cx="1375842" cy="190500"/>
          </a:xfrm>
          <a:prstGeom prst="roundRect">
            <a:avLst>
              <a:gd name="adj" fmla="val 50000"/>
            </a:avLst>
          </a:prstGeom>
          <a:solidFill>
            <a:srgbClr val="FAF2E1"/>
          </a:solidFill>
          <a:ln w="9525">
            <a:solidFill>
              <a:srgbClr val="E4C89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717546" y="3655963"/>
            <a:ext cx="1261542" cy="1333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90" kern="0" dirty="0">
                <a:solidFill>
                  <a:srgbClr val="9A6A1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 YET AVAILABLE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464836" y="3855988"/>
            <a:ext cx="1690762" cy="342900"/>
          </a:xfrm>
          <a:prstGeom prst="roundRect">
            <a:avLst>
              <a:gd name="adj" fmla="val 50000"/>
            </a:avLst>
          </a:prstGeom>
          <a:solidFill>
            <a:srgbClr val="0C2C4A"/>
          </a:solidFill>
          <a:ln w="19050">
            <a:solidFill>
              <a:srgbClr val="C0872E"/>
            </a:solidFill>
            <a:prstDash val="dash"/>
          </a:ln>
          <a:effectLst>
            <a:outerShdw sx="100000" sy="100000" kx="0" ky="0" algn="bl" rotWithShape="0" blurRad="171450" dist="66675" dir="5400000">
              <a:srgbClr val="0C2C4A">
                <a:alpha val="2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588661" y="3984575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34" name="Text 31"/>
          <p:cNvSpPr/>
          <p:nvPr/>
        </p:nvSpPr>
        <p:spPr>
          <a:xfrm>
            <a:off x="9760111" y="3941713"/>
            <a:ext cx="1356918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Cowork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13849983" y="3112294"/>
            <a:ext cx="1333016" cy="1333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90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CAPABILITY CEILING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13469503" y="3255169"/>
            <a:ext cx="1972791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C2C4A"/>
            </a:solidFill>
            <a:prstDash val="dash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3593328" y="3383756"/>
            <a:ext cx="85725" cy="85725"/>
          </a:xfrm>
          <a:prstGeom prst="ellipse">
            <a:avLst/>
          </a:prstGeom>
          <a:solidFill>
            <a:srgbClr val="0C2C4A"/>
          </a:solidFill>
          <a:ln/>
        </p:spPr>
      </p:sp>
      <p:sp>
        <p:nvSpPr>
          <p:cNvPr id="38" name="Text 35"/>
          <p:cNvSpPr/>
          <p:nvPr/>
        </p:nvSpPr>
        <p:spPr>
          <a:xfrm>
            <a:off x="13764778" y="3340894"/>
            <a:ext cx="1667150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C2C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Code — full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10902516" y="5057403"/>
            <a:ext cx="2323281" cy="571500"/>
          </a:xfrm>
          <a:prstGeom prst="roundRect">
            <a:avLst>
              <a:gd name="adj" fmla="val 18333"/>
            </a:avLst>
          </a:prstGeom>
          <a:solidFill>
            <a:srgbClr val="0C2C4A"/>
          </a:solidFill>
          <a:ln w="9525">
            <a:solidFill>
              <a:srgbClr val="0C2C4A"/>
            </a:solidFill>
            <a:prstDash val="solid"/>
          </a:ln>
          <a:effectLst>
            <a:outerShdw sx="100000" sy="100000" kx="0" ky="0" algn="bl" rotWithShape="0" blurRad="209550" dist="85725" dir="5400000">
              <a:srgbClr val="0C2C4A">
                <a:alpha val="2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1073966" y="5219328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41" name="Text 38"/>
          <p:cNvSpPr/>
          <p:nvPr/>
        </p:nvSpPr>
        <p:spPr>
          <a:xfrm>
            <a:off x="11245416" y="5171703"/>
            <a:ext cx="1174254" cy="2190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Code</a:t>
            </a:r>
            <a:endParaRPr lang="en-US" sz="1425" dirty="0"/>
          </a:p>
        </p:txBody>
      </p:sp>
      <p:sp>
        <p:nvSpPr>
          <p:cNvPr id="42" name="Text 39"/>
          <p:cNvSpPr/>
          <p:nvPr/>
        </p:nvSpPr>
        <p:spPr>
          <a:xfrm>
            <a:off x="11245416" y="5390778"/>
            <a:ext cx="2006970" cy="1524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54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 USE · SANDBOX · OPUS 4.7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371600" y="9296400"/>
            <a:ext cx="230971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84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EVERYDAY · FOR EVERYONE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8969722" y="9296400"/>
            <a:ext cx="157784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DEPTH OF USE →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5902508" y="9296400"/>
            <a:ext cx="157629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84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SPECIALIST · DEEP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52500" y="96012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2500" y="9767888"/>
            <a:ext cx="133350" cy="13335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ADFF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171575" y="9748838"/>
            <a:ext cx="1441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Google Workspace</a:t>
            </a:r>
            <a:endParaRPr lang="en-US" sz="1125" dirty="0"/>
          </a:p>
        </p:txBody>
      </p:sp>
      <p:sp>
        <p:nvSpPr>
          <p:cNvPr id="49" name="Shape 46"/>
          <p:cNvSpPr/>
          <p:nvPr/>
        </p:nvSpPr>
        <p:spPr>
          <a:xfrm>
            <a:off x="2745953" y="9782175"/>
            <a:ext cx="104775" cy="104775"/>
          </a:xfrm>
          <a:prstGeom prst="ellipse">
            <a:avLst/>
          </a:prstGeom>
          <a:solidFill>
            <a:srgbClr val="0C2C4A"/>
          </a:solidFill>
          <a:ln/>
        </p:spPr>
      </p:sp>
      <p:sp>
        <p:nvSpPr>
          <p:cNvPr id="50" name="Text 47"/>
          <p:cNvSpPr/>
          <p:nvPr/>
        </p:nvSpPr>
        <p:spPr>
          <a:xfrm>
            <a:off x="2936453" y="9748838"/>
            <a:ext cx="5791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</a:t>
            </a:r>
            <a:endParaRPr lang="en-US" sz="1125" dirty="0"/>
          </a:p>
        </p:txBody>
      </p:sp>
      <p:sp>
        <p:nvSpPr>
          <p:cNvPr id="51" name="Shape 48"/>
          <p:cNvSpPr/>
          <p:nvPr/>
        </p:nvSpPr>
        <p:spPr>
          <a:xfrm>
            <a:off x="3648968" y="9767888"/>
            <a:ext cx="133350" cy="133350"/>
          </a:xfrm>
          <a:prstGeom prst="ellipse">
            <a:avLst/>
          </a:prstGeom>
          <a:ln w="14288">
            <a:solidFill>
              <a:srgbClr val="C0872E"/>
            </a:solidFill>
            <a:prstDash val="dash"/>
          </a:ln>
        </p:spPr>
      </p:sp>
      <p:sp>
        <p:nvSpPr>
          <p:cNvPr id="52" name="Text 49"/>
          <p:cNvSpPr/>
          <p:nvPr/>
        </p:nvSpPr>
        <p:spPr>
          <a:xfrm>
            <a:off x="3868043" y="9748838"/>
            <a:ext cx="20084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 yet in our environment</a:t>
            </a:r>
            <a:endParaRPr lang="en-US" sz="1125" dirty="0"/>
          </a:p>
        </p:txBody>
      </p:sp>
      <p:sp>
        <p:nvSpPr>
          <p:cNvPr id="53" name="Text 50"/>
          <p:cNvSpPr/>
          <p:nvPr/>
        </p:nvSpPr>
        <p:spPr>
          <a:xfrm>
            <a:off x="16880607" y="9763125"/>
            <a:ext cx="5310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10 / 11</a:t>
            </a:r>
            <a:endParaRPr lang="en-US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Q&amp;A · DISCUSSION ·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9625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Let's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talk it through.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33513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few we expect you'll ask — and whatever else is on your mind.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52500" y="4231481"/>
            <a:ext cx="180213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ANTICIPATED QUESTIONS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52500" y="4555331"/>
            <a:ext cx="5308550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66825" y="4869656"/>
            <a:ext cx="51478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66825" y="5298281"/>
            <a:ext cx="5147890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do we handle NPI data?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66825" y="5738292"/>
            <a:ext cx="4820297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Enterprise tenancy with no training on our data. NPI stays inside approved environments, under the controls we already run.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9650" y="4555331"/>
            <a:ext cx="5308625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03975" y="4869656"/>
            <a:ext cx="51479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803975" y="5298281"/>
            <a:ext cx="5147972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do we manage cost?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03975" y="5738292"/>
            <a:ext cx="482037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Licensed per seat with usage visibility. We lead with high-ROI flagship work and scale what proves out.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026875" y="4555331"/>
            <a:ext cx="5308625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341200" y="4869656"/>
            <a:ext cx="51479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341200" y="5298281"/>
            <a:ext cx="4820374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When do Windows users get Claude access?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341200" y="6035427"/>
            <a:ext cx="482037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phased rollout by cohort — we'll confirm each wave's timing as it's scheduled.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9" name="Text 17"/>
          <p:cNvSpPr/>
          <p:nvPr/>
        </p:nvSpPr>
        <p:spPr>
          <a:xfrm>
            <a:off x="952500" y="9763125"/>
            <a:ext cx="226821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Thank you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let's open it up.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16911340" y="9763125"/>
            <a:ext cx="50036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11 / 11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2026-07-04T16:16:18Z</dcterms:created>
  <dcterms:modified xsi:type="dcterms:W3CDTF">2026-07-04T16:16:18Z</dcterms:modified>
</cp:coreProperties>
</file>