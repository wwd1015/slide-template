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is less about one model and more about a way of working. The eight squares are the eight stages of the pipeline we'll walk through; the orange one is the decision tool at the end, which is what business users actually see. Intro yourself and the project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most of us already write code for our models. The gap is usually not code vs. no code, it is whether every step is in code and whether someone else can rerun it and get the same answer. Ask the room how many times their last model was rerun after "final": data refresh, a different sample window, one more driver. Each rerun is cheap only if every step is reproducible. Treat this as the full overview; point at the first two rows (code coverage, reproducibility) and say we'll zoom in on those right after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one sentence to remember. Once you accept that you'll rerun the work many times, the investment in automation pays for itself by the second or third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zooms in on the first two rows of the overview table (code coverage and reproducibility), because everything else depends on them. Most of us already code our models, so this is not code vs. no code. The difference is whether EVERY step is in code and the whole chain is reproducible. A single manual step, such as an edited file or a filter applied by hand, is enough to make a rerun depend on one person. Ask the room the test question and let it land. Transition: "But code for everything does not mean new code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clarification on "code for everything": it does not mean writing new code on every project, and it does not mean leaning on AI like Claude to produce the same kinds of tools over and over. That multiplies duplicated effort and duplicated review. The right approach is to generalize a tool for a common step, have people validate it once, and reuse it every time going forward. Plant the idea here without naming any project yet; we'll come back to how we're building these shared tools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briefly; the audience cares about the approach, not the model details. Fill in the four numbers; the reruns number is the one to emphasize, because it is what made the engineering investment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each stage; they build in one by one. Key point: think about the whole chain BEFORE building any single step. Each box's output is the next box's input, so a change upstream (new data vintage, different outlier rule) carries through to the decision tool on a rerun. The dark bar is what's in place on this model: everything in code, reproducible runs, rationale in markdown, and a live decision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concept: instead of code in one place and a Word document written afterwards, each pipeline step is a markdown file (Quarto or R Markdown) where the explanation and the code sit together. Rendering it runs the code and produces the documentation, so the doc can never drift from what the model actually does. [Swap in a real snippet from your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and both pieces exist today. The markdown docs answer "how and why" for anyone who needs to rebuild or validate the model. The app answers "what does it say and what should we decide" for business users. Because both are generated from the same run, a rerun updates both at once. Transition: "Let me show you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TIME. The point of the app: model performance, testing, model selection and decision-making are consolidated in one place, so users flow from results to a decision quickly instead of piecing together separate exhibits. The four steps build in one at a time; click through them as a preview, or reveal each as you reach it in the app. Demo script: [1] performance and backtest views, [2] statistical testing results, [3] candidate comparison and model selection, [4] decision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None of these require new tools; they are habits. If people remember only one, it should be #2: once every step is in code, and that code is a validated tool we reuse rather than rewrite, everything else (reruns, testing, documentation, the app) becomes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Awareness slide, and the bridge to the future. Walk the three stages left to right. Stage 1, the mindset: we, as developers, code every step. Stage 2, the interim stage we're in now: no single product yet, but we're building shared, validated tools for the common steps (the four cards): data exploration, model selection, model testing through Impact, our standardized model testing and deployment platform, and documentation through Galley, where the write-up is markdown with charts built from data on every render and reviewed through GitHub pull requests. Stage 3, Cognos: the AI-assisted model development process that brings those validated tools together, so AI assembles rather than rebuilds. This closes the loop on the "build once, reuse" slide. This is for awareness, not an ask: we'll share more and invite participation as it takes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Good prompts if it's quiet: "Which step of your current model would you automate first?" or "What does your business user actually look at when they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8940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326580"/>
            <a:ext cx="10566400" cy="371862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8940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326580"/>
            <a:ext cx="10566400" cy="371862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A35E"/>
                </a:solidFill>
                <a:latin typeface="JetBrains Mono" pitchFamily="49" charset="0"/>
                <a:ea typeface="JetBrains Mono" pitchFamily="49" charset="-122"/>
                <a:cs typeface="JetBrains Mono" pitchFamily="49" charset="-120"/>
              </a:rPr>
              <a:t>PEER SESSION · MODEL DEVELOPMENT</a:t>
            </a:r>
            <a:endParaRPr lang="en-US" sz="1200" dirty="0"/>
          </a:p>
        </p:txBody>
      </p:sp>
      <p:sp>
        <p:nvSpPr>
          <p:cNvPr id="3" name="Text 1"/>
          <p:cNvSpPr/>
          <p:nvPr>
            <p:ph type="title"/>
          </p:nvPr>
        </p:nvSpPr>
        <p:spPr>
          <a:xfrm>
            <a:off x="812800" y="1912193"/>
            <a:ext cx="10883392" cy="2164953"/>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5F3EE"/>
                </a:solidFill>
                <a:latin typeface="IBM Plex Sans" pitchFamily="34" charset="0"/>
                <a:ea typeface="IBM Plex Sans" pitchFamily="34" charset="-122"/>
                <a:cs typeface="IBM Plex Sans" pitchFamily="34" charset="-120"/>
              </a:rPr>
              <a:t>An engineering mindset makes models easier to rerun, reuse and share</a:t>
            </a:r>
            <a:endParaRPr lang="en-US" sz="5200" dirty="0"/>
          </a:p>
        </p:txBody>
      </p:sp>
      <p:sp>
        <p:nvSpPr>
          <p:cNvPr id="4" name="Text 2"/>
          <p:cNvSpPr/>
          <p:nvPr/>
        </p:nvSpPr>
        <p:spPr>
          <a:xfrm>
            <a:off x="812800" y="4305746"/>
            <a:ext cx="10883392"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C8D8"/>
                </a:solidFill>
                <a:latin typeface="IBM Plex Sans" pitchFamily="34" charset="0"/>
                <a:ea typeface="IBM Plex Sans" pitchFamily="34" charset="-122"/>
                <a:cs typeface="IBM Plex Sans" pitchFamily="34" charset="-120"/>
              </a:rPr>
              <a:t>Lessons from redeveloping [model name]: code for every step, markdown docs and one app for decisions</a:t>
            </a:r>
            <a:endParaRPr lang="en-US" sz="18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IBM Plex Sans" pitchFamily="34" charset="0"/>
                <a:ea typeface="IBM Plex Sans" pitchFamily="34" charset="-122"/>
                <a:cs typeface="IBM Plex Sans" pitchFamily="34" charset="-120"/>
              </a:rPr>
              <a:t>[Your name] · [Team] · [Date]</a:t>
            </a:r>
            <a:endParaRPr lang="en-US" sz="1200" dirty="0"/>
          </a:p>
        </p:txBody>
      </p:sp>
      <p:pic>
        <p:nvPicPr>
          <p:cNvPr id="6" name="Image 0" descr="connector">    </p:cNvPr>
          <p:cNvPicPr>
            <a:picLocks noChangeAspect="1"/>
          </p:cNvPicPr>
          <p:nvPr/>
        </p:nvPicPr>
        <p:blipFill>
          <a:blip r:embed="rId1"/>
          <a:srcRect l="0" r="0" t="0" b="0"/>
          <a:stretch/>
        </p:blipFill>
        <p:spPr>
          <a:xfrm>
            <a:off x="7658100" y="952500"/>
            <a:ext cx="3632200" cy="76200"/>
          </a:xfrm>
          <a:prstGeom prst="rect">
            <a:avLst/>
          </a:prstGeom>
        </p:spPr>
      </p:pic>
      <p:sp>
        <p:nvSpPr>
          <p:cNvPr id="7" name="Shape 4"/>
          <p:cNvSpPr/>
          <p:nvPr/>
        </p:nvSpPr>
        <p:spPr>
          <a:xfrm>
            <a:off x="7575550" y="869950"/>
            <a:ext cx="241300" cy="241300"/>
          </a:xfrm>
          <a:prstGeom prst="roundRect">
            <a:avLst>
              <a:gd name="adj" fmla="val 18421"/>
            </a:avLst>
          </a:prstGeom>
          <a:solidFill>
            <a:srgbClr val="2A3A5C"/>
          </a:solidFill>
          <a:ln w="12700">
            <a:solidFill>
              <a:srgbClr val="5A6B8C"/>
            </a:solidFill>
            <a:prstDash val="solid"/>
          </a:ln>
        </p:spPr>
      </p:sp>
      <p:sp>
        <p:nvSpPr>
          <p:cNvPr id="8" name="Shape 5"/>
          <p:cNvSpPr/>
          <p:nvPr/>
        </p:nvSpPr>
        <p:spPr>
          <a:xfrm>
            <a:off x="8083550" y="869950"/>
            <a:ext cx="241300" cy="241300"/>
          </a:xfrm>
          <a:prstGeom prst="roundRect">
            <a:avLst>
              <a:gd name="adj" fmla="val 18421"/>
            </a:avLst>
          </a:prstGeom>
          <a:solidFill>
            <a:srgbClr val="2A3A5C"/>
          </a:solidFill>
          <a:ln w="12700">
            <a:solidFill>
              <a:srgbClr val="5A6B8C"/>
            </a:solidFill>
            <a:prstDash val="solid"/>
          </a:ln>
        </p:spPr>
      </p:sp>
      <p:sp>
        <p:nvSpPr>
          <p:cNvPr id="9" name="Shape 6"/>
          <p:cNvSpPr/>
          <p:nvPr/>
        </p:nvSpPr>
        <p:spPr>
          <a:xfrm>
            <a:off x="8591550" y="869950"/>
            <a:ext cx="241300" cy="241300"/>
          </a:xfrm>
          <a:prstGeom prst="roundRect">
            <a:avLst>
              <a:gd name="adj" fmla="val 18421"/>
            </a:avLst>
          </a:prstGeom>
          <a:solidFill>
            <a:srgbClr val="2A3A5C"/>
          </a:solidFill>
          <a:ln w="12700">
            <a:solidFill>
              <a:srgbClr val="5A6B8C"/>
            </a:solidFill>
            <a:prstDash val="solid"/>
          </a:ln>
        </p:spPr>
      </p:sp>
      <p:sp>
        <p:nvSpPr>
          <p:cNvPr id="10" name="Shape 7"/>
          <p:cNvSpPr/>
          <p:nvPr/>
        </p:nvSpPr>
        <p:spPr>
          <a:xfrm>
            <a:off x="9099550" y="869950"/>
            <a:ext cx="241300" cy="241300"/>
          </a:xfrm>
          <a:prstGeom prst="roundRect">
            <a:avLst>
              <a:gd name="adj" fmla="val 18421"/>
            </a:avLst>
          </a:prstGeom>
          <a:solidFill>
            <a:srgbClr val="2A3A5C"/>
          </a:solidFill>
          <a:ln w="12700">
            <a:solidFill>
              <a:srgbClr val="5A6B8C"/>
            </a:solidFill>
            <a:prstDash val="solid"/>
          </a:ln>
        </p:spPr>
      </p:sp>
      <p:sp>
        <p:nvSpPr>
          <p:cNvPr id="11" name="Shape 8"/>
          <p:cNvSpPr/>
          <p:nvPr/>
        </p:nvSpPr>
        <p:spPr>
          <a:xfrm>
            <a:off x="9607550" y="869950"/>
            <a:ext cx="241300" cy="241300"/>
          </a:xfrm>
          <a:prstGeom prst="roundRect">
            <a:avLst>
              <a:gd name="adj" fmla="val 18421"/>
            </a:avLst>
          </a:prstGeom>
          <a:solidFill>
            <a:srgbClr val="2A3A5C"/>
          </a:solidFill>
          <a:ln w="12700">
            <a:solidFill>
              <a:srgbClr val="5A6B8C"/>
            </a:solidFill>
            <a:prstDash val="solid"/>
          </a:ln>
        </p:spPr>
      </p:sp>
      <p:sp>
        <p:nvSpPr>
          <p:cNvPr id="12" name="Shape 9"/>
          <p:cNvSpPr/>
          <p:nvPr/>
        </p:nvSpPr>
        <p:spPr>
          <a:xfrm>
            <a:off x="10115550" y="869950"/>
            <a:ext cx="241300" cy="241300"/>
          </a:xfrm>
          <a:prstGeom prst="roundRect">
            <a:avLst>
              <a:gd name="adj" fmla="val 18421"/>
            </a:avLst>
          </a:prstGeom>
          <a:solidFill>
            <a:srgbClr val="2A3A5C"/>
          </a:solidFill>
          <a:ln w="12700">
            <a:solidFill>
              <a:srgbClr val="5A6B8C"/>
            </a:solidFill>
            <a:prstDash val="solid"/>
          </a:ln>
        </p:spPr>
      </p:sp>
      <p:sp>
        <p:nvSpPr>
          <p:cNvPr id="13" name="Shape 10"/>
          <p:cNvSpPr/>
          <p:nvPr/>
        </p:nvSpPr>
        <p:spPr>
          <a:xfrm>
            <a:off x="10623550" y="869950"/>
            <a:ext cx="241300" cy="241300"/>
          </a:xfrm>
          <a:prstGeom prst="roundRect">
            <a:avLst>
              <a:gd name="adj" fmla="val 18421"/>
            </a:avLst>
          </a:prstGeom>
          <a:solidFill>
            <a:srgbClr val="2A3A5C"/>
          </a:solidFill>
          <a:ln w="12700">
            <a:solidFill>
              <a:srgbClr val="5A6B8C"/>
            </a:solidFill>
            <a:prstDash val="solid"/>
          </a:ln>
        </p:spPr>
      </p:sp>
      <p:sp>
        <p:nvSpPr>
          <p:cNvPr id="14" name="Shape 11"/>
          <p:cNvSpPr/>
          <p:nvPr/>
        </p:nvSpPr>
        <p:spPr>
          <a:xfrm>
            <a:off x="11131550" y="869950"/>
            <a:ext cx="241300" cy="241300"/>
          </a:xfrm>
          <a:prstGeom prst="roundRect">
            <a:avLst>
              <a:gd name="adj" fmla="val 18421"/>
            </a:avLst>
          </a:prstGeom>
          <a:solidFill>
            <a:srgbClr val="D9772B"/>
          </a:solidFill>
          <a:ln w="12700">
            <a:solidFill>
              <a:srgbClr val="F0A35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0F"/>
                </a:solidFill>
                <a:latin typeface="JetBrains Mono" pitchFamily="49" charset="0"/>
                <a:ea typeface="JetBrains Mono" pitchFamily="49" charset="-122"/>
                <a:cs typeface="JetBrains Mono" pitchFamily="49" charset="-120"/>
              </a:rPr>
              <a:t>01 · WHY THIS MATTERS</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Some steps in a model build still tend to be treated as one-time work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90080"/>
          <a:ext cx="10553700" cy="2316063"/>
        </p:xfrm>
        <a:graphic>
          <a:graphicData uri="http://schemas.openxmlformats.org/drawingml/2006/table">
            <a:tbl>
              <a:tblPr/>
              <a:tblGrid>
                <a:gridCol w="2321814"/>
                <a:gridCol w="4115943"/>
                <a:gridCol w="4115943"/>
              </a:tblGrid>
              <a:tr h="386011">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Stage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Common today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Engineering mindset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Code coverage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Most steps in code, a few by hand (e.g., excel)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Every step in code, end to 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Reproducibility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Rerun depends on who built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Anyone reruns, same answer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Testing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Mostly at the 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Automated for every candidate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Documentation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Written separately, afterwards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Rationale kept next to the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Final output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Static exhibits and decks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Docs plus an interactive app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9772B"/>
        </a:solidFill>
      </p:bgPr>
    </p:bg>
    <p:spTree>
      <p:nvGrpSpPr>
        <p:cNvPr id="1" name=""/>
        <p:cNvGrpSpPr/>
        <p:nvPr/>
      </p:nvGrpSpPr>
      <p:grpSpPr>
        <a:xfrm>
          <a:off x="0" y="0"/>
          <a:ext cx="0" cy="0"/>
          <a:chOff x="0" y="0"/>
          <a:chExt cx="0" cy="0"/>
        </a:xfrm>
      </p:grpSpPr>
      <p:sp>
        <p:nvSpPr>
          <p:cNvPr id="2" name="Text 0"/>
          <p:cNvSpPr/>
          <p:nvPr/>
        </p:nvSpPr>
        <p:spPr>
          <a:xfrm>
            <a:off x="812800" y="223143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4213D"/>
                </a:solidFill>
                <a:latin typeface="JetBrains Mono" pitchFamily="49" charset="0"/>
                <a:ea typeface="JetBrains Mono" pitchFamily="49" charset="-122"/>
                <a:cs typeface="JetBrains Mono" pitchFamily="49" charset="-120"/>
              </a:rPr>
              <a:t>THE CORE IDEA</a:t>
            </a:r>
            <a:endParaRPr lang="en-US" sz="1200" dirty="0"/>
          </a:p>
        </p:txBody>
      </p:sp>
      <p:sp>
        <p:nvSpPr>
          <p:cNvPr id="3" name="Text 1"/>
          <p:cNvSpPr/>
          <p:nvPr/>
        </p:nvSpPr>
        <p:spPr>
          <a:xfrm>
            <a:off x="812800" y="2698750"/>
            <a:ext cx="10883392" cy="1953171"/>
          </a:xfrm>
          <a:prstGeom prst="rect">
            <a:avLst/>
          </a:prstGeom>
          <a:noFill/>
          <a:ln/>
        </p:spPr>
        <p:txBody>
          <a:bodyPr wrap="square" lIns="0" tIns="0" rIns="0" bIns="0" rtlCol="0" anchor="t">
            <a:normAutofit/>
          </a:bodyPr>
          <a:lstStyle/>
          <a:p>
            <a:pPr algn="l" indent="0" marL="0">
              <a:lnSpc>
                <a:spcPts val="5060"/>
              </a:lnSpc>
              <a:buNone/>
            </a:pPr>
            <a:r>
              <a:rPr lang="en-US" sz="4400" b="1" dirty="0">
                <a:solidFill>
                  <a:srgbClr val="14213D"/>
                </a:solidFill>
                <a:latin typeface="IBM Plex Sans" pitchFamily="34" charset="0"/>
                <a:ea typeface="IBM Plex Sans" pitchFamily="34" charset="-122"/>
                <a:cs typeface="IBM Plex Sans" pitchFamily="34" charset="-120"/>
              </a:rPr>
              <a:t>A model is a pipeline you will rerun dozens of times, not a document you write once.</a:t>
            </a:r>
            <a:endParaRPr lang="en-US"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0F"/>
                </a:solidFill>
                <a:latin typeface="JetBrains Mono" pitchFamily="49" charset="0"/>
                <a:ea typeface="JetBrains Mono" pitchFamily="49" charset="-122"/>
                <a:cs typeface="JetBrains Mono" pitchFamily="49" charset="-120"/>
              </a:rPr>
              <a:t>01 · DEEP DIVE: CODE AND REPRODUCIBILITY</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Code for every step is what lets someone else reproduce the model</a:t>
            </a:r>
            <a:endParaRPr lang="en-US" sz="3200" dirty="0"/>
          </a:p>
        </p:txBody>
      </p:sp>
      <p:sp>
        <p:nvSpPr>
          <p:cNvPr id="4" name="Shape 2"/>
          <p:cNvSpPr/>
          <p:nvPr/>
        </p:nvSpPr>
        <p:spPr>
          <a:xfrm>
            <a:off x="812800" y="2377380"/>
            <a:ext cx="5168900" cy="2290961"/>
          </a:xfrm>
          <a:prstGeom prst="roundRect">
            <a:avLst>
              <a:gd name="adj" fmla="val 4435"/>
            </a:avLst>
          </a:prstGeom>
          <a:solidFill>
            <a:srgbClr val="ECE8DF"/>
          </a:solidFill>
          <a:ln/>
        </p:spPr>
      </p:sp>
      <p:pic>
        <p:nvPicPr>
          <p:cNvPr id="5" name="Image 0" descr="Warning">    </p:cNvPr>
          <p:cNvPicPr>
            <a:picLocks noChangeAspect="1"/>
          </p:cNvPicPr>
          <p:nvPr/>
        </p:nvPicPr>
        <p:blipFill>
          <a:blip r:embed="rId1"/>
          <a:srcRect l="0" r="0" t="0" b="0"/>
          <a:stretch/>
        </p:blipFill>
        <p:spPr>
          <a:xfrm>
            <a:off x="1066800" y="2631380"/>
            <a:ext cx="304800" cy="304800"/>
          </a:xfrm>
          <a:prstGeom prst="rect">
            <a:avLst/>
          </a:prstGeom>
        </p:spPr>
      </p:pic>
      <p:sp>
        <p:nvSpPr>
          <p:cNvPr id="6" name="Text 3"/>
          <p:cNvSpPr/>
          <p:nvPr/>
        </p:nvSpPr>
        <p:spPr>
          <a:xfrm>
            <a:off x="1473200" y="2631380"/>
            <a:ext cx="28564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4A5568"/>
                </a:solidFill>
                <a:latin typeface="IBM Plex Sans" pitchFamily="34" charset="0"/>
                <a:ea typeface="IBM Plex Sans" pitchFamily="34" charset="-122"/>
                <a:cs typeface="IBM Plex Sans" pitchFamily="34" charset="-120"/>
              </a:rPr>
              <a:t>Harder to reproduce</a:t>
            </a:r>
            <a:endParaRPr lang="en-US" sz="2000" dirty="0"/>
          </a:p>
        </p:txBody>
      </p:sp>
      <p:sp>
        <p:nvSpPr>
          <p:cNvPr id="7" name="Text 4"/>
          <p:cNvSpPr/>
          <p:nvPr/>
        </p:nvSpPr>
        <p:spPr>
          <a:xfrm>
            <a:off x="1066800" y="3088580"/>
            <a:ext cx="49149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Mixed workflows:</a:t>
            </a:r>
            <a:r>
              <a:rPr lang="en-US" sz="1400" dirty="0">
                <a:solidFill>
                  <a:srgbClr val="4A5568"/>
                </a:solidFill>
                <a:latin typeface="IBM Plex Sans" pitchFamily="34" charset="0"/>
                <a:ea typeface="IBM Plex Sans" pitchFamily="34" charset="-122"/>
                <a:cs typeface="IBM Plex Sans" pitchFamily="34" charset="-120"/>
              </a:rPr>
              <a:t> most steps in code, a few done by hand</a:t>
            </a:r>
            <a:endParaRPr lang="en-US" sz="1400" dirty="0"/>
          </a:p>
        </p:txBody>
      </p:sp>
      <p:sp>
        <p:nvSpPr>
          <p:cNvPr id="8" name="Text 5"/>
          <p:cNvSpPr/>
          <p:nvPr/>
        </p:nvSpPr>
        <p:spPr>
          <a:xfrm>
            <a:off x="1066800" y="3489871"/>
            <a:ext cx="48007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Manual hand-offs:</a:t>
            </a:r>
            <a:r>
              <a:rPr lang="en-US" sz="1400" dirty="0">
                <a:solidFill>
                  <a:srgbClr val="4A5568"/>
                </a:solidFill>
                <a:latin typeface="IBM Plex Sans" pitchFamily="34" charset="0"/>
                <a:ea typeface="IBM Plex Sans" pitchFamily="34" charset="-122"/>
                <a:cs typeface="IBM Plex Sans" pitchFamily="34" charset="-120"/>
              </a:rPr>
              <a:t> files copied or edited between steps</a:t>
            </a:r>
            <a:endParaRPr lang="en-US" sz="1400" dirty="0"/>
          </a:p>
        </p:txBody>
      </p:sp>
      <p:sp>
        <p:nvSpPr>
          <p:cNvPr id="9" name="Text 6"/>
          <p:cNvSpPr/>
          <p:nvPr/>
        </p:nvSpPr>
        <p:spPr>
          <a:xfrm>
            <a:off x="1066800" y="3891161"/>
            <a:ext cx="4800727"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Unwritten order:</a:t>
            </a:r>
            <a:r>
              <a:rPr lang="en-US" sz="1400" dirty="0">
                <a:solidFill>
                  <a:srgbClr val="4A5568"/>
                </a:solidFill>
                <a:latin typeface="IBM Plex Sans" pitchFamily="34" charset="0"/>
                <a:ea typeface="IBM Plex Sans" pitchFamily="34" charset="-122"/>
                <a:cs typeface="IBM Plex Sans" pitchFamily="34" charset="-120"/>
              </a:rPr>
              <a:t> only the builder knows which script runs when</a:t>
            </a:r>
            <a:endParaRPr lang="en-US" sz="1400" dirty="0"/>
          </a:p>
        </p:txBody>
      </p:sp>
      <p:sp>
        <p:nvSpPr>
          <p:cNvPr id="10" name="Shape 7"/>
          <p:cNvSpPr/>
          <p:nvPr/>
        </p:nvSpPr>
        <p:spPr>
          <a:xfrm>
            <a:off x="6191250" y="2383730"/>
            <a:ext cx="5181600" cy="2278261"/>
          </a:xfrm>
          <a:prstGeom prst="roundRect">
            <a:avLst>
              <a:gd name="adj" fmla="val 4181"/>
            </a:avLst>
          </a:prstGeom>
          <a:solidFill>
            <a:srgbClr val="FBFAF7"/>
          </a:solidFill>
          <a:ln w="12700">
            <a:solidFill>
              <a:srgbClr val="2F6FD6"/>
            </a:solidFill>
            <a:prstDash val="solid"/>
          </a:ln>
        </p:spPr>
      </p:sp>
      <p:pic>
        <p:nvPicPr>
          <p:cNvPr id="11" name="Image 1" descr="Code">    </p:cNvPr>
          <p:cNvPicPr>
            <a:picLocks noChangeAspect="1"/>
          </p:cNvPicPr>
          <p:nvPr/>
        </p:nvPicPr>
        <p:blipFill>
          <a:blip r:embed="rId2"/>
          <a:srcRect l="0" r="0" t="0" b="0"/>
          <a:stretch/>
        </p:blipFill>
        <p:spPr>
          <a:xfrm>
            <a:off x="6451600" y="2644080"/>
            <a:ext cx="304800" cy="304800"/>
          </a:xfrm>
          <a:prstGeom prst="rect">
            <a:avLst/>
          </a:prstGeom>
        </p:spPr>
      </p:pic>
      <p:sp>
        <p:nvSpPr>
          <p:cNvPr id="12" name="Text 8"/>
          <p:cNvSpPr/>
          <p:nvPr/>
        </p:nvSpPr>
        <p:spPr>
          <a:xfrm>
            <a:off x="6858000" y="2644080"/>
            <a:ext cx="339423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Reproducible by anyone</a:t>
            </a:r>
            <a:endParaRPr lang="en-US" sz="2000" dirty="0"/>
          </a:p>
        </p:txBody>
      </p:sp>
      <p:sp>
        <p:nvSpPr>
          <p:cNvPr id="13" name="Text 9"/>
          <p:cNvSpPr/>
          <p:nvPr/>
        </p:nvSpPr>
        <p:spPr>
          <a:xfrm>
            <a:off x="6451600" y="3101280"/>
            <a:ext cx="48007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Code end to end:</a:t>
            </a:r>
            <a:r>
              <a:rPr lang="en-US" sz="1400" dirty="0">
                <a:solidFill>
                  <a:srgbClr val="14213D"/>
                </a:solidFill>
                <a:latin typeface="IBM Plex Sans" pitchFamily="34" charset="0"/>
                <a:ea typeface="IBM Plex Sans" pitchFamily="34" charset="-122"/>
                <a:cs typeface="IBM Plex Sans" pitchFamily="34" charset="-120"/>
              </a:rPr>
              <a:t> every step written down and runnable</a:t>
            </a:r>
            <a:endParaRPr lang="en-US" sz="1400" dirty="0"/>
          </a:p>
        </p:txBody>
      </p:sp>
      <p:sp>
        <p:nvSpPr>
          <p:cNvPr id="14" name="Text 10"/>
          <p:cNvSpPr/>
          <p:nvPr/>
        </p:nvSpPr>
        <p:spPr>
          <a:xfrm>
            <a:off x="6451600" y="3502571"/>
            <a:ext cx="48007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Version control:</a:t>
            </a:r>
            <a:r>
              <a:rPr lang="en-US" sz="1400" dirty="0">
                <a:solidFill>
                  <a:srgbClr val="14213D"/>
                </a:solidFill>
                <a:latin typeface="IBM Plex Sans" pitchFamily="34" charset="0"/>
                <a:ea typeface="IBM Plex Sans" pitchFamily="34" charset="-122"/>
                <a:cs typeface="IBM Plex Sans" pitchFamily="34" charset="-120"/>
              </a:rPr>
              <a:t> who changed what, and when</a:t>
            </a:r>
            <a:endParaRPr lang="en-US" sz="1400" dirty="0"/>
          </a:p>
        </p:txBody>
      </p:sp>
      <p:sp>
        <p:nvSpPr>
          <p:cNvPr id="15" name="Text 11"/>
          <p:cNvSpPr/>
          <p:nvPr/>
        </p:nvSpPr>
        <p:spPr>
          <a:xfrm>
            <a:off x="6451600" y="3903861"/>
            <a:ext cx="4800727"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One command:</a:t>
            </a:r>
            <a:r>
              <a:rPr lang="en-US" sz="1400" dirty="0">
                <a:solidFill>
                  <a:srgbClr val="14213D"/>
                </a:solidFill>
                <a:latin typeface="IBM Plex Sans" pitchFamily="34" charset="0"/>
                <a:ea typeface="IBM Plex Sans" pitchFamily="34" charset="-122"/>
                <a:cs typeface="IBM Plex Sans" pitchFamily="34" charset="-120"/>
              </a:rPr>
              <a:t> anyone reruns the whole chain and gets the same answer</a:t>
            </a:r>
            <a:endParaRPr lang="en-US" sz="1400" dirty="0"/>
          </a:p>
        </p:txBody>
      </p:sp>
      <p:sp>
        <p:nvSpPr>
          <p:cNvPr id="16" name="Text 12"/>
          <p:cNvSpPr/>
          <p:nvPr/>
        </p:nvSpPr>
        <p:spPr>
          <a:xfrm>
            <a:off x="812800" y="50239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 simple test:</a:t>
            </a:r>
            <a:r>
              <a:rPr lang="en-US" sz="1600" dirty="0">
                <a:solidFill>
                  <a:srgbClr val="14213D"/>
                </a:solidFill>
                <a:latin typeface="IBM Plex Sans" pitchFamily="34" charset="0"/>
                <a:ea typeface="IBM Plex Sans" pitchFamily="34" charset="-122"/>
                <a:cs typeface="IBM Plex Sans" pitchFamily="34" charset="-120"/>
              </a:rPr>
              <a:t> could a colleague rerun your model tomorrow without asking you a single question?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0F"/>
                </a:solidFill>
                <a:latin typeface="JetBrains Mono" pitchFamily="49" charset="0"/>
                <a:ea typeface="JetBrains Mono" pitchFamily="49" charset="-122"/>
                <a:cs typeface="JetBrains Mono" pitchFamily="49" charset="-120"/>
              </a:rPr>
              <a:t>01 · BUILD ONCE, REUSE</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Code for everything means building a tool once, validating it, and reusing it</a:t>
            </a:r>
            <a:endParaRPr lang="en-US" sz="3200" dirty="0"/>
          </a:p>
        </p:txBody>
      </p:sp>
      <p:sp>
        <p:nvSpPr>
          <p:cNvPr id="4" name="Shape 2"/>
          <p:cNvSpPr/>
          <p:nvPr/>
        </p:nvSpPr>
        <p:spPr>
          <a:xfrm>
            <a:off x="812800" y="2326580"/>
            <a:ext cx="5168900" cy="2349450"/>
          </a:xfrm>
          <a:prstGeom prst="roundRect">
            <a:avLst>
              <a:gd name="adj" fmla="val 4324"/>
            </a:avLst>
          </a:prstGeom>
          <a:solidFill>
            <a:srgbClr val="ECE8DF"/>
          </a:solidFill>
          <a:ln/>
        </p:spPr>
      </p:sp>
      <p:pic>
        <p:nvPicPr>
          <p:cNvPr id="5" name="Image 0" descr="Warning">    </p:cNvPr>
          <p:cNvPicPr>
            <a:picLocks noChangeAspect="1"/>
          </p:cNvPicPr>
          <p:nvPr/>
        </p:nvPicPr>
        <p:blipFill>
          <a:blip r:embed="rId1"/>
          <a:srcRect l="0" r="0" t="0" b="0"/>
          <a:stretch/>
        </p:blipFill>
        <p:spPr>
          <a:xfrm>
            <a:off x="1066800" y="2580580"/>
            <a:ext cx="304800" cy="304800"/>
          </a:xfrm>
          <a:prstGeom prst="rect">
            <a:avLst/>
          </a:prstGeom>
        </p:spPr>
      </p:pic>
      <p:sp>
        <p:nvSpPr>
          <p:cNvPr id="6" name="Text 3"/>
          <p:cNvSpPr/>
          <p:nvPr/>
        </p:nvSpPr>
        <p:spPr>
          <a:xfrm>
            <a:off x="1473200" y="2580580"/>
            <a:ext cx="269968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4A5568"/>
                </a:solidFill>
                <a:latin typeface="IBM Plex Sans" pitchFamily="34" charset="0"/>
                <a:ea typeface="IBM Plex Sans" pitchFamily="34" charset="-122"/>
                <a:cs typeface="IBM Plex Sans" pitchFamily="34" charset="-120"/>
              </a:rPr>
              <a:t>Rebuild per project</a:t>
            </a:r>
            <a:endParaRPr lang="en-US" sz="2000" dirty="0"/>
          </a:p>
        </p:txBody>
      </p:sp>
      <p:sp>
        <p:nvSpPr>
          <p:cNvPr id="7" name="Text 4"/>
          <p:cNvSpPr/>
          <p:nvPr/>
        </p:nvSpPr>
        <p:spPr>
          <a:xfrm>
            <a:off x="1066800" y="3012380"/>
            <a:ext cx="4800727"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New scripts for each model,</a:t>
            </a:r>
            <a:r>
              <a:rPr lang="en-US" sz="1300" dirty="0">
                <a:solidFill>
                  <a:srgbClr val="4A5568"/>
                </a:solidFill>
                <a:latin typeface="IBM Plex Sans" pitchFamily="34" charset="0"/>
                <a:ea typeface="IBM Plex Sans" pitchFamily="34" charset="-122"/>
                <a:cs typeface="IBM Plex Sans" pitchFamily="34" charset="-120"/>
              </a:rPr>
              <a:t> even for steps we have done before</a:t>
            </a:r>
            <a:endParaRPr lang="en-US" sz="1300" dirty="0"/>
          </a:p>
        </p:txBody>
      </p:sp>
      <p:sp>
        <p:nvSpPr>
          <p:cNvPr id="8" name="Text 5"/>
          <p:cNvSpPr/>
          <p:nvPr/>
        </p:nvSpPr>
        <p:spPr>
          <a:xfrm>
            <a:off x="1066800" y="3601641"/>
            <a:ext cx="4800727"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AI on repeat:</a:t>
            </a:r>
            <a:r>
              <a:rPr lang="en-US" sz="1300" dirty="0">
                <a:solidFill>
                  <a:srgbClr val="4A5568"/>
                </a:solidFill>
                <a:latin typeface="IBM Plex Sans" pitchFamily="34" charset="0"/>
                <a:ea typeface="IBM Plex Sans" pitchFamily="34" charset="-122"/>
                <a:cs typeface="IBM Plex Sans" pitchFamily="34" charset="-120"/>
              </a:rPr>
              <a:t> asking Claude to regenerate similar tools every time</a:t>
            </a:r>
            <a:endParaRPr lang="en-US" sz="1300" dirty="0"/>
          </a:p>
        </p:txBody>
      </p:sp>
      <p:sp>
        <p:nvSpPr>
          <p:cNvPr id="9" name="Text 6"/>
          <p:cNvSpPr/>
          <p:nvPr/>
        </p:nvSpPr>
        <p:spPr>
          <a:xfrm>
            <a:off x="1066800" y="4190901"/>
            <a:ext cx="480072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Duplicated review:</a:t>
            </a:r>
            <a:r>
              <a:rPr lang="en-US" sz="1300" dirty="0">
                <a:solidFill>
                  <a:srgbClr val="4A5568"/>
                </a:solidFill>
                <a:latin typeface="IBM Plex Sans" pitchFamily="34" charset="0"/>
                <a:ea typeface="IBM Plex Sans" pitchFamily="34" charset="-122"/>
                <a:cs typeface="IBM Plex Sans" pitchFamily="34" charset="-120"/>
              </a:rPr>
              <a:t> every new version needs checking again</a:t>
            </a:r>
            <a:endParaRPr lang="en-US" sz="1300" dirty="0"/>
          </a:p>
        </p:txBody>
      </p:sp>
      <p:sp>
        <p:nvSpPr>
          <p:cNvPr id="10" name="Shape 7"/>
          <p:cNvSpPr/>
          <p:nvPr/>
        </p:nvSpPr>
        <p:spPr>
          <a:xfrm>
            <a:off x="6191250" y="2332930"/>
            <a:ext cx="5181600" cy="2336750"/>
          </a:xfrm>
          <a:prstGeom prst="roundRect">
            <a:avLst>
              <a:gd name="adj" fmla="val 4076"/>
            </a:avLst>
          </a:prstGeom>
          <a:solidFill>
            <a:srgbClr val="FBFAF7"/>
          </a:solidFill>
          <a:ln w="12700">
            <a:solidFill>
              <a:srgbClr val="2F6FD6"/>
            </a:solidFill>
            <a:prstDash val="solid"/>
          </a:ln>
        </p:spPr>
      </p:sp>
      <p:pic>
        <p:nvPicPr>
          <p:cNvPr id="11" name="Image 1" descr="Verified">    </p:cNvPr>
          <p:cNvPicPr>
            <a:picLocks noChangeAspect="1"/>
          </p:cNvPicPr>
          <p:nvPr/>
        </p:nvPicPr>
        <p:blipFill>
          <a:blip r:embed="rId2"/>
          <a:srcRect l="0" r="0" t="0" b="0"/>
          <a:stretch/>
        </p:blipFill>
        <p:spPr>
          <a:xfrm>
            <a:off x="6451600" y="2593280"/>
            <a:ext cx="304800" cy="304800"/>
          </a:xfrm>
          <a:prstGeom prst="rect">
            <a:avLst/>
          </a:prstGeom>
        </p:spPr>
      </p:pic>
      <p:sp>
        <p:nvSpPr>
          <p:cNvPr id="12" name="Text 8"/>
          <p:cNvSpPr/>
          <p:nvPr/>
        </p:nvSpPr>
        <p:spPr>
          <a:xfrm>
            <a:off x="6858000" y="2593280"/>
            <a:ext cx="375755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Generalize, validate, reuse</a:t>
            </a:r>
            <a:endParaRPr lang="en-US" sz="2000" dirty="0"/>
          </a:p>
        </p:txBody>
      </p:sp>
      <p:sp>
        <p:nvSpPr>
          <p:cNvPr id="13" name="Text 9"/>
          <p:cNvSpPr/>
          <p:nvPr/>
        </p:nvSpPr>
        <p:spPr>
          <a:xfrm>
            <a:off x="6451600" y="3025080"/>
            <a:ext cx="480072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6"/>
                </a:solidFill>
                <a:latin typeface="IBM Plex Sans" pitchFamily="34" charset="0"/>
                <a:ea typeface="IBM Plex Sans" pitchFamily="34" charset="-122"/>
                <a:cs typeface="IBM Plex Sans" pitchFamily="34" charset="-120"/>
              </a:rPr>
              <a:t>1 · Generalize:</a:t>
            </a:r>
            <a:r>
              <a:rPr lang="en-US" sz="1300" dirty="0">
                <a:solidFill>
                  <a:srgbClr val="14213D"/>
                </a:solidFill>
                <a:latin typeface="IBM Plex Sans" pitchFamily="34" charset="0"/>
                <a:ea typeface="IBM Plex Sans" pitchFamily="34" charset="-122"/>
                <a:cs typeface="IBM Plex Sans" pitchFamily="34" charset="-120"/>
              </a:rPr>
              <a:t> build one tool for a common step</a:t>
            </a:r>
            <a:endParaRPr lang="en-US" sz="1300" dirty="0"/>
          </a:p>
        </p:txBody>
      </p:sp>
      <p:sp>
        <p:nvSpPr>
          <p:cNvPr id="14" name="Text 10"/>
          <p:cNvSpPr/>
          <p:nvPr/>
        </p:nvSpPr>
        <p:spPr>
          <a:xfrm>
            <a:off x="6451600" y="3383211"/>
            <a:ext cx="480072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6"/>
                </a:solidFill>
                <a:latin typeface="IBM Plex Sans" pitchFamily="34" charset="0"/>
                <a:ea typeface="IBM Plex Sans" pitchFamily="34" charset="-122"/>
                <a:cs typeface="IBM Plex Sans" pitchFamily="34" charset="-120"/>
              </a:rPr>
              <a:t>2 · Validate:</a:t>
            </a:r>
            <a:r>
              <a:rPr lang="en-US" sz="1300" dirty="0">
                <a:solidFill>
                  <a:srgbClr val="14213D"/>
                </a:solidFill>
                <a:latin typeface="IBM Plex Sans" pitchFamily="34" charset="0"/>
                <a:ea typeface="IBM Plex Sans" pitchFamily="34" charset="-122"/>
                <a:cs typeface="IBM Plex Sans" pitchFamily="34" charset="-120"/>
              </a:rPr>
              <a:t> people review and test it once, properly</a:t>
            </a:r>
            <a:endParaRPr lang="en-US" sz="1300" dirty="0"/>
          </a:p>
        </p:txBody>
      </p:sp>
      <p:sp>
        <p:nvSpPr>
          <p:cNvPr id="15" name="Text 11"/>
          <p:cNvSpPr/>
          <p:nvPr/>
        </p:nvSpPr>
        <p:spPr>
          <a:xfrm>
            <a:off x="6451600" y="3741341"/>
            <a:ext cx="480072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6"/>
                </a:solidFill>
                <a:latin typeface="IBM Plex Sans" pitchFamily="34" charset="0"/>
                <a:ea typeface="IBM Plex Sans" pitchFamily="34" charset="-122"/>
                <a:cs typeface="IBM Plex Sans" pitchFamily="34" charset="-120"/>
              </a:rPr>
              <a:t>3 · Reuse:</a:t>
            </a:r>
            <a:r>
              <a:rPr lang="en-US" sz="1300" dirty="0">
                <a:solidFill>
                  <a:srgbClr val="14213D"/>
                </a:solidFill>
                <a:latin typeface="IBM Plex Sans" pitchFamily="34" charset="0"/>
                <a:ea typeface="IBM Plex Sans" pitchFamily="34" charset="-122"/>
                <a:cs typeface="IBM Plex Sans" pitchFamily="34" charset="-120"/>
              </a:rPr>
              <a:t> every future model calls the same trusted tool</a:t>
            </a:r>
            <a:endParaRPr lang="en-US" sz="1300" dirty="0"/>
          </a:p>
        </p:txBody>
      </p:sp>
      <p:sp>
        <p:nvSpPr>
          <p:cNvPr id="16" name="Text 12"/>
          <p:cNvSpPr/>
          <p:nvPr/>
        </p:nvSpPr>
        <p:spPr>
          <a:xfrm>
            <a:off x="812800" y="4980831"/>
            <a:ext cx="10566400" cy="544810"/>
          </a:xfrm>
          <a:prstGeom prst="roundRect">
            <a:avLst>
              <a:gd name="adj" fmla="val 18649"/>
            </a:avLst>
          </a:prstGeom>
          <a:solidFill>
            <a:srgbClr val="14213D"/>
          </a:solidFill>
          <a:ln/>
        </p:spPr>
        <p:txBody>
          <a:bodyPr wrap="square" lIns="224242" tIns="122642" rIns="0" bIns="97242" rtlCol="0" anchor="t">
            <a:normAutofit/>
          </a:bodyPr>
          <a:lstStyle/>
          <a:p>
            <a:pPr algn="l" indent="0" marL="0">
              <a:lnSpc>
                <a:spcPts val="1890"/>
              </a:lnSpc>
              <a:buNone/>
            </a:pPr>
            <a:r>
              <a:rPr lang="en-US" sz="1400" dirty="0">
                <a:solidFill>
                  <a:srgbClr val="F5F3EE"/>
                </a:solidFill>
                <a:latin typeface="IBM Plex Sans" pitchFamily="34" charset="0"/>
                <a:ea typeface="IBM Plex Sans" pitchFamily="34" charset="-122"/>
                <a:cs typeface="IBM Plex Sans" pitchFamily="34" charset="-120"/>
              </a:rPr>
              <a:t>The goal: </a:t>
            </a:r>
            <a:r>
              <a:rPr lang="en-US" sz="1400" b="1" dirty="0">
                <a:solidFill>
                  <a:srgbClr val="F0A35E"/>
                </a:solidFill>
                <a:latin typeface="IBM Plex Sans" pitchFamily="34" charset="0"/>
                <a:ea typeface="IBM Plex Sans" pitchFamily="34" charset="-122"/>
                <a:cs typeface="IBM Plex Sans" pitchFamily="34" charset="-120"/>
              </a:rPr>
              <a:t>a shared set of validated tools</a:t>
            </a:r>
            <a:r>
              <a:rPr lang="en-US" sz="1400" dirty="0">
                <a:solidFill>
                  <a:srgbClr val="F5F3EE"/>
                </a:solidFill>
                <a:latin typeface="IBM Plex Sans" pitchFamily="34" charset="0"/>
                <a:ea typeface="IBM Plex Sans" pitchFamily="34" charset="-122"/>
                <a:cs typeface="IBM Plex Sans" pitchFamily="34" charset="-120"/>
              </a:rPr>
              <a:t> that people and AI reuse, not reinvent.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0F"/>
                </a:solidFill>
                <a:latin typeface="JetBrains Mono" pitchFamily="49" charset="0"/>
                <a:ea typeface="JetBrains Mono" pitchFamily="49" charset="-122"/>
                <a:cs typeface="JetBrains Mono" pitchFamily="49" charset="-120"/>
              </a:rPr>
              <a:t>01 · THE PROJECT</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Our recent redevelopment had to move fast without cutting corners</a:t>
            </a:r>
            <a:endParaRPr lang="en-US" sz="3200" dirty="0"/>
          </a:p>
        </p:txBody>
      </p:sp>
      <p:sp>
        <p:nvSpPr>
          <p:cNvPr id="4" name="Text 2"/>
          <p:cNvSpPr/>
          <p:nvPr/>
        </p:nvSpPr>
        <p:spPr>
          <a:xfrm>
            <a:off x="812800" y="23773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[One line: which model, which portfolio, and why it needed redevelopment now]</a:t>
            </a:r>
            <a:endParaRPr lang="en-US" sz="1600" dirty="0"/>
          </a:p>
        </p:txBody>
      </p:sp>
      <p:sp>
        <p:nvSpPr>
          <p:cNvPr id="5" name="Shape 3"/>
          <p:cNvSpPr/>
          <p:nvPr/>
        </p:nvSpPr>
        <p:spPr>
          <a:xfrm>
            <a:off x="815975" y="3020616"/>
            <a:ext cx="2482850" cy="1685230"/>
          </a:xfrm>
          <a:prstGeom prst="roundRect">
            <a:avLst>
              <a:gd name="adj" fmla="val 5840"/>
            </a:avLst>
          </a:prstGeom>
          <a:solidFill>
            <a:srgbClr val="FBFAF7"/>
          </a:solidFill>
          <a:ln w="6350">
            <a:solidFill>
              <a:srgbClr val="DDD7CA"/>
            </a:solidFill>
            <a:prstDash val="solid"/>
          </a:ln>
        </p:spPr>
      </p:sp>
      <p:sp>
        <p:nvSpPr>
          <p:cNvPr id="6" name="Text 4"/>
          <p:cNvSpPr/>
          <p:nvPr/>
        </p:nvSpPr>
        <p:spPr>
          <a:xfrm>
            <a:off x="1073150" y="3277791"/>
            <a:ext cx="2027555"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A8520F"/>
                </a:solidFill>
                <a:latin typeface="JetBrains Mono" pitchFamily="49" charset="0"/>
                <a:ea typeface="JetBrains Mono" pitchFamily="49" charset="-122"/>
                <a:cs typeface="JetBrains Mono" pitchFamily="49" charset="-120"/>
              </a:rPr>
              <a:t>[__]</a:t>
            </a:r>
            <a:endParaRPr lang="en-US" sz="4400" dirty="0"/>
          </a:p>
        </p:txBody>
      </p:sp>
      <p:sp>
        <p:nvSpPr>
          <p:cNvPr id="7" name="Text 5"/>
          <p:cNvSpPr/>
          <p:nvPr/>
        </p:nvSpPr>
        <p:spPr>
          <a:xfrm>
            <a:off x="1073150" y="3968651"/>
            <a:ext cx="202755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weeks from kickoff to final model</a:t>
            </a:r>
            <a:endParaRPr lang="en-US" sz="1400" dirty="0"/>
          </a:p>
        </p:txBody>
      </p:sp>
      <p:sp>
        <p:nvSpPr>
          <p:cNvPr id="8" name="Shape 6"/>
          <p:cNvSpPr/>
          <p:nvPr/>
        </p:nvSpPr>
        <p:spPr>
          <a:xfrm>
            <a:off x="3508375" y="3020616"/>
            <a:ext cx="2482850" cy="1685230"/>
          </a:xfrm>
          <a:prstGeom prst="roundRect">
            <a:avLst>
              <a:gd name="adj" fmla="val 5840"/>
            </a:avLst>
          </a:prstGeom>
          <a:solidFill>
            <a:srgbClr val="FBFAF7"/>
          </a:solidFill>
          <a:ln w="6350">
            <a:solidFill>
              <a:srgbClr val="DDD7CA"/>
            </a:solidFill>
            <a:prstDash val="solid"/>
          </a:ln>
        </p:spPr>
      </p:sp>
      <p:sp>
        <p:nvSpPr>
          <p:cNvPr id="9" name="Text 7"/>
          <p:cNvSpPr/>
          <p:nvPr/>
        </p:nvSpPr>
        <p:spPr>
          <a:xfrm>
            <a:off x="3765550" y="3277791"/>
            <a:ext cx="2027555"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A8520F"/>
                </a:solidFill>
                <a:latin typeface="JetBrains Mono" pitchFamily="49" charset="0"/>
                <a:ea typeface="JetBrains Mono" pitchFamily="49" charset="-122"/>
                <a:cs typeface="JetBrains Mono" pitchFamily="49" charset="-120"/>
              </a:rPr>
              <a:t>[__]</a:t>
            </a:r>
            <a:endParaRPr lang="en-US" sz="4400" dirty="0"/>
          </a:p>
        </p:txBody>
      </p:sp>
      <p:sp>
        <p:nvSpPr>
          <p:cNvPr id="10" name="Text 8"/>
          <p:cNvSpPr/>
          <p:nvPr/>
        </p:nvSpPr>
        <p:spPr>
          <a:xfrm>
            <a:off x="3765550" y="3968651"/>
            <a:ext cx="202755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full end-to-end reruns</a:t>
            </a:r>
            <a:endParaRPr lang="en-US" sz="1400" dirty="0"/>
          </a:p>
        </p:txBody>
      </p:sp>
      <p:sp>
        <p:nvSpPr>
          <p:cNvPr id="11" name="Shape 9"/>
          <p:cNvSpPr/>
          <p:nvPr/>
        </p:nvSpPr>
        <p:spPr>
          <a:xfrm>
            <a:off x="6200775" y="3020616"/>
            <a:ext cx="2482850" cy="1685230"/>
          </a:xfrm>
          <a:prstGeom prst="roundRect">
            <a:avLst>
              <a:gd name="adj" fmla="val 5840"/>
            </a:avLst>
          </a:prstGeom>
          <a:solidFill>
            <a:srgbClr val="FBFAF7"/>
          </a:solidFill>
          <a:ln w="6350">
            <a:solidFill>
              <a:srgbClr val="DDD7CA"/>
            </a:solidFill>
            <a:prstDash val="solid"/>
          </a:ln>
        </p:spPr>
      </p:sp>
      <p:sp>
        <p:nvSpPr>
          <p:cNvPr id="12" name="Text 10"/>
          <p:cNvSpPr/>
          <p:nvPr/>
        </p:nvSpPr>
        <p:spPr>
          <a:xfrm>
            <a:off x="6457950" y="3277791"/>
            <a:ext cx="2027555"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A8520F"/>
                </a:solidFill>
                <a:latin typeface="JetBrains Mono" pitchFamily="49" charset="0"/>
                <a:ea typeface="JetBrains Mono" pitchFamily="49" charset="-122"/>
                <a:cs typeface="JetBrains Mono" pitchFamily="49" charset="-120"/>
              </a:rPr>
              <a:t>[___]</a:t>
            </a:r>
            <a:endParaRPr lang="en-US" sz="4400" dirty="0"/>
          </a:p>
        </p:txBody>
      </p:sp>
      <p:sp>
        <p:nvSpPr>
          <p:cNvPr id="13" name="Text 11"/>
          <p:cNvSpPr/>
          <p:nvPr/>
        </p:nvSpPr>
        <p:spPr>
          <a:xfrm>
            <a:off x="6457950" y="3968651"/>
            <a:ext cx="202755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candidate drivers evaluated</a:t>
            </a:r>
            <a:endParaRPr lang="en-US" sz="1400" dirty="0"/>
          </a:p>
        </p:txBody>
      </p:sp>
      <p:sp>
        <p:nvSpPr>
          <p:cNvPr id="14" name="Shape 12"/>
          <p:cNvSpPr/>
          <p:nvPr/>
        </p:nvSpPr>
        <p:spPr>
          <a:xfrm>
            <a:off x="8893175" y="3020616"/>
            <a:ext cx="2482850" cy="1685230"/>
          </a:xfrm>
          <a:prstGeom prst="roundRect">
            <a:avLst>
              <a:gd name="adj" fmla="val 5840"/>
            </a:avLst>
          </a:prstGeom>
          <a:solidFill>
            <a:srgbClr val="FBFAF7"/>
          </a:solidFill>
          <a:ln w="6350">
            <a:solidFill>
              <a:srgbClr val="DDD7CA"/>
            </a:solidFill>
            <a:prstDash val="solid"/>
          </a:ln>
        </p:spPr>
      </p:sp>
      <p:sp>
        <p:nvSpPr>
          <p:cNvPr id="15" name="Text 13"/>
          <p:cNvSpPr/>
          <p:nvPr/>
        </p:nvSpPr>
        <p:spPr>
          <a:xfrm>
            <a:off x="9150350" y="3277791"/>
            <a:ext cx="2027555"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A8520F"/>
                </a:solidFill>
                <a:latin typeface="JetBrains Mono" pitchFamily="49" charset="0"/>
                <a:ea typeface="JetBrains Mono" pitchFamily="49" charset="-122"/>
                <a:cs typeface="JetBrains Mono" pitchFamily="49" charset="-120"/>
              </a:rPr>
              <a:t>[__]</a:t>
            </a:r>
            <a:endParaRPr lang="en-US" sz="4400" dirty="0"/>
          </a:p>
        </p:txBody>
      </p:sp>
      <p:sp>
        <p:nvSpPr>
          <p:cNvPr id="16" name="Text 14"/>
          <p:cNvSpPr/>
          <p:nvPr/>
        </p:nvSpPr>
        <p:spPr>
          <a:xfrm>
            <a:off x="9150350" y="3968651"/>
            <a:ext cx="202755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review cycles with business users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0F"/>
                </a:solidFill>
                <a:latin typeface="JetBrains Mono" pitchFamily="49" charset="0"/>
                <a:ea typeface="JetBrains Mono" pitchFamily="49" charset="-122"/>
                <a:cs typeface="JetBrains Mono" pitchFamily="49" charset="-120"/>
              </a:rPr>
              <a:t>02 · THE PIPELINE</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We designed the process end to end, from source data to the decision tool</a:t>
            </a:r>
            <a:endParaRPr lang="en-US" sz="3200" dirty="0"/>
          </a:p>
        </p:txBody>
      </p:sp>
      <p:sp>
        <p:nvSpPr>
          <p:cNvPr id="4" name="Shape 2"/>
          <p:cNvSpPr/>
          <p:nvPr/>
        </p:nvSpPr>
        <p:spPr>
          <a:xfrm>
            <a:off x="815975" y="2238375"/>
            <a:ext cx="2406650" cy="1037530"/>
          </a:xfrm>
          <a:prstGeom prst="roundRect">
            <a:avLst>
              <a:gd name="adj" fmla="val 9486"/>
            </a:avLst>
          </a:prstGeom>
          <a:solidFill>
            <a:srgbClr val="FBFAF7"/>
          </a:solidFill>
          <a:ln w="6350">
            <a:solidFill>
              <a:srgbClr val="DDD7CA"/>
            </a:solidFill>
            <a:prstDash val="solid"/>
          </a:ln>
        </p:spPr>
      </p:sp>
      <p:sp>
        <p:nvSpPr>
          <p:cNvPr id="5" name="Text 3"/>
          <p:cNvSpPr/>
          <p:nvPr/>
        </p:nvSpPr>
        <p:spPr>
          <a:xfrm>
            <a:off x="971550" y="239395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8520F"/>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71550" y="2630140"/>
            <a:ext cx="21583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Source data</a:t>
            </a:r>
            <a:endParaRPr lang="en-US" sz="1600" dirty="0"/>
          </a:p>
        </p:txBody>
      </p:sp>
      <p:sp>
        <p:nvSpPr>
          <p:cNvPr id="7" name="Text 5"/>
          <p:cNvSpPr/>
          <p:nvPr/>
        </p:nvSpPr>
        <p:spPr>
          <a:xfrm>
            <a:off x="971550" y="292224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Pulls, joins, vintages</a:t>
            </a:r>
            <a:endParaRPr lang="en-US" sz="1200" dirty="0"/>
          </a:p>
        </p:txBody>
      </p:sp>
      <p:pic>
        <p:nvPicPr>
          <p:cNvPr id="8" name="Image 0" descr="connector">    </p:cNvPr>
          <p:cNvPicPr>
            <a:picLocks noChangeAspect="1"/>
          </p:cNvPicPr>
          <p:nvPr/>
        </p:nvPicPr>
        <p:blipFill>
          <a:blip r:embed="rId1"/>
          <a:srcRect l="0" r="0" t="0" b="0"/>
          <a:stretch/>
        </p:blipFill>
        <p:spPr>
          <a:xfrm>
            <a:off x="3175000" y="2743200"/>
            <a:ext cx="406400" cy="101600"/>
          </a:xfrm>
          <a:prstGeom prst="rect">
            <a:avLst/>
          </a:prstGeom>
        </p:spPr>
      </p:pic>
      <p:sp>
        <p:nvSpPr>
          <p:cNvPr id="9" name="Shape 6"/>
          <p:cNvSpPr/>
          <p:nvPr/>
        </p:nvSpPr>
        <p:spPr>
          <a:xfrm>
            <a:off x="3533775" y="2238375"/>
            <a:ext cx="2406650" cy="1037530"/>
          </a:xfrm>
          <a:prstGeom prst="roundRect">
            <a:avLst>
              <a:gd name="adj" fmla="val 9486"/>
            </a:avLst>
          </a:prstGeom>
          <a:solidFill>
            <a:srgbClr val="FBFAF7"/>
          </a:solidFill>
          <a:ln w="6350">
            <a:solidFill>
              <a:srgbClr val="DDD7CA"/>
            </a:solidFill>
            <a:prstDash val="solid"/>
          </a:ln>
        </p:spPr>
      </p:sp>
      <p:sp>
        <p:nvSpPr>
          <p:cNvPr id="10" name="Text 7"/>
          <p:cNvSpPr/>
          <p:nvPr/>
        </p:nvSpPr>
        <p:spPr>
          <a:xfrm>
            <a:off x="3689350" y="239395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8520F"/>
                </a:solidFill>
                <a:latin typeface="JetBrains Mono" pitchFamily="49" charset="0"/>
                <a:ea typeface="JetBrains Mono" pitchFamily="49" charset="-122"/>
                <a:cs typeface="JetBrains Mono" pitchFamily="49" charset="-120"/>
              </a:rPr>
              <a:t>02</a:t>
            </a:r>
            <a:endParaRPr lang="en-US" sz="1200" dirty="0"/>
          </a:p>
        </p:txBody>
      </p:sp>
      <p:sp>
        <p:nvSpPr>
          <p:cNvPr id="11" name="Text 8"/>
          <p:cNvSpPr/>
          <p:nvPr/>
        </p:nvSpPr>
        <p:spPr>
          <a:xfrm>
            <a:off x="3689350" y="2630140"/>
            <a:ext cx="21583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Processing</a:t>
            </a:r>
            <a:endParaRPr lang="en-US" sz="1600" dirty="0"/>
          </a:p>
        </p:txBody>
      </p:sp>
      <p:sp>
        <p:nvSpPr>
          <p:cNvPr id="12" name="Text 9"/>
          <p:cNvSpPr/>
          <p:nvPr/>
        </p:nvSpPr>
        <p:spPr>
          <a:xfrm>
            <a:off x="3689350" y="292224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Cleaning, mapping, QC</a:t>
            </a:r>
            <a:endParaRPr lang="en-US" sz="1200" dirty="0"/>
          </a:p>
        </p:txBody>
      </p:sp>
      <p:pic>
        <p:nvPicPr>
          <p:cNvPr id="13" name="Image 1" descr="connector">    </p:cNvPr>
          <p:cNvPicPr>
            <a:picLocks noChangeAspect="1"/>
          </p:cNvPicPr>
          <p:nvPr/>
        </p:nvPicPr>
        <p:blipFill>
          <a:blip r:embed="rId2"/>
          <a:srcRect l="0" r="0" t="0" b="0"/>
          <a:stretch/>
        </p:blipFill>
        <p:spPr>
          <a:xfrm>
            <a:off x="5892800" y="2743200"/>
            <a:ext cx="406400" cy="101600"/>
          </a:xfrm>
          <a:prstGeom prst="rect">
            <a:avLst/>
          </a:prstGeom>
        </p:spPr>
      </p:pic>
      <p:sp>
        <p:nvSpPr>
          <p:cNvPr id="14" name="Shape 10"/>
          <p:cNvSpPr/>
          <p:nvPr/>
        </p:nvSpPr>
        <p:spPr>
          <a:xfrm>
            <a:off x="6251575" y="2238375"/>
            <a:ext cx="2406650" cy="1037530"/>
          </a:xfrm>
          <a:prstGeom prst="roundRect">
            <a:avLst>
              <a:gd name="adj" fmla="val 9486"/>
            </a:avLst>
          </a:prstGeom>
          <a:solidFill>
            <a:srgbClr val="FBFAF7"/>
          </a:solidFill>
          <a:ln w="6350">
            <a:solidFill>
              <a:srgbClr val="DDD7CA"/>
            </a:solidFill>
            <a:prstDash val="solid"/>
          </a:ln>
        </p:spPr>
      </p:sp>
      <p:sp>
        <p:nvSpPr>
          <p:cNvPr id="15" name="Text 11"/>
          <p:cNvSpPr/>
          <p:nvPr/>
        </p:nvSpPr>
        <p:spPr>
          <a:xfrm>
            <a:off x="6407150" y="239395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8520F"/>
                </a:solidFill>
                <a:latin typeface="JetBrains Mono" pitchFamily="49" charset="0"/>
                <a:ea typeface="JetBrains Mono" pitchFamily="49" charset="-122"/>
                <a:cs typeface="JetBrains Mono" pitchFamily="49" charset="-120"/>
              </a:rPr>
              <a:t>03</a:t>
            </a:r>
            <a:endParaRPr lang="en-US" sz="1200" dirty="0"/>
          </a:p>
        </p:txBody>
      </p:sp>
      <p:sp>
        <p:nvSpPr>
          <p:cNvPr id="16" name="Text 12"/>
          <p:cNvSpPr/>
          <p:nvPr/>
        </p:nvSpPr>
        <p:spPr>
          <a:xfrm>
            <a:off x="6407150" y="2630140"/>
            <a:ext cx="21583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Treatment</a:t>
            </a:r>
            <a:endParaRPr lang="en-US" sz="1600" dirty="0"/>
          </a:p>
        </p:txBody>
      </p:sp>
      <p:sp>
        <p:nvSpPr>
          <p:cNvPr id="17" name="Text 13"/>
          <p:cNvSpPr/>
          <p:nvPr/>
        </p:nvSpPr>
        <p:spPr>
          <a:xfrm>
            <a:off x="6407150" y="292224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Outliers, gaps, lags</a:t>
            </a:r>
            <a:endParaRPr lang="en-US" sz="1200" dirty="0"/>
          </a:p>
        </p:txBody>
      </p:sp>
      <p:pic>
        <p:nvPicPr>
          <p:cNvPr id="18" name="Image 2" descr="connector">    </p:cNvPr>
          <p:cNvPicPr>
            <a:picLocks noChangeAspect="1"/>
          </p:cNvPicPr>
          <p:nvPr/>
        </p:nvPicPr>
        <p:blipFill>
          <a:blip r:embed="rId3"/>
          <a:srcRect l="0" r="0" t="0" b="0"/>
          <a:stretch/>
        </p:blipFill>
        <p:spPr>
          <a:xfrm>
            <a:off x="8610600" y="2743200"/>
            <a:ext cx="406400" cy="101600"/>
          </a:xfrm>
          <a:prstGeom prst="rect">
            <a:avLst/>
          </a:prstGeom>
        </p:spPr>
      </p:pic>
      <p:sp>
        <p:nvSpPr>
          <p:cNvPr id="19" name="Shape 14"/>
          <p:cNvSpPr/>
          <p:nvPr/>
        </p:nvSpPr>
        <p:spPr>
          <a:xfrm>
            <a:off x="8969375" y="2238375"/>
            <a:ext cx="2406650" cy="1037530"/>
          </a:xfrm>
          <a:prstGeom prst="roundRect">
            <a:avLst>
              <a:gd name="adj" fmla="val 9486"/>
            </a:avLst>
          </a:prstGeom>
          <a:solidFill>
            <a:srgbClr val="FBFAF7"/>
          </a:solidFill>
          <a:ln w="6350">
            <a:solidFill>
              <a:srgbClr val="DDD7CA"/>
            </a:solidFill>
            <a:prstDash val="solid"/>
          </a:ln>
        </p:spPr>
      </p:sp>
      <p:sp>
        <p:nvSpPr>
          <p:cNvPr id="20" name="Text 15"/>
          <p:cNvSpPr/>
          <p:nvPr/>
        </p:nvSpPr>
        <p:spPr>
          <a:xfrm>
            <a:off x="9124950" y="239395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8520F"/>
                </a:solidFill>
                <a:latin typeface="JetBrains Mono" pitchFamily="49" charset="0"/>
                <a:ea typeface="JetBrains Mono" pitchFamily="49" charset="-122"/>
                <a:cs typeface="JetBrains Mono" pitchFamily="49" charset="-120"/>
              </a:rPr>
              <a:t>04</a:t>
            </a:r>
            <a:endParaRPr lang="en-US" sz="1200" dirty="0"/>
          </a:p>
        </p:txBody>
      </p:sp>
      <p:sp>
        <p:nvSpPr>
          <p:cNvPr id="21" name="Text 16"/>
          <p:cNvSpPr/>
          <p:nvPr/>
        </p:nvSpPr>
        <p:spPr>
          <a:xfrm>
            <a:off x="9124950" y="2630140"/>
            <a:ext cx="21583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Single-factor</a:t>
            </a:r>
            <a:endParaRPr lang="en-US" sz="1600" dirty="0"/>
          </a:p>
        </p:txBody>
      </p:sp>
      <p:sp>
        <p:nvSpPr>
          <p:cNvPr id="22" name="Text 17"/>
          <p:cNvSpPr/>
          <p:nvPr/>
        </p:nvSpPr>
        <p:spPr>
          <a:xfrm>
            <a:off x="9124950" y="292224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Screen every driver</a:t>
            </a:r>
            <a:endParaRPr lang="en-US" sz="1200" dirty="0"/>
          </a:p>
        </p:txBody>
      </p:sp>
      <p:pic>
        <p:nvPicPr>
          <p:cNvPr id="23" name="Image 3" descr="connector">    </p:cNvPr>
          <p:cNvPicPr>
            <a:picLocks noChangeAspect="1"/>
          </p:cNvPicPr>
          <p:nvPr/>
        </p:nvPicPr>
        <p:blipFill>
          <a:blip r:embed="rId4"/>
          <a:srcRect l="0" r="0" t="0" b="0"/>
          <a:stretch/>
        </p:blipFill>
        <p:spPr>
          <a:xfrm>
            <a:off x="10121900" y="3302000"/>
            <a:ext cx="101600" cy="508000"/>
          </a:xfrm>
          <a:prstGeom prst="rect">
            <a:avLst/>
          </a:prstGeom>
        </p:spPr>
      </p:pic>
      <p:sp>
        <p:nvSpPr>
          <p:cNvPr id="24" name="Shape 18"/>
          <p:cNvSpPr/>
          <p:nvPr/>
        </p:nvSpPr>
        <p:spPr>
          <a:xfrm>
            <a:off x="8969375" y="3762375"/>
            <a:ext cx="2406650" cy="1037530"/>
          </a:xfrm>
          <a:prstGeom prst="roundRect">
            <a:avLst>
              <a:gd name="adj" fmla="val 9486"/>
            </a:avLst>
          </a:prstGeom>
          <a:solidFill>
            <a:srgbClr val="FBFAF7"/>
          </a:solidFill>
          <a:ln w="6350">
            <a:solidFill>
              <a:srgbClr val="DDD7CA"/>
            </a:solidFill>
            <a:prstDash val="solid"/>
          </a:ln>
        </p:spPr>
      </p:sp>
      <p:sp>
        <p:nvSpPr>
          <p:cNvPr id="25" name="Text 19"/>
          <p:cNvSpPr/>
          <p:nvPr/>
        </p:nvSpPr>
        <p:spPr>
          <a:xfrm>
            <a:off x="9124950" y="391795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8520F"/>
                </a:solidFill>
                <a:latin typeface="JetBrains Mono" pitchFamily="49" charset="0"/>
                <a:ea typeface="JetBrains Mono" pitchFamily="49" charset="-122"/>
                <a:cs typeface="JetBrains Mono" pitchFamily="49" charset="-120"/>
              </a:rPr>
              <a:t>05</a:t>
            </a:r>
            <a:endParaRPr lang="en-US" sz="1200" dirty="0"/>
          </a:p>
        </p:txBody>
      </p:sp>
      <p:sp>
        <p:nvSpPr>
          <p:cNvPr id="26" name="Text 20"/>
          <p:cNvSpPr/>
          <p:nvPr/>
        </p:nvSpPr>
        <p:spPr>
          <a:xfrm>
            <a:off x="9124950" y="4154140"/>
            <a:ext cx="21583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Multi-factor</a:t>
            </a:r>
            <a:endParaRPr lang="en-US" sz="1600" dirty="0"/>
          </a:p>
        </p:txBody>
      </p:sp>
      <p:sp>
        <p:nvSpPr>
          <p:cNvPr id="27" name="Text 21"/>
          <p:cNvSpPr/>
          <p:nvPr/>
        </p:nvSpPr>
        <p:spPr>
          <a:xfrm>
            <a:off x="9124950" y="444624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Search combinations</a:t>
            </a:r>
            <a:endParaRPr lang="en-US" sz="1200" dirty="0"/>
          </a:p>
        </p:txBody>
      </p:sp>
      <p:pic>
        <p:nvPicPr>
          <p:cNvPr id="28" name="Image 4" descr="connector">    </p:cNvPr>
          <p:cNvPicPr>
            <a:picLocks noChangeAspect="1"/>
          </p:cNvPicPr>
          <p:nvPr/>
        </p:nvPicPr>
        <p:blipFill>
          <a:blip r:embed="rId5"/>
          <a:srcRect l="0" r="0" t="0" b="0"/>
          <a:stretch/>
        </p:blipFill>
        <p:spPr>
          <a:xfrm>
            <a:off x="8610600" y="4267200"/>
            <a:ext cx="406400" cy="101600"/>
          </a:xfrm>
          <a:prstGeom prst="rect">
            <a:avLst/>
          </a:prstGeom>
        </p:spPr>
      </p:pic>
      <p:sp>
        <p:nvSpPr>
          <p:cNvPr id="29" name="Shape 22"/>
          <p:cNvSpPr/>
          <p:nvPr/>
        </p:nvSpPr>
        <p:spPr>
          <a:xfrm>
            <a:off x="6251575" y="3762375"/>
            <a:ext cx="2406650" cy="1037530"/>
          </a:xfrm>
          <a:prstGeom prst="roundRect">
            <a:avLst>
              <a:gd name="adj" fmla="val 9486"/>
            </a:avLst>
          </a:prstGeom>
          <a:solidFill>
            <a:srgbClr val="FBFAF7"/>
          </a:solidFill>
          <a:ln w="6350">
            <a:solidFill>
              <a:srgbClr val="DDD7CA"/>
            </a:solidFill>
            <a:prstDash val="solid"/>
          </a:ln>
        </p:spPr>
      </p:sp>
      <p:sp>
        <p:nvSpPr>
          <p:cNvPr id="30" name="Text 23"/>
          <p:cNvSpPr/>
          <p:nvPr/>
        </p:nvSpPr>
        <p:spPr>
          <a:xfrm>
            <a:off x="6407150" y="391795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8520F"/>
                </a:solidFill>
                <a:latin typeface="JetBrains Mono" pitchFamily="49" charset="0"/>
                <a:ea typeface="JetBrains Mono" pitchFamily="49" charset="-122"/>
                <a:cs typeface="JetBrains Mono" pitchFamily="49" charset="-120"/>
              </a:rPr>
              <a:t>06</a:t>
            </a:r>
            <a:endParaRPr lang="en-US" sz="1200" dirty="0"/>
          </a:p>
        </p:txBody>
      </p:sp>
      <p:sp>
        <p:nvSpPr>
          <p:cNvPr id="31" name="Text 24"/>
          <p:cNvSpPr/>
          <p:nvPr/>
        </p:nvSpPr>
        <p:spPr>
          <a:xfrm>
            <a:off x="6407150" y="4154140"/>
            <a:ext cx="21583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Model testing</a:t>
            </a:r>
            <a:endParaRPr lang="en-US" sz="1600" dirty="0"/>
          </a:p>
        </p:txBody>
      </p:sp>
      <p:sp>
        <p:nvSpPr>
          <p:cNvPr id="32" name="Text 25"/>
          <p:cNvSpPr/>
          <p:nvPr/>
        </p:nvSpPr>
        <p:spPr>
          <a:xfrm>
            <a:off x="6407150" y="444624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Stats and diagnostics</a:t>
            </a:r>
            <a:endParaRPr lang="en-US" sz="1200" dirty="0"/>
          </a:p>
        </p:txBody>
      </p:sp>
      <p:pic>
        <p:nvPicPr>
          <p:cNvPr id="33" name="Image 5" descr="connector">    </p:cNvPr>
          <p:cNvPicPr>
            <a:picLocks noChangeAspect="1"/>
          </p:cNvPicPr>
          <p:nvPr/>
        </p:nvPicPr>
        <p:blipFill>
          <a:blip r:embed="rId6"/>
          <a:srcRect l="0" r="0" t="0" b="0"/>
          <a:stretch/>
        </p:blipFill>
        <p:spPr>
          <a:xfrm>
            <a:off x="5892800" y="4267200"/>
            <a:ext cx="406400" cy="101600"/>
          </a:xfrm>
          <a:prstGeom prst="rect">
            <a:avLst/>
          </a:prstGeom>
        </p:spPr>
      </p:pic>
      <p:sp>
        <p:nvSpPr>
          <p:cNvPr id="34" name="Shape 26"/>
          <p:cNvSpPr/>
          <p:nvPr/>
        </p:nvSpPr>
        <p:spPr>
          <a:xfrm>
            <a:off x="3533775" y="3762375"/>
            <a:ext cx="2406650" cy="1037530"/>
          </a:xfrm>
          <a:prstGeom prst="roundRect">
            <a:avLst>
              <a:gd name="adj" fmla="val 9486"/>
            </a:avLst>
          </a:prstGeom>
          <a:solidFill>
            <a:srgbClr val="FBFAF7"/>
          </a:solidFill>
          <a:ln w="6350">
            <a:solidFill>
              <a:srgbClr val="DDD7CA"/>
            </a:solidFill>
            <a:prstDash val="solid"/>
          </a:ln>
        </p:spPr>
      </p:sp>
      <p:sp>
        <p:nvSpPr>
          <p:cNvPr id="35" name="Text 27"/>
          <p:cNvSpPr/>
          <p:nvPr/>
        </p:nvSpPr>
        <p:spPr>
          <a:xfrm>
            <a:off x="3689350" y="391795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8520F"/>
                </a:solidFill>
                <a:latin typeface="JetBrains Mono" pitchFamily="49" charset="0"/>
                <a:ea typeface="JetBrains Mono" pitchFamily="49" charset="-122"/>
                <a:cs typeface="JetBrains Mono" pitchFamily="49" charset="-120"/>
              </a:rPr>
              <a:t>07</a:t>
            </a:r>
            <a:endParaRPr lang="en-US" sz="1200" dirty="0"/>
          </a:p>
        </p:txBody>
      </p:sp>
      <p:sp>
        <p:nvSpPr>
          <p:cNvPr id="36" name="Text 28"/>
          <p:cNvSpPr/>
          <p:nvPr/>
        </p:nvSpPr>
        <p:spPr>
          <a:xfrm>
            <a:off x="3689350" y="4154140"/>
            <a:ext cx="21583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Backtesting</a:t>
            </a:r>
            <a:endParaRPr lang="en-US" sz="1600" dirty="0"/>
          </a:p>
        </p:txBody>
      </p:sp>
      <p:sp>
        <p:nvSpPr>
          <p:cNvPr id="37" name="Text 29"/>
          <p:cNvSpPr/>
          <p:nvPr/>
        </p:nvSpPr>
        <p:spPr>
          <a:xfrm>
            <a:off x="3689350" y="444624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Fit vs. actuals</a:t>
            </a:r>
            <a:endParaRPr lang="en-US" sz="1200" dirty="0"/>
          </a:p>
        </p:txBody>
      </p:sp>
      <p:pic>
        <p:nvPicPr>
          <p:cNvPr id="38" name="Image 6" descr="connector">    </p:cNvPr>
          <p:cNvPicPr>
            <a:picLocks noChangeAspect="1"/>
          </p:cNvPicPr>
          <p:nvPr/>
        </p:nvPicPr>
        <p:blipFill>
          <a:blip r:embed="rId7"/>
          <a:srcRect l="0" r="0" t="0" b="0"/>
          <a:stretch/>
        </p:blipFill>
        <p:spPr>
          <a:xfrm>
            <a:off x="3175000" y="4267200"/>
            <a:ext cx="406400" cy="101600"/>
          </a:xfrm>
          <a:prstGeom prst="rect">
            <a:avLst/>
          </a:prstGeom>
        </p:spPr>
      </p:pic>
      <p:sp>
        <p:nvSpPr>
          <p:cNvPr id="39" name="Shape 30"/>
          <p:cNvSpPr/>
          <p:nvPr/>
        </p:nvSpPr>
        <p:spPr>
          <a:xfrm>
            <a:off x="815975" y="3762375"/>
            <a:ext cx="2406650" cy="1037530"/>
          </a:xfrm>
          <a:prstGeom prst="roundRect">
            <a:avLst>
              <a:gd name="adj" fmla="val 9486"/>
            </a:avLst>
          </a:prstGeom>
          <a:solidFill>
            <a:srgbClr val="D9772B"/>
          </a:solidFill>
          <a:ln w="6350">
            <a:solidFill>
              <a:srgbClr val="D9772B"/>
            </a:solidFill>
            <a:prstDash val="solid"/>
          </a:ln>
        </p:spPr>
      </p:sp>
      <p:sp>
        <p:nvSpPr>
          <p:cNvPr id="40" name="Text 31"/>
          <p:cNvSpPr/>
          <p:nvPr/>
        </p:nvSpPr>
        <p:spPr>
          <a:xfrm>
            <a:off x="971550" y="391795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13D"/>
                </a:solidFill>
                <a:latin typeface="JetBrains Mono" pitchFamily="49" charset="0"/>
                <a:ea typeface="JetBrains Mono" pitchFamily="49" charset="-122"/>
                <a:cs typeface="JetBrains Mono" pitchFamily="49" charset="-120"/>
              </a:rPr>
              <a:t>08</a:t>
            </a:r>
            <a:endParaRPr lang="en-US" sz="1200" dirty="0"/>
          </a:p>
        </p:txBody>
      </p:sp>
      <p:sp>
        <p:nvSpPr>
          <p:cNvPr id="41" name="Text 32"/>
          <p:cNvSpPr/>
          <p:nvPr/>
        </p:nvSpPr>
        <p:spPr>
          <a:xfrm>
            <a:off x="971550" y="4154140"/>
            <a:ext cx="21583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Decision tool</a:t>
            </a:r>
            <a:endParaRPr lang="en-US" sz="1600" dirty="0"/>
          </a:p>
        </p:txBody>
      </p:sp>
      <p:sp>
        <p:nvSpPr>
          <p:cNvPr id="42" name="Text 33"/>
          <p:cNvSpPr/>
          <p:nvPr/>
        </p:nvSpPr>
        <p:spPr>
          <a:xfrm>
            <a:off x="971550" y="4446240"/>
            <a:ext cx="215836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One view for users</a:t>
            </a:r>
            <a:endParaRPr lang="en-US" sz="1200" dirty="0"/>
          </a:p>
        </p:txBody>
      </p:sp>
      <p:sp>
        <p:nvSpPr>
          <p:cNvPr id="43" name="Text 34"/>
          <p:cNvSpPr/>
          <p:nvPr/>
        </p:nvSpPr>
        <p:spPr>
          <a:xfrm>
            <a:off x="812800" y="5080000"/>
            <a:ext cx="10566400" cy="535930"/>
          </a:xfrm>
          <a:prstGeom prst="roundRect">
            <a:avLst>
              <a:gd name="adj" fmla="val 18958"/>
            </a:avLst>
          </a:prstGeom>
          <a:solidFill>
            <a:srgbClr val="14213D"/>
          </a:solidFill>
          <a:ln/>
        </p:spPr>
        <p:txBody>
          <a:bodyPr wrap="square" lIns="173442" tIns="122642" rIns="0" bIns="97242" rtlCol="0" anchor="t">
            <a:normAutofit/>
          </a:bodyPr>
          <a:lstStyle/>
          <a:p>
            <a:pPr algn="l" indent="0" marL="0">
              <a:lnSpc>
                <a:spcPts val="1820"/>
              </a:lnSpc>
              <a:buNone/>
            </a:pPr>
            <a:r>
              <a:rPr lang="en-US" sz="1400" b="1" dirty="0">
                <a:solidFill>
                  <a:srgbClr val="F5F3EE"/>
                </a:solidFill>
                <a:latin typeface="IBM Plex Sans" pitchFamily="34" charset="0"/>
                <a:ea typeface="IBM Plex Sans" pitchFamily="34" charset="-122"/>
                <a:cs typeface="IBM Plex Sans" pitchFamily="34" charset="-120"/>
              </a:rPr>
              <a:t>In place:</a:t>
            </a:r>
            <a:r>
              <a:rPr lang="en-US" sz="1400" dirty="0">
                <a:solidFill>
                  <a:srgbClr val="F5F3EE"/>
                </a:solidFill>
                <a:latin typeface="IBM Plex Sans" pitchFamily="34" charset="0"/>
                <a:ea typeface="IBM Plex Sans" pitchFamily="34" charset="-122"/>
                <a:cs typeface="IBM Plex Sans" pitchFamily="34" charset="-120"/>
              </a:rPr>
              <a:t> all in code · reproducible runs · rationale in markdown · decision app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0F"/>
                </a:solidFill>
                <a:latin typeface="JetBrains Mono" pitchFamily="49" charset="0"/>
                <a:ea typeface="JetBrains Mono" pitchFamily="49" charset="-122"/>
                <a:cs typeface="JetBrains Mono" pitchFamily="49" charset="-120"/>
              </a:rPr>
              <a:t>02 · MARKDOWN-BASED DEVELOPMENT</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Markdown-based development keeps the rationale right next to the code</a:t>
            </a:r>
            <a:endParaRPr lang="en-US" sz="3200" dirty="0"/>
          </a:p>
        </p:txBody>
      </p:sp>
      <p:sp>
        <p:nvSpPr>
          <p:cNvPr id="4" name="Shape 2"/>
          <p:cNvSpPr/>
          <p:nvPr/>
        </p:nvSpPr>
        <p:spPr>
          <a:xfrm>
            <a:off x="815975" y="2380555"/>
            <a:ext cx="2533650" cy="1169640"/>
          </a:xfrm>
          <a:prstGeom prst="roundRect">
            <a:avLst>
              <a:gd name="adj" fmla="val 8415"/>
            </a:avLst>
          </a:prstGeom>
          <a:solidFill>
            <a:srgbClr val="FBFAF7"/>
          </a:solidFill>
          <a:ln w="6350">
            <a:solidFill>
              <a:srgbClr val="DDD7CA"/>
            </a:solidFill>
            <a:prstDash val="solid"/>
          </a:ln>
        </p:spPr>
      </p:sp>
      <p:sp>
        <p:nvSpPr>
          <p:cNvPr id="5" name="Text 3"/>
          <p:cNvSpPr/>
          <p:nvPr/>
        </p:nvSpPr>
        <p:spPr>
          <a:xfrm>
            <a:off x="1022350" y="2586930"/>
            <a:ext cx="21845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Rationale</a:t>
            </a:r>
            <a:endParaRPr lang="en-US" sz="1600" dirty="0"/>
          </a:p>
        </p:txBody>
      </p:sp>
      <p:sp>
        <p:nvSpPr>
          <p:cNvPr id="6" name="Text 4"/>
          <p:cNvSpPr/>
          <p:nvPr/>
        </p:nvSpPr>
        <p:spPr>
          <a:xfrm>
            <a:off x="1022350" y="2881561"/>
            <a:ext cx="218452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Why each choice was made, in plain language</a:t>
            </a:r>
            <a:endParaRPr lang="en-US" sz="1300" dirty="0"/>
          </a:p>
        </p:txBody>
      </p:sp>
      <p:sp>
        <p:nvSpPr>
          <p:cNvPr id="7" name="Shape 5"/>
          <p:cNvSpPr/>
          <p:nvPr/>
        </p:nvSpPr>
        <p:spPr>
          <a:xfrm>
            <a:off x="815975" y="3708946"/>
            <a:ext cx="2533650" cy="1169640"/>
          </a:xfrm>
          <a:prstGeom prst="roundRect">
            <a:avLst>
              <a:gd name="adj" fmla="val 8415"/>
            </a:avLst>
          </a:prstGeom>
          <a:solidFill>
            <a:srgbClr val="FBFAF7"/>
          </a:solidFill>
          <a:ln w="6350">
            <a:solidFill>
              <a:srgbClr val="DDD7CA"/>
            </a:solidFill>
            <a:prstDash val="solid"/>
          </a:ln>
        </p:spPr>
      </p:sp>
      <p:sp>
        <p:nvSpPr>
          <p:cNvPr id="8" name="Text 6"/>
          <p:cNvSpPr/>
          <p:nvPr/>
        </p:nvSpPr>
        <p:spPr>
          <a:xfrm>
            <a:off x="1022350" y="3915321"/>
            <a:ext cx="21845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Code</a:t>
            </a:r>
            <a:endParaRPr lang="en-US" sz="1600" dirty="0"/>
          </a:p>
        </p:txBody>
      </p:sp>
      <p:sp>
        <p:nvSpPr>
          <p:cNvPr id="9" name="Text 7"/>
          <p:cNvSpPr/>
          <p:nvPr/>
        </p:nvSpPr>
        <p:spPr>
          <a:xfrm>
            <a:off x="1022350" y="4209951"/>
            <a:ext cx="218452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How it was done, runnable as written</a:t>
            </a:r>
            <a:endParaRPr lang="en-US" sz="1300" dirty="0"/>
          </a:p>
        </p:txBody>
      </p:sp>
      <p:pic>
        <p:nvPicPr>
          <p:cNvPr id="10" name="Image 0" descr="arrow-right">    </p:cNvPr>
          <p:cNvPicPr>
            <a:picLocks noChangeAspect="1"/>
          </p:cNvPicPr>
          <p:nvPr/>
        </p:nvPicPr>
        <p:blipFill>
          <a:blip r:embed="rId1"/>
          <a:srcRect l="0" r="0" t="0" b="0"/>
          <a:stretch/>
        </p:blipFill>
        <p:spPr>
          <a:xfrm>
            <a:off x="3505200" y="3527971"/>
            <a:ext cx="406400" cy="203200"/>
          </a:xfrm>
          <a:prstGeom prst="rect">
            <a:avLst/>
          </a:prstGeom>
        </p:spPr>
      </p:pic>
      <p:sp>
        <p:nvSpPr>
          <p:cNvPr id="11" name="Shape 8"/>
          <p:cNvSpPr/>
          <p:nvPr/>
        </p:nvSpPr>
        <p:spPr>
          <a:xfrm>
            <a:off x="4064000" y="2423071"/>
            <a:ext cx="4064000" cy="2413000"/>
          </a:xfrm>
          <a:prstGeom prst="roundRect">
            <a:avLst>
              <a:gd name="adj" fmla="val 4211"/>
            </a:avLst>
          </a:prstGeom>
          <a:solidFill>
            <a:srgbClr val="14213D"/>
          </a:solidFill>
          <a:ln/>
        </p:spPr>
      </p:sp>
      <p:sp>
        <p:nvSpPr>
          <p:cNvPr id="12" name="Text 9"/>
          <p:cNvSpPr/>
          <p:nvPr/>
        </p:nvSpPr>
        <p:spPr>
          <a:xfrm>
            <a:off x="4318000" y="2677071"/>
            <a:ext cx="36626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0A35E"/>
                </a:solidFill>
                <a:latin typeface="JetBrains Mono" pitchFamily="49" charset="0"/>
                <a:ea typeface="JetBrains Mono" pitchFamily="49" charset="-122"/>
                <a:cs typeface="JetBrains Mono" pitchFamily="49" charset="-120"/>
              </a:rPr>
              <a:t>03_treatment.qmd</a:t>
            </a:r>
            <a:endParaRPr lang="en-US" sz="1200" dirty="0"/>
          </a:p>
        </p:txBody>
      </p:sp>
      <p:sp>
        <p:nvSpPr>
          <p:cNvPr id="13" name="Text 10"/>
          <p:cNvSpPr/>
          <p:nvPr/>
        </p:nvSpPr>
        <p:spPr>
          <a:xfrm>
            <a:off x="4318000" y="3007271"/>
            <a:ext cx="36626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5F3EE"/>
                </a:solidFill>
                <a:latin typeface="JetBrains Mono" pitchFamily="49" charset="0"/>
                <a:ea typeface="JetBrains Mono" pitchFamily="49" charset="-122"/>
                <a:cs typeface="JetBrains Mono" pitchFamily="49" charset="-120"/>
              </a:rPr>
              <a:t>## Outlier treatment</a:t>
            </a:r>
            <a:endParaRPr lang="en-US" sz="1200" dirty="0"/>
          </a:p>
        </p:txBody>
      </p:sp>
      <p:sp>
        <p:nvSpPr>
          <p:cNvPr id="14" name="Text 11"/>
          <p:cNvSpPr/>
          <p:nvPr/>
        </p:nvSpPr>
        <p:spPr>
          <a:xfrm>
            <a:off x="4318000" y="3337471"/>
            <a:ext cx="36626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FC8D8"/>
                </a:solidFill>
                <a:latin typeface="JetBrains Mono" pitchFamily="49" charset="0"/>
                <a:ea typeface="JetBrains Mono" pitchFamily="49" charset="-122"/>
                <a:cs typeface="JetBrains Mono" pitchFamily="49" charset="-120"/>
              </a:rPr>
              <a:t>We cap at the 99th percentile because [reason].</a:t>
            </a:r>
            <a:endParaRPr lang="en-US" sz="1200" dirty="0"/>
          </a:p>
        </p:txBody>
      </p:sp>
      <p:sp>
        <p:nvSpPr>
          <p:cNvPr id="15" name="Text 12"/>
          <p:cNvSpPr/>
          <p:nvPr/>
        </p:nvSpPr>
        <p:spPr>
          <a:xfrm>
            <a:off x="4318000" y="3896271"/>
            <a:ext cx="366268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FD0A8"/>
                </a:solidFill>
                <a:latin typeface="JetBrains Mono" pitchFamily="49" charset="0"/>
                <a:ea typeface="JetBrains Mono" pitchFamily="49" charset="-122"/>
                <a:cs typeface="JetBrains Mono" pitchFamily="49" charset="-120"/>
              </a:rPr>
              <a:t>```{r}</a:t>
            </a:r>
            <a:endParaRPr lang="en-US" sz="1200" dirty="0"/>
          </a:p>
          <a:p>
            <a:pPr algn="l" indent="0" marL="0">
              <a:lnSpc>
                <a:spcPts val="1800"/>
              </a:lnSpc>
              <a:buNone/>
            </a:pPr>
            <a:r>
              <a:rPr lang="en-US" sz="1200" dirty="0">
                <a:solidFill>
                  <a:srgbClr val="9FD0A8"/>
                </a:solidFill>
                <a:latin typeface="JetBrains Mono" pitchFamily="49" charset="0"/>
                <a:ea typeface="JetBrains Mono" pitchFamily="49" charset="-122"/>
                <a:cs typeface="JetBrains Mono" pitchFamily="49" charset="-120"/>
              </a:rPr>
              <a:t>data &lt;- cap_outliers(data, p = 0.99)</a:t>
            </a:r>
            <a:endParaRPr lang="en-US" sz="1200" dirty="0"/>
          </a:p>
          <a:p>
            <a:pPr algn="l" indent="0" marL="0">
              <a:lnSpc>
                <a:spcPts val="1800"/>
              </a:lnSpc>
              <a:buNone/>
            </a:pPr>
            <a:r>
              <a:rPr lang="en-US" sz="1200" dirty="0">
                <a:solidFill>
                  <a:srgbClr val="9FD0A8"/>
                </a:solidFill>
                <a:latin typeface="JetBrains Mono" pitchFamily="49" charset="0"/>
                <a:ea typeface="JetBrains Mono" pitchFamily="49" charset="-122"/>
                <a:cs typeface="JetBrains Mono" pitchFamily="49" charset="-120"/>
              </a:rPr>
              <a:t>```</a:t>
            </a:r>
            <a:endParaRPr lang="en-US" sz="1200" dirty="0"/>
          </a:p>
        </p:txBody>
      </p:sp>
      <p:pic>
        <p:nvPicPr>
          <p:cNvPr id="16" name="Image 1" descr="arrow-right">    </p:cNvPr>
          <p:cNvPicPr>
            <a:picLocks noChangeAspect="1"/>
          </p:cNvPicPr>
          <p:nvPr/>
        </p:nvPicPr>
        <p:blipFill>
          <a:blip r:embed="rId2"/>
          <a:srcRect l="0" r="0" t="0" b="0"/>
          <a:stretch/>
        </p:blipFill>
        <p:spPr>
          <a:xfrm>
            <a:off x="8280400" y="3527971"/>
            <a:ext cx="406400" cy="203200"/>
          </a:xfrm>
          <a:prstGeom prst="rect">
            <a:avLst/>
          </a:prstGeom>
        </p:spPr>
      </p:pic>
      <p:sp>
        <p:nvSpPr>
          <p:cNvPr id="17" name="Shape 13"/>
          <p:cNvSpPr/>
          <p:nvPr/>
        </p:nvSpPr>
        <p:spPr>
          <a:xfrm>
            <a:off x="8845550" y="2722811"/>
            <a:ext cx="2527300" cy="1813520"/>
          </a:xfrm>
          <a:prstGeom prst="roundRect">
            <a:avLst>
              <a:gd name="adj" fmla="val 5252"/>
            </a:avLst>
          </a:prstGeom>
          <a:solidFill>
            <a:srgbClr val="FBFAF7"/>
          </a:solidFill>
          <a:ln w="12700">
            <a:solidFill>
              <a:srgbClr val="D9772B"/>
            </a:solidFill>
            <a:prstDash val="solid"/>
          </a:ln>
        </p:spPr>
      </p:sp>
      <p:pic>
        <p:nvPicPr>
          <p:cNvPr id="18" name="Image 2" descr="Book">    </p:cNvPr>
          <p:cNvPicPr>
            <a:picLocks noChangeAspect="1"/>
          </p:cNvPicPr>
          <p:nvPr/>
        </p:nvPicPr>
        <p:blipFill>
          <a:blip r:embed="rId3"/>
          <a:srcRect l="0" r="0" t="0" b="0"/>
          <a:stretch/>
        </p:blipFill>
        <p:spPr>
          <a:xfrm>
            <a:off x="9055100" y="2932361"/>
            <a:ext cx="304800" cy="304800"/>
          </a:xfrm>
          <a:prstGeom prst="rect">
            <a:avLst/>
          </a:prstGeom>
        </p:spPr>
      </p:pic>
      <p:sp>
        <p:nvSpPr>
          <p:cNvPr id="19" name="Text 14"/>
          <p:cNvSpPr/>
          <p:nvPr/>
        </p:nvSpPr>
        <p:spPr>
          <a:xfrm>
            <a:off x="9055100" y="331336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Documentation</a:t>
            </a:r>
            <a:endParaRPr lang="en-US" sz="1600" dirty="0"/>
          </a:p>
        </p:txBody>
      </p:sp>
      <p:sp>
        <p:nvSpPr>
          <p:cNvPr id="20" name="Text 15"/>
          <p:cNvSpPr/>
          <p:nvPr/>
        </p:nvSpPr>
        <p:spPr>
          <a:xfrm>
            <a:off x="9055100" y="363339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Rendered to HTML, PDF or Word, with results and charts built in</a:t>
            </a:r>
            <a:endParaRPr lang="en-US" sz="1300" dirty="0"/>
          </a:p>
        </p:txBody>
      </p:sp>
      <p:sp>
        <p:nvSpPr>
          <p:cNvPr id="21" name="Text 16"/>
          <p:cNvSpPr/>
          <p:nvPr/>
        </p:nvSpPr>
        <p:spPr>
          <a:xfrm>
            <a:off x="812800" y="523736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final documentation is a </a:t>
            </a:r>
            <a:r>
              <a:rPr lang="en-US" sz="1600" b="1" dirty="0">
                <a:solidFill>
                  <a:srgbClr val="14213D"/>
                </a:solidFill>
                <a:latin typeface="IBM Plex Sans" pitchFamily="34" charset="0"/>
                <a:ea typeface="IBM Plex Sans" pitchFamily="34" charset="-122"/>
                <a:cs typeface="IBM Plex Sans" pitchFamily="34" charset="-120"/>
              </a:rPr>
              <a:t>build output of every run</a:t>
            </a:r>
            <a:r>
              <a:rPr lang="en-US" sz="1600" dirty="0">
                <a:solidFill>
                  <a:srgbClr val="14213D"/>
                </a:solidFill>
                <a:latin typeface="IBM Plex Sans" pitchFamily="34" charset="0"/>
                <a:ea typeface="IBM Plex Sans" pitchFamily="34" charset="-122"/>
                <a:cs typeface="IBM Plex Sans" pitchFamily="34" charset="-120"/>
              </a:rPr>
              <a:t>, not a separate writing task at the end.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0F"/>
                </a:solidFill>
                <a:latin typeface="JetBrains Mono" pitchFamily="49" charset="0"/>
                <a:ea typeface="JetBrains Mono" pitchFamily="49" charset="-122"/>
                <a:cs typeface="JetBrains Mono" pitchFamily="49" charset="-120"/>
              </a:rPr>
              <a:t>02 · DOCUMENTATION + APP</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Pairing docs with the app makes the work easy to replicate and digest</a:t>
            </a:r>
            <a:endParaRPr lang="en-US" sz="3200" dirty="0"/>
          </a:p>
        </p:txBody>
      </p:sp>
      <p:sp>
        <p:nvSpPr>
          <p:cNvPr id="4" name="Shape 2"/>
          <p:cNvSpPr/>
          <p:nvPr/>
        </p:nvSpPr>
        <p:spPr>
          <a:xfrm>
            <a:off x="815975" y="2380555"/>
            <a:ext cx="5175250" cy="1733451"/>
          </a:xfrm>
          <a:prstGeom prst="roundRect">
            <a:avLst>
              <a:gd name="adj" fmla="val 5678"/>
            </a:avLst>
          </a:prstGeom>
          <a:solidFill>
            <a:srgbClr val="FBFAF7"/>
          </a:solidFill>
          <a:ln w="6350">
            <a:solidFill>
              <a:srgbClr val="DDD7CA"/>
            </a:solidFill>
            <a:prstDash val="solid"/>
          </a:ln>
        </p:spPr>
      </p:sp>
      <p:pic>
        <p:nvPicPr>
          <p:cNvPr id="5" name="Image 0" descr="Book">    </p:cNvPr>
          <p:cNvPicPr>
            <a:picLocks noChangeAspect="1"/>
          </p:cNvPicPr>
          <p:nvPr/>
        </p:nvPicPr>
        <p:blipFill>
          <a:blip r:embed="rId1"/>
          <a:srcRect l="0" r="0" t="0" b="0"/>
          <a:stretch/>
        </p:blipFill>
        <p:spPr>
          <a:xfrm>
            <a:off x="1073150" y="2637730"/>
            <a:ext cx="304800" cy="304800"/>
          </a:xfrm>
          <a:prstGeom prst="rect">
            <a:avLst/>
          </a:prstGeom>
        </p:spPr>
      </p:pic>
      <p:sp>
        <p:nvSpPr>
          <p:cNvPr id="6" name="Text 3"/>
          <p:cNvSpPr/>
          <p:nvPr/>
        </p:nvSpPr>
        <p:spPr>
          <a:xfrm>
            <a:off x="1479550" y="2637730"/>
            <a:ext cx="36984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Markdown documentation</a:t>
            </a:r>
            <a:endParaRPr lang="en-US" sz="2000" dirty="0"/>
          </a:p>
        </p:txBody>
      </p:sp>
      <p:sp>
        <p:nvSpPr>
          <p:cNvPr id="7" name="Text 4"/>
          <p:cNvSpPr/>
          <p:nvPr/>
        </p:nvSpPr>
        <p:spPr>
          <a:xfrm>
            <a:off x="1073150" y="3044130"/>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For developers and validators: every choice, the code behind it, and the results it produced</a:t>
            </a:r>
            <a:endParaRPr lang="en-US" sz="1400" dirty="0"/>
          </a:p>
        </p:txBody>
      </p:sp>
      <p:sp>
        <p:nvSpPr>
          <p:cNvPr id="8" name="Text 5"/>
          <p:cNvSpPr/>
          <p:nvPr/>
        </p:nvSpPr>
        <p:spPr>
          <a:xfrm>
            <a:off x="1073150" y="3643511"/>
            <a:ext cx="480072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D6"/>
                </a:solidFill>
                <a:latin typeface="JetBrains Mono" pitchFamily="49" charset="0"/>
                <a:ea typeface="JetBrains Mono" pitchFamily="49" charset="-122"/>
                <a:cs typeface="JetBrains Mono" pitchFamily="49" charset="-120"/>
              </a:rPr>
              <a:t>→ EASY TO REPLICATE</a:t>
            </a:r>
            <a:endParaRPr lang="en-US" sz="1200" dirty="0"/>
          </a:p>
        </p:txBody>
      </p:sp>
      <p:sp>
        <p:nvSpPr>
          <p:cNvPr id="9" name="Shape 6"/>
          <p:cNvSpPr/>
          <p:nvPr/>
        </p:nvSpPr>
        <p:spPr>
          <a:xfrm>
            <a:off x="6200775" y="2380555"/>
            <a:ext cx="5175250" cy="1733451"/>
          </a:xfrm>
          <a:prstGeom prst="roundRect">
            <a:avLst>
              <a:gd name="adj" fmla="val 5678"/>
            </a:avLst>
          </a:prstGeom>
          <a:solidFill>
            <a:srgbClr val="FBFAF7"/>
          </a:solidFill>
          <a:ln w="6350">
            <a:solidFill>
              <a:srgbClr val="DDD7CA"/>
            </a:solidFill>
            <a:prstDash val="solid"/>
          </a:ln>
        </p:spPr>
      </p:sp>
      <p:pic>
        <p:nvPicPr>
          <p:cNvPr id="10" name="Image 1" descr="Chart">    </p:cNvPr>
          <p:cNvPicPr>
            <a:picLocks noChangeAspect="1"/>
          </p:cNvPicPr>
          <p:nvPr/>
        </p:nvPicPr>
        <p:blipFill>
          <a:blip r:embed="rId2"/>
          <a:srcRect l="0" r="0" t="0" b="0"/>
          <a:stretch/>
        </p:blipFill>
        <p:spPr>
          <a:xfrm>
            <a:off x="6457950" y="2637730"/>
            <a:ext cx="304800" cy="304800"/>
          </a:xfrm>
          <a:prstGeom prst="rect">
            <a:avLst/>
          </a:prstGeom>
        </p:spPr>
      </p:pic>
      <p:sp>
        <p:nvSpPr>
          <p:cNvPr id="11" name="Text 7"/>
          <p:cNvSpPr/>
          <p:nvPr/>
        </p:nvSpPr>
        <p:spPr>
          <a:xfrm>
            <a:off x="6864350" y="2637730"/>
            <a:ext cx="13935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Shiny app</a:t>
            </a:r>
            <a:endParaRPr lang="en-US" sz="2000" dirty="0"/>
          </a:p>
        </p:txBody>
      </p:sp>
      <p:sp>
        <p:nvSpPr>
          <p:cNvPr id="12" name="Text 8"/>
          <p:cNvSpPr/>
          <p:nvPr/>
        </p:nvSpPr>
        <p:spPr>
          <a:xfrm>
            <a:off x="6457950" y="3044130"/>
            <a:ext cx="48007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For business users: backtests, statistics, model comparison and a decision view</a:t>
            </a:r>
            <a:endParaRPr lang="en-US" sz="1400" dirty="0"/>
          </a:p>
        </p:txBody>
      </p:sp>
      <p:sp>
        <p:nvSpPr>
          <p:cNvPr id="13" name="Text 9"/>
          <p:cNvSpPr/>
          <p:nvPr/>
        </p:nvSpPr>
        <p:spPr>
          <a:xfrm>
            <a:off x="6457950" y="3643511"/>
            <a:ext cx="480072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0F"/>
                </a:solidFill>
                <a:latin typeface="JetBrains Mono" pitchFamily="49" charset="0"/>
                <a:ea typeface="JetBrains Mono" pitchFamily="49" charset="-122"/>
                <a:cs typeface="JetBrains Mono" pitchFamily="49" charset="-120"/>
              </a:rPr>
              <a:t>→ EASY TO DIGEST</a:t>
            </a:r>
            <a:endParaRPr lang="en-US" sz="1200" dirty="0"/>
          </a:p>
        </p:txBody>
      </p:sp>
      <p:sp>
        <p:nvSpPr>
          <p:cNvPr id="14" name="Text 10"/>
          <p:cNvSpPr/>
          <p:nvPr/>
        </p:nvSpPr>
        <p:spPr>
          <a:xfrm>
            <a:off x="812800" y="4472781"/>
            <a:ext cx="10566400" cy="612775"/>
          </a:xfrm>
          <a:prstGeom prst="roundRect">
            <a:avLst>
              <a:gd name="adj" fmla="val 16580"/>
            </a:avLst>
          </a:prstGeom>
          <a:solidFill>
            <a:srgbClr val="14213D"/>
          </a:solidFill>
          <a:ln/>
        </p:spPr>
        <p:txBody>
          <a:bodyPr wrap="square" lIns="224242" tIns="148042" rIns="0" bIns="122642" rtlCol="0" anchor="t">
            <a:normAutofit/>
          </a:bodyPr>
          <a:lstStyle/>
          <a:p>
            <a:pPr algn="l" indent="0" marL="0">
              <a:lnSpc>
                <a:spcPts val="2025"/>
              </a:lnSpc>
              <a:buNone/>
            </a:pPr>
            <a:r>
              <a:rPr lang="en-US" sz="1500" dirty="0">
                <a:solidFill>
                  <a:srgbClr val="F5F3EE"/>
                </a:solidFill>
                <a:latin typeface="IBM Plex Sans" pitchFamily="34" charset="0"/>
                <a:ea typeface="IBM Plex Sans" pitchFamily="34" charset="-122"/>
                <a:cs typeface="IBM Plex Sans" pitchFamily="34" charset="-120"/>
              </a:rPr>
              <a:t>Both read from the same pipeline run, so the documentation and the app never disagree.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A35E"/>
                </a:solidFill>
                <a:latin typeface="JetBrains Mono" pitchFamily="49" charset="0"/>
                <a:ea typeface="JetBrains Mono" pitchFamily="49" charset="-122"/>
                <a:cs typeface="JetBrains Mono" pitchFamily="49" charset="-120"/>
              </a:rPr>
              <a:t>03 · LIVE DEMO</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BM Plex Sans" pitchFamily="34" charset="0"/>
                <a:ea typeface="IBM Plex Sans" pitchFamily="34" charset="-122"/>
                <a:cs typeface="IBM Plex Sans" pitchFamily="34" charset="-120"/>
              </a:rPr>
              <a:t>Live demo: one app takes users from model performance to a decision</a:t>
            </a:r>
            <a:endParaRPr lang="en-US" sz="3200" dirty="0"/>
          </a:p>
        </p:txBody>
      </p:sp>
      <p:sp>
        <p:nvSpPr>
          <p:cNvPr id="4" name="Text 2"/>
          <p:cNvSpPr/>
          <p:nvPr/>
        </p:nvSpPr>
        <p:spPr>
          <a:xfrm>
            <a:off x="812800" y="2413000"/>
            <a:ext cx="1727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1</a:t>
            </a:r>
            <a:endParaRPr lang="en-US" sz="1600" dirty="0"/>
          </a:p>
        </p:txBody>
      </p:sp>
      <p:sp>
        <p:nvSpPr>
          <p:cNvPr id="5" name="Text 3"/>
          <p:cNvSpPr/>
          <p:nvPr/>
        </p:nvSpPr>
        <p:spPr>
          <a:xfrm>
            <a:off x="1087140" y="2425700"/>
            <a:ext cx="429678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5F3EE"/>
                </a:solidFill>
                <a:latin typeface="IBM Plex Sans" pitchFamily="34" charset="0"/>
                <a:ea typeface="IBM Plex Sans" pitchFamily="34" charset="-122"/>
                <a:cs typeface="IBM Plex Sans" pitchFamily="34" charset="-120"/>
              </a:rPr>
              <a:t>Review model performance and backtests</a:t>
            </a:r>
            <a:endParaRPr lang="en-US" sz="1500" dirty="0"/>
          </a:p>
        </p:txBody>
      </p:sp>
      <p:sp>
        <p:nvSpPr>
          <p:cNvPr id="6" name="Text 4"/>
          <p:cNvSpPr/>
          <p:nvPr/>
        </p:nvSpPr>
        <p:spPr>
          <a:xfrm>
            <a:off x="812800" y="3073400"/>
            <a:ext cx="1727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2</a:t>
            </a:r>
            <a:endParaRPr lang="en-US" sz="1600" dirty="0"/>
          </a:p>
        </p:txBody>
      </p:sp>
      <p:sp>
        <p:nvSpPr>
          <p:cNvPr id="7" name="Text 5"/>
          <p:cNvSpPr/>
          <p:nvPr/>
        </p:nvSpPr>
        <p:spPr>
          <a:xfrm>
            <a:off x="1087140" y="3086100"/>
            <a:ext cx="358449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5F3EE"/>
                </a:solidFill>
                <a:latin typeface="IBM Plex Sans" pitchFamily="34" charset="0"/>
                <a:ea typeface="IBM Plex Sans" pitchFamily="34" charset="-122"/>
                <a:cs typeface="IBM Plex Sans" pitchFamily="34" charset="-120"/>
              </a:rPr>
              <a:t>Check the statistical testing results</a:t>
            </a:r>
            <a:endParaRPr lang="en-US" sz="1500" dirty="0"/>
          </a:p>
        </p:txBody>
      </p:sp>
      <p:sp>
        <p:nvSpPr>
          <p:cNvPr id="8" name="Text 6"/>
          <p:cNvSpPr/>
          <p:nvPr/>
        </p:nvSpPr>
        <p:spPr>
          <a:xfrm>
            <a:off x="812800" y="3733800"/>
            <a:ext cx="1727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3</a:t>
            </a:r>
            <a:endParaRPr lang="en-US" sz="1600" dirty="0"/>
          </a:p>
        </p:txBody>
      </p:sp>
      <p:sp>
        <p:nvSpPr>
          <p:cNvPr id="9" name="Text 7"/>
          <p:cNvSpPr/>
          <p:nvPr/>
        </p:nvSpPr>
        <p:spPr>
          <a:xfrm>
            <a:off x="1087140" y="3746500"/>
            <a:ext cx="410384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5F3EE"/>
                </a:solidFill>
                <a:latin typeface="IBM Plex Sans" pitchFamily="34" charset="0"/>
                <a:ea typeface="IBM Plex Sans" pitchFamily="34" charset="-122"/>
                <a:cs typeface="IBM Plex Sans" pitchFamily="34" charset="-120"/>
              </a:rPr>
              <a:t>Compare candidates and select a model</a:t>
            </a:r>
            <a:endParaRPr lang="en-US" sz="1500" dirty="0"/>
          </a:p>
        </p:txBody>
      </p:sp>
      <p:sp>
        <p:nvSpPr>
          <p:cNvPr id="10" name="Text 8"/>
          <p:cNvSpPr/>
          <p:nvPr/>
        </p:nvSpPr>
        <p:spPr>
          <a:xfrm>
            <a:off x="812800" y="4394200"/>
            <a:ext cx="1727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4</a:t>
            </a:r>
            <a:endParaRPr lang="en-US" sz="1600" dirty="0"/>
          </a:p>
        </p:txBody>
      </p:sp>
      <p:sp>
        <p:nvSpPr>
          <p:cNvPr id="11" name="Text 9"/>
          <p:cNvSpPr/>
          <p:nvPr/>
        </p:nvSpPr>
        <p:spPr>
          <a:xfrm>
            <a:off x="1087140" y="4406900"/>
            <a:ext cx="341804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5F3EE"/>
                </a:solidFill>
                <a:latin typeface="IBM Plex Sans" pitchFamily="34" charset="0"/>
                <a:ea typeface="IBM Plex Sans" pitchFamily="34" charset="-122"/>
                <a:cs typeface="IBM Plex Sans" pitchFamily="34" charset="-120"/>
              </a:rPr>
              <a:t>Make the call in the decision view</a:t>
            </a:r>
            <a:endParaRPr lang="en-US" sz="1500" dirty="0"/>
          </a:p>
        </p:txBody>
      </p:sp>
      <p:sp>
        <p:nvSpPr>
          <p:cNvPr id="12" name="Text 10"/>
          <p:cNvSpPr/>
          <p:nvPr/>
        </p:nvSpPr>
        <p:spPr>
          <a:xfrm>
            <a:off x="812800" y="5003800"/>
            <a:ext cx="601726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8"/>
                </a:solidFill>
                <a:latin typeface="IBM Plex Sans" pitchFamily="34" charset="0"/>
                <a:ea typeface="IBM Plex Sans" pitchFamily="34" charset="-122"/>
                <a:cs typeface="IBM Plex Sans" pitchFamily="34" charset="-120"/>
              </a:rPr>
              <a:t>All in one place, so users get from results to a decision quickly.</a:t>
            </a:r>
            <a:endParaRPr lang="en-US" sz="1300" dirty="0"/>
          </a:p>
        </p:txBody>
      </p:sp>
      <p:sp>
        <p:nvSpPr>
          <p:cNvPr id="13" name="Shape 11"/>
          <p:cNvSpPr/>
          <p:nvPr/>
        </p:nvSpPr>
        <p:spPr>
          <a:xfrm>
            <a:off x="7121525" y="2422525"/>
            <a:ext cx="4248150" cy="2724150"/>
          </a:xfrm>
          <a:prstGeom prst="roundRect">
            <a:avLst>
              <a:gd name="adj" fmla="val 5245"/>
            </a:avLst>
          </a:prstGeom>
          <a:solidFill>
            <a:srgbClr val="1C2B4A"/>
          </a:solidFill>
          <a:ln w="19050">
            <a:solidFill>
              <a:srgbClr val="F0A35E"/>
            </a:solidFill>
            <a:prstDash val="dash"/>
          </a:ln>
        </p:spPr>
      </p:sp>
      <p:pic>
        <p:nvPicPr>
          <p:cNvPr id="14" name="Image 0" descr="Play">    </p:cNvPr>
          <p:cNvPicPr>
            <a:picLocks noChangeAspect="1"/>
          </p:cNvPicPr>
          <p:nvPr/>
        </p:nvPicPr>
        <p:blipFill>
          <a:blip r:embed="rId1"/>
          <a:srcRect l="0" r="0" t="0" b="0"/>
          <a:stretch/>
        </p:blipFill>
        <p:spPr>
          <a:xfrm>
            <a:off x="8940800" y="3078510"/>
            <a:ext cx="609600" cy="609600"/>
          </a:xfrm>
          <a:prstGeom prst="rect">
            <a:avLst/>
          </a:prstGeom>
        </p:spPr>
      </p:pic>
      <p:sp>
        <p:nvSpPr>
          <p:cNvPr id="15" name="Text 12"/>
          <p:cNvSpPr/>
          <p:nvPr/>
        </p:nvSpPr>
        <p:spPr>
          <a:xfrm>
            <a:off x="8369543" y="3840510"/>
            <a:ext cx="1752064"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5F3EE"/>
                </a:solidFill>
                <a:latin typeface="IBM Plex Sans" pitchFamily="34" charset="0"/>
                <a:ea typeface="IBM Plex Sans" pitchFamily="34" charset="-122"/>
                <a:cs typeface="IBM Plex Sans" pitchFamily="34" charset="-120"/>
              </a:rPr>
              <a:t>[Shiny app link]</a:t>
            </a:r>
            <a:endParaRPr lang="en-US" sz="1600" dirty="0"/>
          </a:p>
        </p:txBody>
      </p:sp>
      <p:sp>
        <p:nvSpPr>
          <p:cNvPr id="16" name="Text 13"/>
          <p:cNvSpPr/>
          <p:nvPr/>
        </p:nvSpPr>
        <p:spPr>
          <a:xfrm>
            <a:off x="7863706" y="4277370"/>
            <a:ext cx="276373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C8D8"/>
                </a:solidFill>
                <a:latin typeface="IBM Plex Sans" pitchFamily="34" charset="0"/>
                <a:ea typeface="IBM Plex Sans" pitchFamily="34" charset="-122"/>
                <a:cs typeface="IBM Plex Sans" pitchFamily="34" charset="-120"/>
              </a:rPr>
              <a:t>Switch to the app · about [__] min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0F"/>
                </a:solidFill>
                <a:latin typeface="JetBrains Mono" pitchFamily="49" charset="0"/>
                <a:ea typeface="JetBrains Mono" pitchFamily="49" charset="-122"/>
                <a:cs typeface="JetBrains Mono" pitchFamily="49" charset="-120"/>
              </a:rPr>
              <a:t>04 · TAKEAWAYS</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Five habits carry the engineering mindset into any model build</a:t>
            </a:r>
            <a:endParaRPr lang="en-US" sz="3200" dirty="0"/>
          </a:p>
        </p:txBody>
      </p:sp>
      <p:sp>
        <p:nvSpPr>
          <p:cNvPr id="4" name="Text 2"/>
          <p:cNvSpPr/>
          <p:nvPr/>
        </p:nvSpPr>
        <p:spPr>
          <a:xfrm>
            <a:off x="812800" y="2326580"/>
            <a:ext cx="32920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20F"/>
                </a:solidFill>
                <a:latin typeface="JetBrains Mono" pitchFamily="49" charset="0"/>
                <a:ea typeface="JetBrains Mono" pitchFamily="49" charset="-122"/>
                <a:cs typeface="JetBrains Mono" pitchFamily="49" charset="-120"/>
              </a:rPr>
              <a:t>01</a:t>
            </a:r>
            <a:endParaRPr lang="en-US" sz="1800" dirty="0"/>
          </a:p>
        </p:txBody>
      </p:sp>
      <p:sp>
        <p:nvSpPr>
          <p:cNvPr id="5" name="Text 3"/>
          <p:cNvSpPr/>
          <p:nvPr/>
        </p:nvSpPr>
        <p:spPr>
          <a:xfrm>
            <a:off x="1290340" y="2364680"/>
            <a:ext cx="8138041"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Design end to end first.</a:t>
            </a:r>
            <a:r>
              <a:rPr lang="en-US" sz="1500" dirty="0">
                <a:solidFill>
                  <a:srgbClr val="4A5568"/>
                </a:solidFill>
                <a:latin typeface="IBM Plex Sans" pitchFamily="34" charset="0"/>
                <a:ea typeface="IBM Plex Sans" pitchFamily="34" charset="-122"/>
                <a:cs typeface="IBM Plex Sans" pitchFamily="34" charset="-120"/>
              </a:rPr>
              <a:t> Sketch every stage and its outputs before writing code.</a:t>
            </a:r>
            <a:endParaRPr lang="en-US" sz="1500" dirty="0"/>
          </a:p>
        </p:txBody>
      </p:sp>
      <p:sp>
        <p:nvSpPr>
          <p:cNvPr id="6" name="Text 4"/>
          <p:cNvSpPr/>
          <p:nvPr/>
        </p:nvSpPr>
        <p:spPr>
          <a:xfrm>
            <a:off x="812800" y="2799011"/>
            <a:ext cx="32920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20F"/>
                </a:solidFill>
                <a:latin typeface="JetBrains Mono" pitchFamily="49" charset="0"/>
                <a:ea typeface="JetBrains Mono" pitchFamily="49" charset="-122"/>
                <a:cs typeface="JetBrains Mono" pitchFamily="49" charset="-120"/>
              </a:rPr>
              <a:t>02</a:t>
            </a:r>
            <a:endParaRPr lang="en-US" sz="1800" dirty="0"/>
          </a:p>
        </p:txBody>
      </p:sp>
      <p:sp>
        <p:nvSpPr>
          <p:cNvPr id="7" name="Text 5"/>
          <p:cNvSpPr/>
          <p:nvPr/>
        </p:nvSpPr>
        <p:spPr>
          <a:xfrm>
            <a:off x="1290340" y="2837111"/>
            <a:ext cx="771394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Code for everything, built once.</a:t>
            </a:r>
            <a:r>
              <a:rPr lang="en-US" sz="1500" dirty="0">
                <a:solidFill>
                  <a:srgbClr val="4A5568"/>
                </a:solidFill>
                <a:latin typeface="IBM Plex Sans" pitchFamily="34" charset="0"/>
                <a:ea typeface="IBM Plex Sans" pitchFamily="34" charset="-122"/>
                <a:cs typeface="IBM Plex Sans" pitchFamily="34" charset="-120"/>
              </a:rPr>
              <a:t> Generalize a tool, validate it, then reuse it.</a:t>
            </a:r>
            <a:endParaRPr lang="en-US" sz="1500" dirty="0"/>
          </a:p>
        </p:txBody>
      </p:sp>
      <p:sp>
        <p:nvSpPr>
          <p:cNvPr id="8" name="Text 6"/>
          <p:cNvSpPr/>
          <p:nvPr/>
        </p:nvSpPr>
        <p:spPr>
          <a:xfrm>
            <a:off x="812800" y="3271441"/>
            <a:ext cx="32920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20F"/>
                </a:solidFill>
                <a:latin typeface="JetBrains Mono" pitchFamily="49" charset="0"/>
                <a:ea typeface="JetBrains Mono" pitchFamily="49" charset="-122"/>
                <a:cs typeface="JetBrains Mono" pitchFamily="49" charset="-120"/>
              </a:rPr>
              <a:t>03</a:t>
            </a:r>
            <a:endParaRPr lang="en-US" sz="1800" dirty="0"/>
          </a:p>
        </p:txBody>
      </p:sp>
      <p:sp>
        <p:nvSpPr>
          <p:cNvPr id="9" name="Text 7"/>
          <p:cNvSpPr/>
          <p:nvPr/>
        </p:nvSpPr>
        <p:spPr>
          <a:xfrm>
            <a:off x="1290340" y="3309541"/>
            <a:ext cx="8811161"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Write the why next to the how.</a:t>
            </a:r>
            <a:r>
              <a:rPr lang="en-US" sz="1500" dirty="0">
                <a:solidFill>
                  <a:srgbClr val="4A5568"/>
                </a:solidFill>
                <a:latin typeface="IBM Plex Sans" pitchFamily="34" charset="0"/>
                <a:ea typeface="IBM Plex Sans" pitchFamily="34" charset="-122"/>
                <a:cs typeface="IBM Plex Sans" pitchFamily="34" charset="-120"/>
              </a:rPr>
              <a:t> Markdown keeps rationale, code and results together.</a:t>
            </a:r>
            <a:endParaRPr lang="en-US" sz="1500" dirty="0"/>
          </a:p>
        </p:txBody>
      </p:sp>
      <p:sp>
        <p:nvSpPr>
          <p:cNvPr id="10" name="Text 8"/>
          <p:cNvSpPr/>
          <p:nvPr/>
        </p:nvSpPr>
        <p:spPr>
          <a:xfrm>
            <a:off x="812800" y="3743871"/>
            <a:ext cx="32920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20F"/>
                </a:solidFill>
                <a:latin typeface="JetBrains Mono" pitchFamily="49" charset="0"/>
                <a:ea typeface="JetBrains Mono" pitchFamily="49" charset="-122"/>
                <a:cs typeface="JetBrains Mono" pitchFamily="49" charset="-120"/>
              </a:rPr>
              <a:t>04</a:t>
            </a:r>
            <a:endParaRPr lang="en-US" sz="1800" dirty="0"/>
          </a:p>
        </p:txBody>
      </p:sp>
      <p:sp>
        <p:nvSpPr>
          <p:cNvPr id="11" name="Text 9"/>
          <p:cNvSpPr/>
          <p:nvPr/>
        </p:nvSpPr>
        <p:spPr>
          <a:xfrm>
            <a:off x="1290340" y="3781971"/>
            <a:ext cx="7472303"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Automate the checks.</a:t>
            </a:r>
            <a:r>
              <a:rPr lang="en-US" sz="1500" dirty="0">
                <a:solidFill>
                  <a:srgbClr val="4A5568"/>
                </a:solidFill>
                <a:latin typeface="IBM Plex Sans" pitchFamily="34" charset="0"/>
                <a:ea typeface="IBM Plex Sans" pitchFamily="34" charset="-122"/>
                <a:cs typeface="IBM Plex Sans" pitchFamily="34" charset="-120"/>
              </a:rPr>
              <a:t> Tests run on every candidate, not once at the end.</a:t>
            </a:r>
            <a:endParaRPr lang="en-US" sz="1500" dirty="0"/>
          </a:p>
        </p:txBody>
      </p:sp>
      <p:sp>
        <p:nvSpPr>
          <p:cNvPr id="12" name="Text 10"/>
          <p:cNvSpPr/>
          <p:nvPr/>
        </p:nvSpPr>
        <p:spPr>
          <a:xfrm>
            <a:off x="812800" y="4216301"/>
            <a:ext cx="32920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A8520F"/>
                </a:solidFill>
                <a:latin typeface="JetBrains Mono" pitchFamily="49" charset="0"/>
                <a:ea typeface="JetBrains Mono" pitchFamily="49" charset="-122"/>
                <a:cs typeface="JetBrains Mono" pitchFamily="49" charset="-120"/>
              </a:rPr>
              <a:t>05</a:t>
            </a:r>
            <a:endParaRPr lang="en-US" sz="1800" dirty="0"/>
          </a:p>
        </p:txBody>
      </p:sp>
      <p:sp>
        <p:nvSpPr>
          <p:cNvPr id="13" name="Text 11"/>
          <p:cNvSpPr/>
          <p:nvPr/>
        </p:nvSpPr>
        <p:spPr>
          <a:xfrm>
            <a:off x="1290340" y="4254401"/>
            <a:ext cx="7672983"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Pair the docs with an app.</a:t>
            </a:r>
            <a:r>
              <a:rPr lang="en-US" sz="1500" dirty="0">
                <a:solidFill>
                  <a:srgbClr val="4A5568"/>
                </a:solidFill>
                <a:latin typeface="IBM Plex Sans" pitchFamily="34" charset="0"/>
                <a:ea typeface="IBM Plex Sans" pitchFamily="34" charset="-122"/>
                <a:cs typeface="IBM Plex Sans" pitchFamily="34" charset="-120"/>
              </a:rPr>
              <a:t> One to replicate the work, one to decide with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26913"/>
          </a:xfrm>
          <a:prstGeom prst="rect">
            <a:avLst/>
          </a:prstGeom>
          <a:noFill/>
          <a:ln/>
        </p:spPr>
        <p:txBody>
          <a:bodyPr wrap="square" lIns="0" tIns="0" rIns="0" bIns="0" rtlCol="0" anchor="t">
            <a:normAutofit/>
          </a:bodyPr>
          <a:lstStyle/>
          <a:p>
            <a:pPr algn="l" indent="0" marL="0">
              <a:lnSpc>
                <a:spcPts val="1622"/>
              </a:lnSpc>
              <a:buNone/>
            </a:pPr>
            <a:r>
              <a:rPr lang="en-US" sz="1159" spc="100" kern="0" dirty="0">
                <a:solidFill>
                  <a:srgbClr val="A8520F"/>
                </a:solidFill>
                <a:latin typeface="JetBrains Mono" pitchFamily="49" charset="0"/>
                <a:ea typeface="JetBrains Mono" pitchFamily="49" charset="-122"/>
                <a:cs typeface="JetBrains Mono" pitchFamily="49" charset="-120"/>
              </a:rPr>
              <a:t>04 · WHAT'S NEXT</a:t>
            </a:r>
            <a:endParaRPr lang="en-US" sz="1159" dirty="0"/>
          </a:p>
        </p:txBody>
      </p:sp>
      <p:sp>
        <p:nvSpPr>
          <p:cNvPr id="3" name="Text 1"/>
          <p:cNvSpPr/>
          <p:nvPr>
            <p:ph type="title"/>
          </p:nvPr>
        </p:nvSpPr>
        <p:spPr>
          <a:xfrm>
            <a:off x="812800" y="1115913"/>
            <a:ext cx="10883392" cy="869851"/>
          </a:xfrm>
          <a:prstGeom prst="rect">
            <a:avLst/>
          </a:prstGeom>
          <a:noFill/>
          <a:ln/>
        </p:spPr>
        <p:txBody>
          <a:bodyPr wrap="square" lIns="0" tIns="0" rIns="0" bIns="0" rtlCol="0" anchor="t">
            <a:normAutofit/>
          </a:bodyPr>
          <a:lstStyle/>
          <a:p>
            <a:pPr algn="l" indent="0" marL="0">
              <a:lnSpc>
                <a:spcPts val="3333"/>
              </a:lnSpc>
              <a:buNone/>
            </a:pPr>
            <a:r>
              <a:rPr lang="en-US" sz="3030" b="1" i="0" dirty="0">
                <a:solidFill>
                  <a:srgbClr val="14213D"/>
                </a:solidFill>
                <a:latin typeface="IBM Plex Sans" pitchFamily="34" charset="0"/>
                <a:ea typeface="IBM Plex Sans" pitchFamily="34" charset="-122"/>
                <a:cs typeface="IBM Plex Sans" pitchFamily="34" charset="-120"/>
              </a:rPr>
              <a:t>The engineering mindset is the first step toward AI-assisted model development</a:t>
            </a:r>
            <a:endParaRPr lang="en-US" sz="3030" dirty="0"/>
          </a:p>
        </p:txBody>
      </p:sp>
      <p:sp>
        <p:nvSpPr>
          <p:cNvPr id="4" name="Text 2"/>
          <p:cNvSpPr/>
          <p:nvPr/>
        </p:nvSpPr>
        <p:spPr>
          <a:xfrm>
            <a:off x="812800" y="2259459"/>
            <a:ext cx="3107234" cy="699691"/>
          </a:xfrm>
          <a:prstGeom prst="roundRect">
            <a:avLst>
              <a:gd name="adj" fmla="val 14521"/>
            </a:avLst>
          </a:prstGeom>
          <a:solidFill>
            <a:srgbClr val="ECE8DF"/>
          </a:solidFill>
          <a:ln/>
        </p:spPr>
        <p:txBody>
          <a:bodyPr wrap="square" lIns="122642" tIns="97242" rIns="38569" bIns="71842" rtlCol="0" anchor="t">
            <a:normAutofit/>
          </a:bodyPr>
          <a:lstStyle/>
          <a:p>
            <a:pPr algn="l" indent="0" marL="0">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1 · Mindset</a:t>
            </a:r>
            <a:endParaRPr lang="en-US" sz="1300" dirty="0"/>
          </a:p>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Developers code every step</a:t>
            </a:r>
            <a:endParaRPr lang="en-US" sz="1300" dirty="0"/>
          </a:p>
        </p:txBody>
      </p:sp>
      <p:pic>
        <p:nvPicPr>
          <p:cNvPr id="5" name="Image 0" descr="arrow-right">    </p:cNvPr>
          <p:cNvPicPr>
            <a:picLocks noChangeAspect="1"/>
          </p:cNvPicPr>
          <p:nvPr/>
        </p:nvPicPr>
        <p:blipFill>
          <a:blip r:embed="rId1"/>
          <a:srcRect l="0" r="0" t="0" b="0"/>
          <a:stretch/>
        </p:blipFill>
        <p:spPr>
          <a:xfrm>
            <a:off x="4072434" y="2533104"/>
            <a:ext cx="304800" cy="152400"/>
          </a:xfrm>
          <a:prstGeom prst="rect">
            <a:avLst/>
          </a:prstGeom>
        </p:spPr>
      </p:pic>
      <p:sp>
        <p:nvSpPr>
          <p:cNvPr id="6" name="Text 3"/>
          <p:cNvSpPr/>
          <p:nvPr/>
        </p:nvSpPr>
        <p:spPr>
          <a:xfrm>
            <a:off x="4535984" y="2253109"/>
            <a:ext cx="3119983" cy="712391"/>
          </a:xfrm>
          <a:prstGeom prst="roundRect">
            <a:avLst>
              <a:gd name="adj" fmla="val 13370"/>
            </a:avLst>
          </a:prstGeom>
          <a:solidFill>
            <a:srgbClr val="FBFAF7"/>
          </a:solidFill>
          <a:ln w="12700">
            <a:solidFill>
              <a:srgbClr val="2F6FD6"/>
            </a:solidFill>
            <a:prstDash val="solid"/>
          </a:ln>
        </p:spPr>
        <p:txBody>
          <a:bodyPr wrap="square" lIns="130852" tIns="105452" rIns="46778" bIns="80052" rtlCol="0" anchor="t">
            <a:normAutofit/>
          </a:bodyPr>
          <a:lstStyle/>
          <a:p>
            <a:pPr algn="l" indent="0" marL="0">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2 · Shared tools</a:t>
            </a:r>
            <a:endParaRPr lang="en-US" sz="1300" dirty="0"/>
          </a:p>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Validated, reusable (interim)</a:t>
            </a:r>
            <a:endParaRPr lang="en-US" sz="1300" dirty="0"/>
          </a:p>
        </p:txBody>
      </p:sp>
      <p:pic>
        <p:nvPicPr>
          <p:cNvPr id="7" name="Image 1" descr="arrow-right">    </p:cNvPr>
          <p:cNvPicPr>
            <a:picLocks noChangeAspect="1"/>
          </p:cNvPicPr>
          <p:nvPr/>
        </p:nvPicPr>
        <p:blipFill>
          <a:blip r:embed="rId2"/>
          <a:srcRect l="0" r="0" t="0" b="0"/>
          <a:stretch/>
        </p:blipFill>
        <p:spPr>
          <a:xfrm>
            <a:off x="7814717" y="2533104"/>
            <a:ext cx="304800" cy="152400"/>
          </a:xfrm>
          <a:prstGeom prst="rect">
            <a:avLst/>
          </a:prstGeom>
        </p:spPr>
      </p:pic>
      <p:sp>
        <p:nvSpPr>
          <p:cNvPr id="8" name="Text 4"/>
          <p:cNvSpPr/>
          <p:nvPr/>
        </p:nvSpPr>
        <p:spPr>
          <a:xfrm>
            <a:off x="8271917" y="2259459"/>
            <a:ext cx="3107283" cy="699691"/>
          </a:xfrm>
          <a:prstGeom prst="roundRect">
            <a:avLst>
              <a:gd name="adj" fmla="val 14521"/>
            </a:avLst>
          </a:prstGeom>
          <a:solidFill>
            <a:srgbClr val="D9772B"/>
          </a:solidFill>
          <a:ln/>
        </p:spPr>
        <p:txBody>
          <a:bodyPr wrap="square" lIns="122642" tIns="97242" rIns="38568" bIns="71842" rtlCol="0" anchor="t">
            <a:normAutofit/>
          </a:bodyPr>
          <a:lstStyle/>
          <a:p>
            <a:pPr algn="l" indent="0" marL="0">
              <a:lnSpc>
                <a:spcPts val="1755"/>
              </a:lnSpc>
              <a:buNone/>
            </a:pPr>
            <a:r>
              <a:rPr lang="en-US" sz="1300" b="1" dirty="0">
                <a:solidFill>
                  <a:srgbClr val="14213D"/>
                </a:solidFill>
                <a:latin typeface="IBM Plex Sans" pitchFamily="34" charset="0"/>
                <a:ea typeface="IBM Plex Sans" pitchFamily="34" charset="-122"/>
                <a:cs typeface="IBM Plex Sans" pitchFamily="34" charset="-120"/>
              </a:rPr>
              <a:t>3 · Cognos</a:t>
            </a:r>
            <a:endParaRPr lang="en-US" sz="1300" dirty="0"/>
          </a:p>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AI-assisted development</a:t>
            </a:r>
            <a:endParaRPr lang="en-US" sz="1300" dirty="0"/>
          </a:p>
        </p:txBody>
      </p:sp>
      <p:sp>
        <p:nvSpPr>
          <p:cNvPr id="9" name="Shape 5"/>
          <p:cNvSpPr/>
          <p:nvPr/>
        </p:nvSpPr>
        <p:spPr>
          <a:xfrm>
            <a:off x="815975" y="3261420"/>
            <a:ext cx="3448050" cy="1304578"/>
          </a:xfrm>
          <a:prstGeom prst="roundRect">
            <a:avLst>
              <a:gd name="adj" fmla="val 7545"/>
            </a:avLst>
          </a:prstGeom>
          <a:solidFill>
            <a:srgbClr val="FBFAF7"/>
          </a:solidFill>
          <a:ln w="6350">
            <a:solidFill>
              <a:srgbClr val="DDD7CA"/>
            </a:solidFill>
            <a:prstDash val="solid"/>
          </a:ln>
        </p:spPr>
      </p:sp>
      <p:pic>
        <p:nvPicPr>
          <p:cNvPr id="10" name="Image 2" descr="Search">    </p:cNvPr>
          <p:cNvPicPr>
            <a:picLocks noChangeAspect="1"/>
          </p:cNvPicPr>
          <p:nvPr/>
        </p:nvPicPr>
        <p:blipFill>
          <a:blip r:embed="rId3"/>
          <a:srcRect l="0" r="0" t="0" b="0"/>
          <a:stretch/>
        </p:blipFill>
        <p:spPr>
          <a:xfrm>
            <a:off x="1022350" y="3467795"/>
            <a:ext cx="254000" cy="254000"/>
          </a:xfrm>
          <a:prstGeom prst="rect">
            <a:avLst/>
          </a:prstGeom>
        </p:spPr>
      </p:pic>
      <p:sp>
        <p:nvSpPr>
          <p:cNvPr id="11" name="Text 6"/>
          <p:cNvSpPr/>
          <p:nvPr/>
        </p:nvSpPr>
        <p:spPr>
          <a:xfrm>
            <a:off x="1377950" y="3472855"/>
            <a:ext cx="18756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Data exploration</a:t>
            </a:r>
            <a:endParaRPr lang="en-US" sz="1600" dirty="0"/>
          </a:p>
        </p:txBody>
      </p:sp>
      <p:sp>
        <p:nvSpPr>
          <p:cNvPr id="12" name="Text 7"/>
          <p:cNvSpPr/>
          <p:nvPr/>
        </p:nvSpPr>
        <p:spPr>
          <a:xfrm>
            <a:off x="1022350" y="3797995"/>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Standard profiling, quality checks and treatment</a:t>
            </a:r>
            <a:endParaRPr lang="en-US" sz="1300" dirty="0"/>
          </a:p>
        </p:txBody>
      </p:sp>
      <p:sp>
        <p:nvSpPr>
          <p:cNvPr id="13" name="Shape 8"/>
          <p:cNvSpPr/>
          <p:nvPr/>
        </p:nvSpPr>
        <p:spPr>
          <a:xfrm>
            <a:off x="4422775" y="3261420"/>
            <a:ext cx="3448050" cy="1304578"/>
          </a:xfrm>
          <a:prstGeom prst="roundRect">
            <a:avLst>
              <a:gd name="adj" fmla="val 7545"/>
            </a:avLst>
          </a:prstGeom>
          <a:solidFill>
            <a:srgbClr val="FBFAF7"/>
          </a:solidFill>
          <a:ln w="6350">
            <a:solidFill>
              <a:srgbClr val="DDD7CA"/>
            </a:solidFill>
            <a:prstDash val="solid"/>
          </a:ln>
        </p:spPr>
      </p:sp>
      <p:pic>
        <p:nvPicPr>
          <p:cNvPr id="14" name="Image 3" descr="Settings">    </p:cNvPr>
          <p:cNvPicPr>
            <a:picLocks noChangeAspect="1"/>
          </p:cNvPicPr>
          <p:nvPr/>
        </p:nvPicPr>
        <p:blipFill>
          <a:blip r:embed="rId4"/>
          <a:srcRect l="0" r="0" t="0" b="0"/>
          <a:stretch/>
        </p:blipFill>
        <p:spPr>
          <a:xfrm>
            <a:off x="4629150" y="3467795"/>
            <a:ext cx="254000" cy="254000"/>
          </a:xfrm>
          <a:prstGeom prst="rect">
            <a:avLst/>
          </a:prstGeom>
        </p:spPr>
      </p:pic>
      <p:sp>
        <p:nvSpPr>
          <p:cNvPr id="15" name="Text 9"/>
          <p:cNvSpPr/>
          <p:nvPr/>
        </p:nvSpPr>
        <p:spPr>
          <a:xfrm>
            <a:off x="4984750" y="3472855"/>
            <a:ext cx="177736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Model selection</a:t>
            </a:r>
            <a:endParaRPr lang="en-US" sz="1600" dirty="0"/>
          </a:p>
        </p:txBody>
      </p:sp>
      <p:sp>
        <p:nvSpPr>
          <p:cNvPr id="16" name="Text 10"/>
          <p:cNvSpPr/>
          <p:nvPr/>
        </p:nvSpPr>
        <p:spPr>
          <a:xfrm>
            <a:off x="4629150" y="3797995"/>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Configurable single- and multi-factor search</a:t>
            </a:r>
            <a:endParaRPr lang="en-US" sz="1300" dirty="0"/>
          </a:p>
        </p:txBody>
      </p:sp>
      <p:sp>
        <p:nvSpPr>
          <p:cNvPr id="17" name="Shape 11"/>
          <p:cNvSpPr/>
          <p:nvPr/>
        </p:nvSpPr>
        <p:spPr>
          <a:xfrm>
            <a:off x="819150" y="4727922"/>
            <a:ext cx="3441700" cy="1310928"/>
          </a:xfrm>
          <a:prstGeom prst="roundRect">
            <a:avLst>
              <a:gd name="adj" fmla="val 7266"/>
            </a:avLst>
          </a:prstGeom>
          <a:solidFill>
            <a:srgbClr val="FBFAF7"/>
          </a:solidFill>
          <a:ln w="12700">
            <a:solidFill>
              <a:srgbClr val="2F6FD6"/>
            </a:solidFill>
            <a:prstDash val="solid"/>
          </a:ln>
        </p:spPr>
      </p:sp>
      <p:pic>
        <p:nvPicPr>
          <p:cNvPr id="18" name="Image 4" descr="CheckCircle">    </p:cNvPr>
          <p:cNvPicPr>
            <a:picLocks noChangeAspect="1"/>
          </p:cNvPicPr>
          <p:nvPr/>
        </p:nvPicPr>
        <p:blipFill>
          <a:blip r:embed="rId5"/>
          <a:srcRect l="0" r="0" t="0" b="0"/>
          <a:stretch/>
        </p:blipFill>
        <p:spPr>
          <a:xfrm>
            <a:off x="1028700" y="4937472"/>
            <a:ext cx="254000" cy="254000"/>
          </a:xfrm>
          <a:prstGeom prst="rect">
            <a:avLst/>
          </a:prstGeom>
        </p:spPr>
      </p:pic>
      <p:sp>
        <p:nvSpPr>
          <p:cNvPr id="19" name="Text 12"/>
          <p:cNvSpPr/>
          <p:nvPr/>
        </p:nvSpPr>
        <p:spPr>
          <a:xfrm>
            <a:off x="1384300" y="4942532"/>
            <a:ext cx="152846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Model testing</a:t>
            </a:r>
            <a:endParaRPr lang="en-US" sz="1600" dirty="0"/>
          </a:p>
        </p:txBody>
      </p:sp>
      <p:sp>
        <p:nvSpPr>
          <p:cNvPr id="20" name="Text 13"/>
          <p:cNvSpPr/>
          <p:nvPr/>
        </p:nvSpPr>
        <p:spPr>
          <a:xfrm>
            <a:off x="1028700" y="5267672"/>
            <a:ext cx="3113278"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Impact:</a:t>
            </a:r>
            <a:r>
              <a:rPr lang="en-US" sz="1300" dirty="0">
                <a:solidFill>
                  <a:srgbClr val="4A5568"/>
                </a:solidFill>
                <a:latin typeface="IBM Plex Sans" pitchFamily="34" charset="0"/>
                <a:ea typeface="IBM Plex Sans" pitchFamily="34" charset="-122"/>
                <a:cs typeface="IBM Plex Sans" pitchFamily="34" charset="-120"/>
              </a:rPr>
              <a:t> standardized model testing and deployment platform</a:t>
            </a:r>
            <a:endParaRPr lang="en-US" sz="1300" dirty="0"/>
          </a:p>
        </p:txBody>
      </p:sp>
      <p:sp>
        <p:nvSpPr>
          <p:cNvPr id="21" name="Shape 14"/>
          <p:cNvSpPr/>
          <p:nvPr/>
        </p:nvSpPr>
        <p:spPr>
          <a:xfrm>
            <a:off x="4425950" y="4727922"/>
            <a:ext cx="3441700" cy="1310928"/>
          </a:xfrm>
          <a:prstGeom prst="roundRect">
            <a:avLst>
              <a:gd name="adj" fmla="val 7266"/>
            </a:avLst>
          </a:prstGeom>
          <a:solidFill>
            <a:srgbClr val="FBFAF7"/>
          </a:solidFill>
          <a:ln w="12700">
            <a:solidFill>
              <a:srgbClr val="2F6FD6"/>
            </a:solidFill>
            <a:prstDash val="solid"/>
          </a:ln>
        </p:spPr>
      </p:sp>
      <p:pic>
        <p:nvPicPr>
          <p:cNvPr id="22" name="Image 5" descr="Book">    </p:cNvPr>
          <p:cNvPicPr>
            <a:picLocks noChangeAspect="1"/>
          </p:cNvPicPr>
          <p:nvPr/>
        </p:nvPicPr>
        <p:blipFill>
          <a:blip r:embed="rId6"/>
          <a:srcRect l="0" r="0" t="0" b="0"/>
          <a:stretch/>
        </p:blipFill>
        <p:spPr>
          <a:xfrm>
            <a:off x="4635500" y="4937472"/>
            <a:ext cx="254000" cy="254000"/>
          </a:xfrm>
          <a:prstGeom prst="rect">
            <a:avLst/>
          </a:prstGeom>
        </p:spPr>
      </p:pic>
      <p:sp>
        <p:nvSpPr>
          <p:cNvPr id="23" name="Text 15"/>
          <p:cNvSpPr/>
          <p:nvPr/>
        </p:nvSpPr>
        <p:spPr>
          <a:xfrm>
            <a:off x="4991100" y="4942532"/>
            <a:ext cx="17346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Documentation</a:t>
            </a:r>
            <a:endParaRPr lang="en-US" sz="1600" dirty="0"/>
          </a:p>
        </p:txBody>
      </p:sp>
      <p:sp>
        <p:nvSpPr>
          <p:cNvPr id="24" name="Text 16"/>
          <p:cNvSpPr/>
          <p:nvPr/>
        </p:nvSpPr>
        <p:spPr>
          <a:xfrm>
            <a:off x="4635500" y="5267672"/>
            <a:ext cx="3113278"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Galley:</a:t>
            </a:r>
            <a:r>
              <a:rPr lang="en-US" sz="1300" dirty="0">
                <a:solidFill>
                  <a:srgbClr val="4A5568"/>
                </a:solidFill>
                <a:latin typeface="IBM Plex Sans" pitchFamily="34" charset="0"/>
                <a:ea typeface="IBM Plex Sans" pitchFamily="34" charset="-122"/>
                <a:cs typeface="IBM Plex Sans" pitchFamily="34" charset="-120"/>
              </a:rPr>
              <a:t> markdown-driven docs on the team template, reviewed in GitHub</a:t>
            </a:r>
            <a:endParaRPr lang="en-US" sz="1300" dirty="0"/>
          </a:p>
        </p:txBody>
      </p:sp>
      <p:sp>
        <p:nvSpPr>
          <p:cNvPr id="25" name="Shape 17"/>
          <p:cNvSpPr/>
          <p:nvPr/>
        </p:nvSpPr>
        <p:spPr>
          <a:xfrm>
            <a:off x="8077200" y="3258245"/>
            <a:ext cx="3302000" cy="2786955"/>
          </a:xfrm>
          <a:prstGeom prst="roundRect">
            <a:avLst>
              <a:gd name="adj" fmla="val 3646"/>
            </a:avLst>
          </a:prstGeom>
          <a:solidFill>
            <a:srgbClr val="14213D"/>
          </a:solidFill>
          <a:ln/>
        </p:spPr>
      </p:sp>
      <p:sp>
        <p:nvSpPr>
          <p:cNvPr id="26" name="Text 18"/>
          <p:cNvSpPr/>
          <p:nvPr/>
        </p:nvSpPr>
        <p:spPr>
          <a:xfrm>
            <a:off x="8331200" y="3512245"/>
            <a:ext cx="2877820" cy="288131"/>
          </a:xfrm>
          <a:prstGeom prst="rect">
            <a:avLst/>
          </a:prstGeom>
          <a:noFill/>
          <a:ln/>
        </p:spPr>
        <p:txBody>
          <a:bodyPr wrap="square" lIns="0" tIns="0" rIns="0" bIns="0" rtlCol="0" anchor="t">
            <a:normAutofit/>
          </a:bodyPr>
          <a:lstStyle/>
          <a:p>
            <a:pPr algn="l" indent="0" marL="0">
              <a:lnSpc>
                <a:spcPts val="2072"/>
              </a:lnSpc>
              <a:buNone/>
            </a:pPr>
            <a:r>
              <a:rPr lang="en-US" sz="1480" b="1" spc="200" kern="0" dirty="0">
                <a:solidFill>
                  <a:srgbClr val="F0A35E"/>
                </a:solidFill>
                <a:latin typeface="JetBrains Mono" pitchFamily="49" charset="0"/>
                <a:ea typeface="JetBrains Mono" pitchFamily="49" charset="-122"/>
                <a:cs typeface="JetBrains Mono" pitchFamily="49" charset="-120"/>
              </a:rPr>
              <a:t>COGNOS</a:t>
            </a:r>
            <a:endParaRPr lang="en-US" sz="1480" dirty="0"/>
          </a:p>
        </p:txBody>
      </p:sp>
      <p:sp>
        <p:nvSpPr>
          <p:cNvPr id="27" name="Text 19"/>
          <p:cNvSpPr/>
          <p:nvPr/>
        </p:nvSpPr>
        <p:spPr>
          <a:xfrm>
            <a:off x="8331200" y="3876576"/>
            <a:ext cx="2877820" cy="531961"/>
          </a:xfrm>
          <a:prstGeom prst="rect">
            <a:avLst/>
          </a:prstGeom>
          <a:noFill/>
          <a:ln/>
        </p:spPr>
        <p:txBody>
          <a:bodyPr wrap="square" lIns="0" tIns="0" rIns="0" bIns="0" rtlCol="0" anchor="t">
            <a:normAutofit/>
          </a:bodyPr>
          <a:lstStyle/>
          <a:p>
            <a:pPr algn="l" indent="0" marL="0">
              <a:lnSpc>
                <a:spcPts val="2011"/>
              </a:lnSpc>
              <a:buNone/>
            </a:pPr>
            <a:r>
              <a:rPr lang="en-US" sz="1676" b="1" dirty="0">
                <a:solidFill>
                  <a:srgbClr val="F5F3EE"/>
                </a:solidFill>
                <a:latin typeface="IBM Plex Sans" pitchFamily="34" charset="0"/>
                <a:ea typeface="IBM Plex Sans" pitchFamily="34" charset="-122"/>
                <a:cs typeface="IBM Plex Sans" pitchFamily="34" charset="-120"/>
              </a:rPr>
              <a:t>AI-assisted model development</a:t>
            </a:r>
            <a:endParaRPr lang="en-US" sz="1676" dirty="0"/>
          </a:p>
        </p:txBody>
      </p:sp>
      <p:sp>
        <p:nvSpPr>
          <p:cNvPr id="28" name="Text 20"/>
          <p:cNvSpPr/>
          <p:nvPr/>
        </p:nvSpPr>
        <p:spPr>
          <a:xfrm>
            <a:off x="8331200" y="4484737"/>
            <a:ext cx="2877820" cy="879177"/>
          </a:xfrm>
          <a:prstGeom prst="rect">
            <a:avLst/>
          </a:prstGeom>
          <a:noFill/>
          <a:ln/>
        </p:spPr>
        <p:txBody>
          <a:bodyPr wrap="square" lIns="0" tIns="0" rIns="0" bIns="0" rtlCol="0" anchor="t">
            <a:normAutofit/>
          </a:bodyPr>
          <a:lstStyle/>
          <a:p>
            <a:pPr algn="l" indent="0" marL="0">
              <a:lnSpc>
                <a:spcPts val="1701"/>
              </a:lnSpc>
              <a:buNone/>
            </a:pPr>
            <a:r>
              <a:rPr lang="en-US" sz="1215" dirty="0">
                <a:solidFill>
                  <a:srgbClr val="BFC8D8"/>
                </a:solidFill>
                <a:latin typeface="IBM Plex Sans" pitchFamily="34" charset="0"/>
                <a:ea typeface="IBM Plex Sans" pitchFamily="34" charset="-122"/>
                <a:cs typeface="IBM Plex Sans" pitchFamily="34" charset="-120"/>
              </a:rPr>
              <a:t>AI assembles models from the validated tools, with developers in the loop, instead of rebuilding them each time.</a:t>
            </a:r>
            <a:endParaRPr lang="en-US" sz="1215" dirty="0"/>
          </a:p>
        </p:txBody>
      </p:sp>
      <p:sp>
        <p:nvSpPr>
          <p:cNvPr id="29" name="Text 21"/>
          <p:cNvSpPr/>
          <p:nvPr/>
        </p:nvSpPr>
        <p:spPr>
          <a:xfrm>
            <a:off x="8331200" y="5490914"/>
            <a:ext cx="2199184" cy="300286"/>
          </a:xfrm>
          <a:prstGeom prst="roundRect">
            <a:avLst>
              <a:gd name="adj" fmla="val 50000"/>
            </a:avLst>
          </a:prstGeom>
          <a:solidFill>
            <a:srgbClr val="F0A35E"/>
          </a:solidFill>
          <a:ln/>
        </p:spPr>
        <p:txBody>
          <a:bodyPr wrap="none" lIns="0" tIns="0" rIns="0" bIns="0" rtlCol="0" anchor="ctr">
            <a:normAutofit/>
          </a:bodyPr>
          <a:lstStyle/>
          <a:p>
            <a:pPr algn="ctr" indent="0" marL="0">
              <a:lnSpc>
                <a:spcPts val="1570"/>
              </a:lnSpc>
              <a:buNone/>
            </a:pPr>
            <a:r>
              <a:rPr lang="en-US" sz="1121" dirty="0">
                <a:solidFill>
                  <a:srgbClr val="14213D"/>
                </a:solidFill>
                <a:latin typeface="IBM Plex Sans" pitchFamily="34" charset="0"/>
                <a:ea typeface="IBM Plex Sans" pitchFamily="34" charset="-122"/>
                <a:cs typeface="IBM Plex Sans" pitchFamily="34" charset="-120"/>
              </a:rPr>
              <a:t>End state · more to share soon</a:t>
            </a:r>
            <a:endParaRPr lang="en-US" sz="112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20275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A35E"/>
                </a:solidFill>
                <a:latin typeface="JetBrains Mono" pitchFamily="49" charset="0"/>
                <a:ea typeface="JetBrains Mono" pitchFamily="49" charset="-122"/>
                <a:cs typeface="JetBrains Mono" pitchFamily="49" charset="-120"/>
              </a:rPr>
              <a:t>THANK YOU</a:t>
            </a:r>
            <a:endParaRPr lang="en-US" sz="1200" dirty="0"/>
          </a:p>
        </p:txBody>
      </p:sp>
      <p:sp>
        <p:nvSpPr>
          <p:cNvPr id="3" name="Text 1"/>
          <p:cNvSpPr/>
          <p:nvPr>
            <p:ph type="title"/>
          </p:nvPr>
        </p:nvSpPr>
        <p:spPr>
          <a:xfrm>
            <a:off x="812800" y="2670076"/>
            <a:ext cx="10883392" cy="1451769"/>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5F3EE"/>
                </a:solidFill>
                <a:latin typeface="IBM Plex Sans" pitchFamily="34" charset="0"/>
                <a:ea typeface="IBM Plex Sans" pitchFamily="34" charset="-122"/>
                <a:cs typeface="IBM Plex Sans" pitchFamily="34" charset="-120"/>
              </a:rPr>
              <a:t>Questions and discussion are welcome</a:t>
            </a:r>
            <a:endParaRPr lang="en-US" sz="5200" dirty="0"/>
          </a:p>
        </p:txBody>
      </p:sp>
      <p:sp>
        <p:nvSpPr>
          <p:cNvPr id="4" name="Text 2"/>
          <p:cNvSpPr/>
          <p:nvPr/>
        </p:nvSpPr>
        <p:spPr>
          <a:xfrm>
            <a:off x="812800" y="4350445"/>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BFC8D8"/>
                </a:solidFill>
                <a:latin typeface="IBM Plex Sans" pitchFamily="34" charset="0"/>
                <a:ea typeface="IBM Plex Sans" pitchFamily="34" charset="-122"/>
                <a:cs typeface="IBM Plex Sans" pitchFamily="34" charset="-120"/>
              </a:rPr>
              <a:t>Demo app: [link] · Code: [repo link] · [Your name and contact]</a:t>
            </a:r>
            <a:endParaRPr lang="en-US" sz="1600" dirty="0"/>
          </a:p>
        </p:txBody>
      </p:sp>
      <p:pic>
        <p:nvPicPr>
          <p:cNvPr id="5" name="Image 0" descr="connector">    </p:cNvPr>
          <p:cNvPicPr>
            <a:picLocks noChangeAspect="1"/>
          </p:cNvPicPr>
          <p:nvPr/>
        </p:nvPicPr>
        <p:blipFill>
          <a:blip r:embed="rId1"/>
          <a:srcRect l="0" r="0" t="0" b="0"/>
          <a:stretch/>
        </p:blipFill>
        <p:spPr>
          <a:xfrm>
            <a:off x="7658100" y="5575300"/>
            <a:ext cx="3632200" cy="76200"/>
          </a:xfrm>
          <a:prstGeom prst="rect">
            <a:avLst/>
          </a:prstGeom>
        </p:spPr>
      </p:pic>
      <p:sp>
        <p:nvSpPr>
          <p:cNvPr id="6" name="Shape 3"/>
          <p:cNvSpPr/>
          <p:nvPr/>
        </p:nvSpPr>
        <p:spPr>
          <a:xfrm>
            <a:off x="7575550" y="5492750"/>
            <a:ext cx="241300" cy="241300"/>
          </a:xfrm>
          <a:prstGeom prst="roundRect">
            <a:avLst>
              <a:gd name="adj" fmla="val 18421"/>
            </a:avLst>
          </a:prstGeom>
          <a:solidFill>
            <a:srgbClr val="2A3A5C"/>
          </a:solidFill>
          <a:ln w="12700">
            <a:solidFill>
              <a:srgbClr val="5A6B8C"/>
            </a:solidFill>
            <a:prstDash val="solid"/>
          </a:ln>
        </p:spPr>
      </p:sp>
      <p:sp>
        <p:nvSpPr>
          <p:cNvPr id="7" name="Shape 4"/>
          <p:cNvSpPr/>
          <p:nvPr/>
        </p:nvSpPr>
        <p:spPr>
          <a:xfrm>
            <a:off x="8083550" y="5492750"/>
            <a:ext cx="241300" cy="241300"/>
          </a:xfrm>
          <a:prstGeom prst="roundRect">
            <a:avLst>
              <a:gd name="adj" fmla="val 18421"/>
            </a:avLst>
          </a:prstGeom>
          <a:solidFill>
            <a:srgbClr val="2A3A5C"/>
          </a:solidFill>
          <a:ln w="12700">
            <a:solidFill>
              <a:srgbClr val="5A6B8C"/>
            </a:solidFill>
            <a:prstDash val="solid"/>
          </a:ln>
        </p:spPr>
      </p:sp>
      <p:sp>
        <p:nvSpPr>
          <p:cNvPr id="8" name="Shape 5"/>
          <p:cNvSpPr/>
          <p:nvPr/>
        </p:nvSpPr>
        <p:spPr>
          <a:xfrm>
            <a:off x="8591550" y="5492750"/>
            <a:ext cx="241300" cy="241300"/>
          </a:xfrm>
          <a:prstGeom prst="roundRect">
            <a:avLst>
              <a:gd name="adj" fmla="val 18421"/>
            </a:avLst>
          </a:prstGeom>
          <a:solidFill>
            <a:srgbClr val="2A3A5C"/>
          </a:solidFill>
          <a:ln w="12700">
            <a:solidFill>
              <a:srgbClr val="5A6B8C"/>
            </a:solidFill>
            <a:prstDash val="solid"/>
          </a:ln>
        </p:spPr>
      </p:sp>
      <p:sp>
        <p:nvSpPr>
          <p:cNvPr id="9" name="Shape 6"/>
          <p:cNvSpPr/>
          <p:nvPr/>
        </p:nvSpPr>
        <p:spPr>
          <a:xfrm>
            <a:off x="9099550" y="5492750"/>
            <a:ext cx="241300" cy="241300"/>
          </a:xfrm>
          <a:prstGeom prst="roundRect">
            <a:avLst>
              <a:gd name="adj" fmla="val 18421"/>
            </a:avLst>
          </a:prstGeom>
          <a:solidFill>
            <a:srgbClr val="2A3A5C"/>
          </a:solidFill>
          <a:ln w="12700">
            <a:solidFill>
              <a:srgbClr val="5A6B8C"/>
            </a:solidFill>
            <a:prstDash val="solid"/>
          </a:ln>
        </p:spPr>
      </p:sp>
      <p:sp>
        <p:nvSpPr>
          <p:cNvPr id="10" name="Shape 7"/>
          <p:cNvSpPr/>
          <p:nvPr/>
        </p:nvSpPr>
        <p:spPr>
          <a:xfrm>
            <a:off x="9607550" y="5492750"/>
            <a:ext cx="241300" cy="241300"/>
          </a:xfrm>
          <a:prstGeom prst="roundRect">
            <a:avLst>
              <a:gd name="adj" fmla="val 18421"/>
            </a:avLst>
          </a:prstGeom>
          <a:solidFill>
            <a:srgbClr val="2A3A5C"/>
          </a:solidFill>
          <a:ln w="12700">
            <a:solidFill>
              <a:srgbClr val="5A6B8C"/>
            </a:solidFill>
            <a:prstDash val="solid"/>
          </a:ln>
        </p:spPr>
      </p:sp>
      <p:sp>
        <p:nvSpPr>
          <p:cNvPr id="11" name="Shape 8"/>
          <p:cNvSpPr/>
          <p:nvPr/>
        </p:nvSpPr>
        <p:spPr>
          <a:xfrm>
            <a:off x="10115550" y="5492750"/>
            <a:ext cx="241300" cy="241300"/>
          </a:xfrm>
          <a:prstGeom prst="roundRect">
            <a:avLst>
              <a:gd name="adj" fmla="val 18421"/>
            </a:avLst>
          </a:prstGeom>
          <a:solidFill>
            <a:srgbClr val="2A3A5C"/>
          </a:solidFill>
          <a:ln w="12700">
            <a:solidFill>
              <a:srgbClr val="5A6B8C"/>
            </a:solidFill>
            <a:prstDash val="solid"/>
          </a:ln>
        </p:spPr>
      </p:sp>
      <p:sp>
        <p:nvSpPr>
          <p:cNvPr id="12" name="Shape 9"/>
          <p:cNvSpPr/>
          <p:nvPr/>
        </p:nvSpPr>
        <p:spPr>
          <a:xfrm>
            <a:off x="10623550" y="5492750"/>
            <a:ext cx="241300" cy="241300"/>
          </a:xfrm>
          <a:prstGeom prst="roundRect">
            <a:avLst>
              <a:gd name="adj" fmla="val 18421"/>
            </a:avLst>
          </a:prstGeom>
          <a:solidFill>
            <a:srgbClr val="2A3A5C"/>
          </a:solidFill>
          <a:ln w="12700">
            <a:solidFill>
              <a:srgbClr val="5A6B8C"/>
            </a:solidFill>
            <a:prstDash val="solid"/>
          </a:ln>
        </p:spPr>
      </p:sp>
      <p:sp>
        <p:nvSpPr>
          <p:cNvPr id="13" name="Shape 10"/>
          <p:cNvSpPr/>
          <p:nvPr/>
        </p:nvSpPr>
        <p:spPr>
          <a:xfrm>
            <a:off x="11131550" y="5492750"/>
            <a:ext cx="241300" cy="241300"/>
          </a:xfrm>
          <a:prstGeom prst="roundRect">
            <a:avLst>
              <a:gd name="adj" fmla="val 18421"/>
            </a:avLst>
          </a:prstGeom>
          <a:solidFill>
            <a:srgbClr val="D9772B"/>
          </a:solidFill>
          <a:ln w="12700">
            <a:solidFill>
              <a:srgbClr val="F0A35E"/>
            </a:solidFill>
            <a:prstDash val="solid"/>
          </a:ln>
        </p:spPr>
      </p:sp>
    </p:spTree>
  </p:cSld>
  <p:clrMapOvr>
    <a:masterClrMapping/>
  </p:clrMapOvr>
</p:sld>
</file>

<file path=ppt/theme/theme1.xml><?xml version="1.0" encoding="utf-8"?>
<a:theme xmlns:a="http://schemas.openxmlformats.org/drawingml/2006/main" name="Engineering Mindset for Model Development">
  <a:themeElements>
    <a:clrScheme name="Engineering Mindset for Model Development">
      <a:dk1>
        <a:srgbClr val="14213D"/>
      </a:dk1>
      <a:lt1>
        <a:srgbClr val="F5F3EE"/>
      </a:lt1>
      <a:dk2>
        <a:srgbClr val="4C5669"/>
      </a:dk2>
      <a:lt2>
        <a:srgbClr val="DFDEDC"/>
      </a:lt2>
      <a:accent1>
        <a:srgbClr val="A8520F"/>
      </a:accent1>
      <a:accent2>
        <a:srgbClr val="2A3A5C"/>
      </a:accent2>
      <a:accent3>
        <a:srgbClr val="F0A35E"/>
      </a:accent3>
      <a:accent4>
        <a:srgbClr val="D9772B"/>
      </a:accent4>
      <a:accent5>
        <a:srgbClr val="9FD0A8"/>
      </a:accent5>
      <a:accent6>
        <a:srgbClr val="2F6FD6"/>
      </a:accent6>
      <a:hlink>
        <a:srgbClr val="0563C1"/>
      </a:hlink>
      <a:folHlink>
        <a:srgbClr val="954F72"/>
      </a:folHlink>
    </a:clrScheme>
    <a:fontScheme name="Engineering Mindset for Model Developme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Mindset for Model Development</dc:title>
  <dc:subject/>
  <dc:creator/>
  <cp:lastModifiedBy/>
  <cp:revision>1</cp:revision>
  <dcterms:created xsi:type="dcterms:W3CDTF">2026-10-12T23:38:28Z</dcterms:created>
  <dcterms:modified xsi:type="dcterms:W3CDTF">2026-10-12T23:38:28Z</dcterms:modified>
</cp:coreProperties>
</file>