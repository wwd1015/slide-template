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Team accomplishments" id="{17071b9c-a233-4356-7541-05d86a6d79a1}">
          <p14:sldIdLst>
            <p14:sldId id="256"/>
            <p14:sldId id="257"/>
            <p14:sldId id="258"/>
            <p14:sldId id="259"/>
          </p14:sldIdLst>
        </p14:section>
        <p14:section name="Part 2: On Wendi's Mind" id="{ee14a4b9-a097-917e-48df-ed91cd92a712}">
          <p14:sldIdLst>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today: first, what we delivered as a team; then, what's on my mind and what I'm working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the team. These are the main things we got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each accomplishment; credit who drove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on what these numbers mean, then hand off to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open: this is a short tour of what's been on my mind lately, mostly AI and how we apply it, and the things I'm learning and building. Expect some of these to come back as discussion topics in future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theme is simple: AI, and specifically how we apply it to our day-to-day work. Two audiences: us, and the partner teams we work with. If something saves us time, I want to know whether it can save them time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prompts to try.
1) Simplified Technical English (ASD-STE100), the controlled English Boeing and Airbus use in maintenance manuals. Makes specs and handoffs clearer. Karpathy recommended it; some say it doesn't help much, so treat it as something to try. Prompt: "Rewrite this in ASD-STE100 Simplified Technical English: short sentences, one meaning per word, active voice, define any jargon."
2) Restate before starting. Common practice, like reading back instructions in a briefing. Prompt: "Before doing anything, restate my request as goal, constraints, and assumptions. List any questions and wait for my go."
3) Mistakes become test cases. Rerun the set on every prompt or model change, so you know whether things actually improved. Fits how banks already manage model changes. From Lee Robinson's talk on agents. Prompt: "Here's a case you got wrong: [input], expected [answer]. Write it as a test case with a pass/fail rule, and suggest two similar edge cases."
WORKING ON: each will likely come back as its own discussion. For Deputy, the bet is that less scaffolding ages better: every model upgrade makes old guardrails less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10545775" cy="411480"/>
          </a:xfrm>
          <a:prstGeom prst="rect">
            <a:avLst/>
          </a:prstGeom>
          <a:noFill/>
          <a:ln/>
        </p:spPr>
        <p:txBody>
          <a:bodyPr wrap="square" rtlCol="0"/>
          <a:lstStyle>
            <a:lvl1pPr indent="0" marL="0">
              <a:buNone/>
              <a:defRPr lang="en-US" sz="1400" b="1" spc="4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822960" y="2514600"/>
            <a:ext cx="10545775" cy="1280160"/>
          </a:xfrm>
          <a:prstGeom prst="rect">
            <a:avLst/>
          </a:prstGeom>
          <a:noFill/>
          <a:ln/>
        </p:spPr>
        <p:txBody>
          <a:bodyPr wrap="square" rtlCol="0"/>
          <a:lstStyle>
            <a:lvl1pPr algn="l" indent="0" marL="0">
              <a:buNone/>
              <a:defRPr lang="en-US" sz="6600" b="1" dirty="0">
                <a:solidFill>
                  <a:schemeClr val="bg2"/>
                </a:solidFill>
              </a:defRPr>
            </a:lvl1pPr>
          </a:lstStyle>
          <a:p>
            <a:pPr algn="l" indent="0" marL="0">
              <a:buNone/>
            </a:pPr>
            <a:endParaRPr lang="en-US" sz="6600" dirty="0"/>
          </a:p>
        </p:txBody>
      </p:sp>
      <p:sp>
        <p:nvSpPr>
          <p:cNvPr id="4" name="Text 0"/>
          <p:cNvSpPr/>
          <p:nvPr>
            <p:ph idx="102" type="body" hasCustomPrompt="1"/>
          </p:nvPr>
        </p:nvSpPr>
        <p:spPr>
          <a:xfrm>
            <a:off x="822960" y="3977640"/>
            <a:ext cx="10545775" cy="54864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LIGHT">
    <p:bg>
      <p:bgPr>
        <a:solidFill>
          <a:srgbClr val="F7F5F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10545775" cy="411480"/>
          </a:xfrm>
          <a:prstGeom prst="rect">
            <a:avLst/>
          </a:prstGeom>
          <a:noFill/>
          <a:ln/>
        </p:spPr>
        <p:txBody>
          <a:bodyPr wrap="square" rtlCol="0"/>
          <a:lstStyle>
            <a:lvl1pPr indent="0" marL="0">
              <a:buNone/>
              <a:defRPr lang="en-US" sz="1400" b="1" spc="4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822960" y="2514600"/>
            <a:ext cx="10545775" cy="128016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4" name="Text 0"/>
          <p:cNvSpPr/>
          <p:nvPr>
            <p:ph idx="102" type="body" hasCustomPrompt="1"/>
          </p:nvPr>
        </p:nvSpPr>
        <p:spPr>
          <a:xfrm>
            <a:off x="822960" y="3977640"/>
            <a:ext cx="10545775" cy="548640"/>
          </a:xfrm>
          <a:prstGeom prst="rect">
            <a:avLst/>
          </a:prstGeom>
          <a:noFill/>
          <a:ln/>
        </p:spPr>
        <p:txBody>
          <a:bodyPr wrap="square" rtlCol="0"/>
          <a:lstStyle>
            <a:lvl1pPr indent="0" marL="0">
              <a:buNone/>
              <a:defRPr lang="en-US" sz="2000" dirty="0">
                <a:solidFill>
                  <a:schemeClr val="tx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7F5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ONLY_ALT">
    <p:bg>
      <p:bgPr>
        <a:solidFill>
          <a:srgbClr val="EDE8D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10545775" cy="411480"/>
          </a:xfrm>
          <a:prstGeom prst="rect">
            <a:avLst/>
          </a:prstGeom>
          <a:noFill/>
          <a:ln/>
        </p:spPr>
        <p:txBody>
          <a:bodyPr wrap="square" lIns="0" tIns="0" rIns="0" bIns="0" rtlCol="0" anchor="b"/>
          <a:lstStyle/>
          <a:p>
            <a:pPr indent="0" marL="0">
              <a:buNone/>
            </a:pPr>
            <a:r>
              <a:rPr lang="en-US" sz="1400" b="1" spc="400" kern="0" dirty="0">
                <a:solidFill>
                  <a:schemeClr val="accent1"/>
                </a:solidFill>
              </a:rPr>
              <a:t>OCTOBER 2026</a:t>
            </a:r>
            <a:endParaRPr lang="en-US" sz="1400" dirty="0"/>
          </a:p>
        </p:txBody>
      </p:sp>
      <p:sp>
        <p:nvSpPr>
          <p:cNvPr id="3" name="Text 0"/>
          <p:cNvSpPr/>
          <p:nvPr>
            <p:ph idx="101" type="title" hasCustomPrompt="1"/>
          </p:nvPr>
        </p:nvSpPr>
        <p:spPr>
          <a:xfrm>
            <a:off x="822960" y="2514600"/>
            <a:ext cx="10545775" cy="1280160"/>
          </a:xfrm>
          <a:prstGeom prst="rect">
            <a:avLst/>
          </a:prstGeom>
          <a:noFill/>
          <a:ln/>
        </p:spPr>
        <p:txBody>
          <a:bodyPr wrap="square" lIns="0" tIns="0" rIns="0" bIns="0" rtlCol="0" anchor="ctr"/>
          <a:lstStyle/>
          <a:p>
            <a:pPr algn="l" indent="0" marL="0">
              <a:buNone/>
            </a:pPr>
            <a:r>
              <a:rPr lang="en-US" sz="6600" b="1" dirty="0">
                <a:solidFill>
                  <a:schemeClr val="tx1"/>
                </a:solidFill>
              </a:rPr>
              <a:t>Team Meeting</a:t>
            </a:r>
            <a:endParaRPr lang="en-US" sz="6600" dirty="0"/>
          </a:p>
        </p:txBody>
      </p:sp>
      <p:sp>
        <p:nvSpPr>
          <p:cNvPr id="4" name="Text 0"/>
          <p:cNvSpPr/>
          <p:nvPr>
            <p:ph idx="102" type="body" hasCustomPrompt="1"/>
          </p:nvPr>
        </p:nvSpPr>
        <p:spPr>
          <a:xfrm>
            <a:off x="822960" y="3977640"/>
            <a:ext cx="10545775" cy="548640"/>
          </a:xfrm>
          <a:prstGeom prst="rect">
            <a:avLst/>
          </a:prstGeom>
          <a:noFill/>
          <a:ln/>
        </p:spPr>
        <p:txBody>
          <a:bodyPr wrap="square" lIns="0" tIns="0" rIns="0" bIns="0" rtlCol="0" anchor="t"/>
          <a:lstStyle/>
          <a:p>
            <a:pPr indent="0" marL="0">
              <a:buNone/>
            </a:pPr>
            <a:r>
              <a:rPr lang="en-US" sz="2000" b="1" dirty="0">
                <a:solidFill>
                  <a:schemeClr val="tx1"/>
                </a:solidFill>
              </a:rPr>
              <a:t>01  </a:t>
            </a:r>
            <a:pPr indent="0" marL="0">
              <a:buNone/>
            </a:pPr>
            <a:r>
              <a:rPr lang="en-US" sz="2000" dirty="0">
                <a:solidFill>
                  <a:schemeClr val="tx2"/>
                </a:solidFill>
              </a:rPr>
              <a:t>What the team accomplished</a:t>
            </a:r>
            <a:pPr indent="0" marL="0">
              <a:buNone/>
            </a:pPr>
            <a:r>
              <a:rPr lang="en-US" sz="2000" b="1" dirty="0">
                <a:solidFill>
                  <a:schemeClr val="tx1"/>
                </a:solidFill>
              </a:rPr>
              <a:t>        02  </a:t>
            </a:r>
            <a:pPr indent="0" marL="0">
              <a:buNone/>
            </a:pPr>
            <a:r>
              <a:rPr lang="en-US" sz="2000" dirty="0">
                <a:solidFill>
                  <a:schemeClr val="tx2"/>
                </a:solidFill>
              </a:rPr>
              <a:t>On Wendi's Mind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10545775" cy="411480"/>
          </a:xfrm>
          <a:prstGeom prst="rect">
            <a:avLst/>
          </a:prstGeom>
          <a:noFill/>
          <a:ln/>
        </p:spPr>
        <p:txBody>
          <a:bodyPr wrap="square" lIns="0" tIns="0" rIns="0" bIns="0" rtlCol="0" anchor="b"/>
          <a:lstStyle/>
          <a:p>
            <a:pPr indent="0" marL="0">
              <a:buNone/>
            </a:pPr>
            <a:r>
              <a:rPr lang="en-US" sz="1400" b="1" spc="400" kern="0" dirty="0">
                <a:solidFill>
                  <a:schemeClr val="accent2"/>
                </a:solidFill>
              </a:rPr>
              <a:t>PART 1</a:t>
            </a:r>
            <a:endParaRPr lang="en-US" sz="1400" dirty="0"/>
          </a:p>
        </p:txBody>
      </p:sp>
      <p:sp>
        <p:nvSpPr>
          <p:cNvPr id="3" name="Text 0"/>
          <p:cNvSpPr/>
          <p:nvPr>
            <p:ph idx="101" type="title" hasCustomPrompt="1"/>
          </p:nvPr>
        </p:nvSpPr>
        <p:spPr>
          <a:xfrm>
            <a:off x="822960" y="2514600"/>
            <a:ext cx="10545775" cy="1280160"/>
          </a:xfrm>
          <a:prstGeom prst="rect">
            <a:avLst/>
          </a:prstGeom>
          <a:noFill/>
          <a:ln/>
        </p:spPr>
        <p:txBody>
          <a:bodyPr wrap="square" lIns="0" tIns="0" rIns="0" bIns="0" rtlCol="0" anchor="ctr"/>
          <a:lstStyle/>
          <a:p>
            <a:pPr algn="l" indent="0" marL="0">
              <a:buNone/>
            </a:pPr>
            <a:r>
              <a:rPr lang="en-US" sz="6600" b="1" dirty="0">
                <a:solidFill>
                  <a:schemeClr val="bg2"/>
                </a:solidFill>
              </a:rPr>
              <a:t>Team Accomplishments</a:t>
            </a:r>
            <a:endParaRPr lang="en-US" sz="6600" dirty="0"/>
          </a:p>
        </p:txBody>
      </p:sp>
      <p:sp>
        <p:nvSpPr>
          <p:cNvPr id="4" name="Text 0"/>
          <p:cNvSpPr/>
          <p:nvPr>
            <p:ph idx="102" type="body" hasCustomPrompt="1"/>
          </p:nvPr>
        </p:nvSpPr>
        <p:spPr>
          <a:xfrm>
            <a:off x="822960" y="3977640"/>
            <a:ext cx="10545775" cy="548640"/>
          </a:xfrm>
          <a:prstGeom prst="rect">
            <a:avLst/>
          </a:prstGeom>
          <a:noFill/>
          <a:ln/>
        </p:spPr>
        <p:txBody>
          <a:bodyPr wrap="square" lIns="0" tIns="0" rIns="0" bIns="0" rtlCol="0" anchor="t"/>
          <a:lstStyle/>
          <a:p>
            <a:pPr indent="0" marL="0">
              <a:buNone/>
            </a:pPr>
            <a:r>
              <a:rPr lang="en-US" sz="2000" dirty="0">
                <a:solidFill>
                  <a:schemeClr val="accent3"/>
                </a:solidFill>
              </a:rPr>
              <a:t>What we delivered [this quarter]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lIns="0" tIns="0" rIns="0" bIns="0" rtlCol="0" anchor="t"/>
          <a:lstStyle/>
          <a:p>
            <a:pPr algn="l" indent="0" marL="0">
              <a:buNone/>
            </a:pPr>
            <a:r>
              <a:rPr lang="en-US" sz="3000" b="1" dirty="0">
                <a:solidFill>
                  <a:schemeClr val="tx1"/>
                </a:solidFill>
              </a:rPr>
              <a:t>The team delivered three major accomplishments [this quarter]</a:t>
            </a:r>
            <a:endParaRPr lang="en-US" sz="3000" dirty="0"/>
          </a:p>
        </p:txBody>
      </p:sp>
      <p:sp>
        <p:nvSpPr>
          <p:cNvPr id="3" name="win-card-01"/>
          <p:cNvSpPr/>
          <p:nvPr/>
        </p:nvSpPr>
        <p:spPr>
          <a:xfrm>
            <a:off x="822960" y="2103120"/>
            <a:ext cx="3271418" cy="3108960"/>
          </a:xfrm>
          <a:prstGeom prst="roundRect">
            <a:avLst>
              <a:gd name="adj" fmla="val 3529"/>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4" name="win-num-01"/>
          <p:cNvSpPr txBox="1"/>
          <p:nvPr/>
        </p:nvSpPr>
        <p:spPr>
          <a:xfrm>
            <a:off x="1188720" y="2423160"/>
            <a:ext cx="2539898"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01</a:t>
            </a:r>
            <a:endParaRPr lang="en-US" sz="3200" dirty="0"/>
          </a:p>
        </p:txBody>
      </p:sp>
      <p:sp>
        <p:nvSpPr>
          <p:cNvPr id="5" name="win-head-01"/>
          <p:cNvSpPr txBox="1"/>
          <p:nvPr/>
        </p:nvSpPr>
        <p:spPr>
          <a:xfrm>
            <a:off x="1188720" y="3200400"/>
            <a:ext cx="2539898" cy="8229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[Accomplishment one]</a:t>
            </a:r>
            <a:endParaRPr lang="en-US" sz="2000" dirty="0"/>
          </a:p>
        </p:txBody>
      </p:sp>
      <p:sp>
        <p:nvSpPr>
          <p:cNvPr id="6" name="win-body-01"/>
          <p:cNvSpPr txBox="1"/>
          <p:nvPr/>
        </p:nvSpPr>
        <p:spPr>
          <a:xfrm>
            <a:off x="1188720" y="4069080"/>
            <a:ext cx="2539898" cy="1645920"/>
          </a:xfrm>
          <a:prstGeom prst="rect">
            <a:avLst/>
          </a:prstGeom>
          <a:noFill/>
          <a:ln/>
        </p:spPr>
        <p:txBody>
          <a:bodyPr wrap="square" lIns="0" tIns="0" rIns="0" bIns="0" rtlCol="0" anchor="t"/>
          <a:lstStyle/>
          <a:p>
            <a:pPr indent="0" marL="0">
              <a:buNone/>
            </a:pPr>
            <a:r>
              <a:rPr lang="en-US" sz="1500" dirty="0">
                <a:solidFill>
                  <a:schemeClr val="tx2"/>
                </a:solidFill>
              </a:rPr>
              <a:t>[What we delivered and why it matters, in one or two lines.]</a:t>
            </a:r>
            <a:endParaRPr lang="en-US" sz="1500" dirty="0"/>
          </a:p>
        </p:txBody>
      </p:sp>
      <p:sp>
        <p:nvSpPr>
          <p:cNvPr id="7" name="win-card-02"/>
          <p:cNvSpPr/>
          <p:nvPr/>
        </p:nvSpPr>
        <p:spPr>
          <a:xfrm>
            <a:off x="4460138" y="2103120"/>
            <a:ext cx="3271418" cy="3108960"/>
          </a:xfrm>
          <a:prstGeom prst="roundRect">
            <a:avLst>
              <a:gd name="adj" fmla="val 3529"/>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8" name="win-num-02"/>
          <p:cNvSpPr txBox="1"/>
          <p:nvPr/>
        </p:nvSpPr>
        <p:spPr>
          <a:xfrm>
            <a:off x="4825898" y="2423160"/>
            <a:ext cx="2539898"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02</a:t>
            </a:r>
            <a:endParaRPr lang="en-US" sz="3200" dirty="0"/>
          </a:p>
        </p:txBody>
      </p:sp>
      <p:sp>
        <p:nvSpPr>
          <p:cNvPr id="9" name="win-head-02"/>
          <p:cNvSpPr txBox="1"/>
          <p:nvPr/>
        </p:nvSpPr>
        <p:spPr>
          <a:xfrm>
            <a:off x="4825898" y="3200400"/>
            <a:ext cx="2539898" cy="8229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[Accomplishment two]</a:t>
            </a:r>
            <a:endParaRPr lang="en-US" sz="2000" dirty="0"/>
          </a:p>
        </p:txBody>
      </p:sp>
      <p:sp>
        <p:nvSpPr>
          <p:cNvPr id="10" name="win-body-02"/>
          <p:cNvSpPr txBox="1"/>
          <p:nvPr/>
        </p:nvSpPr>
        <p:spPr>
          <a:xfrm>
            <a:off x="4825898" y="4069080"/>
            <a:ext cx="2539898" cy="1645920"/>
          </a:xfrm>
          <a:prstGeom prst="rect">
            <a:avLst/>
          </a:prstGeom>
          <a:noFill/>
          <a:ln/>
        </p:spPr>
        <p:txBody>
          <a:bodyPr wrap="square" lIns="0" tIns="0" rIns="0" bIns="0" rtlCol="0" anchor="t"/>
          <a:lstStyle/>
          <a:p>
            <a:pPr indent="0" marL="0">
              <a:buNone/>
            </a:pPr>
            <a:r>
              <a:rPr lang="en-US" sz="1500" dirty="0">
                <a:solidFill>
                  <a:schemeClr val="tx2"/>
                </a:solidFill>
              </a:rPr>
              <a:t>[What we delivered and why it matters, in one or two lines.]</a:t>
            </a:r>
            <a:endParaRPr lang="en-US" sz="1500" dirty="0"/>
          </a:p>
        </p:txBody>
      </p:sp>
      <p:sp>
        <p:nvSpPr>
          <p:cNvPr id="11" name="win-card-03"/>
          <p:cNvSpPr/>
          <p:nvPr/>
        </p:nvSpPr>
        <p:spPr>
          <a:xfrm>
            <a:off x="8097317" y="2103120"/>
            <a:ext cx="3271418" cy="3108960"/>
          </a:xfrm>
          <a:prstGeom prst="roundRect">
            <a:avLst>
              <a:gd name="adj" fmla="val 3529"/>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12" name="win-num-03"/>
          <p:cNvSpPr txBox="1"/>
          <p:nvPr/>
        </p:nvSpPr>
        <p:spPr>
          <a:xfrm>
            <a:off x="8463077" y="2423160"/>
            <a:ext cx="2539898"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03</a:t>
            </a:r>
            <a:endParaRPr lang="en-US" sz="3200" dirty="0"/>
          </a:p>
        </p:txBody>
      </p:sp>
      <p:sp>
        <p:nvSpPr>
          <p:cNvPr id="13" name="win-head-03"/>
          <p:cNvSpPr txBox="1"/>
          <p:nvPr/>
        </p:nvSpPr>
        <p:spPr>
          <a:xfrm>
            <a:off x="8463077" y="3200400"/>
            <a:ext cx="2539898" cy="8229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[Accomplishment three]</a:t>
            </a:r>
            <a:endParaRPr lang="en-US" sz="2000" dirty="0"/>
          </a:p>
        </p:txBody>
      </p:sp>
      <p:sp>
        <p:nvSpPr>
          <p:cNvPr id="14" name="win-body-03"/>
          <p:cNvSpPr txBox="1"/>
          <p:nvPr/>
        </p:nvSpPr>
        <p:spPr>
          <a:xfrm>
            <a:off x="8463077" y="4069080"/>
            <a:ext cx="2539898" cy="1645920"/>
          </a:xfrm>
          <a:prstGeom prst="rect">
            <a:avLst/>
          </a:prstGeom>
          <a:noFill/>
          <a:ln/>
        </p:spPr>
        <p:txBody>
          <a:bodyPr wrap="square" lIns="0" tIns="0" rIns="0" bIns="0" rtlCol="0" anchor="t"/>
          <a:lstStyle/>
          <a:p>
            <a:pPr indent="0" marL="0">
              <a:buNone/>
            </a:pPr>
            <a:r>
              <a:rPr lang="en-US" sz="1500" dirty="0">
                <a:solidFill>
                  <a:schemeClr val="tx2"/>
                </a:solidFill>
              </a:rPr>
              <a:t>[What we delivered and why it matters, in one or two lines.]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lIns="0" tIns="0" rIns="0" bIns="0" rtlCol="0" anchor="t"/>
          <a:lstStyle/>
          <a:p>
            <a:pPr algn="l" indent="0" marL="0">
              <a:buNone/>
            </a:pPr>
            <a:r>
              <a:rPr lang="en-US" sz="3000" b="1" dirty="0">
                <a:solidFill>
                  <a:schemeClr val="tx1"/>
                </a:solidFill>
              </a:rPr>
              <a:t>Our work is showing up in [measurable results] for us and our partners</a:t>
            </a:r>
            <a:endParaRPr lang="en-US" sz="3000" dirty="0"/>
          </a:p>
        </p:txBody>
      </p:sp>
      <p:sp>
        <p:nvSpPr>
          <p:cNvPr id="3" name="stat-card-1"/>
          <p:cNvSpPr/>
          <p:nvPr/>
        </p:nvSpPr>
        <p:spPr>
          <a:xfrm>
            <a:off x="822960" y="2651760"/>
            <a:ext cx="3271418" cy="2377440"/>
          </a:xfrm>
          <a:prstGeom prst="roundRect">
            <a:avLst>
              <a:gd name="adj" fmla="val 4615"/>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4" name="stat-num-1"/>
          <p:cNvSpPr txBox="1"/>
          <p:nvPr/>
        </p:nvSpPr>
        <p:spPr>
          <a:xfrm>
            <a:off x="1188720" y="2880360"/>
            <a:ext cx="2539898"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[__]</a:t>
            </a:r>
            <a:endParaRPr lang="en-US" sz="6000" dirty="0"/>
          </a:p>
        </p:txBody>
      </p:sp>
      <p:sp>
        <p:nvSpPr>
          <p:cNvPr id="5" name="stat-label-1"/>
          <p:cNvSpPr txBox="1"/>
          <p:nvPr/>
        </p:nvSpPr>
        <p:spPr>
          <a:xfrm>
            <a:off x="1188720" y="4069080"/>
            <a:ext cx="2539898" cy="731520"/>
          </a:xfrm>
          <a:prstGeom prst="rect">
            <a:avLst/>
          </a:prstGeom>
          <a:noFill/>
          <a:ln/>
        </p:spPr>
        <p:txBody>
          <a:bodyPr wrap="square" lIns="0" tIns="0" rIns="0" bIns="0" rtlCol="0" anchor="t"/>
          <a:lstStyle/>
          <a:p>
            <a:pPr indent="0" marL="0">
              <a:buNone/>
            </a:pPr>
            <a:r>
              <a:rPr lang="en-US" sz="1500" dirty="0">
                <a:solidFill>
                  <a:schemeClr val="tx2"/>
                </a:solidFill>
              </a:rPr>
              <a:t>[metric, e.g. hours saved per cycle]</a:t>
            </a:r>
            <a:endParaRPr lang="en-US" sz="1500" dirty="0"/>
          </a:p>
        </p:txBody>
      </p:sp>
      <p:sp>
        <p:nvSpPr>
          <p:cNvPr id="6" name="stat-card-2"/>
          <p:cNvSpPr/>
          <p:nvPr/>
        </p:nvSpPr>
        <p:spPr>
          <a:xfrm>
            <a:off x="4460138" y="2651760"/>
            <a:ext cx="3271418" cy="2377440"/>
          </a:xfrm>
          <a:prstGeom prst="roundRect">
            <a:avLst>
              <a:gd name="adj" fmla="val 4615"/>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7" name="stat-num-2"/>
          <p:cNvSpPr txBox="1"/>
          <p:nvPr/>
        </p:nvSpPr>
        <p:spPr>
          <a:xfrm>
            <a:off x="4825898" y="2880360"/>
            <a:ext cx="2539898"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[__]</a:t>
            </a:r>
            <a:endParaRPr lang="en-US" sz="6000" dirty="0"/>
          </a:p>
        </p:txBody>
      </p:sp>
      <p:sp>
        <p:nvSpPr>
          <p:cNvPr id="8" name="stat-label-2"/>
          <p:cNvSpPr txBox="1"/>
          <p:nvPr/>
        </p:nvSpPr>
        <p:spPr>
          <a:xfrm>
            <a:off x="4825898" y="4069080"/>
            <a:ext cx="2539898" cy="731520"/>
          </a:xfrm>
          <a:prstGeom prst="rect">
            <a:avLst/>
          </a:prstGeom>
          <a:noFill/>
          <a:ln/>
        </p:spPr>
        <p:txBody>
          <a:bodyPr wrap="square" lIns="0" tIns="0" rIns="0" bIns="0" rtlCol="0" anchor="t"/>
          <a:lstStyle/>
          <a:p>
            <a:pPr indent="0" marL="0">
              <a:buNone/>
            </a:pPr>
            <a:r>
              <a:rPr lang="en-US" sz="1500" dirty="0">
                <a:solidFill>
                  <a:schemeClr val="tx2"/>
                </a:solidFill>
              </a:rPr>
              <a:t>[metric, e.g. models or tools delivered]</a:t>
            </a:r>
            <a:endParaRPr lang="en-US" sz="1500" dirty="0"/>
          </a:p>
        </p:txBody>
      </p:sp>
      <p:sp>
        <p:nvSpPr>
          <p:cNvPr id="9" name="stat-card-3"/>
          <p:cNvSpPr/>
          <p:nvPr/>
        </p:nvSpPr>
        <p:spPr>
          <a:xfrm>
            <a:off x="8097317" y="2651760"/>
            <a:ext cx="3271418" cy="2377440"/>
          </a:xfrm>
          <a:prstGeom prst="roundRect">
            <a:avLst>
              <a:gd name="adj" fmla="val 4615"/>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10" name="stat-num-3"/>
          <p:cNvSpPr txBox="1"/>
          <p:nvPr/>
        </p:nvSpPr>
        <p:spPr>
          <a:xfrm>
            <a:off x="8463077" y="2880360"/>
            <a:ext cx="2539898" cy="10972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[__]</a:t>
            </a:r>
            <a:endParaRPr lang="en-US" sz="6000" dirty="0"/>
          </a:p>
        </p:txBody>
      </p:sp>
      <p:sp>
        <p:nvSpPr>
          <p:cNvPr id="11" name="stat-label-3"/>
          <p:cNvSpPr txBox="1"/>
          <p:nvPr/>
        </p:nvSpPr>
        <p:spPr>
          <a:xfrm>
            <a:off x="8463077" y="4069080"/>
            <a:ext cx="2539898" cy="731520"/>
          </a:xfrm>
          <a:prstGeom prst="rect">
            <a:avLst/>
          </a:prstGeom>
          <a:noFill/>
          <a:ln/>
        </p:spPr>
        <p:txBody>
          <a:bodyPr wrap="square" lIns="0" tIns="0" rIns="0" bIns="0" rtlCol="0" anchor="t"/>
          <a:lstStyle/>
          <a:p>
            <a:pPr indent="0" marL="0">
              <a:buNone/>
            </a:pPr>
            <a:r>
              <a:rPr lang="en-US" sz="1500" dirty="0">
                <a:solidFill>
                  <a:schemeClr val="tx2"/>
                </a:solidFill>
              </a:rPr>
              <a:t>[metric, e.g. partner teams reached]</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22960" y="2011680"/>
            <a:ext cx="10545775" cy="411480"/>
          </a:xfrm>
          <a:prstGeom prst="rect">
            <a:avLst/>
          </a:prstGeom>
          <a:noFill/>
          <a:ln/>
        </p:spPr>
        <p:txBody>
          <a:bodyPr wrap="square" lIns="0" tIns="0" rIns="0" bIns="0" rtlCol="0" anchor="b"/>
          <a:lstStyle/>
          <a:p>
            <a:pPr indent="0" marL="0">
              <a:buNone/>
            </a:pPr>
            <a:r>
              <a:rPr lang="en-US" sz="1400" b="1" spc="400" kern="0" dirty="0">
                <a:solidFill>
                  <a:schemeClr val="accent2"/>
                </a:solidFill>
              </a:rPr>
              <a:t>PART 2</a:t>
            </a:r>
            <a:endParaRPr lang="en-US" sz="1400" dirty="0"/>
          </a:p>
        </p:txBody>
      </p:sp>
      <p:sp>
        <p:nvSpPr>
          <p:cNvPr id="3" name="Text 0"/>
          <p:cNvSpPr/>
          <p:nvPr>
            <p:ph idx="101" type="title" hasCustomPrompt="1"/>
          </p:nvPr>
        </p:nvSpPr>
        <p:spPr>
          <a:xfrm>
            <a:off x="822960" y="2514600"/>
            <a:ext cx="10545775" cy="1280160"/>
          </a:xfrm>
          <a:prstGeom prst="rect">
            <a:avLst/>
          </a:prstGeom>
          <a:noFill/>
          <a:ln/>
        </p:spPr>
        <p:txBody>
          <a:bodyPr wrap="square" lIns="0" tIns="0" rIns="0" bIns="0" rtlCol="0" anchor="ctr"/>
          <a:lstStyle/>
          <a:p>
            <a:pPr algn="l" indent="0" marL="0">
              <a:buNone/>
            </a:pPr>
            <a:r>
              <a:rPr lang="en-US" sz="6600" b="1" dirty="0">
                <a:solidFill>
                  <a:schemeClr val="bg2"/>
                </a:solidFill>
              </a:rPr>
              <a:t>On Wendi's Mind</a:t>
            </a:r>
            <a:endParaRPr lang="en-US" sz="6600" dirty="0"/>
          </a:p>
        </p:txBody>
      </p:sp>
      <p:sp>
        <p:nvSpPr>
          <p:cNvPr id="4" name="Text 0"/>
          <p:cNvSpPr/>
          <p:nvPr>
            <p:ph idx="102" type="body" hasCustomPrompt="1"/>
          </p:nvPr>
        </p:nvSpPr>
        <p:spPr>
          <a:xfrm>
            <a:off x="822960" y="3977640"/>
            <a:ext cx="10545775" cy="548640"/>
          </a:xfrm>
          <a:prstGeom prst="rect">
            <a:avLst/>
          </a:prstGeom>
          <a:noFill/>
          <a:ln/>
        </p:spPr>
        <p:txBody>
          <a:bodyPr wrap="square" lIns="0" tIns="0" rIns="0" bIns="0" rtlCol="0" anchor="t"/>
          <a:lstStyle/>
          <a:p>
            <a:pPr indent="0" marL="0">
              <a:buNone/>
            </a:pPr>
            <a:r>
              <a:rPr lang="en-US" sz="2000" dirty="0">
                <a:solidFill>
                  <a:schemeClr val="accent3"/>
                </a:solidFill>
              </a:rPr>
              <a:t>What I'm thinking about, learning and building right now</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lIns="0" tIns="0" rIns="0" bIns="0" rtlCol="0" anchor="t"/>
          <a:lstStyle/>
          <a:p>
            <a:pPr algn="l" indent="0" marL="0">
              <a:buNone/>
            </a:pPr>
            <a:r>
              <a:rPr lang="en-US" sz="3000" b="1" dirty="0">
                <a:solidFill>
                  <a:schemeClr val="tx1"/>
                </a:solidFill>
              </a:rPr>
              <a:t>Almost everything on my mind comes back to applying AI to how we actually work</a:t>
            </a:r>
            <a:endParaRPr lang="en-US" sz="3000" dirty="0"/>
          </a:p>
        </p:txBody>
      </p:sp>
      <p:sp>
        <p:nvSpPr>
          <p:cNvPr id="3" name="focus-card-1"/>
          <p:cNvSpPr/>
          <p:nvPr/>
        </p:nvSpPr>
        <p:spPr>
          <a:xfrm>
            <a:off x="822960" y="2377440"/>
            <a:ext cx="5090008" cy="3291840"/>
          </a:xfrm>
          <a:prstGeom prst="roundRect">
            <a:avLst>
              <a:gd name="adj" fmla="val 3333"/>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4" name="focus-label-1"/>
          <p:cNvSpPr txBox="1"/>
          <p:nvPr/>
        </p:nvSpPr>
        <p:spPr>
          <a:xfrm>
            <a:off x="1280160" y="2788920"/>
            <a:ext cx="4175608" cy="320040"/>
          </a:xfrm>
          <a:prstGeom prst="rect">
            <a:avLst/>
          </a:prstGeom>
          <a:noFill/>
          <a:ln/>
        </p:spPr>
        <p:txBody>
          <a:bodyPr wrap="square" lIns="0" tIns="0" rIns="0" bIns="0" rtlCol="0" anchor="ctr"/>
          <a:lstStyle/>
          <a:p>
            <a:pPr indent="0" marL="0">
              <a:buNone/>
            </a:pPr>
            <a:r>
              <a:rPr lang="en-US" sz="1200" b="1" spc="300" kern="0" dirty="0">
                <a:solidFill>
                  <a:schemeClr val="tx2"/>
                </a:solidFill>
              </a:rPr>
              <a:t>OUR TEAM</a:t>
            </a:r>
            <a:endParaRPr lang="en-US" sz="1200" dirty="0"/>
          </a:p>
        </p:txBody>
      </p:sp>
      <p:sp>
        <p:nvSpPr>
          <p:cNvPr id="5" name="focus-head-1"/>
          <p:cNvSpPr txBox="1"/>
          <p:nvPr/>
        </p:nvSpPr>
        <p:spPr>
          <a:xfrm>
            <a:off x="1280160" y="3246120"/>
            <a:ext cx="4175608"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Make our own jobs more efficient</a:t>
            </a:r>
            <a:endParaRPr lang="en-US" sz="2400" dirty="0"/>
          </a:p>
        </p:txBody>
      </p:sp>
      <p:sp>
        <p:nvSpPr>
          <p:cNvPr id="6" name="focus-body-1"/>
          <p:cNvSpPr txBox="1"/>
          <p:nvPr/>
        </p:nvSpPr>
        <p:spPr>
          <a:xfrm>
            <a:off x="1280160" y="4251960"/>
            <a:ext cx="4175608" cy="1097280"/>
          </a:xfrm>
          <a:prstGeom prst="rect">
            <a:avLst/>
          </a:prstGeom>
          <a:noFill/>
          <a:ln/>
        </p:spPr>
        <p:txBody>
          <a:bodyPr wrap="square" lIns="0" tIns="0" rIns="0" bIns="0" rtlCol="0" anchor="t"/>
          <a:lstStyle/>
          <a:p>
            <a:pPr indent="0" marL="0">
              <a:buNone/>
            </a:pPr>
            <a:r>
              <a:rPr lang="en-US" sz="1600" dirty="0">
                <a:solidFill>
                  <a:schemeClr val="tx2"/>
                </a:solidFill>
              </a:rPr>
              <a:t>Less time on repetitive build, document and check steps; more time on judgment.</a:t>
            </a:r>
            <a:endParaRPr lang="en-US" sz="1600" dirty="0"/>
          </a:p>
        </p:txBody>
      </p:sp>
      <p:sp>
        <p:nvSpPr>
          <p:cNvPr id="7" name="focus-card-2"/>
          <p:cNvSpPr/>
          <p:nvPr/>
        </p:nvSpPr>
        <p:spPr>
          <a:xfrm>
            <a:off x="6278728" y="2377440"/>
            <a:ext cx="5090008" cy="3291840"/>
          </a:xfrm>
          <a:prstGeom prst="roundRect">
            <a:avLst>
              <a:gd name="adj" fmla="val 3333"/>
            </a:avLst>
          </a:prstGeom>
          <a:solidFill>
            <a:schemeClr val="accent6"/>
          </a:solidFill>
          <a:ln w="12700">
            <a:solidFill>
              <a:schemeClr val="accent5"/>
            </a:solidFill>
            <a:prstDash val="solid"/>
          </a:ln>
          <a:effectLst>
            <a:outerShdw sx="100000" sy="100000" kx="0" ky="0" algn="bl" rotWithShape="0" blurRad="76200" dist="25400" dir="5400000">
              <a:srgbClr val="14213D">
                <a:alpha val="8000"/>
              </a:srgbClr>
            </a:outerShdw>
          </a:effectLst>
        </p:spPr>
      </p:sp>
      <p:sp>
        <p:nvSpPr>
          <p:cNvPr id="8" name="focus-label-2"/>
          <p:cNvSpPr txBox="1"/>
          <p:nvPr/>
        </p:nvSpPr>
        <p:spPr>
          <a:xfrm>
            <a:off x="6735928" y="2788920"/>
            <a:ext cx="4175608"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OUR PARTNER TEAMS</a:t>
            </a:r>
            <a:endParaRPr lang="en-US" sz="1200" dirty="0"/>
          </a:p>
        </p:txBody>
      </p:sp>
      <p:sp>
        <p:nvSpPr>
          <p:cNvPr id="9" name="focus-head-2"/>
          <p:cNvSpPr txBox="1"/>
          <p:nvPr/>
        </p:nvSpPr>
        <p:spPr>
          <a:xfrm>
            <a:off x="6735928" y="3246120"/>
            <a:ext cx="4175608"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Make their jobs more efficient too</a:t>
            </a:r>
            <a:endParaRPr lang="en-US" sz="2400" dirty="0"/>
          </a:p>
        </p:txBody>
      </p:sp>
      <p:sp>
        <p:nvSpPr>
          <p:cNvPr id="10" name="focus-body-2"/>
          <p:cNvSpPr txBox="1"/>
          <p:nvPr/>
        </p:nvSpPr>
        <p:spPr>
          <a:xfrm>
            <a:off x="6735928" y="4251960"/>
            <a:ext cx="4175608" cy="1097280"/>
          </a:xfrm>
          <a:prstGeom prst="rect">
            <a:avLst/>
          </a:prstGeom>
          <a:noFill/>
          <a:ln/>
        </p:spPr>
        <p:txBody>
          <a:bodyPr wrap="square" lIns="0" tIns="0" rIns="0" bIns="0" rtlCol="0" anchor="t"/>
          <a:lstStyle/>
          <a:p>
            <a:pPr indent="0" marL="0">
              <a:buNone/>
            </a:pPr>
            <a:r>
              <a:rPr lang="en-US" sz="1600" dirty="0">
                <a:solidFill>
                  <a:schemeClr val="tx2"/>
                </a:solidFill>
              </a:rPr>
              <a:t>Tools and practices that travel beyond us, so the gains compound across teams.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45775" cy="1051560"/>
          </a:xfrm>
          <a:prstGeom prst="rect">
            <a:avLst/>
          </a:prstGeom>
          <a:noFill/>
          <a:ln/>
        </p:spPr>
        <p:txBody>
          <a:bodyPr wrap="square" lIns="0" tIns="0" rIns="0" bIns="0" rtlCol="0" anchor="t"/>
          <a:lstStyle/>
          <a:p>
            <a:pPr algn="l" indent="0" marL="0">
              <a:buNone/>
            </a:pPr>
            <a:r>
              <a:rPr lang="en-US" sz="3000" b="1" dirty="0">
                <a:solidFill>
                  <a:schemeClr val="tx1"/>
                </a:solidFill>
              </a:rPr>
              <a:t>I'm learning three AI habits and building three projects right now</a:t>
            </a:r>
            <a:endParaRPr lang="en-US" sz="3000" dirty="0"/>
          </a:p>
        </p:txBody>
      </p:sp>
      <p:sp>
        <p:nvSpPr>
          <p:cNvPr id="3" name="col-head-1"/>
          <p:cNvSpPr txBox="1"/>
          <p:nvPr/>
        </p:nvSpPr>
        <p:spPr>
          <a:xfrm>
            <a:off x="822960" y="1783080"/>
            <a:ext cx="4998568"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CURRENTLY LEARNING</a:t>
            </a:r>
            <a:endParaRPr lang="en-US" sz="1300" dirty="0"/>
          </a:p>
        </p:txBody>
      </p:sp>
      <p:sp>
        <p:nvSpPr>
          <p:cNvPr id="4" name="col-rule-1"/>
          <p:cNvSpPr/>
          <p:nvPr/>
        </p:nvSpPr>
        <p:spPr>
          <a:xfrm>
            <a:off x="822960" y="2176272"/>
            <a:ext cx="4998568" cy="0"/>
          </a:xfrm>
          <a:prstGeom prst="line">
            <a:avLst/>
          </a:prstGeom>
          <a:noFill/>
          <a:ln w="19050">
            <a:solidFill>
              <a:schemeClr val="accent1"/>
            </a:solidFill>
            <a:prstDash val="solid"/>
          </a:ln>
        </p:spPr>
      </p:sp>
      <p:sp>
        <p:nvSpPr>
          <p:cNvPr id="5" name="item-1-1-head"/>
          <p:cNvSpPr txBox="1"/>
          <p:nvPr/>
        </p:nvSpPr>
        <p:spPr>
          <a:xfrm>
            <a:off x="822960" y="23774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Ask for Simplified Technical English</a:t>
            </a:r>
            <a:endParaRPr lang="en-US" sz="1700" dirty="0"/>
          </a:p>
        </p:txBody>
      </p:sp>
      <p:sp>
        <p:nvSpPr>
          <p:cNvPr id="6" name="item-1-1-body"/>
          <p:cNvSpPr txBox="1"/>
          <p:nvPr/>
        </p:nvSpPr>
        <p:spPr>
          <a:xfrm>
            <a:off x="822960" y="2761488"/>
            <a:ext cx="4998568" cy="868680"/>
          </a:xfrm>
          <a:prstGeom prst="rect">
            <a:avLst/>
          </a:prstGeom>
          <a:noFill/>
          <a:ln/>
        </p:spPr>
        <p:txBody>
          <a:bodyPr wrap="square" lIns="0" tIns="0" rIns="0" bIns="0" rtlCol="0" anchor="t"/>
          <a:lstStyle/>
          <a:p>
            <a:pPr indent="0" marL="0">
              <a:buNone/>
            </a:pPr>
            <a:r>
              <a:rPr lang="en-US" sz="1400" dirty="0">
                <a:solidFill>
                  <a:schemeClr val="tx2"/>
                </a:solidFill>
              </a:rPr>
              <a:t>ASD-STE100, the controlled English of aircraft manuals: short sentences, one meaning per word. Karpathy suggests it; results vary, so worth a try.</a:t>
            </a:r>
            <a:endParaRPr lang="en-US" sz="1400" dirty="0"/>
          </a:p>
        </p:txBody>
      </p:sp>
      <p:sp>
        <p:nvSpPr>
          <p:cNvPr id="7" name="item-1-2-head"/>
          <p:cNvSpPr txBox="1"/>
          <p:nvPr/>
        </p:nvSpPr>
        <p:spPr>
          <a:xfrm>
            <a:off x="822960" y="37490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Make AI restate your ask first</a:t>
            </a:r>
            <a:endParaRPr lang="en-US" sz="1700" dirty="0"/>
          </a:p>
        </p:txBody>
      </p:sp>
      <p:sp>
        <p:nvSpPr>
          <p:cNvPr id="8" name="item-1-2-body"/>
          <p:cNvSpPr txBox="1"/>
          <p:nvPr/>
        </p:nvSpPr>
        <p:spPr>
          <a:xfrm>
            <a:off x="822960" y="4133088"/>
            <a:ext cx="4998568" cy="868680"/>
          </a:xfrm>
          <a:prstGeom prst="rect">
            <a:avLst/>
          </a:prstGeom>
          <a:noFill/>
          <a:ln/>
        </p:spPr>
        <p:txBody>
          <a:bodyPr wrap="square" lIns="0" tIns="0" rIns="0" bIns="0" rtlCol="0" anchor="t"/>
          <a:lstStyle/>
          <a:p>
            <a:pPr indent="0" marL="0">
              <a:buNone/>
            </a:pPr>
            <a:r>
              <a:rPr lang="en-US" sz="1400" dirty="0">
                <a:solidFill>
                  <a:schemeClr val="tx2"/>
                </a:solidFill>
              </a:rPr>
              <a:t>It lists goal, constraints and assumptions, then waits for your go. Catches misreads before they cost hours.</a:t>
            </a:r>
            <a:endParaRPr lang="en-US" sz="1400" dirty="0"/>
          </a:p>
        </p:txBody>
      </p:sp>
      <p:sp>
        <p:nvSpPr>
          <p:cNvPr id="9" name="item-1-3-head"/>
          <p:cNvSpPr txBox="1"/>
          <p:nvPr/>
        </p:nvSpPr>
        <p:spPr>
          <a:xfrm>
            <a:off x="822960" y="51206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Turn every AI mistake into a test case</a:t>
            </a:r>
            <a:endParaRPr lang="en-US" sz="1700" dirty="0"/>
          </a:p>
        </p:txBody>
      </p:sp>
      <p:sp>
        <p:nvSpPr>
          <p:cNvPr id="10" name="item-1-3-body"/>
          <p:cNvSpPr txBox="1"/>
          <p:nvPr/>
        </p:nvSpPr>
        <p:spPr>
          <a:xfrm>
            <a:off x="822960" y="5504688"/>
            <a:ext cx="4998568" cy="868680"/>
          </a:xfrm>
          <a:prstGeom prst="rect">
            <a:avLst/>
          </a:prstGeom>
          <a:noFill/>
          <a:ln/>
        </p:spPr>
        <p:txBody>
          <a:bodyPr wrap="square" lIns="0" tIns="0" rIns="0" bIns="0" rtlCol="0" anchor="t"/>
          <a:lstStyle/>
          <a:p>
            <a:pPr indent="0" marL="0">
              <a:buNone/>
            </a:pPr>
            <a:r>
              <a:rPr lang="en-US" sz="1400" dirty="0">
                <a:solidFill>
                  <a:schemeClr val="tx2"/>
                </a:solidFill>
              </a:rPr>
              <a:t>Save each failed input with the right answer; rerun after any prompt or model change. Evidence over gut feel. Via Lee Robinson.</a:t>
            </a:r>
            <a:endParaRPr lang="en-US" sz="1400" dirty="0"/>
          </a:p>
        </p:txBody>
      </p:sp>
      <p:sp>
        <p:nvSpPr>
          <p:cNvPr id="11" name="col-head-2"/>
          <p:cNvSpPr txBox="1"/>
          <p:nvPr/>
        </p:nvSpPr>
        <p:spPr>
          <a:xfrm>
            <a:off x="6370168" y="1783080"/>
            <a:ext cx="4998568" cy="320040"/>
          </a:xfrm>
          <a:prstGeom prst="rect">
            <a:avLst/>
          </a:prstGeom>
          <a:noFill/>
          <a:ln/>
        </p:spPr>
        <p:txBody>
          <a:bodyPr wrap="square" lIns="0" tIns="0" rIns="0" bIns="0" rtlCol="0" anchor="ctr"/>
          <a:lstStyle/>
          <a:p>
            <a:pPr indent="0" marL="0">
              <a:buNone/>
            </a:pPr>
            <a:r>
              <a:rPr lang="en-US" sz="1300" b="1" spc="300" kern="0" dirty="0">
                <a:solidFill>
                  <a:schemeClr val="tx1"/>
                </a:solidFill>
              </a:rPr>
              <a:t>CURRENTLY WORKING ON</a:t>
            </a:r>
            <a:endParaRPr lang="en-US" sz="1300" dirty="0"/>
          </a:p>
        </p:txBody>
      </p:sp>
      <p:sp>
        <p:nvSpPr>
          <p:cNvPr id="12" name="col-rule-2"/>
          <p:cNvSpPr/>
          <p:nvPr/>
        </p:nvSpPr>
        <p:spPr>
          <a:xfrm>
            <a:off x="6370168" y="2176272"/>
            <a:ext cx="4998568" cy="0"/>
          </a:xfrm>
          <a:prstGeom prst="line">
            <a:avLst/>
          </a:prstGeom>
          <a:noFill/>
          <a:ln w="19050">
            <a:solidFill>
              <a:schemeClr val="tx1"/>
            </a:solidFill>
            <a:prstDash val="solid"/>
          </a:ln>
        </p:spPr>
      </p:sp>
      <p:sp>
        <p:nvSpPr>
          <p:cNvPr id="13" name="item-2-1-head"/>
          <p:cNvSpPr txBox="1"/>
          <p:nvPr/>
        </p:nvSpPr>
        <p:spPr>
          <a:xfrm>
            <a:off x="6370168" y="23774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Galley</a:t>
            </a:r>
            <a:endParaRPr lang="en-US" sz="1700" dirty="0"/>
          </a:p>
        </p:txBody>
      </p:sp>
      <p:sp>
        <p:nvSpPr>
          <p:cNvPr id="14" name="item-2-1-body"/>
          <p:cNvSpPr txBox="1"/>
          <p:nvPr/>
        </p:nvSpPr>
        <p:spPr>
          <a:xfrm>
            <a:off x="6370168" y="2761488"/>
            <a:ext cx="4998568" cy="868680"/>
          </a:xfrm>
          <a:prstGeom prst="rect">
            <a:avLst/>
          </a:prstGeom>
          <a:noFill/>
          <a:ln/>
        </p:spPr>
        <p:txBody>
          <a:bodyPr wrap="square" lIns="0" tIns="0" rIns="0" bIns="0" rtlCol="0" anchor="t"/>
          <a:lstStyle/>
          <a:p>
            <a:pPr indent="0" marL="0">
              <a:buNone/>
            </a:pPr>
            <a:r>
              <a:rPr lang="en-US" sz="1400" dirty="0">
                <a:solidFill>
                  <a:schemeClr val="tx2"/>
                </a:solidFill>
              </a:rPr>
              <a:t>A publishing system that pairs Markdown, where analysis code can be embedded, with LaTeX, where formatting is precise.</a:t>
            </a:r>
            <a:endParaRPr lang="en-US" sz="1400" dirty="0"/>
          </a:p>
        </p:txBody>
      </p:sp>
      <p:sp>
        <p:nvSpPr>
          <p:cNvPr id="15" name="item-2-2-head"/>
          <p:cNvSpPr txBox="1"/>
          <p:nvPr/>
        </p:nvSpPr>
        <p:spPr>
          <a:xfrm>
            <a:off x="6370168" y="37490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Cognos</a:t>
            </a:r>
            <a:endParaRPr lang="en-US" sz="1700" dirty="0"/>
          </a:p>
        </p:txBody>
      </p:sp>
      <p:sp>
        <p:nvSpPr>
          <p:cNvPr id="16" name="item-2-2-body"/>
          <p:cNvSpPr txBox="1"/>
          <p:nvPr/>
        </p:nvSpPr>
        <p:spPr>
          <a:xfrm>
            <a:off x="6370168" y="4133088"/>
            <a:ext cx="4998568" cy="868680"/>
          </a:xfrm>
          <a:prstGeom prst="rect">
            <a:avLst/>
          </a:prstGeom>
          <a:noFill/>
          <a:ln/>
        </p:spPr>
        <p:txBody>
          <a:bodyPr wrap="square" lIns="0" tIns="0" rIns="0" bIns="0" rtlCol="0" anchor="t"/>
          <a:lstStyle/>
          <a:p>
            <a:pPr indent="0" marL="0">
              <a:buNone/>
            </a:pPr>
            <a:r>
              <a:rPr lang="en-US" sz="1400" dirty="0">
                <a:solidFill>
                  <a:schemeClr val="tx2"/>
                </a:solidFill>
              </a:rPr>
              <a:t>Rebuilding it from the initial prototype into a framework people can genuinely use.</a:t>
            </a:r>
            <a:endParaRPr lang="en-US" sz="1400" dirty="0"/>
          </a:p>
        </p:txBody>
      </p:sp>
      <p:sp>
        <p:nvSpPr>
          <p:cNvPr id="17" name="item-2-3-head"/>
          <p:cNvSpPr txBox="1"/>
          <p:nvPr/>
        </p:nvSpPr>
        <p:spPr>
          <a:xfrm>
            <a:off x="6370168" y="5120640"/>
            <a:ext cx="4998568"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Deputy</a:t>
            </a:r>
            <a:endParaRPr lang="en-US" sz="1700" dirty="0"/>
          </a:p>
        </p:txBody>
      </p:sp>
      <p:sp>
        <p:nvSpPr>
          <p:cNvPr id="18" name="item-2-3-body"/>
          <p:cNvSpPr txBox="1"/>
          <p:nvPr/>
        </p:nvSpPr>
        <p:spPr>
          <a:xfrm>
            <a:off x="6370168" y="5504688"/>
            <a:ext cx="4998568" cy="868680"/>
          </a:xfrm>
          <a:prstGeom prst="rect">
            <a:avLst/>
          </a:prstGeom>
          <a:noFill/>
          <a:ln/>
        </p:spPr>
        <p:txBody>
          <a:bodyPr wrap="square" lIns="0" tIns="0" rIns="0" bIns="0" rtlCol="0" anchor="t"/>
          <a:lstStyle/>
          <a:p>
            <a:pPr indent="0" marL="0">
              <a:buNone/>
            </a:pPr>
            <a:r>
              <a:rPr lang="en-US" sz="1400" dirty="0">
                <a:solidFill>
                  <a:schemeClr val="tx2"/>
                </a:solidFill>
              </a:rPr>
              <a:t>Stripping outdated guardrails and skills down to a minimal, rule-focused core that stays useful as models improve.</a:t>
            </a:r>
            <a:endParaRPr lang="en-US" sz="1400" dirty="0"/>
          </a:p>
        </p:txBody>
      </p:sp>
    </p:spTree>
  </p:cSld>
  <p:clrMapOvr>
    <a:masterClrMapping/>
  </p:clrMapOvr>
</p:sld>
</file>

<file path=ppt/theme/theme1.xml><?xml version="1.0" encoding="utf-8"?>
<a:theme xmlns:a="http://schemas.openxmlformats.org/drawingml/2006/main" name="Team Deck">
  <a:themeElements>
    <a:clrScheme name="Team Deck">
      <a:dk1>
        <a:srgbClr val="14213D"/>
      </a:dk1>
      <a:lt1>
        <a:srgbClr val="FFFFFF"/>
      </a:lt1>
      <a:dk2>
        <a:srgbClr val="4A5568"/>
      </a:dk2>
      <a:lt2>
        <a:srgbClr val="F7F5F0"/>
      </a:lt2>
      <a:accent1>
        <a:srgbClr val="B5651D"/>
      </a:accent1>
      <a:accent2>
        <a:srgbClr val="E0A458"/>
      </a:accent2>
      <a:accent3>
        <a:srgbClr val="C9D1E0"/>
      </a:accent3>
      <a:accent4>
        <a:srgbClr val="EDE8DE"/>
      </a:accent4>
      <a:accent5>
        <a:srgbClr val="E2DDD3"/>
      </a:accent5>
      <a:accent6>
        <a:srgbClr val="FFFDF8"/>
      </a:accent6>
      <a:hlink>
        <a:srgbClr val="B5651D"/>
      </a:hlink>
      <a:folHlink>
        <a:srgbClr val="4A5568"/>
      </a:folHlink>
    </a:clrScheme>
    <a:fontScheme name="Team 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Deck</dc:title>
  <dc:subject>PptxGenJS Presentation</dc:subject>
  <dc:creator>Wendi</dc:creator>
  <cp:lastModifiedBy>Wendi</cp:lastModifiedBy>
  <cp:revision>1</cp:revision>
  <dcterms:created xsi:type="dcterms:W3CDTF">2026-10-14T01:18:11Z</dcterms:created>
  <dcterms:modified xsi:type="dcterms:W3CDTF">2026-10-14T01:18:11Z</dcterms:modified>
</cp:coreProperties>
</file>