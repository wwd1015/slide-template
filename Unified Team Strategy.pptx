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d05d4c85-240c-0061-3c77-97f495c31951}">
          <p14:sldIdLst>
            <p14:sldId id="256"/>
            <p14:sldId id="257"/>
          </p14:sldIdLst>
        </p14:section>
        <p14:section name="How we organize" id="{b7afe13d-d96e-8d62-de6d-58687db432c5}">
          <p14:sldIdLst>
            <p14:sldId id="258"/>
            <p14:sldId id="259"/>
            <p14:sldId id="260"/>
          </p14:sldIdLst>
        </p14:section>
        <p14:section name="What we do and how we grow" id="{e541194e-9854-2815-f5a1-55f4422a093a}">
          <p14:sldIdLst>
            <p14:sldId id="261"/>
            <p14:sldId id="262"/>
            <p14:sldId id="263"/>
          </p14:sldIdLst>
        </p14:section>
        <p14:section name="Asks" id="{7f2d9508-67e9-e45c-841f-e2e592b91e76}">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With mid-level managers gone, the people stepping up, including the team lead, cover a broader scope; how we support them is still open. (2) Every lead takes on unfamiliar areas, for example Dual Risk Rating modeling and its business stakeholders. This is expected reorg pain; we lean on business analysts and former team members who know the area. (3) The new vision revisits some earlier decisions, such as tooling development and model consolidation, which can cause rework and frustration. This is a smaller concern than it looks: the vision now comes from the team’s own lead rather than from a partner team, so buy-in follows more naturally. We still share the vision openly with the whole team from day one and are clear about what each person is doing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&amp; Automation: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The fourth is covered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in a small, highly efficient team, forced ranking rewards out-competing peers rather than team growth — a dangerous culture over the long run.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leadership</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Mid-level managers left; leads cover more</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FDFCF9"/>
          </a:solidFill>
          <a:ln w="19050">
            <a:solidFill>
              <a:srgbClr val="1F6F7E"/>
            </a:solidFill>
            <a:prstDash val="dash"/>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[TBD: support model for stretched leads]</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New areas for leads</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e.g., DRR modeling and its business stakeholders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and prior team members</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and frustration</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Revisits past tooling and consolidation choices</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Dashed box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 &amp; Automation</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(previous slide).</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 &amp; Automation</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750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921000"/>
            <a:ext cx="304800" cy="304800"/>
          </a:xfrm>
          <a:prstGeom prst="rect">
            <a:avLst/>
          </a:prstGeom>
        </p:spPr>
      </p:pic>
      <p:sp>
        <p:nvSpPr>
          <p:cNvPr id="12" name="Text 9"/>
          <p:cNvSpPr txBox="1"/>
          <p:nvPr/>
        </p:nvSpPr>
        <p:spPr>
          <a:xfrm>
            <a:off x="10160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750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921000"/>
            <a:ext cx="304800" cy="304800"/>
          </a:xfrm>
          <a:prstGeom prst="rect">
            <a:avLst/>
          </a:prstGeom>
        </p:spPr>
      </p:pic>
      <p:sp>
        <p:nvSpPr>
          <p:cNvPr id="17" name="Text 13"/>
          <p:cNvSpPr txBox="1"/>
          <p:nvPr/>
        </p:nvSpPr>
        <p:spPr>
          <a:xfrm>
            <a:off x="37084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750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921000"/>
            <a:ext cx="304800" cy="304800"/>
          </a:xfrm>
          <a:prstGeom prst="rect">
            <a:avLst/>
          </a:prstGeom>
        </p:spPr>
      </p:pic>
      <p:sp>
        <p:nvSpPr>
          <p:cNvPr id="22" name="Text 17"/>
          <p:cNvSpPr txBox="1"/>
          <p:nvPr/>
        </p:nvSpPr>
        <p:spPr>
          <a:xfrm>
            <a:off x="64008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1]</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750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921000"/>
            <a:ext cx="304800" cy="304800"/>
          </a:xfrm>
          <a:prstGeom prst="rect">
            <a:avLst/>
          </a:prstGeom>
        </p:spPr>
      </p:pic>
      <p:sp>
        <p:nvSpPr>
          <p:cNvPr id="27" name="Text 21"/>
          <p:cNvSpPr txBox="1"/>
          <p:nvPr/>
        </p:nvSpPr>
        <p:spPr>
          <a:xfrm>
            <a:off x="90932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Next-gen leader pipeline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equally valued career paths give every associate a clear way to grow</a:t>
            </a:r>
            <a:endParaRPr lang="en-US" sz="3200" dirty="0"/>
          </a:p>
        </p:txBody>
      </p:sp>
      <p:sp>
        <p:nvSpPr>
          <p:cNvPr id="4" name="Shape 2"/>
          <p:cNvSpPr/>
          <p:nvPr/>
        </p:nvSpPr>
        <p:spPr>
          <a:xfrm>
            <a:off x="3225800" y="2286000"/>
            <a:ext cx="1905000" cy="355600"/>
          </a:xfrm>
          <a:prstGeom prst="roundRect">
            <a:avLst>
              <a:gd name="adj" fmla="val 38571"/>
            </a:avLst>
          </a:prstGeom>
          <a:solidFill>
            <a:srgbClr val="14213D"/>
          </a:solidFill>
          <a:ln/>
        </p:spPr>
      </p:sp>
      <p:sp>
        <p:nvSpPr>
          <p:cNvPr id="5" name="Text 3"/>
          <p:cNvSpPr txBox="1"/>
          <p:nvPr/>
        </p:nvSpPr>
        <p:spPr>
          <a:xfrm>
            <a:off x="3225800" y="2286000"/>
            <a:ext cx="1905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Associate</a:t>
            </a:r>
            <a:endParaRPr lang="en-US" sz="1300" dirty="0"/>
          </a:p>
        </p:txBody>
      </p:sp>
      <p:sp>
        <p:nvSpPr>
          <p:cNvPr id="6" name="Shape 4"/>
          <p:cNvSpPr/>
          <p:nvPr/>
        </p:nvSpPr>
        <p:spPr>
          <a:xfrm>
            <a:off x="4178300" y="2641600"/>
            <a:ext cx="914" cy="152400"/>
          </a:xfrm>
          <a:prstGeom prst="line">
            <a:avLst/>
          </a:prstGeom>
          <a:noFill/>
          <a:ln w="25400">
            <a:solidFill>
              <a:srgbClr val="6B7280"/>
            </a:solidFill>
            <a:prstDash val="solid"/>
          </a:ln>
        </p:spPr>
      </p:sp>
      <p:sp>
        <p:nvSpPr>
          <p:cNvPr id="7" name="Shape 5"/>
          <p:cNvSpPr/>
          <p:nvPr/>
        </p:nvSpPr>
        <p:spPr>
          <a:xfrm>
            <a:off x="2432050" y="2794000"/>
            <a:ext cx="3492500" cy="914"/>
          </a:xfrm>
          <a:prstGeom prst="line">
            <a:avLst/>
          </a:prstGeom>
          <a:noFill/>
          <a:ln w="25400">
            <a:solidFill>
              <a:srgbClr val="6B7280"/>
            </a:solidFill>
            <a:prstDash val="solid"/>
          </a:ln>
        </p:spPr>
      </p:sp>
      <p:sp>
        <p:nvSpPr>
          <p:cNvPr id="8" name="Shape 6"/>
          <p:cNvSpPr/>
          <p:nvPr/>
        </p:nvSpPr>
        <p:spPr>
          <a:xfrm>
            <a:off x="2432050" y="2794000"/>
            <a:ext cx="914" cy="190500"/>
          </a:xfrm>
          <a:prstGeom prst="line">
            <a:avLst/>
          </a:prstGeom>
          <a:noFill/>
          <a:ln w="25400">
            <a:solidFill>
              <a:srgbClr val="6B7280"/>
            </a:solidFill>
            <a:prstDash val="solid"/>
            <a:tailEnd type="triangle"/>
          </a:ln>
        </p:spPr>
      </p:sp>
      <p:sp>
        <p:nvSpPr>
          <p:cNvPr id="9" name="Shape 7"/>
          <p:cNvSpPr/>
          <p:nvPr/>
        </p:nvSpPr>
        <p:spPr>
          <a:xfrm>
            <a:off x="5924550" y="2794000"/>
            <a:ext cx="914" cy="190500"/>
          </a:xfrm>
          <a:prstGeom prst="line">
            <a:avLst/>
          </a:prstGeom>
          <a:noFill/>
          <a:ln w="25400">
            <a:solidFill>
              <a:srgbClr val="6B7280"/>
            </a:solidFill>
            <a:prstDash val="solid"/>
            <a:tailEnd type="triangle"/>
          </a:ln>
        </p:spPr>
      </p:sp>
      <p:sp>
        <p:nvSpPr>
          <p:cNvPr id="10" name="Shape 8"/>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1" name="Text 9"/>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2" name="Text 10"/>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3" name="Text 11"/>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4" name="Text 12"/>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5" name="Shape 13"/>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6" name="Text 14"/>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7" name="Text 15"/>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8" name="Text 16"/>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19" name="Text 17"/>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0" name="Shape 18"/>
          <p:cNvSpPr/>
          <p:nvPr/>
        </p:nvSpPr>
        <p:spPr>
          <a:xfrm>
            <a:off x="3975100" y="3892550"/>
            <a:ext cx="406400" cy="406400"/>
          </a:xfrm>
          <a:prstGeom prst="ellipse">
            <a:avLst/>
          </a:prstGeom>
          <a:solidFill>
            <a:srgbClr val="14213D"/>
          </a:solidFill>
          <a:ln w="38100">
            <a:solidFill>
              <a:srgbClr val="F7F6F2"/>
            </a:solidFill>
            <a:prstDash val="solid"/>
          </a:ln>
        </p:spPr>
      </p:sp>
      <p:sp>
        <p:nvSpPr>
          <p:cNvPr id="21" name="Text 19"/>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2" name="Text 20"/>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Equal chance of success on both paths.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We expect more associates to choose the IC path than in the past.</a:t>
            </a:r>
            <a:endParaRPr lang="en-US" sz="1200" dirty="0"/>
          </a:p>
        </p:txBody>
      </p:sp>
      <p:sp>
        <p:nvSpPr>
          <p:cNvPr id="23" name="Shape 21"/>
          <p:cNvSpPr/>
          <p:nvPr/>
        </p:nvSpPr>
        <p:spPr>
          <a:xfrm>
            <a:off x="7848600" y="2286000"/>
            <a:ext cx="3530600" cy="3492500"/>
          </a:xfrm>
          <a:prstGeom prst="roundRect">
            <a:avLst>
              <a:gd name="adj" fmla="val 1571"/>
            </a:avLst>
          </a:prstGeom>
          <a:solidFill>
            <a:srgbClr val="ECEAE3"/>
          </a:solidFill>
          <a:ln/>
        </p:spPr>
      </p:sp>
      <p:pic>
        <p:nvPicPr>
          <p:cNvPr id="24"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5" name="Text 22"/>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6" name="Text 23"/>
          <p:cNvSpPr txBox="1"/>
          <p:nvPr/>
        </p:nvSpPr>
        <p:spPr>
          <a:xfrm>
            <a:off x="8051800" y="3556000"/>
            <a:ext cx="3124200" cy="12700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As everyone gets more efficient, forcing a distribution pits peers against each other. That hurts sustainable growth and culture.</a:t>
            </a:r>
            <a:endParaRPr lang="en-US" sz="1300" dirty="0"/>
          </a:p>
        </p:txBody>
      </p:sp>
      <p:sp>
        <p:nvSpPr>
          <p:cNvPr id="27" name="Text 24"/>
          <p:cNvSpPr txBox="1"/>
          <p:nvPr/>
        </p:nvSpPr>
        <p:spPr>
          <a:xfrm>
            <a:off x="8051800" y="5016500"/>
            <a:ext cx="3124200" cy="571500"/>
          </a:xfrm>
          <a:prstGeom prst="rect">
            <a:avLst/>
          </a:prstGeom>
          <a:noFill/>
          <a:ln/>
        </p:spPr>
        <p:txBody>
          <a:bodyPr wrap="square" lIns="0" tIns="0" rIns="0" bIns="0" rtlCol="0" anchor="t"/>
          <a:lstStyle/>
          <a:p>
            <a:pPr algn="l" indent="0" marL="0">
              <a:lnSpc>
                <a:spcPct val="115000"/>
              </a:lnSpc>
              <a:buNone/>
            </a:pPr>
            <a:r>
              <a:rPr lang="en-US" sz="1300" dirty="0">
                <a:solidFill>
                  <a:srgbClr val="155563"/>
                </a:solidFill>
                <a:latin typeface="Optimist Sans" pitchFamily="34" charset="0"/>
                <a:ea typeface="Optimist Sans" pitchFamily="34" charset="-122"/>
                <a:cs typeface="Optimist Sans" pitchFamily="34" charset="-120"/>
              </a:rPr>
              <a:t>[Proposal, e.g., measure impact against goals]</a:t>
            </a:r>
            <a:endParaRPr lang="en-US" sz="1300" dirty="0"/>
          </a:p>
        </p:txBody>
      </p:sp>
      <p:sp>
        <p:nvSpPr>
          <p:cNvPr id="28" name="Text 25"/>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Text 27"/>
          <p:cNvSpPr txBox="1"/>
          <p:nvPr/>
        </p:nvSpPr>
        <p:spPr>
          <a:xfrm>
            <a:off x="8229600" y="4102100"/>
            <a:ext cx="2946400" cy="762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Open question: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how do juniors build judgment when agents do entry-level work?</a:t>
            </a:r>
            <a:endParaRPr lang="en-US" sz="1300" dirty="0"/>
          </a:p>
        </p:txBody>
      </p:sp>
      <p:sp>
        <p:nvSpPr>
          <p:cNvPr id="30" name="Text 28"/>
          <p:cNvSpPr txBox="1"/>
          <p:nvPr/>
        </p:nvSpPr>
        <p:spPr>
          <a:xfrm>
            <a:off x="8229600" y="5016500"/>
            <a:ext cx="2946400" cy="279400"/>
          </a:xfrm>
          <a:prstGeom prst="rect">
            <a:avLst/>
          </a:prstGeom>
          <a:noFill/>
          <a:ln/>
        </p:spPr>
        <p:txBody>
          <a:bodyPr wrap="square" lIns="0" tIns="0" rIns="0" bIns="0" rtlCol="0" anchor="t"/>
          <a:lstStyle/>
          <a:p>
            <a:pPr algn="l" indent="0" marL="0">
              <a:lnSpc>
                <a:spcPct val="115000"/>
              </a:lnSpc>
              <a:buNone/>
            </a:pPr>
            <a:r>
              <a:rPr lang="en-US" sz="1300" dirty="0">
                <a:solidFill>
                  <a:srgbClr val="A0521A"/>
                </a:solidFill>
                <a:latin typeface="Optimist Sans" pitchFamily="34" charset="0"/>
                <a:ea typeface="Optimist Sans" pitchFamily="34" charset="-122"/>
                <a:cs typeface="Optimist Sans" pitchFamily="34" charset="-120"/>
              </a:rPr>
              <a:t>→ [Junior pipeline approach]</a:t>
            </a:r>
            <a:endParaRPr lang="en-US" sz="1300" dirty="0"/>
          </a:p>
        </p:txBody>
      </p:sp>
      <p:sp>
        <p:nvSpPr>
          <p:cNvPr id="31" name="Text 2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&amp; Automation,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2026-10-23T02:15:31Z</dcterms:created>
  <dcterms:modified xsi:type="dcterms:W3CDTF">2026-10-23T02:15:31Z</dcterms:modified>
</cp:coreProperties>
</file>