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b23fefe0-b801-9041-fbdb-408b88c38ece}">
          <p14:sldIdLst>
            <p14:sldId id="256"/>
            <p14:sldId id="257"/>
          </p14:sldIdLst>
        </p14:section>
        <p14:section name="How we organize" id="{39e36cba-121b-eca9-4dae-0a5310b7126d}">
          <p14:sldIdLst>
            <p14:sldId id="258"/>
            <p14:sldId id="259"/>
            <p14:sldId id="260"/>
            <p14:sldId id="261"/>
          </p14:sldIdLst>
        </p14:section>
        <p14:section name="What we do and how we grow" id="{e2de683f-bb16-1503-4a3f-f05199388f49}">
          <p14:sldIdLst>
            <p14:sldId id="262"/>
            <p14:sldId id="263"/>
            <p14:sldId id="264"/>
          </p14:sldIdLst>
        </p14:section>
        <p14:section name="Asks" id="{2812ca24-3edd-6315-f041-30c94de14f34}">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Each box shows the current headcount, who is on the team, and open roles to backfill. The bars show the planned size of each team at the end of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Each sub-team has a named lead and a size path: 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([Level])</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([Level])</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([Level])</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01700" y="4521200"/>
            <a:ext cx="1346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39" name="Text 37"/>
          <p:cNvSpPr txBox="1"/>
          <p:nvPr/>
        </p:nvSpPr>
        <p:spPr>
          <a:xfrm>
            <a:off x="901700" y="4724400"/>
            <a:ext cx="1346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40" name="Shape 38"/>
          <p:cNvSpPr/>
          <p:nvPr/>
        </p:nvSpPr>
        <p:spPr>
          <a:xfrm>
            <a:off x="990600" y="5359400"/>
            <a:ext cx="254000" cy="215900"/>
          </a:xfrm>
          <a:prstGeom prst="rect">
            <a:avLst/>
          </a:prstGeom>
          <a:solidFill>
            <a:srgbClr val="1F6F7E"/>
          </a:solidFill>
          <a:ln/>
        </p:spPr>
      </p:sp>
      <p:sp>
        <p:nvSpPr>
          <p:cNvPr id="41" name="Text 39"/>
          <p:cNvSpPr txBox="1"/>
          <p:nvPr/>
        </p:nvSpPr>
        <p:spPr>
          <a:xfrm>
            <a:off x="914400" y="51816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2" name="Text 40"/>
          <p:cNvSpPr txBox="1"/>
          <p:nvPr/>
        </p:nvSpPr>
        <p:spPr>
          <a:xfrm>
            <a:off x="9144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3" name="Shape 41"/>
          <p:cNvSpPr/>
          <p:nvPr/>
        </p:nvSpPr>
        <p:spPr>
          <a:xfrm>
            <a:off x="1447800" y="5410200"/>
            <a:ext cx="254000" cy="165100"/>
          </a:xfrm>
          <a:prstGeom prst="rect">
            <a:avLst/>
          </a:prstGeom>
          <a:solidFill>
            <a:srgbClr val="1F6F7E"/>
          </a:solidFill>
          <a:ln/>
        </p:spPr>
      </p:sp>
      <p:sp>
        <p:nvSpPr>
          <p:cNvPr id="44" name="Text 42"/>
          <p:cNvSpPr txBox="1"/>
          <p:nvPr/>
        </p:nvSpPr>
        <p:spPr>
          <a:xfrm>
            <a:off x="1371600" y="52324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Text 43"/>
          <p:cNvSpPr txBox="1"/>
          <p:nvPr/>
        </p:nvSpPr>
        <p:spPr>
          <a:xfrm>
            <a:off x="13716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6" name="Shape 44"/>
          <p:cNvSpPr/>
          <p:nvPr/>
        </p:nvSpPr>
        <p:spPr>
          <a:xfrm>
            <a:off x="1905000" y="5461000"/>
            <a:ext cx="254000" cy="114300"/>
          </a:xfrm>
          <a:prstGeom prst="rect">
            <a:avLst/>
          </a:prstGeom>
          <a:solidFill>
            <a:srgbClr val="1F6F7E"/>
          </a:solidFill>
          <a:ln/>
        </p:spPr>
      </p:sp>
      <p:sp>
        <p:nvSpPr>
          <p:cNvPr id="47" name="Text 45"/>
          <p:cNvSpPr txBox="1"/>
          <p:nvPr/>
        </p:nvSpPr>
        <p:spPr>
          <a:xfrm>
            <a:off x="1828800" y="52832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8" name="Text 46"/>
          <p:cNvSpPr txBox="1"/>
          <p:nvPr/>
        </p:nvSpPr>
        <p:spPr>
          <a:xfrm>
            <a:off x="18288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9" name="Shape 47"/>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50" name="Text 48"/>
          <p:cNvSpPr txBox="1"/>
          <p:nvPr/>
        </p:nvSpPr>
        <p:spPr>
          <a:xfrm>
            <a:off x="2527300" y="4521200"/>
            <a:ext cx="1346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51" name="Text 49"/>
          <p:cNvSpPr txBox="1"/>
          <p:nvPr/>
        </p:nvSpPr>
        <p:spPr>
          <a:xfrm>
            <a:off x="2527300" y="4724400"/>
            <a:ext cx="1346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52" name="Shape 50"/>
          <p:cNvSpPr/>
          <p:nvPr/>
        </p:nvSpPr>
        <p:spPr>
          <a:xfrm>
            <a:off x="2616200" y="5359400"/>
            <a:ext cx="254000" cy="215900"/>
          </a:xfrm>
          <a:prstGeom prst="rect">
            <a:avLst/>
          </a:prstGeom>
          <a:solidFill>
            <a:srgbClr val="1F6F7E"/>
          </a:solidFill>
          <a:ln/>
        </p:spPr>
      </p:sp>
      <p:sp>
        <p:nvSpPr>
          <p:cNvPr id="53" name="Text 51"/>
          <p:cNvSpPr txBox="1"/>
          <p:nvPr/>
        </p:nvSpPr>
        <p:spPr>
          <a:xfrm>
            <a:off x="2540000" y="51816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4" name="Text 52"/>
          <p:cNvSpPr txBox="1"/>
          <p:nvPr/>
        </p:nvSpPr>
        <p:spPr>
          <a:xfrm>
            <a:off x="25400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5" name="Shape 53"/>
          <p:cNvSpPr/>
          <p:nvPr/>
        </p:nvSpPr>
        <p:spPr>
          <a:xfrm>
            <a:off x="3073400" y="5410200"/>
            <a:ext cx="254000" cy="165100"/>
          </a:xfrm>
          <a:prstGeom prst="rect">
            <a:avLst/>
          </a:prstGeom>
          <a:solidFill>
            <a:srgbClr val="1F6F7E"/>
          </a:solidFill>
          <a:ln/>
        </p:spPr>
      </p:sp>
      <p:sp>
        <p:nvSpPr>
          <p:cNvPr id="56" name="Text 54"/>
          <p:cNvSpPr txBox="1"/>
          <p:nvPr/>
        </p:nvSpPr>
        <p:spPr>
          <a:xfrm>
            <a:off x="2997200" y="52324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29972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Shape 56"/>
          <p:cNvSpPr/>
          <p:nvPr/>
        </p:nvSpPr>
        <p:spPr>
          <a:xfrm>
            <a:off x="3530600" y="5461000"/>
            <a:ext cx="254000" cy="114300"/>
          </a:xfrm>
          <a:prstGeom prst="rect">
            <a:avLst/>
          </a:prstGeom>
          <a:solidFill>
            <a:srgbClr val="1F6F7E"/>
          </a:solidFill>
          <a:ln/>
        </p:spPr>
      </p:sp>
      <p:sp>
        <p:nvSpPr>
          <p:cNvPr id="59" name="Text 57"/>
          <p:cNvSpPr txBox="1"/>
          <p:nvPr/>
        </p:nvSpPr>
        <p:spPr>
          <a:xfrm>
            <a:off x="3454400" y="52832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0" name="Text 58"/>
          <p:cNvSpPr txBox="1"/>
          <p:nvPr/>
        </p:nvSpPr>
        <p:spPr>
          <a:xfrm>
            <a:off x="34544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1" name="Shape 59"/>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62" name="Text 60"/>
          <p:cNvSpPr txBox="1"/>
          <p:nvPr/>
        </p:nvSpPr>
        <p:spPr>
          <a:xfrm>
            <a:off x="4152900" y="4521200"/>
            <a:ext cx="1346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63" name="Text 61"/>
          <p:cNvSpPr txBox="1"/>
          <p:nvPr/>
        </p:nvSpPr>
        <p:spPr>
          <a:xfrm>
            <a:off x="4152900" y="4724400"/>
            <a:ext cx="1346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64" name="Shape 62"/>
          <p:cNvSpPr/>
          <p:nvPr/>
        </p:nvSpPr>
        <p:spPr>
          <a:xfrm>
            <a:off x="4241800" y="5359400"/>
            <a:ext cx="254000" cy="215900"/>
          </a:xfrm>
          <a:prstGeom prst="rect">
            <a:avLst/>
          </a:prstGeom>
          <a:solidFill>
            <a:srgbClr val="1F6F7E"/>
          </a:solidFill>
          <a:ln/>
        </p:spPr>
      </p:sp>
      <p:sp>
        <p:nvSpPr>
          <p:cNvPr id="65" name="Text 63"/>
          <p:cNvSpPr txBox="1"/>
          <p:nvPr/>
        </p:nvSpPr>
        <p:spPr>
          <a:xfrm>
            <a:off x="4165600" y="51816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6" name="Text 64"/>
          <p:cNvSpPr txBox="1"/>
          <p:nvPr/>
        </p:nvSpPr>
        <p:spPr>
          <a:xfrm>
            <a:off x="41656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7" name="Shape 65"/>
          <p:cNvSpPr/>
          <p:nvPr/>
        </p:nvSpPr>
        <p:spPr>
          <a:xfrm>
            <a:off x="4699000" y="5410200"/>
            <a:ext cx="254000" cy="165100"/>
          </a:xfrm>
          <a:prstGeom prst="rect">
            <a:avLst/>
          </a:prstGeom>
          <a:solidFill>
            <a:srgbClr val="1F6F7E"/>
          </a:solidFill>
          <a:ln/>
        </p:spPr>
      </p:sp>
      <p:sp>
        <p:nvSpPr>
          <p:cNvPr id="68" name="Text 66"/>
          <p:cNvSpPr txBox="1"/>
          <p:nvPr/>
        </p:nvSpPr>
        <p:spPr>
          <a:xfrm>
            <a:off x="4622800" y="52324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Text 67"/>
          <p:cNvSpPr txBox="1"/>
          <p:nvPr/>
        </p:nvSpPr>
        <p:spPr>
          <a:xfrm>
            <a:off x="46228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0" name="Shape 68"/>
          <p:cNvSpPr/>
          <p:nvPr/>
        </p:nvSpPr>
        <p:spPr>
          <a:xfrm>
            <a:off x="5156200" y="5461000"/>
            <a:ext cx="254000" cy="114300"/>
          </a:xfrm>
          <a:prstGeom prst="rect">
            <a:avLst/>
          </a:prstGeom>
          <a:solidFill>
            <a:srgbClr val="1F6F7E"/>
          </a:solidFill>
          <a:ln/>
        </p:spPr>
      </p:sp>
      <p:sp>
        <p:nvSpPr>
          <p:cNvPr id="71" name="Text 69"/>
          <p:cNvSpPr txBox="1"/>
          <p:nvPr/>
        </p:nvSpPr>
        <p:spPr>
          <a:xfrm>
            <a:off x="5080000" y="52832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50800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3" name="Shape 71"/>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74" name="Text 72"/>
          <p:cNvSpPr txBox="1"/>
          <p:nvPr/>
        </p:nvSpPr>
        <p:spPr>
          <a:xfrm>
            <a:off x="5829300" y="3911600"/>
            <a:ext cx="1600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75" name="Text 73"/>
          <p:cNvSpPr txBox="1"/>
          <p:nvPr/>
        </p:nvSpPr>
        <p:spPr>
          <a:xfrm>
            <a:off x="5829300" y="4114800"/>
            <a:ext cx="1600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76" name="Shape 74"/>
          <p:cNvSpPr/>
          <p:nvPr/>
        </p:nvSpPr>
        <p:spPr>
          <a:xfrm>
            <a:off x="6045200" y="5295900"/>
            <a:ext cx="254000" cy="279400"/>
          </a:xfrm>
          <a:prstGeom prst="rect">
            <a:avLst/>
          </a:prstGeom>
          <a:solidFill>
            <a:srgbClr val="1F6F7E"/>
          </a:solidFill>
          <a:ln/>
        </p:spPr>
      </p:sp>
      <p:sp>
        <p:nvSpPr>
          <p:cNvPr id="77" name="Text 75"/>
          <p:cNvSpPr txBox="1"/>
          <p:nvPr/>
        </p:nvSpPr>
        <p:spPr>
          <a:xfrm>
            <a:off x="5969000" y="51181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59690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9" name="Shape 77"/>
          <p:cNvSpPr/>
          <p:nvPr/>
        </p:nvSpPr>
        <p:spPr>
          <a:xfrm>
            <a:off x="6502400" y="5359400"/>
            <a:ext cx="254000" cy="215900"/>
          </a:xfrm>
          <a:prstGeom prst="rect">
            <a:avLst/>
          </a:prstGeom>
          <a:solidFill>
            <a:srgbClr val="1F6F7E"/>
          </a:solidFill>
          <a:ln/>
        </p:spPr>
      </p:sp>
      <p:sp>
        <p:nvSpPr>
          <p:cNvPr id="80" name="Text 78"/>
          <p:cNvSpPr txBox="1"/>
          <p:nvPr/>
        </p:nvSpPr>
        <p:spPr>
          <a:xfrm>
            <a:off x="6426200" y="51816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64262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Shape 80"/>
          <p:cNvSpPr/>
          <p:nvPr/>
        </p:nvSpPr>
        <p:spPr>
          <a:xfrm>
            <a:off x="6959600" y="5422900"/>
            <a:ext cx="254000" cy="152400"/>
          </a:xfrm>
          <a:prstGeom prst="rect">
            <a:avLst/>
          </a:prstGeom>
          <a:solidFill>
            <a:srgbClr val="1F6F7E"/>
          </a:solidFill>
          <a:ln/>
        </p:spPr>
      </p:sp>
      <p:sp>
        <p:nvSpPr>
          <p:cNvPr id="83" name="Text 81"/>
          <p:cNvSpPr txBox="1"/>
          <p:nvPr/>
        </p:nvSpPr>
        <p:spPr>
          <a:xfrm>
            <a:off x="6883400" y="52451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4" name="Text 82"/>
          <p:cNvSpPr txBox="1"/>
          <p:nvPr/>
        </p:nvSpPr>
        <p:spPr>
          <a:xfrm>
            <a:off x="68834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5" name="Shape 83"/>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86" name="Text 84"/>
          <p:cNvSpPr txBox="1"/>
          <p:nvPr/>
        </p:nvSpPr>
        <p:spPr>
          <a:xfrm>
            <a:off x="7759700" y="3911600"/>
            <a:ext cx="1600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87" name="Text 85"/>
          <p:cNvSpPr txBox="1"/>
          <p:nvPr/>
        </p:nvSpPr>
        <p:spPr>
          <a:xfrm>
            <a:off x="7759700" y="4114800"/>
            <a:ext cx="1600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88" name="Shape 86"/>
          <p:cNvSpPr/>
          <p:nvPr/>
        </p:nvSpPr>
        <p:spPr>
          <a:xfrm>
            <a:off x="7975600" y="5295900"/>
            <a:ext cx="254000" cy="279400"/>
          </a:xfrm>
          <a:prstGeom prst="rect">
            <a:avLst/>
          </a:prstGeom>
          <a:solidFill>
            <a:srgbClr val="1F6F7E"/>
          </a:solidFill>
          <a:ln/>
        </p:spPr>
      </p:sp>
      <p:sp>
        <p:nvSpPr>
          <p:cNvPr id="89" name="Text 87"/>
          <p:cNvSpPr txBox="1"/>
          <p:nvPr/>
        </p:nvSpPr>
        <p:spPr>
          <a:xfrm>
            <a:off x="7899400" y="51181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0" name="Text 88"/>
          <p:cNvSpPr txBox="1"/>
          <p:nvPr/>
        </p:nvSpPr>
        <p:spPr>
          <a:xfrm>
            <a:off x="78994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91" name="Shape 89"/>
          <p:cNvSpPr/>
          <p:nvPr/>
        </p:nvSpPr>
        <p:spPr>
          <a:xfrm>
            <a:off x="8432800" y="5359400"/>
            <a:ext cx="254000" cy="215900"/>
          </a:xfrm>
          <a:prstGeom prst="rect">
            <a:avLst/>
          </a:prstGeom>
          <a:solidFill>
            <a:srgbClr val="1F6F7E"/>
          </a:solidFill>
          <a:ln/>
        </p:spPr>
      </p:sp>
      <p:sp>
        <p:nvSpPr>
          <p:cNvPr id="92" name="Text 90"/>
          <p:cNvSpPr txBox="1"/>
          <p:nvPr/>
        </p:nvSpPr>
        <p:spPr>
          <a:xfrm>
            <a:off x="8356600" y="51816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3" name="Text 91"/>
          <p:cNvSpPr txBox="1"/>
          <p:nvPr/>
        </p:nvSpPr>
        <p:spPr>
          <a:xfrm>
            <a:off x="83566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4" name="Shape 92"/>
          <p:cNvSpPr/>
          <p:nvPr/>
        </p:nvSpPr>
        <p:spPr>
          <a:xfrm>
            <a:off x="8890000" y="5422900"/>
            <a:ext cx="254000" cy="152400"/>
          </a:xfrm>
          <a:prstGeom prst="rect">
            <a:avLst/>
          </a:prstGeom>
          <a:solidFill>
            <a:srgbClr val="1F6F7E"/>
          </a:solidFill>
          <a:ln/>
        </p:spPr>
      </p:sp>
      <p:sp>
        <p:nvSpPr>
          <p:cNvPr id="95" name="Text 93"/>
          <p:cNvSpPr txBox="1"/>
          <p:nvPr/>
        </p:nvSpPr>
        <p:spPr>
          <a:xfrm>
            <a:off x="8813800" y="52451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6" name="Text 94"/>
          <p:cNvSpPr txBox="1"/>
          <p:nvPr/>
        </p:nvSpPr>
        <p:spPr>
          <a:xfrm>
            <a:off x="88138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7" name="Shape 9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98" name="Text 96"/>
          <p:cNvSpPr txBox="1"/>
          <p:nvPr/>
        </p:nvSpPr>
        <p:spPr>
          <a:xfrm>
            <a:off x="9690100" y="3911600"/>
            <a:ext cx="1600200" cy="1905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associates</a:t>
            </a:r>
            <a:endParaRPr lang="en-US" sz="1200" dirty="0"/>
          </a:p>
        </p:txBody>
      </p:sp>
      <p:sp>
        <p:nvSpPr>
          <p:cNvPr id="99" name="Text 97"/>
          <p:cNvSpPr txBox="1"/>
          <p:nvPr/>
        </p:nvSpPr>
        <p:spPr>
          <a:xfrm>
            <a:off x="9690100" y="4114800"/>
            <a:ext cx="1600200" cy="406400"/>
          </a:xfrm>
          <a:prstGeom prst="rect">
            <a:avLst/>
          </a:prstGeom>
          <a:noFill/>
          <a:ln/>
        </p:spPr>
        <p:txBody>
          <a:bodyPr wrap="square" lIns="0" tIns="0" rIns="0" bIns="0" rtlCol="0" anchor="t"/>
          <a:lstStyle/>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[Name], [Name] + [n] open</a:t>
            </a:r>
            <a:endParaRPr lang="en-US" sz="1200" dirty="0"/>
          </a:p>
        </p:txBody>
      </p:sp>
      <p:sp>
        <p:nvSpPr>
          <p:cNvPr id="100" name="Shape 98"/>
          <p:cNvSpPr/>
          <p:nvPr/>
        </p:nvSpPr>
        <p:spPr>
          <a:xfrm>
            <a:off x="9906000" y="5448300"/>
            <a:ext cx="254000" cy="127000"/>
          </a:xfrm>
          <a:prstGeom prst="rect">
            <a:avLst/>
          </a:prstGeom>
          <a:solidFill>
            <a:srgbClr val="E3A86B"/>
          </a:solidFill>
          <a:ln/>
        </p:spPr>
      </p:sp>
      <p:sp>
        <p:nvSpPr>
          <p:cNvPr id="101" name="Text 99"/>
          <p:cNvSpPr txBox="1"/>
          <p:nvPr/>
        </p:nvSpPr>
        <p:spPr>
          <a:xfrm>
            <a:off x="9829800" y="52705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2" name="Text 100"/>
          <p:cNvSpPr txBox="1"/>
          <p:nvPr/>
        </p:nvSpPr>
        <p:spPr>
          <a:xfrm>
            <a:off x="98298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3" name="Shape 101"/>
          <p:cNvSpPr/>
          <p:nvPr/>
        </p:nvSpPr>
        <p:spPr>
          <a:xfrm>
            <a:off x="10363200" y="5372100"/>
            <a:ext cx="254000" cy="203200"/>
          </a:xfrm>
          <a:prstGeom prst="rect">
            <a:avLst/>
          </a:prstGeom>
          <a:solidFill>
            <a:srgbClr val="E3A86B"/>
          </a:solidFill>
          <a:ln/>
        </p:spPr>
      </p:sp>
      <p:sp>
        <p:nvSpPr>
          <p:cNvPr id="104" name="Text 102"/>
          <p:cNvSpPr txBox="1"/>
          <p:nvPr/>
        </p:nvSpPr>
        <p:spPr>
          <a:xfrm>
            <a:off x="10287000" y="51943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5" name="Text 103"/>
          <p:cNvSpPr txBox="1"/>
          <p:nvPr/>
        </p:nvSpPr>
        <p:spPr>
          <a:xfrm>
            <a:off x="102870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6" name="Shape 104"/>
          <p:cNvSpPr/>
          <p:nvPr/>
        </p:nvSpPr>
        <p:spPr>
          <a:xfrm>
            <a:off x="10820400" y="5295900"/>
            <a:ext cx="254000" cy="279400"/>
          </a:xfrm>
          <a:prstGeom prst="rect">
            <a:avLst/>
          </a:prstGeom>
          <a:solidFill>
            <a:srgbClr val="E3A86B"/>
          </a:solidFill>
          <a:ln/>
        </p:spPr>
      </p:sp>
      <p:sp>
        <p:nvSpPr>
          <p:cNvPr id="107" name="Text 105"/>
          <p:cNvSpPr txBox="1"/>
          <p:nvPr/>
        </p:nvSpPr>
        <p:spPr>
          <a:xfrm>
            <a:off x="10744200" y="51181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8" name="Text 106"/>
          <p:cNvSpPr txBox="1"/>
          <p:nvPr/>
        </p:nvSpPr>
        <p:spPr>
          <a:xfrm>
            <a:off x="10744200" y="5588000"/>
            <a:ext cx="4064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9" name="Text 10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show planned team size at year-end ’26, ’27, ’28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2026-10-24T13:56:22Z</dcterms:created>
  <dcterms:modified xsi:type="dcterms:W3CDTF">2026-10-24T13:56:22Z</dcterms:modified>
</cp:coreProperties>
</file>