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938cc258-6560-3efd-8c07-a25870967155}">
          <p14:sldIdLst>
            <p14:sldId id="256"/>
            <p14:sldId id="257"/>
          </p14:sldIdLst>
        </p14:section>
        <p14:section name="How we organize" id="{eaaba427-264d-9d14-daaa-4086c0e3ddea}">
          <p14:sldIdLst>
            <p14:sldId id="258"/>
            <p14:sldId id="259"/>
            <p14:sldId id="260"/>
            <p14:sldId id="261"/>
          </p14:sldIdLst>
        </p14:section>
        <p14:section name="What we do and how we grow" id="{393b95de-0777-e44f-4343-396f7d9ba639}">
          <p14:sldIdLst>
            <p14:sldId id="262"/>
            <p14:sldId id="263"/>
            <p14:sldId id="264"/>
          </p14:sldIdLst>
        </p14:section>
        <p14:section name="Asks" id="{992e1d88-655b-a0eb-b1ee-26486d20bc59}">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four-function structure into the actual team: one team lead, four sub-team heads, and three sub-teams under Modeling, each with its own lead and level. Each box lists every member with their level, including open roles to backfill, then a small bar strip with year-end headcount for this year, next year and the year after. Modeling, Data Foundation and Platform &amp; Deployment get smaller over time as AI takes on BAU work; AI Enablement grows. The next slide rolls these team-level numbers up into the overall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rolls up the team-by-team plan on the previous slide. 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One opportunity already identified: turn the team’s unwritten procedures and best practices into explicit, shared documentation that both people and AI agents can read and follow. The fourth sets up the next two slides: a flatter structure that fits talent empowered by AI; a pipeline of next-generation leaders who can manage mixed teams of ICs and agents with wider spans; and a talent bar that stays consistent while it keeps rising, backed by a development program that helps ICs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 · DETAIL</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BAU-heavy teams shrink as AI Enablement grows</a:t>
            </a:r>
            <a:endParaRPr lang="en-US" sz="3200" dirty="0"/>
          </a:p>
        </p:txBody>
      </p:sp>
      <p:sp>
        <p:nvSpPr>
          <p:cNvPr id="4" name="Shape 2"/>
          <p:cNvSpPr/>
          <p:nvPr/>
        </p:nvSpPr>
        <p:spPr>
          <a:xfrm>
            <a:off x="6096000" y="2717800"/>
            <a:ext cx="914" cy="127000"/>
          </a:xfrm>
          <a:prstGeom prst="line">
            <a:avLst/>
          </a:prstGeom>
          <a:noFill/>
          <a:ln w="25400">
            <a:solidFill>
              <a:srgbClr val="8A8F98"/>
            </a:solidFill>
            <a:prstDash val="solid"/>
          </a:ln>
        </p:spPr>
      </p:sp>
      <p:sp>
        <p:nvSpPr>
          <p:cNvPr id="5" name="Shape 3"/>
          <p:cNvSpPr/>
          <p:nvPr/>
        </p:nvSpPr>
        <p:spPr>
          <a:xfrm>
            <a:off x="3200400" y="2844800"/>
            <a:ext cx="7289800" cy="914"/>
          </a:xfrm>
          <a:prstGeom prst="line">
            <a:avLst/>
          </a:prstGeom>
          <a:noFill/>
          <a:ln w="25400">
            <a:solidFill>
              <a:srgbClr val="8A8F98"/>
            </a:solidFill>
            <a:prstDash val="solid"/>
          </a:ln>
        </p:spPr>
      </p:sp>
      <p:sp>
        <p:nvSpPr>
          <p:cNvPr id="6" name="Shape 4"/>
          <p:cNvSpPr/>
          <p:nvPr/>
        </p:nvSpPr>
        <p:spPr>
          <a:xfrm>
            <a:off x="3200400" y="2844800"/>
            <a:ext cx="914" cy="127000"/>
          </a:xfrm>
          <a:prstGeom prst="line">
            <a:avLst/>
          </a:prstGeom>
          <a:noFill/>
          <a:ln w="25400">
            <a:solidFill>
              <a:srgbClr val="8A8F98"/>
            </a:solidFill>
            <a:prstDash val="solid"/>
          </a:ln>
        </p:spPr>
      </p:sp>
      <p:sp>
        <p:nvSpPr>
          <p:cNvPr id="7" name="Shape 5"/>
          <p:cNvSpPr/>
          <p:nvPr/>
        </p:nvSpPr>
        <p:spPr>
          <a:xfrm>
            <a:off x="6629400" y="2844800"/>
            <a:ext cx="914" cy="127000"/>
          </a:xfrm>
          <a:prstGeom prst="line">
            <a:avLst/>
          </a:prstGeom>
          <a:noFill/>
          <a:ln w="25400">
            <a:solidFill>
              <a:srgbClr val="8A8F98"/>
            </a:solidFill>
            <a:prstDash val="solid"/>
          </a:ln>
        </p:spPr>
      </p:sp>
      <p:sp>
        <p:nvSpPr>
          <p:cNvPr id="8" name="Shape 6"/>
          <p:cNvSpPr/>
          <p:nvPr/>
        </p:nvSpPr>
        <p:spPr>
          <a:xfrm>
            <a:off x="8559800" y="2844800"/>
            <a:ext cx="914" cy="127000"/>
          </a:xfrm>
          <a:prstGeom prst="line">
            <a:avLst/>
          </a:prstGeom>
          <a:noFill/>
          <a:ln w="25400">
            <a:solidFill>
              <a:srgbClr val="8A8F98"/>
            </a:solidFill>
            <a:prstDash val="solid"/>
          </a:ln>
        </p:spPr>
      </p:sp>
      <p:sp>
        <p:nvSpPr>
          <p:cNvPr id="9" name="Shape 7"/>
          <p:cNvSpPr/>
          <p:nvPr/>
        </p:nvSpPr>
        <p:spPr>
          <a:xfrm>
            <a:off x="10490200" y="2844800"/>
            <a:ext cx="914" cy="127000"/>
          </a:xfrm>
          <a:prstGeom prst="line">
            <a:avLst/>
          </a:prstGeom>
          <a:noFill/>
          <a:ln w="25400">
            <a:solidFill>
              <a:srgbClr val="8A8F98"/>
            </a:solidFill>
            <a:prstDash val="solid"/>
          </a:ln>
        </p:spPr>
      </p:sp>
      <p:sp>
        <p:nvSpPr>
          <p:cNvPr id="10" name="Shape 8"/>
          <p:cNvSpPr/>
          <p:nvPr/>
        </p:nvSpPr>
        <p:spPr>
          <a:xfrm>
            <a:off x="3200400" y="3632200"/>
            <a:ext cx="914" cy="101600"/>
          </a:xfrm>
          <a:prstGeom prst="line">
            <a:avLst/>
          </a:prstGeom>
          <a:noFill/>
          <a:ln w="25400">
            <a:solidFill>
              <a:srgbClr val="8A8F98"/>
            </a:solidFill>
            <a:prstDash val="solid"/>
          </a:ln>
        </p:spPr>
      </p:sp>
      <p:sp>
        <p:nvSpPr>
          <p:cNvPr id="11" name="Shape 9"/>
          <p:cNvSpPr/>
          <p:nvPr/>
        </p:nvSpPr>
        <p:spPr>
          <a:xfrm>
            <a:off x="1574800" y="3733800"/>
            <a:ext cx="3251200" cy="914"/>
          </a:xfrm>
          <a:prstGeom prst="line">
            <a:avLst/>
          </a:prstGeom>
          <a:noFill/>
          <a:ln w="25400">
            <a:solidFill>
              <a:srgbClr val="8A8F98"/>
            </a:solidFill>
            <a:prstDash val="solid"/>
          </a:ln>
        </p:spPr>
      </p:sp>
      <p:sp>
        <p:nvSpPr>
          <p:cNvPr id="12" name="Shape 10"/>
          <p:cNvSpPr/>
          <p:nvPr/>
        </p:nvSpPr>
        <p:spPr>
          <a:xfrm>
            <a:off x="1574800" y="3733800"/>
            <a:ext cx="914" cy="101600"/>
          </a:xfrm>
          <a:prstGeom prst="line">
            <a:avLst/>
          </a:prstGeom>
          <a:noFill/>
          <a:ln w="25400">
            <a:solidFill>
              <a:srgbClr val="8A8F98"/>
            </a:solidFill>
            <a:prstDash val="solid"/>
          </a:ln>
        </p:spPr>
      </p:sp>
      <p:sp>
        <p:nvSpPr>
          <p:cNvPr id="13" name="Shape 11"/>
          <p:cNvSpPr/>
          <p:nvPr/>
        </p:nvSpPr>
        <p:spPr>
          <a:xfrm>
            <a:off x="1574800" y="4343400"/>
            <a:ext cx="914" cy="101600"/>
          </a:xfrm>
          <a:prstGeom prst="line">
            <a:avLst/>
          </a:prstGeom>
          <a:noFill/>
          <a:ln w="25400">
            <a:solidFill>
              <a:srgbClr val="8A8F98"/>
            </a:solidFill>
            <a:prstDash val="solid"/>
          </a:ln>
        </p:spPr>
      </p:sp>
      <p:sp>
        <p:nvSpPr>
          <p:cNvPr id="14" name="Shape 12"/>
          <p:cNvSpPr/>
          <p:nvPr/>
        </p:nvSpPr>
        <p:spPr>
          <a:xfrm>
            <a:off x="3200400" y="3733800"/>
            <a:ext cx="914" cy="101600"/>
          </a:xfrm>
          <a:prstGeom prst="line">
            <a:avLst/>
          </a:prstGeom>
          <a:noFill/>
          <a:ln w="25400">
            <a:solidFill>
              <a:srgbClr val="8A8F98"/>
            </a:solidFill>
            <a:prstDash val="solid"/>
          </a:ln>
        </p:spPr>
      </p:sp>
      <p:sp>
        <p:nvSpPr>
          <p:cNvPr id="15" name="Shape 13"/>
          <p:cNvSpPr/>
          <p:nvPr/>
        </p:nvSpPr>
        <p:spPr>
          <a:xfrm>
            <a:off x="3200400" y="4343400"/>
            <a:ext cx="914" cy="101600"/>
          </a:xfrm>
          <a:prstGeom prst="line">
            <a:avLst/>
          </a:prstGeom>
          <a:noFill/>
          <a:ln w="25400">
            <a:solidFill>
              <a:srgbClr val="8A8F98"/>
            </a:solidFill>
            <a:prstDash val="solid"/>
          </a:ln>
        </p:spPr>
      </p:sp>
      <p:sp>
        <p:nvSpPr>
          <p:cNvPr id="16" name="Shape 14"/>
          <p:cNvSpPr/>
          <p:nvPr/>
        </p:nvSpPr>
        <p:spPr>
          <a:xfrm>
            <a:off x="4826000" y="3733800"/>
            <a:ext cx="914" cy="101600"/>
          </a:xfrm>
          <a:prstGeom prst="line">
            <a:avLst/>
          </a:prstGeom>
          <a:noFill/>
          <a:ln w="25400">
            <a:solidFill>
              <a:srgbClr val="8A8F98"/>
            </a:solidFill>
            <a:prstDash val="solid"/>
          </a:ln>
        </p:spPr>
      </p:sp>
      <p:sp>
        <p:nvSpPr>
          <p:cNvPr id="17" name="Shape 15"/>
          <p:cNvSpPr/>
          <p:nvPr/>
        </p:nvSpPr>
        <p:spPr>
          <a:xfrm>
            <a:off x="4826000" y="4343400"/>
            <a:ext cx="914" cy="101600"/>
          </a:xfrm>
          <a:prstGeom prst="line">
            <a:avLst/>
          </a:prstGeom>
          <a:noFill/>
          <a:ln w="25400">
            <a:solidFill>
              <a:srgbClr val="8A8F98"/>
            </a:solidFill>
            <a:prstDash val="solid"/>
          </a:ln>
        </p:spPr>
      </p:sp>
      <p:sp>
        <p:nvSpPr>
          <p:cNvPr id="18" name="Shape 16"/>
          <p:cNvSpPr/>
          <p:nvPr/>
        </p:nvSpPr>
        <p:spPr>
          <a:xfrm>
            <a:off x="6629400" y="3632200"/>
            <a:ext cx="914" cy="203200"/>
          </a:xfrm>
          <a:prstGeom prst="line">
            <a:avLst/>
          </a:prstGeom>
          <a:noFill/>
          <a:ln w="25400">
            <a:solidFill>
              <a:srgbClr val="8A8F98"/>
            </a:solidFill>
            <a:prstDash val="solid"/>
          </a:ln>
        </p:spPr>
      </p:sp>
      <p:sp>
        <p:nvSpPr>
          <p:cNvPr id="19" name="Shape 17"/>
          <p:cNvSpPr/>
          <p:nvPr/>
        </p:nvSpPr>
        <p:spPr>
          <a:xfrm>
            <a:off x="8559800" y="3632200"/>
            <a:ext cx="914" cy="203200"/>
          </a:xfrm>
          <a:prstGeom prst="line">
            <a:avLst/>
          </a:prstGeom>
          <a:noFill/>
          <a:ln w="25400">
            <a:solidFill>
              <a:srgbClr val="8A8F98"/>
            </a:solidFill>
            <a:prstDash val="solid"/>
          </a:ln>
        </p:spPr>
      </p:sp>
      <p:sp>
        <p:nvSpPr>
          <p:cNvPr id="20" name="Shape 18"/>
          <p:cNvSpPr/>
          <p:nvPr/>
        </p:nvSpPr>
        <p:spPr>
          <a:xfrm>
            <a:off x="10490200" y="3632200"/>
            <a:ext cx="914" cy="203200"/>
          </a:xfrm>
          <a:prstGeom prst="line">
            <a:avLst/>
          </a:prstGeom>
          <a:noFill/>
          <a:ln w="25400">
            <a:solidFill>
              <a:srgbClr val="8A8F98"/>
            </a:solidFill>
            <a:prstDash val="solid"/>
          </a:ln>
        </p:spPr>
      </p:sp>
      <p:sp>
        <p:nvSpPr>
          <p:cNvPr id="21" name="Shape 19"/>
          <p:cNvSpPr/>
          <p:nvPr/>
        </p:nvSpPr>
        <p:spPr>
          <a:xfrm>
            <a:off x="4826000" y="2362200"/>
            <a:ext cx="2540000" cy="355600"/>
          </a:xfrm>
          <a:prstGeom prst="roundRect">
            <a:avLst>
              <a:gd name="adj" fmla="val 38571"/>
            </a:avLst>
          </a:prstGeom>
          <a:solidFill>
            <a:srgbClr val="14213D"/>
          </a:solidFill>
          <a:ln/>
        </p:spPr>
      </p:sp>
      <p:sp>
        <p:nvSpPr>
          <p:cNvPr id="22" name="Text 20"/>
          <p:cNvSpPr txBox="1"/>
          <p:nvPr/>
        </p:nvSpPr>
        <p:spPr>
          <a:xfrm>
            <a:off x="4826000" y="2362200"/>
            <a:ext cx="2540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[Name] · Team lead [SD]</a:t>
            </a:r>
            <a:endParaRPr lang="en-US" sz="1300" dirty="0"/>
          </a:p>
        </p:txBody>
      </p:sp>
      <p:sp>
        <p:nvSpPr>
          <p:cNvPr id="23" name="Shape 21"/>
          <p:cNvSpPr/>
          <p:nvPr/>
        </p:nvSpPr>
        <p:spPr>
          <a:xfrm>
            <a:off x="812800" y="2971800"/>
            <a:ext cx="4775200" cy="660400"/>
          </a:xfrm>
          <a:prstGeom prst="roundRect">
            <a:avLst>
              <a:gd name="adj" fmla="val 13846"/>
            </a:avLst>
          </a:prstGeom>
          <a:solidFill>
            <a:srgbClr val="E1EEF0"/>
          </a:solidFill>
          <a:ln w="19050">
            <a:solidFill>
              <a:srgbClr val="1F6F7E"/>
            </a:solidFill>
            <a:prstDash val="solid"/>
          </a:ln>
        </p:spPr>
      </p:sp>
      <p:sp>
        <p:nvSpPr>
          <p:cNvPr id="24" name="Text 22"/>
          <p:cNvSpPr txBox="1"/>
          <p:nvPr/>
        </p:nvSpPr>
        <p:spPr>
          <a:xfrm>
            <a:off x="901700" y="3022600"/>
            <a:ext cx="45974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Modeling</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[XX] [D]</a:t>
            </a:r>
            <a:endParaRPr lang="en-US" sz="1200" dirty="0"/>
          </a:p>
        </p:txBody>
      </p:sp>
      <p:sp>
        <p:nvSpPr>
          <p:cNvPr id="25" name="Shape 23"/>
          <p:cNvSpPr/>
          <p:nvPr/>
        </p:nvSpPr>
        <p:spPr>
          <a:xfrm>
            <a:off x="5740400" y="2971800"/>
            <a:ext cx="1778000" cy="660400"/>
          </a:xfrm>
          <a:prstGeom prst="roundRect">
            <a:avLst>
              <a:gd name="adj" fmla="val 13846"/>
            </a:avLst>
          </a:prstGeom>
          <a:solidFill>
            <a:srgbClr val="E1EEF0"/>
          </a:solidFill>
          <a:ln w="19050">
            <a:solidFill>
              <a:srgbClr val="1F6F7E"/>
            </a:solidFill>
            <a:prstDash val="solid"/>
          </a:ln>
        </p:spPr>
      </p:sp>
      <p:sp>
        <p:nvSpPr>
          <p:cNvPr id="26" name="Text 24"/>
          <p:cNvSpPr txBox="1"/>
          <p:nvPr/>
        </p:nvSpPr>
        <p:spPr>
          <a:xfrm>
            <a:off x="58293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Data Foundation</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7" name="Shape 25"/>
          <p:cNvSpPr/>
          <p:nvPr/>
        </p:nvSpPr>
        <p:spPr>
          <a:xfrm>
            <a:off x="7670800" y="2971800"/>
            <a:ext cx="1778000" cy="660400"/>
          </a:xfrm>
          <a:prstGeom prst="roundRect">
            <a:avLst>
              <a:gd name="adj" fmla="val 13846"/>
            </a:avLst>
          </a:prstGeom>
          <a:solidFill>
            <a:srgbClr val="E1EEF0"/>
          </a:solidFill>
          <a:ln w="19050">
            <a:solidFill>
              <a:srgbClr val="1F6F7E"/>
            </a:solidFill>
            <a:prstDash val="solid"/>
          </a:ln>
        </p:spPr>
      </p:sp>
      <p:sp>
        <p:nvSpPr>
          <p:cNvPr id="28" name="Text 26"/>
          <p:cNvSpPr txBox="1"/>
          <p:nvPr/>
        </p:nvSpPr>
        <p:spPr>
          <a:xfrm>
            <a:off x="77597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Platform &amp; Deployment</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9" name="Shape 27"/>
          <p:cNvSpPr/>
          <p:nvPr/>
        </p:nvSpPr>
        <p:spPr>
          <a:xfrm>
            <a:off x="9601200" y="2971800"/>
            <a:ext cx="1778000" cy="660400"/>
          </a:xfrm>
          <a:prstGeom prst="roundRect">
            <a:avLst>
              <a:gd name="adj" fmla="val 13846"/>
            </a:avLst>
          </a:prstGeom>
          <a:solidFill>
            <a:srgbClr val="14213D"/>
          </a:solidFill>
          <a:ln w="19050">
            <a:solidFill>
              <a:srgbClr val="14213D"/>
            </a:solidFill>
            <a:prstDash val="solid"/>
          </a:ln>
        </p:spPr>
      </p:sp>
      <p:sp>
        <p:nvSpPr>
          <p:cNvPr id="30" name="Text 28"/>
          <p:cNvSpPr txBox="1"/>
          <p:nvPr/>
        </p:nvSpPr>
        <p:spPr>
          <a:xfrm>
            <a:off x="96901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F7F6F2"/>
                </a:solidFill>
                <a:latin typeface="Optimist Sans" pitchFamily="34" charset="0"/>
                <a:ea typeface="Optimist Sans" pitchFamily="34" charset="-122"/>
                <a:cs typeface="Optimist Sans" pitchFamily="34" charset="-120"/>
              </a:rPr>
              <a:t>AI Enablement</a:t>
            </a:r>
            <a:endParaRPr lang="en-US" sz="1200" dirty="0"/>
          </a:p>
          <a:p>
            <a:pPr algn="l" indent="0" marL="0">
              <a:lnSpc>
                <a:spcPct val="110000"/>
              </a:lnSpc>
              <a:buNone/>
            </a:pPr>
            <a:r>
              <a:rPr lang="en-US" sz="1200" dirty="0">
                <a:solidFill>
                  <a:srgbClr val="BFCAD9"/>
                </a:solidFill>
                <a:latin typeface="Optimist Sans" pitchFamily="34" charset="0"/>
                <a:ea typeface="Optimist Sans" pitchFamily="34" charset="-122"/>
                <a:cs typeface="Optimist Sans" pitchFamily="34" charset="-120"/>
              </a:rPr>
              <a:t>[Name] [D/SM]</a:t>
            </a:r>
            <a:endParaRPr lang="en-US" sz="1200" dirty="0"/>
          </a:p>
        </p:txBody>
      </p:sp>
      <p:sp>
        <p:nvSpPr>
          <p:cNvPr id="31" name="Shape 29"/>
          <p:cNvSpPr/>
          <p:nvPr/>
        </p:nvSpPr>
        <p:spPr>
          <a:xfrm>
            <a:off x="812800" y="3835400"/>
            <a:ext cx="1524000" cy="508000"/>
          </a:xfrm>
          <a:prstGeom prst="roundRect">
            <a:avLst>
              <a:gd name="adj" fmla="val 21600"/>
            </a:avLst>
          </a:prstGeom>
          <a:solidFill>
            <a:srgbClr val="FDFCF9"/>
          </a:solidFill>
          <a:ln w="19050">
            <a:solidFill>
              <a:srgbClr val="1F6F7E"/>
            </a:solidFill>
            <a:prstDash val="solid"/>
          </a:ln>
        </p:spPr>
      </p:sp>
      <p:sp>
        <p:nvSpPr>
          <p:cNvPr id="32" name="Text 30"/>
          <p:cNvSpPr txBox="1"/>
          <p:nvPr/>
        </p:nvSpPr>
        <p:spPr>
          <a:xfrm>
            <a:off x="9017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A]</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33" name="Shape 31"/>
          <p:cNvSpPr/>
          <p:nvPr/>
        </p:nvSpPr>
        <p:spPr>
          <a:xfrm>
            <a:off x="2438400" y="3835400"/>
            <a:ext cx="1524000" cy="508000"/>
          </a:xfrm>
          <a:prstGeom prst="roundRect">
            <a:avLst>
              <a:gd name="adj" fmla="val 21600"/>
            </a:avLst>
          </a:prstGeom>
          <a:solidFill>
            <a:srgbClr val="FDFCF9"/>
          </a:solidFill>
          <a:ln w="19050">
            <a:solidFill>
              <a:srgbClr val="1F6F7E"/>
            </a:solidFill>
            <a:prstDash val="solid"/>
          </a:ln>
        </p:spPr>
      </p:sp>
      <p:sp>
        <p:nvSpPr>
          <p:cNvPr id="34" name="Text 32"/>
          <p:cNvSpPr txBox="1"/>
          <p:nvPr/>
        </p:nvSpPr>
        <p:spPr>
          <a:xfrm>
            <a:off x="25273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B]</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5" name="Shape 33"/>
          <p:cNvSpPr/>
          <p:nvPr/>
        </p:nvSpPr>
        <p:spPr>
          <a:xfrm>
            <a:off x="4064000" y="3835400"/>
            <a:ext cx="1524000" cy="508000"/>
          </a:xfrm>
          <a:prstGeom prst="roundRect">
            <a:avLst>
              <a:gd name="adj" fmla="val 21600"/>
            </a:avLst>
          </a:prstGeom>
          <a:solidFill>
            <a:srgbClr val="FDFCF9"/>
          </a:solidFill>
          <a:ln w="19050">
            <a:solidFill>
              <a:srgbClr val="1F6F7E"/>
            </a:solidFill>
            <a:prstDash val="solid"/>
          </a:ln>
        </p:spPr>
      </p:sp>
      <p:sp>
        <p:nvSpPr>
          <p:cNvPr id="36" name="Text 34"/>
          <p:cNvSpPr txBox="1"/>
          <p:nvPr/>
        </p:nvSpPr>
        <p:spPr>
          <a:xfrm>
            <a:off x="41529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C]</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7" name="Shape 35"/>
          <p:cNvSpPr/>
          <p:nvPr/>
        </p:nvSpPr>
        <p:spPr>
          <a:xfrm>
            <a:off x="812800" y="4445000"/>
            <a:ext cx="1524000" cy="1397000"/>
          </a:xfrm>
          <a:prstGeom prst="roundRect">
            <a:avLst>
              <a:gd name="adj" fmla="val 3927"/>
            </a:avLst>
          </a:prstGeom>
          <a:solidFill>
            <a:srgbClr val="FDFCF9"/>
          </a:solidFill>
          <a:ln w="12700">
            <a:solidFill>
              <a:srgbClr val="D3CDBE"/>
            </a:solidFill>
            <a:prstDash val="solid"/>
          </a:ln>
        </p:spPr>
      </p:sp>
      <p:sp>
        <p:nvSpPr>
          <p:cNvPr id="38" name="Text 36"/>
          <p:cNvSpPr txBox="1"/>
          <p:nvPr/>
        </p:nvSpPr>
        <p:spPr>
          <a:xfrm>
            <a:off x="9144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39" name="Shape 37"/>
          <p:cNvSpPr/>
          <p:nvPr/>
        </p:nvSpPr>
        <p:spPr>
          <a:xfrm>
            <a:off x="914400" y="5213350"/>
            <a:ext cx="1320800" cy="914"/>
          </a:xfrm>
          <a:prstGeom prst="line">
            <a:avLst/>
          </a:prstGeom>
          <a:noFill/>
          <a:ln w="12700">
            <a:solidFill>
              <a:srgbClr val="E3DED2"/>
            </a:solidFill>
            <a:prstDash val="solid"/>
          </a:ln>
        </p:spPr>
      </p:sp>
      <p:sp>
        <p:nvSpPr>
          <p:cNvPr id="40" name="Shape 38"/>
          <p:cNvSpPr/>
          <p:nvPr/>
        </p:nvSpPr>
        <p:spPr>
          <a:xfrm>
            <a:off x="1066800" y="5264150"/>
            <a:ext cx="203200" cy="152400"/>
          </a:xfrm>
          <a:prstGeom prst="rect">
            <a:avLst/>
          </a:prstGeom>
          <a:solidFill>
            <a:srgbClr val="1F6F7E"/>
          </a:solidFill>
          <a:ln/>
        </p:spPr>
      </p:sp>
      <p:sp>
        <p:nvSpPr>
          <p:cNvPr id="41" name="Text 39"/>
          <p:cNvSpPr txBox="1"/>
          <p:nvPr/>
        </p:nvSpPr>
        <p:spPr>
          <a:xfrm>
            <a:off x="990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2" name="Text 40"/>
          <p:cNvSpPr txBox="1"/>
          <p:nvPr/>
        </p:nvSpPr>
        <p:spPr>
          <a:xfrm>
            <a:off x="990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43" name="Shape 41"/>
          <p:cNvSpPr/>
          <p:nvPr/>
        </p:nvSpPr>
        <p:spPr>
          <a:xfrm>
            <a:off x="1473200" y="5302250"/>
            <a:ext cx="203200" cy="114300"/>
          </a:xfrm>
          <a:prstGeom prst="rect">
            <a:avLst/>
          </a:prstGeom>
          <a:solidFill>
            <a:srgbClr val="1F6F7E"/>
          </a:solidFill>
          <a:ln/>
        </p:spPr>
      </p:sp>
      <p:sp>
        <p:nvSpPr>
          <p:cNvPr id="44" name="Text 42"/>
          <p:cNvSpPr txBox="1"/>
          <p:nvPr/>
        </p:nvSpPr>
        <p:spPr>
          <a:xfrm>
            <a:off x="1397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5" name="Text 43"/>
          <p:cNvSpPr txBox="1"/>
          <p:nvPr/>
        </p:nvSpPr>
        <p:spPr>
          <a:xfrm>
            <a:off x="1397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46" name="Shape 44"/>
          <p:cNvSpPr/>
          <p:nvPr/>
        </p:nvSpPr>
        <p:spPr>
          <a:xfrm>
            <a:off x="1879600" y="5340350"/>
            <a:ext cx="203200" cy="76200"/>
          </a:xfrm>
          <a:prstGeom prst="rect">
            <a:avLst/>
          </a:prstGeom>
          <a:solidFill>
            <a:srgbClr val="1F6F7E"/>
          </a:solidFill>
          <a:ln/>
        </p:spPr>
      </p:sp>
      <p:sp>
        <p:nvSpPr>
          <p:cNvPr id="47" name="Text 45"/>
          <p:cNvSpPr txBox="1"/>
          <p:nvPr/>
        </p:nvSpPr>
        <p:spPr>
          <a:xfrm>
            <a:off x="1803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8" name="Text 46"/>
          <p:cNvSpPr txBox="1"/>
          <p:nvPr/>
        </p:nvSpPr>
        <p:spPr>
          <a:xfrm>
            <a:off x="1803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49" name="Shape 47"/>
          <p:cNvSpPr/>
          <p:nvPr/>
        </p:nvSpPr>
        <p:spPr>
          <a:xfrm>
            <a:off x="2438400" y="4445000"/>
            <a:ext cx="1524000" cy="1397000"/>
          </a:xfrm>
          <a:prstGeom prst="roundRect">
            <a:avLst>
              <a:gd name="adj" fmla="val 3927"/>
            </a:avLst>
          </a:prstGeom>
          <a:solidFill>
            <a:srgbClr val="FDFCF9"/>
          </a:solidFill>
          <a:ln w="12700">
            <a:solidFill>
              <a:srgbClr val="D3CDBE"/>
            </a:solidFill>
            <a:prstDash val="solid"/>
          </a:ln>
        </p:spPr>
      </p:sp>
      <p:sp>
        <p:nvSpPr>
          <p:cNvPr id="50" name="Text 48"/>
          <p:cNvSpPr txBox="1"/>
          <p:nvPr/>
        </p:nvSpPr>
        <p:spPr>
          <a:xfrm>
            <a:off x="25400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51" name="Shape 49"/>
          <p:cNvSpPr/>
          <p:nvPr/>
        </p:nvSpPr>
        <p:spPr>
          <a:xfrm>
            <a:off x="2540000" y="5213350"/>
            <a:ext cx="1320800" cy="914"/>
          </a:xfrm>
          <a:prstGeom prst="line">
            <a:avLst/>
          </a:prstGeom>
          <a:noFill/>
          <a:ln w="12700">
            <a:solidFill>
              <a:srgbClr val="E3DED2"/>
            </a:solidFill>
            <a:prstDash val="solid"/>
          </a:ln>
        </p:spPr>
      </p:sp>
      <p:sp>
        <p:nvSpPr>
          <p:cNvPr id="52" name="Shape 50"/>
          <p:cNvSpPr/>
          <p:nvPr/>
        </p:nvSpPr>
        <p:spPr>
          <a:xfrm>
            <a:off x="2692400" y="5264150"/>
            <a:ext cx="203200" cy="152400"/>
          </a:xfrm>
          <a:prstGeom prst="rect">
            <a:avLst/>
          </a:prstGeom>
          <a:solidFill>
            <a:srgbClr val="1F6F7E"/>
          </a:solidFill>
          <a:ln/>
        </p:spPr>
      </p:sp>
      <p:sp>
        <p:nvSpPr>
          <p:cNvPr id="53" name="Text 51"/>
          <p:cNvSpPr txBox="1"/>
          <p:nvPr/>
        </p:nvSpPr>
        <p:spPr>
          <a:xfrm>
            <a:off x="2616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4" name="Text 52"/>
          <p:cNvSpPr txBox="1"/>
          <p:nvPr/>
        </p:nvSpPr>
        <p:spPr>
          <a:xfrm>
            <a:off x="2616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55" name="Shape 53"/>
          <p:cNvSpPr/>
          <p:nvPr/>
        </p:nvSpPr>
        <p:spPr>
          <a:xfrm>
            <a:off x="3098800" y="5302250"/>
            <a:ext cx="203200" cy="114300"/>
          </a:xfrm>
          <a:prstGeom prst="rect">
            <a:avLst/>
          </a:prstGeom>
          <a:solidFill>
            <a:srgbClr val="1F6F7E"/>
          </a:solidFill>
          <a:ln/>
        </p:spPr>
      </p:sp>
      <p:sp>
        <p:nvSpPr>
          <p:cNvPr id="56" name="Text 54"/>
          <p:cNvSpPr txBox="1"/>
          <p:nvPr/>
        </p:nvSpPr>
        <p:spPr>
          <a:xfrm>
            <a:off x="3022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7" name="Text 55"/>
          <p:cNvSpPr txBox="1"/>
          <p:nvPr/>
        </p:nvSpPr>
        <p:spPr>
          <a:xfrm>
            <a:off x="3022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58" name="Shape 56"/>
          <p:cNvSpPr/>
          <p:nvPr/>
        </p:nvSpPr>
        <p:spPr>
          <a:xfrm>
            <a:off x="3505200" y="5340350"/>
            <a:ext cx="203200" cy="76200"/>
          </a:xfrm>
          <a:prstGeom prst="rect">
            <a:avLst/>
          </a:prstGeom>
          <a:solidFill>
            <a:srgbClr val="1F6F7E"/>
          </a:solidFill>
          <a:ln/>
        </p:spPr>
      </p:sp>
      <p:sp>
        <p:nvSpPr>
          <p:cNvPr id="59" name="Text 57"/>
          <p:cNvSpPr txBox="1"/>
          <p:nvPr/>
        </p:nvSpPr>
        <p:spPr>
          <a:xfrm>
            <a:off x="3429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0" name="Text 58"/>
          <p:cNvSpPr txBox="1"/>
          <p:nvPr/>
        </p:nvSpPr>
        <p:spPr>
          <a:xfrm>
            <a:off x="3429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61" name="Shape 59"/>
          <p:cNvSpPr/>
          <p:nvPr/>
        </p:nvSpPr>
        <p:spPr>
          <a:xfrm>
            <a:off x="4064000" y="4445000"/>
            <a:ext cx="1524000" cy="1397000"/>
          </a:xfrm>
          <a:prstGeom prst="roundRect">
            <a:avLst>
              <a:gd name="adj" fmla="val 3927"/>
            </a:avLst>
          </a:prstGeom>
          <a:solidFill>
            <a:srgbClr val="FDFCF9"/>
          </a:solidFill>
          <a:ln w="12700">
            <a:solidFill>
              <a:srgbClr val="D3CDBE"/>
            </a:solidFill>
            <a:prstDash val="solid"/>
          </a:ln>
        </p:spPr>
      </p:sp>
      <p:sp>
        <p:nvSpPr>
          <p:cNvPr id="62" name="Text 60"/>
          <p:cNvSpPr txBox="1"/>
          <p:nvPr/>
        </p:nvSpPr>
        <p:spPr>
          <a:xfrm>
            <a:off x="41656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63" name="Shape 61"/>
          <p:cNvSpPr/>
          <p:nvPr/>
        </p:nvSpPr>
        <p:spPr>
          <a:xfrm>
            <a:off x="4165600" y="5213350"/>
            <a:ext cx="1320800" cy="914"/>
          </a:xfrm>
          <a:prstGeom prst="line">
            <a:avLst/>
          </a:prstGeom>
          <a:noFill/>
          <a:ln w="12700">
            <a:solidFill>
              <a:srgbClr val="E3DED2"/>
            </a:solidFill>
            <a:prstDash val="solid"/>
          </a:ln>
        </p:spPr>
      </p:sp>
      <p:sp>
        <p:nvSpPr>
          <p:cNvPr id="64" name="Shape 62"/>
          <p:cNvSpPr/>
          <p:nvPr/>
        </p:nvSpPr>
        <p:spPr>
          <a:xfrm>
            <a:off x="4318000" y="5264150"/>
            <a:ext cx="203200" cy="152400"/>
          </a:xfrm>
          <a:prstGeom prst="rect">
            <a:avLst/>
          </a:prstGeom>
          <a:solidFill>
            <a:srgbClr val="1F6F7E"/>
          </a:solidFill>
          <a:ln/>
        </p:spPr>
      </p:sp>
      <p:sp>
        <p:nvSpPr>
          <p:cNvPr id="65" name="Text 63"/>
          <p:cNvSpPr txBox="1"/>
          <p:nvPr/>
        </p:nvSpPr>
        <p:spPr>
          <a:xfrm>
            <a:off x="4241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6" name="Text 64"/>
          <p:cNvSpPr txBox="1"/>
          <p:nvPr/>
        </p:nvSpPr>
        <p:spPr>
          <a:xfrm>
            <a:off x="4241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67" name="Shape 65"/>
          <p:cNvSpPr/>
          <p:nvPr/>
        </p:nvSpPr>
        <p:spPr>
          <a:xfrm>
            <a:off x="4724400" y="5302250"/>
            <a:ext cx="203200" cy="114300"/>
          </a:xfrm>
          <a:prstGeom prst="rect">
            <a:avLst/>
          </a:prstGeom>
          <a:solidFill>
            <a:srgbClr val="1F6F7E"/>
          </a:solidFill>
          <a:ln/>
        </p:spPr>
      </p:sp>
      <p:sp>
        <p:nvSpPr>
          <p:cNvPr id="68" name="Text 66"/>
          <p:cNvSpPr txBox="1"/>
          <p:nvPr/>
        </p:nvSpPr>
        <p:spPr>
          <a:xfrm>
            <a:off x="4648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9" name="Text 67"/>
          <p:cNvSpPr txBox="1"/>
          <p:nvPr/>
        </p:nvSpPr>
        <p:spPr>
          <a:xfrm>
            <a:off x="4648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70" name="Shape 68"/>
          <p:cNvSpPr/>
          <p:nvPr/>
        </p:nvSpPr>
        <p:spPr>
          <a:xfrm>
            <a:off x="5130800" y="5340350"/>
            <a:ext cx="203200" cy="76200"/>
          </a:xfrm>
          <a:prstGeom prst="rect">
            <a:avLst/>
          </a:prstGeom>
          <a:solidFill>
            <a:srgbClr val="1F6F7E"/>
          </a:solidFill>
          <a:ln/>
        </p:spPr>
      </p:sp>
      <p:sp>
        <p:nvSpPr>
          <p:cNvPr id="71" name="Text 69"/>
          <p:cNvSpPr txBox="1"/>
          <p:nvPr/>
        </p:nvSpPr>
        <p:spPr>
          <a:xfrm>
            <a:off x="5054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2" name="Text 70"/>
          <p:cNvSpPr txBox="1"/>
          <p:nvPr/>
        </p:nvSpPr>
        <p:spPr>
          <a:xfrm>
            <a:off x="5054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73" name="Shape 71"/>
          <p:cNvSpPr/>
          <p:nvPr/>
        </p:nvSpPr>
        <p:spPr>
          <a:xfrm>
            <a:off x="5740400" y="3835400"/>
            <a:ext cx="1778000" cy="2006600"/>
          </a:xfrm>
          <a:prstGeom prst="roundRect">
            <a:avLst>
              <a:gd name="adj" fmla="val 3086"/>
            </a:avLst>
          </a:prstGeom>
          <a:solidFill>
            <a:srgbClr val="FDFCF9"/>
          </a:solidFill>
          <a:ln w="12700">
            <a:solidFill>
              <a:srgbClr val="D3CDBE"/>
            </a:solidFill>
            <a:prstDash val="solid"/>
          </a:ln>
        </p:spPr>
      </p:sp>
      <p:sp>
        <p:nvSpPr>
          <p:cNvPr id="74" name="Text 72"/>
          <p:cNvSpPr txBox="1"/>
          <p:nvPr/>
        </p:nvSpPr>
        <p:spPr>
          <a:xfrm>
            <a:off x="58420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[SA]</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[PA]</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[Mgr Opening]</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p:txBody>
      </p:sp>
      <p:sp>
        <p:nvSpPr>
          <p:cNvPr id="75" name="Shape 73"/>
          <p:cNvSpPr/>
          <p:nvPr/>
        </p:nvSpPr>
        <p:spPr>
          <a:xfrm>
            <a:off x="5842000" y="5213350"/>
            <a:ext cx="1574800" cy="914"/>
          </a:xfrm>
          <a:prstGeom prst="line">
            <a:avLst/>
          </a:prstGeom>
          <a:noFill/>
          <a:ln w="12700">
            <a:solidFill>
              <a:srgbClr val="E3DED2"/>
            </a:solidFill>
            <a:prstDash val="solid"/>
          </a:ln>
        </p:spPr>
      </p:sp>
      <p:sp>
        <p:nvSpPr>
          <p:cNvPr id="76" name="Shape 74"/>
          <p:cNvSpPr/>
          <p:nvPr/>
        </p:nvSpPr>
        <p:spPr>
          <a:xfrm>
            <a:off x="6121400" y="5264150"/>
            <a:ext cx="203200" cy="152400"/>
          </a:xfrm>
          <a:prstGeom prst="rect">
            <a:avLst/>
          </a:prstGeom>
          <a:solidFill>
            <a:srgbClr val="1F6F7E"/>
          </a:solidFill>
          <a:ln/>
        </p:spPr>
      </p:sp>
      <p:sp>
        <p:nvSpPr>
          <p:cNvPr id="77" name="Text 75"/>
          <p:cNvSpPr txBox="1"/>
          <p:nvPr/>
        </p:nvSpPr>
        <p:spPr>
          <a:xfrm>
            <a:off x="6045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8" name="Text 76"/>
          <p:cNvSpPr txBox="1"/>
          <p:nvPr/>
        </p:nvSpPr>
        <p:spPr>
          <a:xfrm>
            <a:off x="6045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79" name="Shape 77"/>
          <p:cNvSpPr/>
          <p:nvPr/>
        </p:nvSpPr>
        <p:spPr>
          <a:xfrm>
            <a:off x="6527800" y="5302250"/>
            <a:ext cx="203200" cy="114300"/>
          </a:xfrm>
          <a:prstGeom prst="rect">
            <a:avLst/>
          </a:prstGeom>
          <a:solidFill>
            <a:srgbClr val="1F6F7E"/>
          </a:solidFill>
          <a:ln/>
        </p:spPr>
      </p:sp>
      <p:sp>
        <p:nvSpPr>
          <p:cNvPr id="80" name="Text 78"/>
          <p:cNvSpPr txBox="1"/>
          <p:nvPr/>
        </p:nvSpPr>
        <p:spPr>
          <a:xfrm>
            <a:off x="6451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1" name="Text 79"/>
          <p:cNvSpPr txBox="1"/>
          <p:nvPr/>
        </p:nvSpPr>
        <p:spPr>
          <a:xfrm>
            <a:off x="6451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82" name="Shape 80"/>
          <p:cNvSpPr/>
          <p:nvPr/>
        </p:nvSpPr>
        <p:spPr>
          <a:xfrm>
            <a:off x="6934200" y="5340350"/>
            <a:ext cx="203200" cy="76200"/>
          </a:xfrm>
          <a:prstGeom prst="rect">
            <a:avLst/>
          </a:prstGeom>
          <a:solidFill>
            <a:srgbClr val="1F6F7E"/>
          </a:solidFill>
          <a:ln/>
        </p:spPr>
      </p:sp>
      <p:sp>
        <p:nvSpPr>
          <p:cNvPr id="83" name="Text 81"/>
          <p:cNvSpPr txBox="1"/>
          <p:nvPr/>
        </p:nvSpPr>
        <p:spPr>
          <a:xfrm>
            <a:off x="6858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4" name="Text 82"/>
          <p:cNvSpPr txBox="1"/>
          <p:nvPr/>
        </p:nvSpPr>
        <p:spPr>
          <a:xfrm>
            <a:off x="6858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85" name="Shape 83"/>
          <p:cNvSpPr/>
          <p:nvPr/>
        </p:nvSpPr>
        <p:spPr>
          <a:xfrm>
            <a:off x="7670800" y="3835400"/>
            <a:ext cx="1778000" cy="2006600"/>
          </a:xfrm>
          <a:prstGeom prst="roundRect">
            <a:avLst>
              <a:gd name="adj" fmla="val 3086"/>
            </a:avLst>
          </a:prstGeom>
          <a:solidFill>
            <a:srgbClr val="FDFCF9"/>
          </a:solidFill>
          <a:ln w="12700">
            <a:solidFill>
              <a:srgbClr val="D3CDBE"/>
            </a:solidFill>
            <a:prstDash val="solid"/>
          </a:ln>
        </p:spPr>
      </p:sp>
      <p:sp>
        <p:nvSpPr>
          <p:cNvPr id="86" name="Text 84"/>
          <p:cNvSpPr txBox="1"/>
          <p:nvPr/>
        </p:nvSpPr>
        <p:spPr>
          <a:xfrm>
            <a:off x="77724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87" name="Shape 85"/>
          <p:cNvSpPr/>
          <p:nvPr/>
        </p:nvSpPr>
        <p:spPr>
          <a:xfrm>
            <a:off x="7772400" y="5213350"/>
            <a:ext cx="1574800" cy="914"/>
          </a:xfrm>
          <a:prstGeom prst="line">
            <a:avLst/>
          </a:prstGeom>
          <a:noFill/>
          <a:ln w="12700">
            <a:solidFill>
              <a:srgbClr val="E3DED2"/>
            </a:solidFill>
            <a:prstDash val="solid"/>
          </a:ln>
        </p:spPr>
      </p:sp>
      <p:sp>
        <p:nvSpPr>
          <p:cNvPr id="88" name="Shape 86"/>
          <p:cNvSpPr/>
          <p:nvPr/>
        </p:nvSpPr>
        <p:spPr>
          <a:xfrm>
            <a:off x="8051800" y="5264150"/>
            <a:ext cx="203200" cy="152400"/>
          </a:xfrm>
          <a:prstGeom prst="rect">
            <a:avLst/>
          </a:prstGeom>
          <a:solidFill>
            <a:srgbClr val="1F6F7E"/>
          </a:solidFill>
          <a:ln/>
        </p:spPr>
      </p:sp>
      <p:sp>
        <p:nvSpPr>
          <p:cNvPr id="89" name="Text 87"/>
          <p:cNvSpPr txBox="1"/>
          <p:nvPr/>
        </p:nvSpPr>
        <p:spPr>
          <a:xfrm>
            <a:off x="7975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0" name="Text 88"/>
          <p:cNvSpPr txBox="1"/>
          <p:nvPr/>
        </p:nvSpPr>
        <p:spPr>
          <a:xfrm>
            <a:off x="7975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91" name="Shape 89"/>
          <p:cNvSpPr/>
          <p:nvPr/>
        </p:nvSpPr>
        <p:spPr>
          <a:xfrm>
            <a:off x="8458200" y="5302250"/>
            <a:ext cx="203200" cy="114300"/>
          </a:xfrm>
          <a:prstGeom prst="rect">
            <a:avLst/>
          </a:prstGeom>
          <a:solidFill>
            <a:srgbClr val="1F6F7E"/>
          </a:solidFill>
          <a:ln/>
        </p:spPr>
      </p:sp>
      <p:sp>
        <p:nvSpPr>
          <p:cNvPr id="92" name="Text 90"/>
          <p:cNvSpPr txBox="1"/>
          <p:nvPr/>
        </p:nvSpPr>
        <p:spPr>
          <a:xfrm>
            <a:off x="8382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3" name="Text 91"/>
          <p:cNvSpPr txBox="1"/>
          <p:nvPr/>
        </p:nvSpPr>
        <p:spPr>
          <a:xfrm>
            <a:off x="8382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94" name="Shape 92"/>
          <p:cNvSpPr/>
          <p:nvPr/>
        </p:nvSpPr>
        <p:spPr>
          <a:xfrm>
            <a:off x="8864600" y="5340350"/>
            <a:ext cx="203200" cy="76200"/>
          </a:xfrm>
          <a:prstGeom prst="rect">
            <a:avLst/>
          </a:prstGeom>
          <a:solidFill>
            <a:srgbClr val="1F6F7E"/>
          </a:solidFill>
          <a:ln/>
        </p:spPr>
      </p:sp>
      <p:sp>
        <p:nvSpPr>
          <p:cNvPr id="95" name="Text 93"/>
          <p:cNvSpPr txBox="1"/>
          <p:nvPr/>
        </p:nvSpPr>
        <p:spPr>
          <a:xfrm>
            <a:off x="8788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6" name="Text 94"/>
          <p:cNvSpPr txBox="1"/>
          <p:nvPr/>
        </p:nvSpPr>
        <p:spPr>
          <a:xfrm>
            <a:off x="8788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97" name="Shape 95"/>
          <p:cNvSpPr/>
          <p:nvPr/>
        </p:nvSpPr>
        <p:spPr>
          <a:xfrm>
            <a:off x="9601200" y="3835400"/>
            <a:ext cx="1778000" cy="2006600"/>
          </a:xfrm>
          <a:prstGeom prst="roundRect">
            <a:avLst>
              <a:gd name="adj" fmla="val 3086"/>
            </a:avLst>
          </a:prstGeom>
          <a:solidFill>
            <a:srgbClr val="FDFCF9"/>
          </a:solidFill>
          <a:ln w="12700">
            <a:solidFill>
              <a:srgbClr val="D3CDBE"/>
            </a:solidFill>
            <a:prstDash val="solid"/>
          </a:ln>
        </p:spPr>
      </p:sp>
      <p:sp>
        <p:nvSpPr>
          <p:cNvPr id="98" name="Text 96"/>
          <p:cNvSpPr txBox="1"/>
          <p:nvPr/>
        </p:nvSpPr>
        <p:spPr>
          <a:xfrm>
            <a:off x="97028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99" name="Shape 97"/>
          <p:cNvSpPr/>
          <p:nvPr/>
        </p:nvSpPr>
        <p:spPr>
          <a:xfrm>
            <a:off x="9702800" y="5213350"/>
            <a:ext cx="1574800" cy="914"/>
          </a:xfrm>
          <a:prstGeom prst="line">
            <a:avLst/>
          </a:prstGeom>
          <a:noFill/>
          <a:ln w="12700">
            <a:solidFill>
              <a:srgbClr val="E3DED2"/>
            </a:solidFill>
            <a:prstDash val="solid"/>
          </a:ln>
        </p:spPr>
      </p:sp>
      <p:sp>
        <p:nvSpPr>
          <p:cNvPr id="100" name="Shape 98"/>
          <p:cNvSpPr/>
          <p:nvPr/>
        </p:nvSpPr>
        <p:spPr>
          <a:xfrm>
            <a:off x="9982200" y="5353050"/>
            <a:ext cx="203200" cy="63500"/>
          </a:xfrm>
          <a:prstGeom prst="rect">
            <a:avLst/>
          </a:prstGeom>
          <a:solidFill>
            <a:srgbClr val="E3A86B"/>
          </a:solidFill>
          <a:ln/>
        </p:spPr>
      </p:sp>
      <p:sp>
        <p:nvSpPr>
          <p:cNvPr id="101" name="Text 99"/>
          <p:cNvSpPr txBox="1"/>
          <p:nvPr/>
        </p:nvSpPr>
        <p:spPr>
          <a:xfrm>
            <a:off x="9906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2" name="Text 100"/>
          <p:cNvSpPr txBox="1"/>
          <p:nvPr/>
        </p:nvSpPr>
        <p:spPr>
          <a:xfrm>
            <a:off x="9906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103" name="Shape 101"/>
          <p:cNvSpPr/>
          <p:nvPr/>
        </p:nvSpPr>
        <p:spPr>
          <a:xfrm>
            <a:off x="10388600" y="5308600"/>
            <a:ext cx="203200" cy="107950"/>
          </a:xfrm>
          <a:prstGeom prst="rect">
            <a:avLst/>
          </a:prstGeom>
          <a:solidFill>
            <a:srgbClr val="E3A86B"/>
          </a:solidFill>
          <a:ln/>
        </p:spPr>
      </p:sp>
      <p:sp>
        <p:nvSpPr>
          <p:cNvPr id="104" name="Text 102"/>
          <p:cNvSpPr txBox="1"/>
          <p:nvPr/>
        </p:nvSpPr>
        <p:spPr>
          <a:xfrm>
            <a:off x="10312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5" name="Text 103"/>
          <p:cNvSpPr txBox="1"/>
          <p:nvPr/>
        </p:nvSpPr>
        <p:spPr>
          <a:xfrm>
            <a:off x="10312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106" name="Shape 104"/>
          <p:cNvSpPr/>
          <p:nvPr/>
        </p:nvSpPr>
        <p:spPr>
          <a:xfrm>
            <a:off x="10795000" y="5264150"/>
            <a:ext cx="203200" cy="152400"/>
          </a:xfrm>
          <a:prstGeom prst="rect">
            <a:avLst/>
          </a:prstGeom>
          <a:solidFill>
            <a:srgbClr val="E3A86B"/>
          </a:solidFill>
          <a:ln/>
        </p:spPr>
      </p:sp>
      <p:sp>
        <p:nvSpPr>
          <p:cNvPr id="107" name="Text 105"/>
          <p:cNvSpPr txBox="1"/>
          <p:nvPr/>
        </p:nvSpPr>
        <p:spPr>
          <a:xfrm>
            <a:off x="10718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8" name="Text 106"/>
          <p:cNvSpPr txBox="1"/>
          <p:nvPr/>
        </p:nvSpPr>
        <p:spPr>
          <a:xfrm>
            <a:off x="10718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109" name="Text 10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Each box lists members and openings by level; bars show year-end headcount</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(slide 3).</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242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870200"/>
            <a:ext cx="279400" cy="279400"/>
          </a:xfrm>
          <a:prstGeom prst="rect">
            <a:avLst/>
          </a:prstGeom>
        </p:spPr>
      </p:pic>
      <p:sp>
        <p:nvSpPr>
          <p:cNvPr id="12" name="Text 9"/>
          <p:cNvSpPr txBox="1"/>
          <p:nvPr/>
        </p:nvSpPr>
        <p:spPr>
          <a:xfrm>
            <a:off x="10160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242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870200"/>
            <a:ext cx="279400" cy="279400"/>
          </a:xfrm>
          <a:prstGeom prst="rect">
            <a:avLst/>
          </a:prstGeom>
        </p:spPr>
      </p:pic>
      <p:sp>
        <p:nvSpPr>
          <p:cNvPr id="17" name="Text 13"/>
          <p:cNvSpPr txBox="1"/>
          <p:nvPr/>
        </p:nvSpPr>
        <p:spPr>
          <a:xfrm>
            <a:off x="37084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242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870200"/>
            <a:ext cx="279400" cy="279400"/>
          </a:xfrm>
          <a:prstGeom prst="rect">
            <a:avLst/>
          </a:prstGeom>
        </p:spPr>
      </p:pic>
      <p:sp>
        <p:nvSpPr>
          <p:cNvPr id="22" name="Text 17"/>
          <p:cNvSpPr txBox="1"/>
          <p:nvPr/>
        </p:nvSpPr>
        <p:spPr>
          <a:xfrm>
            <a:off x="64008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Codify unwritten know-how for humans and AI</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242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870200"/>
            <a:ext cx="279400" cy="279400"/>
          </a:xfrm>
          <a:prstGeom prst="rect">
            <a:avLst/>
          </a:prstGeom>
        </p:spPr>
      </p:pic>
      <p:sp>
        <p:nvSpPr>
          <p:cNvPr id="27" name="Text 21"/>
          <p:cNvSpPr txBox="1"/>
          <p:nvPr/>
        </p:nvSpPr>
        <p:spPr>
          <a:xfrm>
            <a:off x="90932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 for AI-empowered talent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Leaders for mixed IC + agent teams, wider spans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Consistent, rising talent bar; IC development</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2026-10-24T14:06:58Z</dcterms:created>
  <dcterms:modified xsi:type="dcterms:W3CDTF">2026-10-24T14:06:58Z</dcterms:modified>
</cp:coreProperties>
</file>