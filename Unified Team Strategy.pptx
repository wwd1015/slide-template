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401c2f1d-28db-d781-37b0-bf015290ff83}">
          <p14:sldIdLst>
            <p14:sldId id="256"/>
            <p14:sldId id="257"/>
          </p14:sldIdLst>
        </p14:section>
        <p14:section name="How we organize" id="{ac8aac3a-ed9a-20f4-d201-974d99b18566}">
          <p14:sldIdLst>
            <p14:sldId id="258"/>
            <p14:sldId id="259"/>
            <p14:sldId id="260"/>
            <p14:sldId id="261"/>
          </p14:sldIdLst>
        </p14:section>
        <p14:section name="What we do and how we grow" id="{a149054d-15f9-5212-384a-3cbf507b17f1}">
          <p14:sldIdLst>
            <p14:sldId id="262"/>
            <p14:sldId id="263"/>
            <p14:sldId id="264"/>
          </p14:sldIdLst>
        </p14:section>
        <p14:section name="Asks" id="{f4815e03-c1f4-7d0d-9581-a89a73efa431}">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four-function structure into the actual team: one team lead, four sub-team heads, and three sub-teams under Modeling, each with its own lead and level. Each box lists every member with their level, including open roles to backfill (expected departures of [XYZ] associates are already counted as openings), then a small bar strip with year-end headcount for this year, next year and the year after. Modeling, Data Foundation and Platform &amp; Deployment get smaller over time as AI takes on BAU work; AI Enablement grows. The next slide rolls these team-level numbers up into the overall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rolls up the team-by-team plan on the previous slide. The story, from the end of this year to the end of 2028: today almost all capacity goes to BAU, and dedicated AI work is near zero. AI and new tooling let BAU shrink step by step (the end of 2027 shows the midpoint),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One opportunity already identified: turn the team’s unwritten procedures and best practices into explicit, shared documentation that both people and AI agents can read and follow. The fourth sets up the next two slides: a flatter structure that fits talent empowered by AI; a pipeline of next-generation leaders who can manage mixed teams of ICs and agents with wider spans; and a talent bar that stays consistent while it keeps rising, backed by a development program that helps ICs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 · DETAIL</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BAU-heavy teams shrink as AI Enablement grows</a:t>
            </a:r>
            <a:endParaRPr lang="en-US" sz="3200" dirty="0"/>
          </a:p>
        </p:txBody>
      </p:sp>
      <p:sp>
        <p:nvSpPr>
          <p:cNvPr id="4" name="Shape 2"/>
          <p:cNvSpPr/>
          <p:nvPr/>
        </p:nvSpPr>
        <p:spPr>
          <a:xfrm>
            <a:off x="6096000" y="2717800"/>
            <a:ext cx="914" cy="127000"/>
          </a:xfrm>
          <a:prstGeom prst="line">
            <a:avLst/>
          </a:prstGeom>
          <a:noFill/>
          <a:ln w="25400">
            <a:solidFill>
              <a:srgbClr val="8A8F98"/>
            </a:solidFill>
            <a:prstDash val="solid"/>
          </a:ln>
        </p:spPr>
      </p:sp>
      <p:sp>
        <p:nvSpPr>
          <p:cNvPr id="5" name="Shape 3"/>
          <p:cNvSpPr/>
          <p:nvPr/>
        </p:nvSpPr>
        <p:spPr>
          <a:xfrm>
            <a:off x="3200400" y="2844800"/>
            <a:ext cx="7289800" cy="914"/>
          </a:xfrm>
          <a:prstGeom prst="line">
            <a:avLst/>
          </a:prstGeom>
          <a:noFill/>
          <a:ln w="25400">
            <a:solidFill>
              <a:srgbClr val="8A8F98"/>
            </a:solidFill>
            <a:prstDash val="solid"/>
          </a:ln>
        </p:spPr>
      </p:sp>
      <p:sp>
        <p:nvSpPr>
          <p:cNvPr id="6" name="Shape 4"/>
          <p:cNvSpPr/>
          <p:nvPr/>
        </p:nvSpPr>
        <p:spPr>
          <a:xfrm>
            <a:off x="3200400" y="2844800"/>
            <a:ext cx="914" cy="127000"/>
          </a:xfrm>
          <a:prstGeom prst="line">
            <a:avLst/>
          </a:prstGeom>
          <a:noFill/>
          <a:ln w="25400">
            <a:solidFill>
              <a:srgbClr val="8A8F98"/>
            </a:solidFill>
            <a:prstDash val="solid"/>
          </a:ln>
        </p:spPr>
      </p:sp>
      <p:sp>
        <p:nvSpPr>
          <p:cNvPr id="7" name="Shape 5"/>
          <p:cNvSpPr/>
          <p:nvPr/>
        </p:nvSpPr>
        <p:spPr>
          <a:xfrm>
            <a:off x="6629400" y="2844800"/>
            <a:ext cx="914" cy="127000"/>
          </a:xfrm>
          <a:prstGeom prst="line">
            <a:avLst/>
          </a:prstGeom>
          <a:noFill/>
          <a:ln w="25400">
            <a:solidFill>
              <a:srgbClr val="8A8F98"/>
            </a:solidFill>
            <a:prstDash val="solid"/>
          </a:ln>
        </p:spPr>
      </p:sp>
      <p:sp>
        <p:nvSpPr>
          <p:cNvPr id="8" name="Shape 6"/>
          <p:cNvSpPr/>
          <p:nvPr/>
        </p:nvSpPr>
        <p:spPr>
          <a:xfrm>
            <a:off x="8559800" y="2844800"/>
            <a:ext cx="914" cy="127000"/>
          </a:xfrm>
          <a:prstGeom prst="line">
            <a:avLst/>
          </a:prstGeom>
          <a:noFill/>
          <a:ln w="25400">
            <a:solidFill>
              <a:srgbClr val="8A8F98"/>
            </a:solidFill>
            <a:prstDash val="solid"/>
          </a:ln>
        </p:spPr>
      </p:sp>
      <p:sp>
        <p:nvSpPr>
          <p:cNvPr id="9" name="Shape 7"/>
          <p:cNvSpPr/>
          <p:nvPr/>
        </p:nvSpPr>
        <p:spPr>
          <a:xfrm>
            <a:off x="10490200" y="2844800"/>
            <a:ext cx="914" cy="127000"/>
          </a:xfrm>
          <a:prstGeom prst="line">
            <a:avLst/>
          </a:prstGeom>
          <a:noFill/>
          <a:ln w="25400">
            <a:solidFill>
              <a:srgbClr val="8A8F98"/>
            </a:solidFill>
            <a:prstDash val="solid"/>
          </a:ln>
        </p:spPr>
      </p:sp>
      <p:sp>
        <p:nvSpPr>
          <p:cNvPr id="10" name="Shape 8"/>
          <p:cNvSpPr/>
          <p:nvPr/>
        </p:nvSpPr>
        <p:spPr>
          <a:xfrm>
            <a:off x="3200400" y="3632200"/>
            <a:ext cx="914" cy="101600"/>
          </a:xfrm>
          <a:prstGeom prst="line">
            <a:avLst/>
          </a:prstGeom>
          <a:noFill/>
          <a:ln w="25400">
            <a:solidFill>
              <a:srgbClr val="8A8F98"/>
            </a:solidFill>
            <a:prstDash val="solid"/>
          </a:ln>
        </p:spPr>
      </p:sp>
      <p:sp>
        <p:nvSpPr>
          <p:cNvPr id="11" name="Shape 9"/>
          <p:cNvSpPr/>
          <p:nvPr/>
        </p:nvSpPr>
        <p:spPr>
          <a:xfrm>
            <a:off x="1574800" y="3733800"/>
            <a:ext cx="3251200" cy="914"/>
          </a:xfrm>
          <a:prstGeom prst="line">
            <a:avLst/>
          </a:prstGeom>
          <a:noFill/>
          <a:ln w="25400">
            <a:solidFill>
              <a:srgbClr val="8A8F98"/>
            </a:solidFill>
            <a:prstDash val="solid"/>
          </a:ln>
        </p:spPr>
      </p:sp>
      <p:sp>
        <p:nvSpPr>
          <p:cNvPr id="12" name="Shape 10"/>
          <p:cNvSpPr/>
          <p:nvPr/>
        </p:nvSpPr>
        <p:spPr>
          <a:xfrm>
            <a:off x="1574800" y="3733800"/>
            <a:ext cx="914" cy="101600"/>
          </a:xfrm>
          <a:prstGeom prst="line">
            <a:avLst/>
          </a:prstGeom>
          <a:noFill/>
          <a:ln w="25400">
            <a:solidFill>
              <a:srgbClr val="8A8F98"/>
            </a:solidFill>
            <a:prstDash val="solid"/>
          </a:ln>
        </p:spPr>
      </p:sp>
      <p:sp>
        <p:nvSpPr>
          <p:cNvPr id="13" name="Shape 11"/>
          <p:cNvSpPr/>
          <p:nvPr/>
        </p:nvSpPr>
        <p:spPr>
          <a:xfrm>
            <a:off x="1574800" y="4343400"/>
            <a:ext cx="914" cy="101600"/>
          </a:xfrm>
          <a:prstGeom prst="line">
            <a:avLst/>
          </a:prstGeom>
          <a:noFill/>
          <a:ln w="25400">
            <a:solidFill>
              <a:srgbClr val="8A8F98"/>
            </a:solidFill>
            <a:prstDash val="solid"/>
          </a:ln>
        </p:spPr>
      </p:sp>
      <p:sp>
        <p:nvSpPr>
          <p:cNvPr id="14" name="Shape 12"/>
          <p:cNvSpPr/>
          <p:nvPr/>
        </p:nvSpPr>
        <p:spPr>
          <a:xfrm>
            <a:off x="3200400" y="3733800"/>
            <a:ext cx="914" cy="101600"/>
          </a:xfrm>
          <a:prstGeom prst="line">
            <a:avLst/>
          </a:prstGeom>
          <a:noFill/>
          <a:ln w="25400">
            <a:solidFill>
              <a:srgbClr val="8A8F98"/>
            </a:solidFill>
            <a:prstDash val="solid"/>
          </a:ln>
        </p:spPr>
      </p:sp>
      <p:sp>
        <p:nvSpPr>
          <p:cNvPr id="15" name="Shape 13"/>
          <p:cNvSpPr/>
          <p:nvPr/>
        </p:nvSpPr>
        <p:spPr>
          <a:xfrm>
            <a:off x="3200400" y="4343400"/>
            <a:ext cx="914" cy="101600"/>
          </a:xfrm>
          <a:prstGeom prst="line">
            <a:avLst/>
          </a:prstGeom>
          <a:noFill/>
          <a:ln w="25400">
            <a:solidFill>
              <a:srgbClr val="8A8F98"/>
            </a:solidFill>
            <a:prstDash val="solid"/>
          </a:ln>
        </p:spPr>
      </p:sp>
      <p:sp>
        <p:nvSpPr>
          <p:cNvPr id="16" name="Shape 14"/>
          <p:cNvSpPr/>
          <p:nvPr/>
        </p:nvSpPr>
        <p:spPr>
          <a:xfrm>
            <a:off x="4826000" y="3733800"/>
            <a:ext cx="914" cy="101600"/>
          </a:xfrm>
          <a:prstGeom prst="line">
            <a:avLst/>
          </a:prstGeom>
          <a:noFill/>
          <a:ln w="25400">
            <a:solidFill>
              <a:srgbClr val="8A8F98"/>
            </a:solidFill>
            <a:prstDash val="solid"/>
          </a:ln>
        </p:spPr>
      </p:sp>
      <p:sp>
        <p:nvSpPr>
          <p:cNvPr id="17" name="Shape 15"/>
          <p:cNvSpPr/>
          <p:nvPr/>
        </p:nvSpPr>
        <p:spPr>
          <a:xfrm>
            <a:off x="4826000" y="4343400"/>
            <a:ext cx="914" cy="101600"/>
          </a:xfrm>
          <a:prstGeom prst="line">
            <a:avLst/>
          </a:prstGeom>
          <a:noFill/>
          <a:ln w="25400">
            <a:solidFill>
              <a:srgbClr val="8A8F98"/>
            </a:solidFill>
            <a:prstDash val="solid"/>
          </a:ln>
        </p:spPr>
      </p:sp>
      <p:sp>
        <p:nvSpPr>
          <p:cNvPr id="18" name="Shape 16"/>
          <p:cNvSpPr/>
          <p:nvPr/>
        </p:nvSpPr>
        <p:spPr>
          <a:xfrm>
            <a:off x="6629400" y="3632200"/>
            <a:ext cx="914" cy="203200"/>
          </a:xfrm>
          <a:prstGeom prst="line">
            <a:avLst/>
          </a:prstGeom>
          <a:noFill/>
          <a:ln w="25400">
            <a:solidFill>
              <a:srgbClr val="8A8F98"/>
            </a:solidFill>
            <a:prstDash val="solid"/>
          </a:ln>
        </p:spPr>
      </p:sp>
      <p:sp>
        <p:nvSpPr>
          <p:cNvPr id="19" name="Shape 17"/>
          <p:cNvSpPr/>
          <p:nvPr/>
        </p:nvSpPr>
        <p:spPr>
          <a:xfrm>
            <a:off x="8559800" y="3632200"/>
            <a:ext cx="914" cy="203200"/>
          </a:xfrm>
          <a:prstGeom prst="line">
            <a:avLst/>
          </a:prstGeom>
          <a:noFill/>
          <a:ln w="25400">
            <a:solidFill>
              <a:srgbClr val="8A8F98"/>
            </a:solidFill>
            <a:prstDash val="solid"/>
          </a:ln>
        </p:spPr>
      </p:sp>
      <p:sp>
        <p:nvSpPr>
          <p:cNvPr id="20" name="Shape 18"/>
          <p:cNvSpPr/>
          <p:nvPr/>
        </p:nvSpPr>
        <p:spPr>
          <a:xfrm>
            <a:off x="10490200" y="3632200"/>
            <a:ext cx="914" cy="203200"/>
          </a:xfrm>
          <a:prstGeom prst="line">
            <a:avLst/>
          </a:prstGeom>
          <a:noFill/>
          <a:ln w="25400">
            <a:solidFill>
              <a:srgbClr val="8A8F98"/>
            </a:solidFill>
            <a:prstDash val="solid"/>
          </a:ln>
        </p:spPr>
      </p:sp>
      <p:sp>
        <p:nvSpPr>
          <p:cNvPr id="21" name="Shape 19"/>
          <p:cNvSpPr/>
          <p:nvPr/>
        </p:nvSpPr>
        <p:spPr>
          <a:xfrm>
            <a:off x="4826000" y="2362200"/>
            <a:ext cx="2540000" cy="355600"/>
          </a:xfrm>
          <a:prstGeom prst="roundRect">
            <a:avLst>
              <a:gd name="adj" fmla="val 38571"/>
            </a:avLst>
          </a:prstGeom>
          <a:solidFill>
            <a:srgbClr val="14213D"/>
          </a:solidFill>
          <a:ln/>
        </p:spPr>
      </p:sp>
      <p:sp>
        <p:nvSpPr>
          <p:cNvPr id="22" name="Text 20"/>
          <p:cNvSpPr txBox="1"/>
          <p:nvPr/>
        </p:nvSpPr>
        <p:spPr>
          <a:xfrm>
            <a:off x="4826000" y="2362200"/>
            <a:ext cx="2540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[Name] · Team lead [SD]</a:t>
            </a:r>
            <a:endParaRPr lang="en-US" sz="1300" dirty="0"/>
          </a:p>
        </p:txBody>
      </p:sp>
      <p:sp>
        <p:nvSpPr>
          <p:cNvPr id="23" name="Shape 21"/>
          <p:cNvSpPr/>
          <p:nvPr/>
        </p:nvSpPr>
        <p:spPr>
          <a:xfrm>
            <a:off x="812800" y="2971800"/>
            <a:ext cx="4775200" cy="660400"/>
          </a:xfrm>
          <a:prstGeom prst="roundRect">
            <a:avLst>
              <a:gd name="adj" fmla="val 13846"/>
            </a:avLst>
          </a:prstGeom>
          <a:solidFill>
            <a:srgbClr val="E1EEF0"/>
          </a:solidFill>
          <a:ln w="19050">
            <a:solidFill>
              <a:srgbClr val="1F6F7E"/>
            </a:solidFill>
            <a:prstDash val="solid"/>
          </a:ln>
        </p:spPr>
      </p:sp>
      <p:sp>
        <p:nvSpPr>
          <p:cNvPr id="24" name="Text 22"/>
          <p:cNvSpPr txBox="1"/>
          <p:nvPr/>
        </p:nvSpPr>
        <p:spPr>
          <a:xfrm>
            <a:off x="901700" y="3022600"/>
            <a:ext cx="45974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Modeling</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[XX] [D]</a:t>
            </a:r>
            <a:endParaRPr lang="en-US" sz="1200" dirty="0"/>
          </a:p>
        </p:txBody>
      </p:sp>
      <p:sp>
        <p:nvSpPr>
          <p:cNvPr id="25" name="Shape 23"/>
          <p:cNvSpPr/>
          <p:nvPr/>
        </p:nvSpPr>
        <p:spPr>
          <a:xfrm>
            <a:off x="5740400" y="2971800"/>
            <a:ext cx="1778000" cy="660400"/>
          </a:xfrm>
          <a:prstGeom prst="roundRect">
            <a:avLst>
              <a:gd name="adj" fmla="val 13846"/>
            </a:avLst>
          </a:prstGeom>
          <a:solidFill>
            <a:srgbClr val="E1EEF0"/>
          </a:solidFill>
          <a:ln w="19050">
            <a:solidFill>
              <a:srgbClr val="1F6F7E"/>
            </a:solidFill>
            <a:prstDash val="solid"/>
          </a:ln>
        </p:spPr>
      </p:sp>
      <p:sp>
        <p:nvSpPr>
          <p:cNvPr id="26" name="Text 24"/>
          <p:cNvSpPr txBox="1"/>
          <p:nvPr/>
        </p:nvSpPr>
        <p:spPr>
          <a:xfrm>
            <a:off x="58293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Data Foundation</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7" name="Shape 25"/>
          <p:cNvSpPr/>
          <p:nvPr/>
        </p:nvSpPr>
        <p:spPr>
          <a:xfrm>
            <a:off x="7670800" y="2971800"/>
            <a:ext cx="1778000" cy="660400"/>
          </a:xfrm>
          <a:prstGeom prst="roundRect">
            <a:avLst>
              <a:gd name="adj" fmla="val 13846"/>
            </a:avLst>
          </a:prstGeom>
          <a:solidFill>
            <a:srgbClr val="E1EEF0"/>
          </a:solidFill>
          <a:ln w="19050">
            <a:solidFill>
              <a:srgbClr val="1F6F7E"/>
            </a:solidFill>
            <a:prstDash val="solid"/>
          </a:ln>
        </p:spPr>
      </p:sp>
      <p:sp>
        <p:nvSpPr>
          <p:cNvPr id="28" name="Text 26"/>
          <p:cNvSpPr txBox="1"/>
          <p:nvPr/>
        </p:nvSpPr>
        <p:spPr>
          <a:xfrm>
            <a:off x="77597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Platform &amp; Deployment</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9" name="Shape 27"/>
          <p:cNvSpPr/>
          <p:nvPr/>
        </p:nvSpPr>
        <p:spPr>
          <a:xfrm>
            <a:off x="9601200" y="2971800"/>
            <a:ext cx="1778000" cy="660400"/>
          </a:xfrm>
          <a:prstGeom prst="roundRect">
            <a:avLst>
              <a:gd name="adj" fmla="val 13846"/>
            </a:avLst>
          </a:prstGeom>
          <a:solidFill>
            <a:srgbClr val="14213D"/>
          </a:solidFill>
          <a:ln w="19050">
            <a:solidFill>
              <a:srgbClr val="14213D"/>
            </a:solidFill>
            <a:prstDash val="solid"/>
          </a:ln>
        </p:spPr>
      </p:sp>
      <p:sp>
        <p:nvSpPr>
          <p:cNvPr id="30" name="Text 28"/>
          <p:cNvSpPr txBox="1"/>
          <p:nvPr/>
        </p:nvSpPr>
        <p:spPr>
          <a:xfrm>
            <a:off x="96901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F7F6F2"/>
                </a:solidFill>
                <a:latin typeface="Optimist Sans" pitchFamily="34" charset="0"/>
                <a:ea typeface="Optimist Sans" pitchFamily="34" charset="-122"/>
                <a:cs typeface="Optimist Sans" pitchFamily="34" charset="-120"/>
              </a:rPr>
              <a:t>AI Enablement</a:t>
            </a:r>
            <a:endParaRPr lang="en-US" sz="1200" dirty="0"/>
          </a:p>
          <a:p>
            <a:pPr algn="l" indent="0" marL="0">
              <a:lnSpc>
                <a:spcPct val="110000"/>
              </a:lnSpc>
              <a:buNone/>
            </a:pPr>
            <a:r>
              <a:rPr lang="en-US" sz="1200" dirty="0">
                <a:solidFill>
                  <a:srgbClr val="BFCAD9"/>
                </a:solidFill>
                <a:latin typeface="Optimist Sans" pitchFamily="34" charset="0"/>
                <a:ea typeface="Optimist Sans" pitchFamily="34" charset="-122"/>
                <a:cs typeface="Optimist Sans" pitchFamily="34" charset="-120"/>
              </a:rPr>
              <a:t>[Name] [D/SM]</a:t>
            </a:r>
            <a:endParaRPr lang="en-US" sz="1200" dirty="0"/>
          </a:p>
        </p:txBody>
      </p:sp>
      <p:sp>
        <p:nvSpPr>
          <p:cNvPr id="31" name="Shape 29"/>
          <p:cNvSpPr/>
          <p:nvPr/>
        </p:nvSpPr>
        <p:spPr>
          <a:xfrm>
            <a:off x="812800" y="3835400"/>
            <a:ext cx="1524000" cy="508000"/>
          </a:xfrm>
          <a:prstGeom prst="roundRect">
            <a:avLst>
              <a:gd name="adj" fmla="val 21600"/>
            </a:avLst>
          </a:prstGeom>
          <a:solidFill>
            <a:srgbClr val="FDFCF9"/>
          </a:solidFill>
          <a:ln w="19050">
            <a:solidFill>
              <a:srgbClr val="1F6F7E"/>
            </a:solidFill>
            <a:prstDash val="solid"/>
          </a:ln>
        </p:spPr>
      </p:sp>
      <p:sp>
        <p:nvSpPr>
          <p:cNvPr id="32" name="Text 30"/>
          <p:cNvSpPr txBox="1"/>
          <p:nvPr/>
        </p:nvSpPr>
        <p:spPr>
          <a:xfrm>
            <a:off x="9017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A]</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33" name="Shape 31"/>
          <p:cNvSpPr/>
          <p:nvPr/>
        </p:nvSpPr>
        <p:spPr>
          <a:xfrm>
            <a:off x="2438400" y="3835400"/>
            <a:ext cx="1524000" cy="508000"/>
          </a:xfrm>
          <a:prstGeom prst="roundRect">
            <a:avLst>
              <a:gd name="adj" fmla="val 21600"/>
            </a:avLst>
          </a:prstGeom>
          <a:solidFill>
            <a:srgbClr val="FDFCF9"/>
          </a:solidFill>
          <a:ln w="19050">
            <a:solidFill>
              <a:srgbClr val="1F6F7E"/>
            </a:solidFill>
            <a:prstDash val="solid"/>
          </a:ln>
        </p:spPr>
      </p:sp>
      <p:sp>
        <p:nvSpPr>
          <p:cNvPr id="34" name="Text 32"/>
          <p:cNvSpPr txBox="1"/>
          <p:nvPr/>
        </p:nvSpPr>
        <p:spPr>
          <a:xfrm>
            <a:off x="25273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B]</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5" name="Shape 33"/>
          <p:cNvSpPr/>
          <p:nvPr/>
        </p:nvSpPr>
        <p:spPr>
          <a:xfrm>
            <a:off x="4064000" y="3835400"/>
            <a:ext cx="1524000" cy="508000"/>
          </a:xfrm>
          <a:prstGeom prst="roundRect">
            <a:avLst>
              <a:gd name="adj" fmla="val 21600"/>
            </a:avLst>
          </a:prstGeom>
          <a:solidFill>
            <a:srgbClr val="FDFCF9"/>
          </a:solidFill>
          <a:ln w="19050">
            <a:solidFill>
              <a:srgbClr val="1F6F7E"/>
            </a:solidFill>
            <a:prstDash val="solid"/>
          </a:ln>
        </p:spPr>
      </p:sp>
      <p:sp>
        <p:nvSpPr>
          <p:cNvPr id="36" name="Text 34"/>
          <p:cNvSpPr txBox="1"/>
          <p:nvPr/>
        </p:nvSpPr>
        <p:spPr>
          <a:xfrm>
            <a:off x="41529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C]</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7" name="Shape 35"/>
          <p:cNvSpPr/>
          <p:nvPr/>
        </p:nvSpPr>
        <p:spPr>
          <a:xfrm>
            <a:off x="812800" y="4445000"/>
            <a:ext cx="1524000" cy="1397000"/>
          </a:xfrm>
          <a:prstGeom prst="roundRect">
            <a:avLst>
              <a:gd name="adj" fmla="val 3927"/>
            </a:avLst>
          </a:prstGeom>
          <a:solidFill>
            <a:srgbClr val="FDFCF9"/>
          </a:solidFill>
          <a:ln w="12700">
            <a:solidFill>
              <a:srgbClr val="D3CDBE"/>
            </a:solidFill>
            <a:prstDash val="solid"/>
          </a:ln>
        </p:spPr>
      </p:sp>
      <p:sp>
        <p:nvSpPr>
          <p:cNvPr id="38" name="Text 36"/>
          <p:cNvSpPr txBox="1"/>
          <p:nvPr/>
        </p:nvSpPr>
        <p:spPr>
          <a:xfrm>
            <a:off x="9144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39" name="Shape 37"/>
          <p:cNvSpPr/>
          <p:nvPr/>
        </p:nvSpPr>
        <p:spPr>
          <a:xfrm>
            <a:off x="914400" y="5213350"/>
            <a:ext cx="1320800" cy="914"/>
          </a:xfrm>
          <a:prstGeom prst="line">
            <a:avLst/>
          </a:prstGeom>
          <a:noFill/>
          <a:ln w="12700">
            <a:solidFill>
              <a:srgbClr val="E3DED2"/>
            </a:solidFill>
            <a:prstDash val="solid"/>
          </a:ln>
        </p:spPr>
      </p:sp>
      <p:sp>
        <p:nvSpPr>
          <p:cNvPr id="40" name="Shape 38"/>
          <p:cNvSpPr/>
          <p:nvPr/>
        </p:nvSpPr>
        <p:spPr>
          <a:xfrm>
            <a:off x="1066800" y="5264150"/>
            <a:ext cx="203200" cy="152400"/>
          </a:xfrm>
          <a:prstGeom prst="rect">
            <a:avLst/>
          </a:prstGeom>
          <a:solidFill>
            <a:srgbClr val="1F6F7E"/>
          </a:solidFill>
          <a:ln/>
        </p:spPr>
      </p:sp>
      <p:sp>
        <p:nvSpPr>
          <p:cNvPr id="41" name="Text 39"/>
          <p:cNvSpPr txBox="1"/>
          <p:nvPr/>
        </p:nvSpPr>
        <p:spPr>
          <a:xfrm>
            <a:off x="990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2" name="Text 40"/>
          <p:cNvSpPr txBox="1"/>
          <p:nvPr/>
        </p:nvSpPr>
        <p:spPr>
          <a:xfrm>
            <a:off x="990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43" name="Shape 41"/>
          <p:cNvSpPr/>
          <p:nvPr/>
        </p:nvSpPr>
        <p:spPr>
          <a:xfrm>
            <a:off x="1473200" y="5302250"/>
            <a:ext cx="203200" cy="114300"/>
          </a:xfrm>
          <a:prstGeom prst="rect">
            <a:avLst/>
          </a:prstGeom>
          <a:solidFill>
            <a:srgbClr val="1F6F7E"/>
          </a:solidFill>
          <a:ln/>
        </p:spPr>
      </p:sp>
      <p:sp>
        <p:nvSpPr>
          <p:cNvPr id="44" name="Text 42"/>
          <p:cNvSpPr txBox="1"/>
          <p:nvPr/>
        </p:nvSpPr>
        <p:spPr>
          <a:xfrm>
            <a:off x="1397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5" name="Text 43"/>
          <p:cNvSpPr txBox="1"/>
          <p:nvPr/>
        </p:nvSpPr>
        <p:spPr>
          <a:xfrm>
            <a:off x="1397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46" name="Shape 44"/>
          <p:cNvSpPr/>
          <p:nvPr/>
        </p:nvSpPr>
        <p:spPr>
          <a:xfrm>
            <a:off x="1879600" y="5340350"/>
            <a:ext cx="203200" cy="76200"/>
          </a:xfrm>
          <a:prstGeom prst="rect">
            <a:avLst/>
          </a:prstGeom>
          <a:solidFill>
            <a:srgbClr val="1F6F7E"/>
          </a:solidFill>
          <a:ln/>
        </p:spPr>
      </p:sp>
      <p:sp>
        <p:nvSpPr>
          <p:cNvPr id="47" name="Text 45"/>
          <p:cNvSpPr txBox="1"/>
          <p:nvPr/>
        </p:nvSpPr>
        <p:spPr>
          <a:xfrm>
            <a:off x="1803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8" name="Text 46"/>
          <p:cNvSpPr txBox="1"/>
          <p:nvPr/>
        </p:nvSpPr>
        <p:spPr>
          <a:xfrm>
            <a:off x="1803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49" name="Shape 47"/>
          <p:cNvSpPr/>
          <p:nvPr/>
        </p:nvSpPr>
        <p:spPr>
          <a:xfrm>
            <a:off x="2438400" y="4445000"/>
            <a:ext cx="1524000" cy="1397000"/>
          </a:xfrm>
          <a:prstGeom prst="roundRect">
            <a:avLst>
              <a:gd name="adj" fmla="val 3927"/>
            </a:avLst>
          </a:prstGeom>
          <a:solidFill>
            <a:srgbClr val="FDFCF9"/>
          </a:solidFill>
          <a:ln w="12700">
            <a:solidFill>
              <a:srgbClr val="D3CDBE"/>
            </a:solidFill>
            <a:prstDash val="solid"/>
          </a:ln>
        </p:spPr>
      </p:sp>
      <p:sp>
        <p:nvSpPr>
          <p:cNvPr id="50" name="Text 48"/>
          <p:cNvSpPr txBox="1"/>
          <p:nvPr/>
        </p:nvSpPr>
        <p:spPr>
          <a:xfrm>
            <a:off x="25400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51" name="Shape 49"/>
          <p:cNvSpPr/>
          <p:nvPr/>
        </p:nvSpPr>
        <p:spPr>
          <a:xfrm>
            <a:off x="2540000" y="5213350"/>
            <a:ext cx="1320800" cy="914"/>
          </a:xfrm>
          <a:prstGeom prst="line">
            <a:avLst/>
          </a:prstGeom>
          <a:noFill/>
          <a:ln w="12700">
            <a:solidFill>
              <a:srgbClr val="E3DED2"/>
            </a:solidFill>
            <a:prstDash val="solid"/>
          </a:ln>
        </p:spPr>
      </p:sp>
      <p:sp>
        <p:nvSpPr>
          <p:cNvPr id="52" name="Shape 50"/>
          <p:cNvSpPr/>
          <p:nvPr/>
        </p:nvSpPr>
        <p:spPr>
          <a:xfrm>
            <a:off x="2692400" y="5264150"/>
            <a:ext cx="203200" cy="152400"/>
          </a:xfrm>
          <a:prstGeom prst="rect">
            <a:avLst/>
          </a:prstGeom>
          <a:solidFill>
            <a:srgbClr val="1F6F7E"/>
          </a:solidFill>
          <a:ln/>
        </p:spPr>
      </p:sp>
      <p:sp>
        <p:nvSpPr>
          <p:cNvPr id="53" name="Text 51"/>
          <p:cNvSpPr txBox="1"/>
          <p:nvPr/>
        </p:nvSpPr>
        <p:spPr>
          <a:xfrm>
            <a:off x="2616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4" name="Text 52"/>
          <p:cNvSpPr txBox="1"/>
          <p:nvPr/>
        </p:nvSpPr>
        <p:spPr>
          <a:xfrm>
            <a:off x="2616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55" name="Shape 53"/>
          <p:cNvSpPr/>
          <p:nvPr/>
        </p:nvSpPr>
        <p:spPr>
          <a:xfrm>
            <a:off x="3098800" y="5302250"/>
            <a:ext cx="203200" cy="114300"/>
          </a:xfrm>
          <a:prstGeom prst="rect">
            <a:avLst/>
          </a:prstGeom>
          <a:solidFill>
            <a:srgbClr val="1F6F7E"/>
          </a:solidFill>
          <a:ln/>
        </p:spPr>
      </p:sp>
      <p:sp>
        <p:nvSpPr>
          <p:cNvPr id="56" name="Text 54"/>
          <p:cNvSpPr txBox="1"/>
          <p:nvPr/>
        </p:nvSpPr>
        <p:spPr>
          <a:xfrm>
            <a:off x="3022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7" name="Text 55"/>
          <p:cNvSpPr txBox="1"/>
          <p:nvPr/>
        </p:nvSpPr>
        <p:spPr>
          <a:xfrm>
            <a:off x="3022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58" name="Shape 56"/>
          <p:cNvSpPr/>
          <p:nvPr/>
        </p:nvSpPr>
        <p:spPr>
          <a:xfrm>
            <a:off x="3505200" y="5340350"/>
            <a:ext cx="203200" cy="76200"/>
          </a:xfrm>
          <a:prstGeom prst="rect">
            <a:avLst/>
          </a:prstGeom>
          <a:solidFill>
            <a:srgbClr val="1F6F7E"/>
          </a:solidFill>
          <a:ln/>
        </p:spPr>
      </p:sp>
      <p:sp>
        <p:nvSpPr>
          <p:cNvPr id="59" name="Text 57"/>
          <p:cNvSpPr txBox="1"/>
          <p:nvPr/>
        </p:nvSpPr>
        <p:spPr>
          <a:xfrm>
            <a:off x="3429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0" name="Text 58"/>
          <p:cNvSpPr txBox="1"/>
          <p:nvPr/>
        </p:nvSpPr>
        <p:spPr>
          <a:xfrm>
            <a:off x="3429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61" name="Shape 59"/>
          <p:cNvSpPr/>
          <p:nvPr/>
        </p:nvSpPr>
        <p:spPr>
          <a:xfrm>
            <a:off x="4064000" y="4445000"/>
            <a:ext cx="1524000" cy="1397000"/>
          </a:xfrm>
          <a:prstGeom prst="roundRect">
            <a:avLst>
              <a:gd name="adj" fmla="val 3927"/>
            </a:avLst>
          </a:prstGeom>
          <a:solidFill>
            <a:srgbClr val="FDFCF9"/>
          </a:solidFill>
          <a:ln w="12700">
            <a:solidFill>
              <a:srgbClr val="D3CDBE"/>
            </a:solidFill>
            <a:prstDash val="solid"/>
          </a:ln>
        </p:spPr>
      </p:sp>
      <p:sp>
        <p:nvSpPr>
          <p:cNvPr id="62" name="Text 60"/>
          <p:cNvSpPr txBox="1"/>
          <p:nvPr/>
        </p:nvSpPr>
        <p:spPr>
          <a:xfrm>
            <a:off x="41656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63" name="Shape 61"/>
          <p:cNvSpPr/>
          <p:nvPr/>
        </p:nvSpPr>
        <p:spPr>
          <a:xfrm>
            <a:off x="4165600" y="5213350"/>
            <a:ext cx="1320800" cy="914"/>
          </a:xfrm>
          <a:prstGeom prst="line">
            <a:avLst/>
          </a:prstGeom>
          <a:noFill/>
          <a:ln w="12700">
            <a:solidFill>
              <a:srgbClr val="E3DED2"/>
            </a:solidFill>
            <a:prstDash val="solid"/>
          </a:ln>
        </p:spPr>
      </p:sp>
      <p:sp>
        <p:nvSpPr>
          <p:cNvPr id="64" name="Shape 62"/>
          <p:cNvSpPr/>
          <p:nvPr/>
        </p:nvSpPr>
        <p:spPr>
          <a:xfrm>
            <a:off x="4318000" y="5264150"/>
            <a:ext cx="203200" cy="152400"/>
          </a:xfrm>
          <a:prstGeom prst="rect">
            <a:avLst/>
          </a:prstGeom>
          <a:solidFill>
            <a:srgbClr val="1F6F7E"/>
          </a:solidFill>
          <a:ln/>
        </p:spPr>
      </p:sp>
      <p:sp>
        <p:nvSpPr>
          <p:cNvPr id="65" name="Text 63"/>
          <p:cNvSpPr txBox="1"/>
          <p:nvPr/>
        </p:nvSpPr>
        <p:spPr>
          <a:xfrm>
            <a:off x="4241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6" name="Text 64"/>
          <p:cNvSpPr txBox="1"/>
          <p:nvPr/>
        </p:nvSpPr>
        <p:spPr>
          <a:xfrm>
            <a:off x="4241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67" name="Shape 65"/>
          <p:cNvSpPr/>
          <p:nvPr/>
        </p:nvSpPr>
        <p:spPr>
          <a:xfrm>
            <a:off x="4724400" y="5302250"/>
            <a:ext cx="203200" cy="114300"/>
          </a:xfrm>
          <a:prstGeom prst="rect">
            <a:avLst/>
          </a:prstGeom>
          <a:solidFill>
            <a:srgbClr val="1F6F7E"/>
          </a:solidFill>
          <a:ln/>
        </p:spPr>
      </p:sp>
      <p:sp>
        <p:nvSpPr>
          <p:cNvPr id="68" name="Text 66"/>
          <p:cNvSpPr txBox="1"/>
          <p:nvPr/>
        </p:nvSpPr>
        <p:spPr>
          <a:xfrm>
            <a:off x="4648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9" name="Text 67"/>
          <p:cNvSpPr txBox="1"/>
          <p:nvPr/>
        </p:nvSpPr>
        <p:spPr>
          <a:xfrm>
            <a:off x="4648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70" name="Shape 68"/>
          <p:cNvSpPr/>
          <p:nvPr/>
        </p:nvSpPr>
        <p:spPr>
          <a:xfrm>
            <a:off x="5130800" y="5340350"/>
            <a:ext cx="203200" cy="76200"/>
          </a:xfrm>
          <a:prstGeom prst="rect">
            <a:avLst/>
          </a:prstGeom>
          <a:solidFill>
            <a:srgbClr val="1F6F7E"/>
          </a:solidFill>
          <a:ln/>
        </p:spPr>
      </p:sp>
      <p:sp>
        <p:nvSpPr>
          <p:cNvPr id="71" name="Text 69"/>
          <p:cNvSpPr txBox="1"/>
          <p:nvPr/>
        </p:nvSpPr>
        <p:spPr>
          <a:xfrm>
            <a:off x="5054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2" name="Text 70"/>
          <p:cNvSpPr txBox="1"/>
          <p:nvPr/>
        </p:nvSpPr>
        <p:spPr>
          <a:xfrm>
            <a:off x="5054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73" name="Shape 71"/>
          <p:cNvSpPr/>
          <p:nvPr/>
        </p:nvSpPr>
        <p:spPr>
          <a:xfrm>
            <a:off x="5740400" y="3835400"/>
            <a:ext cx="1778000" cy="2006600"/>
          </a:xfrm>
          <a:prstGeom prst="roundRect">
            <a:avLst>
              <a:gd name="adj" fmla="val 3086"/>
            </a:avLst>
          </a:prstGeom>
          <a:solidFill>
            <a:srgbClr val="FDFCF9"/>
          </a:solidFill>
          <a:ln w="12700">
            <a:solidFill>
              <a:srgbClr val="D3CDBE"/>
            </a:solidFill>
            <a:prstDash val="solid"/>
          </a:ln>
        </p:spPr>
      </p:sp>
      <p:sp>
        <p:nvSpPr>
          <p:cNvPr id="74" name="Text 72"/>
          <p:cNvSpPr txBox="1"/>
          <p:nvPr/>
        </p:nvSpPr>
        <p:spPr>
          <a:xfrm>
            <a:off x="58420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[SA]</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[PA]</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 [Mgr Opening]</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p:txBody>
      </p:sp>
      <p:sp>
        <p:nvSpPr>
          <p:cNvPr id="75" name="Shape 73"/>
          <p:cNvSpPr/>
          <p:nvPr/>
        </p:nvSpPr>
        <p:spPr>
          <a:xfrm>
            <a:off x="5842000" y="5213350"/>
            <a:ext cx="1574800" cy="914"/>
          </a:xfrm>
          <a:prstGeom prst="line">
            <a:avLst/>
          </a:prstGeom>
          <a:noFill/>
          <a:ln w="12700">
            <a:solidFill>
              <a:srgbClr val="E3DED2"/>
            </a:solidFill>
            <a:prstDash val="solid"/>
          </a:ln>
        </p:spPr>
      </p:sp>
      <p:sp>
        <p:nvSpPr>
          <p:cNvPr id="76" name="Shape 74"/>
          <p:cNvSpPr/>
          <p:nvPr/>
        </p:nvSpPr>
        <p:spPr>
          <a:xfrm>
            <a:off x="6121400" y="5264150"/>
            <a:ext cx="203200" cy="152400"/>
          </a:xfrm>
          <a:prstGeom prst="rect">
            <a:avLst/>
          </a:prstGeom>
          <a:solidFill>
            <a:srgbClr val="1F6F7E"/>
          </a:solidFill>
          <a:ln/>
        </p:spPr>
      </p:sp>
      <p:sp>
        <p:nvSpPr>
          <p:cNvPr id="77" name="Text 75"/>
          <p:cNvSpPr txBox="1"/>
          <p:nvPr/>
        </p:nvSpPr>
        <p:spPr>
          <a:xfrm>
            <a:off x="6045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8" name="Text 76"/>
          <p:cNvSpPr txBox="1"/>
          <p:nvPr/>
        </p:nvSpPr>
        <p:spPr>
          <a:xfrm>
            <a:off x="6045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79" name="Shape 77"/>
          <p:cNvSpPr/>
          <p:nvPr/>
        </p:nvSpPr>
        <p:spPr>
          <a:xfrm>
            <a:off x="6527800" y="5302250"/>
            <a:ext cx="203200" cy="114300"/>
          </a:xfrm>
          <a:prstGeom prst="rect">
            <a:avLst/>
          </a:prstGeom>
          <a:solidFill>
            <a:srgbClr val="1F6F7E"/>
          </a:solidFill>
          <a:ln/>
        </p:spPr>
      </p:sp>
      <p:sp>
        <p:nvSpPr>
          <p:cNvPr id="80" name="Text 78"/>
          <p:cNvSpPr txBox="1"/>
          <p:nvPr/>
        </p:nvSpPr>
        <p:spPr>
          <a:xfrm>
            <a:off x="6451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1" name="Text 79"/>
          <p:cNvSpPr txBox="1"/>
          <p:nvPr/>
        </p:nvSpPr>
        <p:spPr>
          <a:xfrm>
            <a:off x="6451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82" name="Shape 80"/>
          <p:cNvSpPr/>
          <p:nvPr/>
        </p:nvSpPr>
        <p:spPr>
          <a:xfrm>
            <a:off x="6934200" y="5340350"/>
            <a:ext cx="203200" cy="76200"/>
          </a:xfrm>
          <a:prstGeom prst="rect">
            <a:avLst/>
          </a:prstGeom>
          <a:solidFill>
            <a:srgbClr val="1F6F7E"/>
          </a:solidFill>
          <a:ln/>
        </p:spPr>
      </p:sp>
      <p:sp>
        <p:nvSpPr>
          <p:cNvPr id="83" name="Text 81"/>
          <p:cNvSpPr txBox="1"/>
          <p:nvPr/>
        </p:nvSpPr>
        <p:spPr>
          <a:xfrm>
            <a:off x="6858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4" name="Text 82"/>
          <p:cNvSpPr txBox="1"/>
          <p:nvPr/>
        </p:nvSpPr>
        <p:spPr>
          <a:xfrm>
            <a:off x="6858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85" name="Shape 83"/>
          <p:cNvSpPr/>
          <p:nvPr/>
        </p:nvSpPr>
        <p:spPr>
          <a:xfrm>
            <a:off x="7670800" y="3835400"/>
            <a:ext cx="1778000" cy="2006600"/>
          </a:xfrm>
          <a:prstGeom prst="roundRect">
            <a:avLst>
              <a:gd name="adj" fmla="val 3086"/>
            </a:avLst>
          </a:prstGeom>
          <a:solidFill>
            <a:srgbClr val="FDFCF9"/>
          </a:solidFill>
          <a:ln w="12700">
            <a:solidFill>
              <a:srgbClr val="D3CDBE"/>
            </a:solidFill>
            <a:prstDash val="solid"/>
          </a:ln>
        </p:spPr>
      </p:sp>
      <p:sp>
        <p:nvSpPr>
          <p:cNvPr id="86" name="Text 84"/>
          <p:cNvSpPr txBox="1"/>
          <p:nvPr/>
        </p:nvSpPr>
        <p:spPr>
          <a:xfrm>
            <a:off x="77724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87" name="Shape 85"/>
          <p:cNvSpPr/>
          <p:nvPr/>
        </p:nvSpPr>
        <p:spPr>
          <a:xfrm>
            <a:off x="7772400" y="5213350"/>
            <a:ext cx="1574800" cy="914"/>
          </a:xfrm>
          <a:prstGeom prst="line">
            <a:avLst/>
          </a:prstGeom>
          <a:noFill/>
          <a:ln w="12700">
            <a:solidFill>
              <a:srgbClr val="E3DED2"/>
            </a:solidFill>
            <a:prstDash val="solid"/>
          </a:ln>
        </p:spPr>
      </p:sp>
      <p:sp>
        <p:nvSpPr>
          <p:cNvPr id="88" name="Shape 86"/>
          <p:cNvSpPr/>
          <p:nvPr/>
        </p:nvSpPr>
        <p:spPr>
          <a:xfrm>
            <a:off x="8051800" y="5264150"/>
            <a:ext cx="203200" cy="152400"/>
          </a:xfrm>
          <a:prstGeom prst="rect">
            <a:avLst/>
          </a:prstGeom>
          <a:solidFill>
            <a:srgbClr val="1F6F7E"/>
          </a:solidFill>
          <a:ln/>
        </p:spPr>
      </p:sp>
      <p:sp>
        <p:nvSpPr>
          <p:cNvPr id="89" name="Text 87"/>
          <p:cNvSpPr txBox="1"/>
          <p:nvPr/>
        </p:nvSpPr>
        <p:spPr>
          <a:xfrm>
            <a:off x="7975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0" name="Text 88"/>
          <p:cNvSpPr txBox="1"/>
          <p:nvPr/>
        </p:nvSpPr>
        <p:spPr>
          <a:xfrm>
            <a:off x="7975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91" name="Shape 89"/>
          <p:cNvSpPr/>
          <p:nvPr/>
        </p:nvSpPr>
        <p:spPr>
          <a:xfrm>
            <a:off x="8458200" y="5302250"/>
            <a:ext cx="203200" cy="114300"/>
          </a:xfrm>
          <a:prstGeom prst="rect">
            <a:avLst/>
          </a:prstGeom>
          <a:solidFill>
            <a:srgbClr val="1F6F7E"/>
          </a:solidFill>
          <a:ln/>
        </p:spPr>
      </p:sp>
      <p:sp>
        <p:nvSpPr>
          <p:cNvPr id="92" name="Text 90"/>
          <p:cNvSpPr txBox="1"/>
          <p:nvPr/>
        </p:nvSpPr>
        <p:spPr>
          <a:xfrm>
            <a:off x="8382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3" name="Text 91"/>
          <p:cNvSpPr txBox="1"/>
          <p:nvPr/>
        </p:nvSpPr>
        <p:spPr>
          <a:xfrm>
            <a:off x="8382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94" name="Shape 92"/>
          <p:cNvSpPr/>
          <p:nvPr/>
        </p:nvSpPr>
        <p:spPr>
          <a:xfrm>
            <a:off x="8864600" y="5340350"/>
            <a:ext cx="203200" cy="76200"/>
          </a:xfrm>
          <a:prstGeom prst="rect">
            <a:avLst/>
          </a:prstGeom>
          <a:solidFill>
            <a:srgbClr val="1F6F7E"/>
          </a:solidFill>
          <a:ln/>
        </p:spPr>
      </p:sp>
      <p:sp>
        <p:nvSpPr>
          <p:cNvPr id="95" name="Text 93"/>
          <p:cNvSpPr txBox="1"/>
          <p:nvPr/>
        </p:nvSpPr>
        <p:spPr>
          <a:xfrm>
            <a:off x="8788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6" name="Text 94"/>
          <p:cNvSpPr txBox="1"/>
          <p:nvPr/>
        </p:nvSpPr>
        <p:spPr>
          <a:xfrm>
            <a:off x="8788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97" name="Shape 95"/>
          <p:cNvSpPr/>
          <p:nvPr/>
        </p:nvSpPr>
        <p:spPr>
          <a:xfrm>
            <a:off x="9601200" y="3835400"/>
            <a:ext cx="1778000" cy="2006600"/>
          </a:xfrm>
          <a:prstGeom prst="roundRect">
            <a:avLst>
              <a:gd name="adj" fmla="val 3086"/>
            </a:avLst>
          </a:prstGeom>
          <a:solidFill>
            <a:srgbClr val="FDFCF9"/>
          </a:solidFill>
          <a:ln w="12700">
            <a:solidFill>
              <a:srgbClr val="D3CDBE"/>
            </a:solidFill>
            <a:prstDash val="solid"/>
          </a:ln>
        </p:spPr>
      </p:sp>
      <p:sp>
        <p:nvSpPr>
          <p:cNvPr id="98" name="Text 96"/>
          <p:cNvSpPr txBox="1"/>
          <p:nvPr/>
        </p:nvSpPr>
        <p:spPr>
          <a:xfrm>
            <a:off x="97028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[Opening] [Lvl]</a:t>
            </a:r>
            <a:endParaRPr lang="en-US" sz="1200" dirty="0"/>
          </a:p>
        </p:txBody>
      </p:sp>
      <p:sp>
        <p:nvSpPr>
          <p:cNvPr id="99" name="Shape 97"/>
          <p:cNvSpPr/>
          <p:nvPr/>
        </p:nvSpPr>
        <p:spPr>
          <a:xfrm>
            <a:off x="9702800" y="5213350"/>
            <a:ext cx="1574800" cy="914"/>
          </a:xfrm>
          <a:prstGeom prst="line">
            <a:avLst/>
          </a:prstGeom>
          <a:noFill/>
          <a:ln w="12700">
            <a:solidFill>
              <a:srgbClr val="E3DED2"/>
            </a:solidFill>
            <a:prstDash val="solid"/>
          </a:ln>
        </p:spPr>
      </p:sp>
      <p:sp>
        <p:nvSpPr>
          <p:cNvPr id="100" name="Shape 98"/>
          <p:cNvSpPr/>
          <p:nvPr/>
        </p:nvSpPr>
        <p:spPr>
          <a:xfrm>
            <a:off x="9982200" y="5353050"/>
            <a:ext cx="203200" cy="63500"/>
          </a:xfrm>
          <a:prstGeom prst="rect">
            <a:avLst/>
          </a:prstGeom>
          <a:solidFill>
            <a:srgbClr val="E3A86B"/>
          </a:solidFill>
          <a:ln/>
        </p:spPr>
      </p:sp>
      <p:sp>
        <p:nvSpPr>
          <p:cNvPr id="101" name="Text 99"/>
          <p:cNvSpPr txBox="1"/>
          <p:nvPr/>
        </p:nvSpPr>
        <p:spPr>
          <a:xfrm>
            <a:off x="9906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2" name="Text 100"/>
          <p:cNvSpPr txBox="1"/>
          <p:nvPr/>
        </p:nvSpPr>
        <p:spPr>
          <a:xfrm>
            <a:off x="9906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103" name="Shape 101"/>
          <p:cNvSpPr/>
          <p:nvPr/>
        </p:nvSpPr>
        <p:spPr>
          <a:xfrm>
            <a:off x="10388600" y="5308600"/>
            <a:ext cx="203200" cy="107950"/>
          </a:xfrm>
          <a:prstGeom prst="rect">
            <a:avLst/>
          </a:prstGeom>
          <a:solidFill>
            <a:srgbClr val="E3A86B"/>
          </a:solidFill>
          <a:ln/>
        </p:spPr>
      </p:sp>
      <p:sp>
        <p:nvSpPr>
          <p:cNvPr id="104" name="Text 102"/>
          <p:cNvSpPr txBox="1"/>
          <p:nvPr/>
        </p:nvSpPr>
        <p:spPr>
          <a:xfrm>
            <a:off x="10312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5" name="Text 103"/>
          <p:cNvSpPr txBox="1"/>
          <p:nvPr/>
        </p:nvSpPr>
        <p:spPr>
          <a:xfrm>
            <a:off x="10312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106" name="Shape 104"/>
          <p:cNvSpPr/>
          <p:nvPr/>
        </p:nvSpPr>
        <p:spPr>
          <a:xfrm>
            <a:off x="10795000" y="5264150"/>
            <a:ext cx="203200" cy="152400"/>
          </a:xfrm>
          <a:prstGeom prst="rect">
            <a:avLst/>
          </a:prstGeom>
          <a:solidFill>
            <a:srgbClr val="E3A86B"/>
          </a:solidFill>
          <a:ln/>
        </p:spPr>
      </p:sp>
      <p:sp>
        <p:nvSpPr>
          <p:cNvPr id="107" name="Text 105"/>
          <p:cNvSpPr txBox="1"/>
          <p:nvPr/>
        </p:nvSpPr>
        <p:spPr>
          <a:xfrm>
            <a:off x="10718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8" name="Text 106"/>
          <p:cNvSpPr txBox="1"/>
          <p:nvPr/>
        </p:nvSpPr>
        <p:spPr>
          <a:xfrm>
            <a:off x="10718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109" name="Text 10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Bars show year-end headcount · Expected departures of [XYZ] associates are counted as openings</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’26</a:t>
            </a:r>
            <a:endParaRPr lang="en-US" sz="1600" dirty="0"/>
          </a:p>
        </p:txBody>
      </p:sp>
      <p:sp>
        <p:nvSpPr>
          <p:cNvPr id="5" name="Text 3"/>
          <p:cNvSpPr txBox="1"/>
          <p:nvPr/>
        </p:nvSpPr>
        <p:spPr>
          <a:xfrm>
            <a:off x="812800" y="26670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38400"/>
            <a:ext cx="7366000" cy="406400"/>
          </a:xfrm>
          <a:prstGeom prst="rect">
            <a:avLst/>
          </a:prstGeom>
          <a:solidFill>
            <a:srgbClr val="1F6F7E"/>
          </a:solidFill>
          <a:ln/>
        </p:spPr>
      </p:sp>
      <p:sp>
        <p:nvSpPr>
          <p:cNvPr id="7" name="Text 5"/>
          <p:cNvSpPr txBox="1"/>
          <p:nvPr/>
        </p:nvSpPr>
        <p:spPr>
          <a:xfrm>
            <a:off x="3073400" y="2438400"/>
            <a:ext cx="721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38400"/>
            <a:ext cx="127000" cy="406400"/>
          </a:xfrm>
          <a:prstGeom prst="rect">
            <a:avLst/>
          </a:prstGeom>
          <a:solidFill>
            <a:srgbClr val="E3A86B"/>
          </a:solidFill>
          <a:ln/>
        </p:spPr>
      </p:sp>
      <p:sp>
        <p:nvSpPr>
          <p:cNvPr id="9" name="Text 7"/>
          <p:cNvSpPr txBox="1"/>
          <p:nvPr/>
        </p:nvSpPr>
        <p:spPr>
          <a:xfrm>
            <a:off x="10515600" y="2438400"/>
            <a:ext cx="86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29845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’27</a:t>
            </a:r>
            <a:endParaRPr lang="en-US" sz="1600" dirty="0"/>
          </a:p>
        </p:txBody>
      </p:sp>
      <p:sp>
        <p:nvSpPr>
          <p:cNvPr id="11" name="Text 9"/>
          <p:cNvSpPr txBox="1"/>
          <p:nvPr/>
        </p:nvSpPr>
        <p:spPr>
          <a:xfrm>
            <a:off x="812800" y="32512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022600"/>
            <a:ext cx="4953000" cy="406400"/>
          </a:xfrm>
          <a:prstGeom prst="rect">
            <a:avLst/>
          </a:prstGeom>
          <a:solidFill>
            <a:srgbClr val="1F6F7E"/>
          </a:solidFill>
          <a:ln/>
        </p:spPr>
      </p:sp>
      <p:sp>
        <p:nvSpPr>
          <p:cNvPr id="13" name="Text 11"/>
          <p:cNvSpPr txBox="1"/>
          <p:nvPr/>
        </p:nvSpPr>
        <p:spPr>
          <a:xfrm>
            <a:off x="2921000" y="3022600"/>
            <a:ext cx="4800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7874000" y="3022600"/>
            <a:ext cx="2159000" cy="406400"/>
          </a:xfrm>
          <a:prstGeom prst="rect">
            <a:avLst/>
          </a:prstGeom>
          <a:solidFill>
            <a:srgbClr val="E3A86B"/>
          </a:solidFill>
          <a:ln/>
        </p:spPr>
      </p:sp>
      <p:sp>
        <p:nvSpPr>
          <p:cNvPr id="15" name="Text 13"/>
          <p:cNvSpPr txBox="1"/>
          <p:nvPr/>
        </p:nvSpPr>
        <p:spPr>
          <a:xfrm>
            <a:off x="8026400" y="3022600"/>
            <a:ext cx="1905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10033000" y="3022600"/>
            <a:ext cx="381000" cy="406400"/>
          </a:xfrm>
          <a:prstGeom prst="rect">
            <a:avLst/>
          </a:prstGeom>
          <a:solidFill>
            <a:srgbClr val="F7F6F2"/>
          </a:solidFill>
          <a:ln w="19050">
            <a:solidFill>
              <a:srgbClr val="8A8F98"/>
            </a:solidFill>
            <a:prstDash val="dash"/>
          </a:ln>
        </p:spPr>
      </p:sp>
      <p:sp>
        <p:nvSpPr>
          <p:cNvPr id="17" name="Text 15"/>
          <p:cNvSpPr txBox="1"/>
          <p:nvPr/>
        </p:nvSpPr>
        <p:spPr>
          <a:xfrm>
            <a:off x="812800" y="35687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’28</a:t>
            </a:r>
            <a:endParaRPr lang="en-US" sz="1600" dirty="0"/>
          </a:p>
        </p:txBody>
      </p:sp>
      <p:sp>
        <p:nvSpPr>
          <p:cNvPr id="18" name="Text 16"/>
          <p:cNvSpPr txBox="1"/>
          <p:nvPr/>
        </p:nvSpPr>
        <p:spPr>
          <a:xfrm>
            <a:off x="812800" y="38354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Target · ~[__] associates</a:t>
            </a:r>
            <a:endParaRPr lang="en-US" sz="1200" dirty="0"/>
          </a:p>
        </p:txBody>
      </p:sp>
      <p:sp>
        <p:nvSpPr>
          <p:cNvPr id="19" name="Shape 17"/>
          <p:cNvSpPr/>
          <p:nvPr/>
        </p:nvSpPr>
        <p:spPr>
          <a:xfrm>
            <a:off x="2921000" y="3606800"/>
            <a:ext cx="3556000" cy="406400"/>
          </a:xfrm>
          <a:prstGeom prst="rect">
            <a:avLst/>
          </a:prstGeom>
          <a:solidFill>
            <a:srgbClr val="1F6F7E"/>
          </a:solidFill>
          <a:ln/>
        </p:spPr>
      </p:sp>
      <p:sp>
        <p:nvSpPr>
          <p:cNvPr id="20" name="Text 18"/>
          <p:cNvSpPr txBox="1"/>
          <p:nvPr/>
        </p:nvSpPr>
        <p:spPr>
          <a:xfrm>
            <a:off x="2921000" y="3606800"/>
            <a:ext cx="3403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21" name="Shape 19"/>
          <p:cNvSpPr/>
          <p:nvPr/>
        </p:nvSpPr>
        <p:spPr>
          <a:xfrm>
            <a:off x="6477000" y="3606800"/>
            <a:ext cx="3048000" cy="406400"/>
          </a:xfrm>
          <a:prstGeom prst="rect">
            <a:avLst/>
          </a:prstGeom>
          <a:solidFill>
            <a:srgbClr val="E3A86B"/>
          </a:solidFill>
          <a:ln/>
        </p:spPr>
      </p:sp>
      <p:sp>
        <p:nvSpPr>
          <p:cNvPr id="22" name="Text 20"/>
          <p:cNvSpPr txBox="1"/>
          <p:nvPr/>
        </p:nvSpPr>
        <p:spPr>
          <a:xfrm>
            <a:off x="6629400" y="3606800"/>
            <a:ext cx="2794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23" name="Shape 21"/>
          <p:cNvSpPr/>
          <p:nvPr/>
        </p:nvSpPr>
        <p:spPr>
          <a:xfrm>
            <a:off x="9525000" y="3606800"/>
            <a:ext cx="889000" cy="406400"/>
          </a:xfrm>
          <a:prstGeom prst="rect">
            <a:avLst/>
          </a:prstGeom>
          <a:solidFill>
            <a:srgbClr val="F7F6F2"/>
          </a:solidFill>
          <a:ln w="19050">
            <a:solidFill>
              <a:srgbClr val="8A8F98"/>
            </a:solidFill>
            <a:prstDash val="dash"/>
          </a:ln>
        </p:spPr>
      </p:sp>
      <p:sp>
        <p:nvSpPr>
          <p:cNvPr id="24" name="Text 22"/>
          <p:cNvSpPr txBox="1"/>
          <p:nvPr/>
        </p:nvSpPr>
        <p:spPr>
          <a:xfrm>
            <a:off x="9525000" y="3606800"/>
            <a:ext cx="889000" cy="4064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25" name="BAU floor marker 2027"/>
          <p:cNvSpPr/>
          <p:nvPr/>
        </p:nvSpPr>
        <p:spPr>
          <a:xfrm>
            <a:off x="4806950" y="3022600"/>
            <a:ext cx="38100" cy="558800"/>
          </a:xfrm>
          <a:prstGeom prst="rect">
            <a:avLst/>
          </a:prstGeom>
          <a:solidFill>
            <a:srgbClr val="A0521A"/>
          </a:solidFill>
          <a:ln/>
        </p:spPr>
      </p:sp>
      <p:sp>
        <p:nvSpPr>
          <p:cNvPr id="26" name="BAU floor marker 2028"/>
          <p:cNvSpPr/>
          <p:nvPr/>
        </p:nvSpPr>
        <p:spPr>
          <a:xfrm>
            <a:off x="4806950" y="3606800"/>
            <a:ext cx="38100" cy="558800"/>
          </a:xfrm>
          <a:prstGeom prst="rect">
            <a:avLst/>
          </a:prstGeom>
          <a:solidFill>
            <a:srgbClr val="A0521A"/>
          </a:solidFill>
          <a:ln/>
        </p:spPr>
      </p:sp>
      <p:sp>
        <p:nvSpPr>
          <p:cNvPr id="27" name="Text 25"/>
          <p:cNvSpPr txBox="1"/>
          <p:nvPr/>
        </p:nvSpPr>
        <p:spPr>
          <a:xfrm>
            <a:off x="4064000" y="41910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8" name="Shape 26"/>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9"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30" name="Text 27"/>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31" name="Text 28"/>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32" name="Shape 29"/>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33"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34" name="Text 30"/>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35" name="Text 31"/>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36" name="Shape 32"/>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7"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8" name="Text 33"/>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9" name="Text 34"/>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(slide 3).</a:t>
            </a:r>
            <a:endParaRPr lang="en-US" sz="1200" dirty="0"/>
          </a:p>
        </p:txBody>
      </p:sp>
      <p:sp>
        <p:nvSpPr>
          <p:cNvPr id="40" name="Text 35"/>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Illustrative mix; BAU can shrink to the floor, never below it</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242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870200"/>
            <a:ext cx="279400" cy="279400"/>
          </a:xfrm>
          <a:prstGeom prst="rect">
            <a:avLst/>
          </a:prstGeom>
        </p:spPr>
      </p:pic>
      <p:sp>
        <p:nvSpPr>
          <p:cNvPr id="12" name="Text 9"/>
          <p:cNvSpPr txBox="1"/>
          <p:nvPr/>
        </p:nvSpPr>
        <p:spPr>
          <a:xfrm>
            <a:off x="10160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242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870200"/>
            <a:ext cx="279400" cy="279400"/>
          </a:xfrm>
          <a:prstGeom prst="rect">
            <a:avLst/>
          </a:prstGeom>
        </p:spPr>
      </p:pic>
      <p:sp>
        <p:nvSpPr>
          <p:cNvPr id="17" name="Text 13"/>
          <p:cNvSpPr txBox="1"/>
          <p:nvPr/>
        </p:nvSpPr>
        <p:spPr>
          <a:xfrm>
            <a:off x="37084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242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870200"/>
            <a:ext cx="279400" cy="279400"/>
          </a:xfrm>
          <a:prstGeom prst="rect">
            <a:avLst/>
          </a:prstGeom>
        </p:spPr>
      </p:pic>
      <p:sp>
        <p:nvSpPr>
          <p:cNvPr id="22" name="Text 17"/>
          <p:cNvSpPr txBox="1"/>
          <p:nvPr/>
        </p:nvSpPr>
        <p:spPr>
          <a:xfrm>
            <a:off x="64008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Codify unwritten know-how for humans and AI</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242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870200"/>
            <a:ext cx="279400" cy="279400"/>
          </a:xfrm>
          <a:prstGeom prst="rect">
            <a:avLst/>
          </a:prstGeom>
        </p:spPr>
      </p:pic>
      <p:sp>
        <p:nvSpPr>
          <p:cNvPr id="27" name="Text 21"/>
          <p:cNvSpPr txBox="1"/>
          <p:nvPr/>
        </p:nvSpPr>
        <p:spPr>
          <a:xfrm>
            <a:off x="90932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 for AI-empowered talent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Leaders for mixed IC + agent teams, wider spans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Consistent, rising talent bar; IC development</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2026-10-24T14:12:12Z</dcterms:created>
  <dcterms:modified xsi:type="dcterms:W3CDTF">2026-10-24T14:12:12Z</dcterms:modified>
</cp:coreProperties>
</file>