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combine" id="{89f7a3d4-f5dd-6119-a155-4be313884047}">
          <p14:sldIdLst>
            <p14:sldId id="256"/>
            <p14:sldId id="257"/>
          </p14:sldIdLst>
        </p14:section>
        <p14:section name="How we organize" id="{2d02081c-6221-6fbd-2a8b-d6689956ae9a}">
          <p14:sldIdLst>
            <p14:sldId id="258"/>
            <p14:sldId id="259"/>
            <p14:sldId id="260"/>
          </p14:sldIdLst>
        </p14:section>
        <p14:section name="What we do and how we grow" id="{98c60417-57db-af97-a549-a5fd91e909e4}">
          <p14:sldIdLst>
            <p14:sldId id="261"/>
            <p14:sldId id="262"/>
            <p14:sldId id="263"/>
          </p14:sldIdLst>
        </p14:section>
        <p14:section name="Asks" id="{c16ab74e-5561-f8be-4a20-19090e6afd52}">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get leadership buy-in on the vision for the combined team — the case for combining, the four-function structure, and first-year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 1 is the biggest. Today the modeling team is led from the business side and model developers work closely with several business analysts. Real-time customer feedback is valuable, but decisions lean toward the business view and can miss technical risks only data scientists see. A leader with a technical background balances the two, so we build analytical products that meet business needs and technical standards, with less technical debt later. Benefit 2: hand-offs and support sit under one leader and one vision. Instead of the infrastructure team pushing modelers to adopt AI or data initiatives, the leader drives them and the whole team takes part. Benefit 3: a bigger talent pool means more internal mobility, aligned performance management, and the flexibility to concentrate people on a priority project at short notice. Costs: (1) Stretched leads in new areas. With mid-level managers gone, the people stepping up, including the team lead, cover a broader scope that includes unfamiliar areas such as Dual Risk Rating modeling and its business stakeholders. We lean on business analysts and former team members who know the area; the wider support model is still to be decided. (2) BAU delivery at risk. While attention goes to the reorg and the new AI work, in-flight model deliverables must not slip; we name owners and backups for each critical deliverable through the transition. (3) Rework hurts morale. The new vision revisits some earlier decisions, such as tooling development and model consolidation, and the rework that follows can hurt team morale. We share the vision openly with the whole team from day one and are clear about what each person is doing and why; because the vision now comes from the team’s own lead rather than a partner team, buy-in follows more naturally.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as a gradient from run-the-business to change-the-business. Modeling &amp; Automation: a leaner modeling team paired with tool builders. Data Foundation: roughly today’s size, possibly more investment. Platform &amp; Deployment: experts on product tech who deliver large-scale projects. AI Enablement: least BAU, exists to make the other three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 today almost all capacity goes to BAU, and dedicated AI work is near zero. AI and new tooling let BAU shrink, but only down to a floor. That floor is the minimum BAU team we need to manage operational risk: critical functions like model deployment must never depend on one person whose departure takes all the knowledge with them. Rotation and cross-functional mixing keep that floor as low as safely possible, but we will not go below it. Everything freed above the floor moves to AI-focused work, the change-the-business end of the structure. Any net headcount reduction is a by-product, shown as the dashed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Modeling stays in its current hub; the other three functions center in the second hub, co-located with technology partners and with where those teams already sit. The two hubs work as one team through a regular sync cadence.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priorities improve how we work today; the third is deliberately disruptive — an outside-in view of what the team would look like if designed from scratch with AI. One opportunity already identified: turn the team’s unwritten procedures and best practices into explicit, shared documentation that both people and AI agents can read and follow. The fourth sets up the next two slides: a flatter structure that fits talent empowered by AI; a pipeline of next-generation leaders who can manage mixed teams of ICs and agents with wider spans; and a talent bar that stays consistent while it keeps rising, backed by a development program that helps ICs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people: junior associates need to see where they can go. Everyone starts as an individual contributor; juniors are not yet in a position to manage. As they grow more senior, they test their interests and choose the IC or the people-manager path. Both paths are equally valued, with an equal chance of success, and both lead to senior levels. We expect more associates than in the past to choose the IC path, so it must be a real destination, not a consolation prize. The IC path is about personal efficiency and leverage with AI; the manager path is about people, strategy and connecting teams. On performance: as everyone gets better with AI, fitting a distribution gets harder, so benchmarks must stay reasonable. The fix is not a new scoring method; it is a clear, fair development path on both the IC and manager tracks, so people feel fairly treated. With that in place, performance management stays consistent even as it becomes more dynamic. Transition: if many associates take the senior IC path and managers carry wider spans, the org naturally flattens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logic: when every IC manages a set of agents, senior experience creates the most leverage and managers can carry more direct reports — so the team gets flatter. The colors tie back to the two paths on the previous slide. The tension: the entry-level work that once trained juniors shrinks, so growing the next generation of leaders has to be deliberate. Our approach: (1) juniors are the first reviewers of agent output — they check it against data, business logic and model fundamentals and explain why they accept or reject it, which builds judgment faster than production did; (2) each junior periodically hand-builds something end to end, like a small segment model or pipeline, because you cannot supervise an agent on work you have never done; (3) juniors pair with senior ICs to see how they frame problems, direct agents and decide what is good enough, then own small real decisions, including stakeholder conversations, earlier than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7F6F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1117600"/>
            <a:ext cx="10566400" cy="1016000"/>
          </a:xfrm>
          <a:prstGeom prst="rect">
            <a:avLst/>
          </a:prstGeom>
          <a:noFill/>
          <a:ln/>
        </p:spPr>
        <p:txBody>
          <a:bodyPr wrap="square" rtlCol="0"/>
          <a:lstStyle>
            <a:lvl1pPr algn="l" indent="0" marL="0">
              <a:buNone/>
              <a:defRPr lang="en-US" sz="3200" b="1" dirty="0">
                <a:solidFill>
                  <a:srgbClr val="14213D"/>
                </a:solidFill>
                <a:latin typeface="Optimist Display" pitchFamily="34" charset="0"/>
                <a:ea typeface="Optimist Display" pitchFamily="34" charset="-122"/>
                <a:cs typeface="Optimist Display"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SAND">
    <p:bg>
      <p:bgPr>
        <a:solidFill>
          <a:srgbClr val="ECEAE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1117600"/>
            <a:ext cx="10566400" cy="1016000"/>
          </a:xfrm>
          <a:prstGeom prst="rect">
            <a:avLst/>
          </a:prstGeom>
          <a:noFill/>
          <a:ln/>
        </p:spPr>
        <p:txBody>
          <a:bodyPr wrap="square" rtlCol="0"/>
          <a:lstStyle>
            <a:lvl1pPr algn="l" indent="0" marL="0">
              <a:buNone/>
              <a:defRPr lang="en-US" sz="3200" b="1" dirty="0">
                <a:solidFill>
                  <a:srgbClr val="14213D"/>
                </a:solidFill>
                <a:latin typeface="Optimist Display" pitchFamily="34" charset="0"/>
                <a:ea typeface="Optimist Display" pitchFamily="34" charset="-122"/>
                <a:cs typeface="Optimist Display"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4213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E3A86B"/>
                </a:solidFill>
                <a:latin typeface="Optimist Sans" pitchFamily="34" charset="0"/>
                <a:ea typeface="Optimist Sans" pitchFamily="34" charset="-122"/>
                <a:cs typeface="Optimist Sans" pitchFamily="34" charset="-120"/>
              </a:rPr>
              <a:t>[TEAM NAME] · LEADERSHIP STRATEGY DISCUSSION</a:t>
            </a:r>
            <a:endParaRPr lang="en-US" sz="1200" dirty="0"/>
          </a:p>
        </p:txBody>
      </p:sp>
      <p:sp>
        <p:nvSpPr>
          <p:cNvPr id="3" name="Text 1"/>
          <p:cNvSpPr txBox="1"/>
          <p:nvPr/>
        </p:nvSpPr>
        <p:spPr>
          <a:xfrm>
            <a:off x="812800" y="2286000"/>
            <a:ext cx="9525000" cy="2095500"/>
          </a:xfrm>
          <a:prstGeom prst="rect">
            <a:avLst/>
          </a:prstGeom>
          <a:noFill/>
          <a:ln/>
        </p:spPr>
        <p:txBody>
          <a:bodyPr wrap="square" lIns="0" tIns="0" rIns="0" bIns="0" rtlCol="0" anchor="t"/>
          <a:lstStyle/>
          <a:p>
            <a:pPr algn="l" indent="0" marL="0">
              <a:lnSpc>
                <a:spcPct val="105000"/>
              </a:lnSpc>
              <a:buNone/>
            </a:pPr>
            <a:r>
              <a:rPr lang="en-US" sz="4600" b="1" dirty="0">
                <a:solidFill>
                  <a:srgbClr val="F7F6F2"/>
                </a:solidFill>
                <a:latin typeface="Optimist Display" pitchFamily="34" charset="0"/>
                <a:ea typeface="Optimist Display" pitchFamily="34" charset="-122"/>
                <a:cs typeface="Optimist Display" pitchFamily="34" charset="-120"/>
              </a:rPr>
              <a:t>Bringing modeling and infrastructure together builds one team for the AI era</a:t>
            </a:r>
            <a:endParaRPr lang="en-US" sz="4600" dirty="0"/>
          </a:p>
        </p:txBody>
      </p:sp>
      <p:sp>
        <p:nvSpPr>
          <p:cNvPr id="4" name="Text 2"/>
          <p:cNvSpPr txBox="1"/>
          <p:nvPr/>
        </p:nvSpPr>
        <p:spPr>
          <a:xfrm>
            <a:off x="812800" y="4572000"/>
            <a:ext cx="9525000" cy="317500"/>
          </a:xfrm>
          <a:prstGeom prst="rect">
            <a:avLst/>
          </a:prstGeom>
          <a:noFill/>
          <a:ln/>
        </p:spPr>
        <p:txBody>
          <a:bodyPr wrap="square" lIns="0" tIns="0" rIns="0" bIns="0" rtlCol="0" anchor="t"/>
          <a:lstStyle/>
          <a:p>
            <a:pPr algn="l" indent="0" marL="0">
              <a:lnSpc>
                <a:spcPct val="115000"/>
              </a:lnSpc>
              <a:buNone/>
            </a:pPr>
            <a:r>
              <a:rPr lang="en-US" sz="1600" dirty="0">
                <a:solidFill>
                  <a:srgbClr val="BFCAD9"/>
                </a:solidFill>
                <a:latin typeface="Optimist Sans" pitchFamily="34" charset="0"/>
                <a:ea typeface="Optimist Sans" pitchFamily="34" charset="-122"/>
                <a:cs typeface="Optimist Sans" pitchFamily="34" charset="-120"/>
              </a:rPr>
              <a:t>A proposal on why we combine, how we organize, and what we do first</a:t>
            </a:r>
            <a:endParaRPr lang="en-US" sz="1600" dirty="0"/>
          </a:p>
        </p:txBody>
      </p:sp>
      <p:sp>
        <p:nvSpPr>
          <p:cNvPr id="5" name="Text 3"/>
          <p:cNvSpPr txBox="1"/>
          <p:nvPr/>
        </p:nvSpPr>
        <p:spPr>
          <a:xfrm>
            <a:off x="812800" y="5829300"/>
            <a:ext cx="10566400" cy="228600"/>
          </a:xfrm>
          <a:prstGeom prst="rect">
            <a:avLst/>
          </a:prstGeom>
          <a:noFill/>
          <a:ln/>
        </p:spPr>
        <p:txBody>
          <a:bodyPr wrap="square" lIns="0" tIns="0" rIns="0" bIns="0" rtlCol="0" anchor="t"/>
          <a:lstStyle/>
          <a:p>
            <a:pPr algn="l" indent="0" marL="0">
              <a:lnSpc>
                <a:spcPct val="115000"/>
              </a:lnSpc>
              <a:buNone/>
            </a:pPr>
            <a:r>
              <a:rPr lang="en-US" sz="1200" dirty="0">
                <a:solidFill>
                  <a:srgbClr val="BFCAD9"/>
                </a:solidFill>
                <a:latin typeface="Optimist Sans" pitchFamily="34" charset="0"/>
                <a:ea typeface="Optimist Sans" pitchFamily="34" charset="-122"/>
                <a:cs typeface="Optimist Sans" pitchFamily="34" charset="-120"/>
              </a:rPr>
              <a:t>[Presenter] · [Organization] · [Date] · Working draft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A0521A"/>
                </a:solidFill>
                <a:latin typeface="Optimist Sans" pitchFamily="34" charset="0"/>
                <a:ea typeface="Optimist Sans" pitchFamily="34" charset="-122"/>
                <a:cs typeface="Optimist Sans" pitchFamily="34" charset="-120"/>
              </a:rPr>
              <a:t>WHY COMBINE</a:t>
            </a:r>
            <a:endParaRPr lang="en-US" sz="1200" dirty="0"/>
          </a:p>
        </p:txBody>
      </p:sp>
      <p:sp>
        <p:nvSpPr>
          <p:cNvPr id="3" name="Text 0"/>
          <p:cNvSpPr/>
          <p:nvPr>
            <p:ph idx="100" type="title" hasCustomPrompt="1"/>
          </p:nvPr>
        </p:nvSpPr>
        <p:spPr>
          <a:xfrm>
            <a:off x="812800" y="1117600"/>
            <a:ext cx="10566400" cy="1016000"/>
          </a:xfrm>
          <a:prstGeom prst="rect">
            <a:avLst/>
          </a:prstGeom>
          <a:noFill/>
          <a:ln/>
        </p:spPr>
        <p:txBody>
          <a:bodyPr wrap="square" lIns="0" tIns="0" rIns="0" bIns="0" rtlCol="0" anchor="t"/>
          <a:lstStyle/>
          <a:p>
            <a:pPr algn="l" indent="0" marL="0">
              <a:buNone/>
            </a:pPr>
            <a:r>
              <a:rPr lang="en-US" sz="3200" b="1" dirty="0">
                <a:solidFill>
                  <a:srgbClr val="14213D"/>
                </a:solidFill>
                <a:latin typeface="Optimist Display" pitchFamily="34" charset="0"/>
                <a:ea typeface="Optimist Display" pitchFamily="34" charset="-122"/>
                <a:cs typeface="Optimist Display" pitchFamily="34" charset="-120"/>
              </a:rPr>
              <a:t>Combining the teams pays off long term if we manage three near-term costs deliberately</a:t>
            </a:r>
            <a:endParaRPr lang="en-US" sz="3200" dirty="0"/>
          </a:p>
        </p:txBody>
      </p:sp>
      <p:sp>
        <p:nvSpPr>
          <p:cNvPr id="4" name="Shape 2"/>
          <p:cNvSpPr/>
          <p:nvPr/>
        </p:nvSpPr>
        <p:spPr>
          <a:xfrm>
            <a:off x="812800" y="2413000"/>
            <a:ext cx="3556000" cy="3302000"/>
          </a:xfrm>
          <a:prstGeom prst="roundRect">
            <a:avLst>
              <a:gd name="adj" fmla="val 3323"/>
            </a:avLst>
          </a:prstGeom>
          <a:solidFill>
            <a:srgbClr val="1F5F6B"/>
          </a:solidFill>
          <a:ln/>
        </p:spPr>
      </p:sp>
      <p:sp>
        <p:nvSpPr>
          <p:cNvPr id="5" name="Text 3"/>
          <p:cNvSpPr txBox="1"/>
          <p:nvPr/>
        </p:nvSpPr>
        <p:spPr>
          <a:xfrm>
            <a:off x="1016000" y="2616200"/>
            <a:ext cx="31750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F2C089"/>
                </a:solidFill>
                <a:latin typeface="Optimist Sans" pitchFamily="34" charset="0"/>
                <a:ea typeface="Optimist Sans" pitchFamily="34" charset="-122"/>
                <a:cs typeface="Optimist Sans" pitchFamily="34" charset="-120"/>
              </a:rPr>
              <a:t>LONG-TERM BENEFITS</a:t>
            </a:r>
            <a:endParaRPr lang="en-US" sz="1200" dirty="0"/>
          </a:p>
        </p:txBody>
      </p:sp>
      <p:pic>
        <p:nvPicPr>
          <p:cNvPr id="6" name="Image 0" descr="preencoded.png">    </p:cNvPr>
          <p:cNvPicPr>
            <a:picLocks noChangeAspect="1"/>
          </p:cNvPicPr>
          <p:nvPr/>
        </p:nvPicPr>
        <p:blipFill>
          <a:blip r:embed="rId1"/>
          <a:stretch>
            <a:fillRect/>
          </a:stretch>
        </p:blipFill>
        <p:spPr>
          <a:xfrm>
            <a:off x="1016000" y="3009900"/>
            <a:ext cx="228600" cy="228600"/>
          </a:xfrm>
          <a:prstGeom prst="rect">
            <a:avLst/>
          </a:prstGeom>
        </p:spPr>
      </p:pic>
      <p:sp>
        <p:nvSpPr>
          <p:cNvPr id="7" name="Text 4"/>
          <p:cNvSpPr txBox="1"/>
          <p:nvPr/>
        </p:nvSpPr>
        <p:spPr>
          <a:xfrm>
            <a:off x="1371600" y="2997200"/>
            <a:ext cx="2857500" cy="254000"/>
          </a:xfrm>
          <a:prstGeom prst="rect">
            <a:avLst/>
          </a:prstGeom>
          <a:noFill/>
          <a:ln/>
        </p:spPr>
        <p:txBody>
          <a:bodyPr wrap="square" lIns="0" tIns="0" rIns="0" bIns="0" rtlCol="0" anchor="t"/>
          <a:lstStyle/>
          <a:p>
            <a:pPr algn="l" indent="0" marL="0">
              <a:lnSpc>
                <a:spcPct val="115000"/>
              </a:lnSpc>
              <a:buNone/>
            </a:pPr>
            <a:r>
              <a:rPr lang="en-US" sz="1400" b="1" dirty="0">
                <a:solidFill>
                  <a:srgbClr val="F7F6F2"/>
                </a:solidFill>
                <a:latin typeface="Optimist Sans" pitchFamily="34" charset="0"/>
                <a:ea typeface="Optimist Sans" pitchFamily="34" charset="-122"/>
                <a:cs typeface="Optimist Sans" pitchFamily="34" charset="-120"/>
              </a:rPr>
              <a:t>Balanced model decisions</a:t>
            </a:r>
            <a:endParaRPr lang="en-US" sz="1400" dirty="0"/>
          </a:p>
        </p:txBody>
      </p:sp>
      <p:sp>
        <p:nvSpPr>
          <p:cNvPr id="8" name="Text 5"/>
          <p:cNvSpPr txBox="1"/>
          <p:nvPr/>
        </p:nvSpPr>
        <p:spPr>
          <a:xfrm>
            <a:off x="1371600" y="3276600"/>
            <a:ext cx="2857500" cy="584200"/>
          </a:xfrm>
          <a:prstGeom prst="rect">
            <a:avLst/>
          </a:prstGeom>
          <a:noFill/>
          <a:ln/>
        </p:spPr>
        <p:txBody>
          <a:bodyPr wrap="square" lIns="0" tIns="0" rIns="0" bIns="0" rtlCol="0" anchor="t"/>
          <a:lstStyle/>
          <a:p>
            <a:pPr algn="l" indent="0" marL="0">
              <a:lnSpc>
                <a:spcPct val="115000"/>
              </a:lnSpc>
              <a:buNone/>
            </a:pPr>
            <a:r>
              <a:rPr lang="en-US" sz="1200" dirty="0">
                <a:solidFill>
                  <a:srgbClr val="D6E4E6"/>
                </a:solidFill>
                <a:latin typeface="Optimist Sans" pitchFamily="34" charset="0"/>
                <a:ea typeface="Optimist Sans" pitchFamily="34" charset="-122"/>
                <a:cs typeface="Optimist Sans" pitchFamily="34" charset="-120"/>
              </a:rPr>
              <a:t>Technical rigor balances business input: sturdier models, less tech debt</a:t>
            </a:r>
            <a:endParaRPr lang="en-US" sz="1200" dirty="0"/>
          </a:p>
        </p:txBody>
      </p:sp>
      <p:pic>
        <p:nvPicPr>
          <p:cNvPr id="9" name="Image 1" descr="preencoded.png">    </p:cNvPr>
          <p:cNvPicPr>
            <a:picLocks noChangeAspect="1"/>
          </p:cNvPicPr>
          <p:nvPr/>
        </p:nvPicPr>
        <p:blipFill>
          <a:blip r:embed="rId2"/>
          <a:stretch>
            <a:fillRect/>
          </a:stretch>
        </p:blipFill>
        <p:spPr>
          <a:xfrm>
            <a:off x="1016000" y="3898900"/>
            <a:ext cx="228600" cy="228600"/>
          </a:xfrm>
          <a:prstGeom prst="rect">
            <a:avLst/>
          </a:prstGeom>
        </p:spPr>
      </p:pic>
      <p:sp>
        <p:nvSpPr>
          <p:cNvPr id="10" name="Text 6"/>
          <p:cNvSpPr txBox="1"/>
          <p:nvPr/>
        </p:nvSpPr>
        <p:spPr>
          <a:xfrm>
            <a:off x="1371600" y="3886200"/>
            <a:ext cx="2857500" cy="254000"/>
          </a:xfrm>
          <a:prstGeom prst="rect">
            <a:avLst/>
          </a:prstGeom>
          <a:noFill/>
          <a:ln/>
        </p:spPr>
        <p:txBody>
          <a:bodyPr wrap="square" lIns="0" tIns="0" rIns="0" bIns="0" rtlCol="0" anchor="t"/>
          <a:lstStyle/>
          <a:p>
            <a:pPr algn="l" indent="0" marL="0">
              <a:lnSpc>
                <a:spcPct val="115000"/>
              </a:lnSpc>
              <a:buNone/>
            </a:pPr>
            <a:r>
              <a:rPr lang="en-US" sz="1400" b="1" dirty="0">
                <a:solidFill>
                  <a:srgbClr val="F7F6F2"/>
                </a:solidFill>
                <a:latin typeface="Optimist Sans" pitchFamily="34" charset="0"/>
                <a:ea typeface="Optimist Sans" pitchFamily="34" charset="-122"/>
                <a:cs typeface="Optimist Sans" pitchFamily="34" charset="-120"/>
              </a:rPr>
              <a:t>One leader, one agenda</a:t>
            </a:r>
            <a:endParaRPr lang="en-US" sz="1400" dirty="0"/>
          </a:p>
        </p:txBody>
      </p:sp>
      <p:sp>
        <p:nvSpPr>
          <p:cNvPr id="11" name="Text 7"/>
          <p:cNvSpPr txBox="1"/>
          <p:nvPr/>
        </p:nvSpPr>
        <p:spPr>
          <a:xfrm>
            <a:off x="1371600" y="4165600"/>
            <a:ext cx="2857500" cy="584200"/>
          </a:xfrm>
          <a:prstGeom prst="rect">
            <a:avLst/>
          </a:prstGeom>
          <a:noFill/>
          <a:ln/>
        </p:spPr>
        <p:txBody>
          <a:bodyPr wrap="square" lIns="0" tIns="0" rIns="0" bIns="0" rtlCol="0" anchor="t"/>
          <a:lstStyle/>
          <a:p>
            <a:pPr algn="l" indent="0" marL="0">
              <a:lnSpc>
                <a:spcPct val="115000"/>
              </a:lnSpc>
              <a:buNone/>
            </a:pPr>
            <a:r>
              <a:rPr lang="en-US" sz="1200" dirty="0">
                <a:solidFill>
                  <a:srgbClr val="D6E4E6"/>
                </a:solidFill>
                <a:latin typeface="Optimist Sans" pitchFamily="34" charset="0"/>
                <a:ea typeface="Optimist Sans" pitchFamily="34" charset="-122"/>
                <a:cs typeface="Optimist Sans" pitchFamily="34" charset="-120"/>
              </a:rPr>
              <a:t>AI and data work driven from within, not pushed across team lines</a:t>
            </a:r>
            <a:endParaRPr lang="en-US" sz="1200" dirty="0"/>
          </a:p>
        </p:txBody>
      </p:sp>
      <p:pic>
        <p:nvPicPr>
          <p:cNvPr id="12" name="Image 2" descr="preencoded.png">    </p:cNvPr>
          <p:cNvPicPr>
            <a:picLocks noChangeAspect="1"/>
          </p:cNvPicPr>
          <p:nvPr/>
        </p:nvPicPr>
        <p:blipFill>
          <a:blip r:embed="rId3"/>
          <a:stretch>
            <a:fillRect/>
          </a:stretch>
        </p:blipFill>
        <p:spPr>
          <a:xfrm>
            <a:off x="1016000" y="4787900"/>
            <a:ext cx="228600" cy="228600"/>
          </a:xfrm>
          <a:prstGeom prst="rect">
            <a:avLst/>
          </a:prstGeom>
        </p:spPr>
      </p:pic>
      <p:sp>
        <p:nvSpPr>
          <p:cNvPr id="13" name="Text 8"/>
          <p:cNvSpPr txBox="1"/>
          <p:nvPr/>
        </p:nvSpPr>
        <p:spPr>
          <a:xfrm>
            <a:off x="1371600" y="4775200"/>
            <a:ext cx="2857500" cy="254000"/>
          </a:xfrm>
          <a:prstGeom prst="rect">
            <a:avLst/>
          </a:prstGeom>
          <a:noFill/>
          <a:ln/>
        </p:spPr>
        <p:txBody>
          <a:bodyPr wrap="square" lIns="0" tIns="0" rIns="0" bIns="0" rtlCol="0" anchor="t"/>
          <a:lstStyle/>
          <a:p>
            <a:pPr algn="l" indent="0" marL="0">
              <a:lnSpc>
                <a:spcPct val="115000"/>
              </a:lnSpc>
              <a:buNone/>
            </a:pPr>
            <a:r>
              <a:rPr lang="en-US" sz="1400" b="1" dirty="0">
                <a:solidFill>
                  <a:srgbClr val="F7F6F2"/>
                </a:solidFill>
                <a:latin typeface="Optimist Sans" pitchFamily="34" charset="0"/>
                <a:ea typeface="Optimist Sans" pitchFamily="34" charset="-122"/>
                <a:cs typeface="Optimist Sans" pitchFamily="34" charset="-120"/>
              </a:rPr>
              <a:t>One flexible talent pool</a:t>
            </a:r>
            <a:endParaRPr lang="en-US" sz="1400" dirty="0"/>
          </a:p>
        </p:txBody>
      </p:sp>
      <p:sp>
        <p:nvSpPr>
          <p:cNvPr id="14" name="Text 9"/>
          <p:cNvSpPr txBox="1"/>
          <p:nvPr/>
        </p:nvSpPr>
        <p:spPr>
          <a:xfrm>
            <a:off x="1371600" y="5054600"/>
            <a:ext cx="2857500" cy="584200"/>
          </a:xfrm>
          <a:prstGeom prst="rect">
            <a:avLst/>
          </a:prstGeom>
          <a:noFill/>
          <a:ln/>
        </p:spPr>
        <p:txBody>
          <a:bodyPr wrap="square" lIns="0" tIns="0" rIns="0" bIns="0" rtlCol="0" anchor="t"/>
          <a:lstStyle/>
          <a:p>
            <a:pPr algn="l" indent="0" marL="0">
              <a:lnSpc>
                <a:spcPct val="115000"/>
              </a:lnSpc>
              <a:buNone/>
            </a:pPr>
            <a:r>
              <a:rPr lang="en-US" sz="1200" dirty="0">
                <a:solidFill>
                  <a:srgbClr val="D6E4E6"/>
                </a:solidFill>
                <a:latin typeface="Optimist Sans" pitchFamily="34" charset="0"/>
                <a:ea typeface="Optimist Sans" pitchFamily="34" charset="-122"/>
                <a:cs typeface="Optimist Sans" pitchFamily="34" charset="-120"/>
              </a:rPr>
              <a:t>More mobility, aligned performance management, fast redeployment</a:t>
            </a:r>
            <a:endParaRPr lang="en-US" sz="1200" dirty="0"/>
          </a:p>
        </p:txBody>
      </p:sp>
      <p:sp>
        <p:nvSpPr>
          <p:cNvPr id="15" name="Text 10"/>
          <p:cNvSpPr txBox="1"/>
          <p:nvPr/>
        </p:nvSpPr>
        <p:spPr>
          <a:xfrm>
            <a:off x="4673600" y="2413000"/>
            <a:ext cx="26670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A0521A"/>
                </a:solidFill>
                <a:latin typeface="Optimist Sans" pitchFamily="34" charset="0"/>
                <a:ea typeface="Optimist Sans" pitchFamily="34" charset="-122"/>
                <a:cs typeface="Optimist Sans" pitchFamily="34" charset="-120"/>
              </a:rPr>
              <a:t>NEAR-TERM COST</a:t>
            </a:r>
            <a:endParaRPr lang="en-US" sz="1200" dirty="0"/>
          </a:p>
        </p:txBody>
      </p:sp>
      <p:sp>
        <p:nvSpPr>
          <p:cNvPr id="16" name="Text 11"/>
          <p:cNvSpPr txBox="1"/>
          <p:nvPr/>
        </p:nvSpPr>
        <p:spPr>
          <a:xfrm>
            <a:off x="8051800" y="2413000"/>
            <a:ext cx="3327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155563"/>
                </a:solidFill>
                <a:latin typeface="Optimist Sans" pitchFamily="34" charset="0"/>
                <a:ea typeface="Optimist Sans" pitchFamily="34" charset="-122"/>
                <a:cs typeface="Optimist Sans" pitchFamily="34" charset="-120"/>
              </a:rPr>
              <a:t>HOW WE ADDRESS IT</a:t>
            </a:r>
            <a:endParaRPr lang="en-US" sz="1200" dirty="0"/>
          </a:p>
        </p:txBody>
      </p:sp>
      <p:sp>
        <p:nvSpPr>
          <p:cNvPr id="17" name="Shape 12"/>
          <p:cNvSpPr/>
          <p:nvPr/>
        </p:nvSpPr>
        <p:spPr>
          <a:xfrm>
            <a:off x="4673600" y="2768600"/>
            <a:ext cx="2667000" cy="889000"/>
          </a:xfrm>
          <a:prstGeom prst="roundRect">
            <a:avLst>
              <a:gd name="adj" fmla="val 10286"/>
            </a:avLst>
          </a:prstGeom>
          <a:solidFill>
            <a:srgbClr val="FDFCF9"/>
          </a:solidFill>
          <a:ln w="19050">
            <a:solidFill>
              <a:srgbClr val="A0521A"/>
            </a:solidFill>
            <a:prstDash val="solid"/>
          </a:ln>
        </p:spPr>
      </p:sp>
      <p:sp>
        <p:nvSpPr>
          <p:cNvPr id="18" name="Text 13"/>
          <p:cNvSpPr txBox="1"/>
          <p:nvPr/>
        </p:nvSpPr>
        <p:spPr>
          <a:xfrm>
            <a:off x="4826000" y="2870200"/>
            <a:ext cx="2413000" cy="254000"/>
          </a:xfrm>
          <a:prstGeom prst="rect">
            <a:avLst/>
          </a:prstGeom>
          <a:noFill/>
          <a:ln/>
        </p:spPr>
        <p:txBody>
          <a:bodyPr wrap="square" lIns="0" tIns="0" rIns="0" bIns="0" rtlCol="0" anchor="t"/>
          <a:lstStyle/>
          <a:p>
            <a:pPr algn="l" indent="0" marL="0">
              <a:lnSpc>
                <a:spcPct val="115000"/>
              </a:lnSpc>
              <a:buNone/>
            </a:pPr>
            <a:r>
              <a:rPr lang="en-US" sz="1400" b="1" dirty="0">
                <a:solidFill>
                  <a:srgbClr val="14213D"/>
                </a:solidFill>
                <a:latin typeface="Optimist Sans" pitchFamily="34" charset="0"/>
                <a:ea typeface="Optimist Sans" pitchFamily="34" charset="-122"/>
                <a:cs typeface="Optimist Sans" pitchFamily="34" charset="-120"/>
              </a:rPr>
              <a:t>Stretched leads, new areas</a:t>
            </a:r>
            <a:endParaRPr lang="en-US" sz="1400" dirty="0"/>
          </a:p>
        </p:txBody>
      </p:sp>
      <p:sp>
        <p:nvSpPr>
          <p:cNvPr id="19" name="Text 14"/>
          <p:cNvSpPr txBox="1"/>
          <p:nvPr/>
        </p:nvSpPr>
        <p:spPr>
          <a:xfrm>
            <a:off x="4826000" y="3149600"/>
            <a:ext cx="2413000" cy="444500"/>
          </a:xfrm>
          <a:prstGeom prst="rect">
            <a:avLst/>
          </a:prstGeom>
          <a:noFill/>
          <a:ln/>
        </p:spPr>
        <p:txBody>
          <a:bodyPr wrap="square" lIns="0" tIns="0" rIns="0" bIns="0" rtlCol="0" anchor="t"/>
          <a:lstStyle/>
          <a:p>
            <a:pPr algn="l"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Fewer managers; leads cover more, incl. unfamiliar DRR work</a:t>
            </a:r>
            <a:endParaRPr lang="en-US" sz="1200" dirty="0"/>
          </a:p>
        </p:txBody>
      </p:sp>
      <p:sp>
        <p:nvSpPr>
          <p:cNvPr id="20" name="Shape 15"/>
          <p:cNvSpPr/>
          <p:nvPr/>
        </p:nvSpPr>
        <p:spPr>
          <a:xfrm>
            <a:off x="7493000" y="3111500"/>
            <a:ext cx="406400" cy="203200"/>
          </a:xfrm>
          <a:prstGeom prst="rightArrow">
            <a:avLst/>
          </a:prstGeom>
          <a:solidFill>
            <a:srgbClr val="8A8F98"/>
          </a:solidFill>
          <a:ln/>
        </p:spPr>
      </p:sp>
      <p:sp>
        <p:nvSpPr>
          <p:cNvPr id="21" name="Shape 16"/>
          <p:cNvSpPr/>
          <p:nvPr/>
        </p:nvSpPr>
        <p:spPr>
          <a:xfrm>
            <a:off x="8051800" y="2768600"/>
            <a:ext cx="3327400" cy="889000"/>
          </a:xfrm>
          <a:prstGeom prst="roundRect">
            <a:avLst>
              <a:gd name="adj" fmla="val 10286"/>
            </a:avLst>
          </a:prstGeom>
          <a:solidFill>
            <a:srgbClr val="E1EEF0"/>
          </a:solidFill>
          <a:ln w="19050">
            <a:solidFill>
              <a:srgbClr val="1F6F7E"/>
            </a:solidFill>
            <a:prstDash val="solid"/>
          </a:ln>
        </p:spPr>
      </p:sp>
      <p:sp>
        <p:nvSpPr>
          <p:cNvPr id="22" name="Text 17"/>
          <p:cNvSpPr txBox="1"/>
          <p:nvPr/>
        </p:nvSpPr>
        <p:spPr>
          <a:xfrm>
            <a:off x="8204200" y="2870200"/>
            <a:ext cx="3022600" cy="685800"/>
          </a:xfrm>
          <a:prstGeom prst="rect">
            <a:avLst/>
          </a:prstGeom>
          <a:noFill/>
          <a:ln/>
        </p:spPr>
        <p:txBody>
          <a:bodyPr wrap="square" lIns="0" tIns="0" rIns="0" bIns="0" rtlCol="0" anchor="ctr"/>
          <a:lstStyle/>
          <a:p>
            <a:pPr algn="l"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Lean on experts: business analysts, prior team members. Wider support: [TBD]</a:t>
            </a:r>
            <a:endParaRPr lang="en-US" sz="1200" dirty="0"/>
          </a:p>
        </p:txBody>
      </p:sp>
      <p:sp>
        <p:nvSpPr>
          <p:cNvPr id="23" name="Shape 18"/>
          <p:cNvSpPr/>
          <p:nvPr/>
        </p:nvSpPr>
        <p:spPr>
          <a:xfrm>
            <a:off x="4673600" y="3784600"/>
            <a:ext cx="2667000" cy="889000"/>
          </a:xfrm>
          <a:prstGeom prst="roundRect">
            <a:avLst>
              <a:gd name="adj" fmla="val 10286"/>
            </a:avLst>
          </a:prstGeom>
          <a:solidFill>
            <a:srgbClr val="FDFCF9"/>
          </a:solidFill>
          <a:ln w="19050">
            <a:solidFill>
              <a:srgbClr val="A0521A"/>
            </a:solidFill>
            <a:prstDash val="solid"/>
          </a:ln>
        </p:spPr>
      </p:sp>
      <p:sp>
        <p:nvSpPr>
          <p:cNvPr id="24" name="Text 19"/>
          <p:cNvSpPr txBox="1"/>
          <p:nvPr/>
        </p:nvSpPr>
        <p:spPr>
          <a:xfrm>
            <a:off x="4826000" y="3886200"/>
            <a:ext cx="2413000" cy="254000"/>
          </a:xfrm>
          <a:prstGeom prst="rect">
            <a:avLst/>
          </a:prstGeom>
          <a:noFill/>
          <a:ln/>
        </p:spPr>
        <p:txBody>
          <a:bodyPr wrap="square" lIns="0" tIns="0" rIns="0" bIns="0" rtlCol="0" anchor="t"/>
          <a:lstStyle/>
          <a:p>
            <a:pPr algn="l" indent="0" marL="0">
              <a:lnSpc>
                <a:spcPct val="115000"/>
              </a:lnSpc>
              <a:buNone/>
            </a:pPr>
            <a:r>
              <a:rPr lang="en-US" sz="1400" b="1" dirty="0">
                <a:solidFill>
                  <a:srgbClr val="14213D"/>
                </a:solidFill>
                <a:latin typeface="Optimist Sans" pitchFamily="34" charset="0"/>
                <a:ea typeface="Optimist Sans" pitchFamily="34" charset="-122"/>
                <a:cs typeface="Optimist Sans" pitchFamily="34" charset="-120"/>
              </a:rPr>
              <a:t>BAU delivery at risk</a:t>
            </a:r>
            <a:endParaRPr lang="en-US" sz="1400" dirty="0"/>
          </a:p>
        </p:txBody>
      </p:sp>
      <p:sp>
        <p:nvSpPr>
          <p:cNvPr id="25" name="Text 20"/>
          <p:cNvSpPr txBox="1"/>
          <p:nvPr/>
        </p:nvSpPr>
        <p:spPr>
          <a:xfrm>
            <a:off x="4826000" y="4165600"/>
            <a:ext cx="2413000" cy="444500"/>
          </a:xfrm>
          <a:prstGeom prst="rect">
            <a:avLst/>
          </a:prstGeom>
          <a:noFill/>
          <a:ln/>
        </p:spPr>
        <p:txBody>
          <a:bodyPr wrap="square" lIns="0" tIns="0" rIns="0" bIns="0" rtlCol="0" anchor="t"/>
          <a:lstStyle/>
          <a:p>
            <a:pPr algn="l"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Transition pulls focus from in-flight model deliverables</a:t>
            </a:r>
            <a:endParaRPr lang="en-US" sz="1200" dirty="0"/>
          </a:p>
        </p:txBody>
      </p:sp>
      <p:sp>
        <p:nvSpPr>
          <p:cNvPr id="26" name="Shape 21"/>
          <p:cNvSpPr/>
          <p:nvPr/>
        </p:nvSpPr>
        <p:spPr>
          <a:xfrm>
            <a:off x="7493000" y="4127500"/>
            <a:ext cx="406400" cy="203200"/>
          </a:xfrm>
          <a:prstGeom prst="rightArrow">
            <a:avLst/>
          </a:prstGeom>
          <a:solidFill>
            <a:srgbClr val="8A8F98"/>
          </a:solidFill>
          <a:ln/>
        </p:spPr>
      </p:sp>
      <p:sp>
        <p:nvSpPr>
          <p:cNvPr id="27" name="Shape 22"/>
          <p:cNvSpPr/>
          <p:nvPr/>
        </p:nvSpPr>
        <p:spPr>
          <a:xfrm>
            <a:off x="8051800" y="3784600"/>
            <a:ext cx="3327400" cy="889000"/>
          </a:xfrm>
          <a:prstGeom prst="roundRect">
            <a:avLst>
              <a:gd name="adj" fmla="val 10286"/>
            </a:avLst>
          </a:prstGeom>
          <a:solidFill>
            <a:srgbClr val="E1EEF0"/>
          </a:solidFill>
          <a:ln w="19050">
            <a:solidFill>
              <a:srgbClr val="1F6F7E"/>
            </a:solidFill>
            <a:prstDash val="solid"/>
          </a:ln>
        </p:spPr>
      </p:sp>
      <p:sp>
        <p:nvSpPr>
          <p:cNvPr id="28" name="Text 23"/>
          <p:cNvSpPr txBox="1"/>
          <p:nvPr/>
        </p:nvSpPr>
        <p:spPr>
          <a:xfrm>
            <a:off x="8204200" y="3886200"/>
            <a:ext cx="3022600" cy="685800"/>
          </a:xfrm>
          <a:prstGeom prst="rect">
            <a:avLst/>
          </a:prstGeom>
          <a:noFill/>
          <a:ln/>
        </p:spPr>
        <p:txBody>
          <a:bodyPr wrap="square" lIns="0" tIns="0" rIns="0" bIns="0" rtlCol="0" anchor="ctr"/>
          <a:lstStyle/>
          <a:p>
            <a:pPr algn="l"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Name owners and backups for critical deliverables through the transition</a:t>
            </a:r>
            <a:endParaRPr lang="en-US" sz="1200" dirty="0"/>
          </a:p>
        </p:txBody>
      </p:sp>
      <p:sp>
        <p:nvSpPr>
          <p:cNvPr id="29" name="Shape 24"/>
          <p:cNvSpPr/>
          <p:nvPr/>
        </p:nvSpPr>
        <p:spPr>
          <a:xfrm>
            <a:off x="4673600" y="4800600"/>
            <a:ext cx="2667000" cy="889000"/>
          </a:xfrm>
          <a:prstGeom prst="roundRect">
            <a:avLst>
              <a:gd name="adj" fmla="val 10286"/>
            </a:avLst>
          </a:prstGeom>
          <a:solidFill>
            <a:srgbClr val="FDFCF9"/>
          </a:solidFill>
          <a:ln w="19050">
            <a:solidFill>
              <a:srgbClr val="A0521A"/>
            </a:solidFill>
            <a:prstDash val="solid"/>
          </a:ln>
        </p:spPr>
      </p:sp>
      <p:sp>
        <p:nvSpPr>
          <p:cNvPr id="30" name="Text 25"/>
          <p:cNvSpPr txBox="1"/>
          <p:nvPr/>
        </p:nvSpPr>
        <p:spPr>
          <a:xfrm>
            <a:off x="4826000" y="4902200"/>
            <a:ext cx="2413000" cy="254000"/>
          </a:xfrm>
          <a:prstGeom prst="rect">
            <a:avLst/>
          </a:prstGeom>
          <a:noFill/>
          <a:ln/>
        </p:spPr>
        <p:txBody>
          <a:bodyPr wrap="square" lIns="0" tIns="0" rIns="0" bIns="0" rtlCol="0" anchor="t"/>
          <a:lstStyle/>
          <a:p>
            <a:pPr algn="l" indent="0" marL="0">
              <a:lnSpc>
                <a:spcPct val="115000"/>
              </a:lnSpc>
              <a:buNone/>
            </a:pPr>
            <a:r>
              <a:rPr lang="en-US" sz="1400" b="1" dirty="0">
                <a:solidFill>
                  <a:srgbClr val="14213D"/>
                </a:solidFill>
                <a:latin typeface="Optimist Sans" pitchFamily="34" charset="0"/>
                <a:ea typeface="Optimist Sans" pitchFamily="34" charset="-122"/>
                <a:cs typeface="Optimist Sans" pitchFamily="34" charset="-120"/>
              </a:rPr>
              <a:t>Rework hurts morale</a:t>
            </a:r>
            <a:endParaRPr lang="en-US" sz="1400" dirty="0"/>
          </a:p>
        </p:txBody>
      </p:sp>
      <p:sp>
        <p:nvSpPr>
          <p:cNvPr id="31" name="Text 26"/>
          <p:cNvSpPr txBox="1"/>
          <p:nvPr/>
        </p:nvSpPr>
        <p:spPr>
          <a:xfrm>
            <a:off x="4826000" y="5181600"/>
            <a:ext cx="2413000" cy="444500"/>
          </a:xfrm>
          <a:prstGeom prst="rect">
            <a:avLst/>
          </a:prstGeom>
          <a:noFill/>
          <a:ln/>
        </p:spPr>
        <p:txBody>
          <a:bodyPr wrap="square" lIns="0" tIns="0" rIns="0" bIns="0" rtlCol="0" anchor="t"/>
          <a:lstStyle/>
          <a:p>
            <a:pPr algn="l"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New vision revisits past decisions, forcing rework</a:t>
            </a:r>
            <a:endParaRPr lang="en-US" sz="1200" dirty="0"/>
          </a:p>
        </p:txBody>
      </p:sp>
      <p:sp>
        <p:nvSpPr>
          <p:cNvPr id="32" name="Shape 27"/>
          <p:cNvSpPr/>
          <p:nvPr/>
        </p:nvSpPr>
        <p:spPr>
          <a:xfrm>
            <a:off x="7493000" y="5143500"/>
            <a:ext cx="406400" cy="203200"/>
          </a:xfrm>
          <a:prstGeom prst="rightArrow">
            <a:avLst/>
          </a:prstGeom>
          <a:solidFill>
            <a:srgbClr val="8A8F98"/>
          </a:solidFill>
          <a:ln/>
        </p:spPr>
      </p:sp>
      <p:sp>
        <p:nvSpPr>
          <p:cNvPr id="33" name="Shape 28"/>
          <p:cNvSpPr/>
          <p:nvPr/>
        </p:nvSpPr>
        <p:spPr>
          <a:xfrm>
            <a:off x="8051800" y="4800600"/>
            <a:ext cx="3327400" cy="889000"/>
          </a:xfrm>
          <a:prstGeom prst="roundRect">
            <a:avLst>
              <a:gd name="adj" fmla="val 10286"/>
            </a:avLst>
          </a:prstGeom>
          <a:solidFill>
            <a:srgbClr val="E1EEF0"/>
          </a:solidFill>
          <a:ln w="19050">
            <a:solidFill>
              <a:srgbClr val="1F6F7E"/>
            </a:solidFill>
            <a:prstDash val="solid"/>
          </a:ln>
        </p:spPr>
      </p:sp>
      <p:sp>
        <p:nvSpPr>
          <p:cNvPr id="34" name="Text 29"/>
          <p:cNvSpPr txBox="1"/>
          <p:nvPr/>
        </p:nvSpPr>
        <p:spPr>
          <a:xfrm>
            <a:off x="8204200" y="4902200"/>
            <a:ext cx="3022600" cy="685800"/>
          </a:xfrm>
          <a:prstGeom prst="rect">
            <a:avLst/>
          </a:prstGeom>
          <a:noFill/>
          <a:ln/>
        </p:spPr>
        <p:txBody>
          <a:bodyPr wrap="square" lIns="0" tIns="0" rIns="0" bIns="0" rtlCol="0" anchor="ctr"/>
          <a:lstStyle/>
          <a:p>
            <a:pPr algn="l"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Share the vision from day one; leading the team, not partnering with it, makes buy-in easier</a:t>
            </a:r>
            <a:endParaRPr lang="en-US" sz="1200" dirty="0"/>
          </a:p>
        </p:txBody>
      </p:sp>
      <p:sp>
        <p:nvSpPr>
          <p:cNvPr id="35" name="Text 30"/>
          <p:cNvSpPr txBox="1"/>
          <p:nvPr/>
        </p:nvSpPr>
        <p:spPr>
          <a:xfrm>
            <a:off x="812800" y="6235700"/>
            <a:ext cx="9779000" cy="2159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Draft for discussion · Bracketed text is still to be decided</a:t>
            </a:r>
            <a:endParaRPr lang="en-US" sz="1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A0521A"/>
                </a:solidFill>
                <a:latin typeface="Optimist Sans" pitchFamily="34" charset="0"/>
                <a:ea typeface="Optimist Sans" pitchFamily="34" charset="-122"/>
                <a:cs typeface="Optimist Sans" pitchFamily="34" charset="-120"/>
              </a:rPr>
              <a:t>TEAM STRUCTURE</a:t>
            </a:r>
            <a:endParaRPr lang="en-US" sz="1200" dirty="0"/>
          </a:p>
        </p:txBody>
      </p:sp>
      <p:sp>
        <p:nvSpPr>
          <p:cNvPr id="3" name="Text 0"/>
          <p:cNvSpPr/>
          <p:nvPr>
            <p:ph idx="100" type="title" hasCustomPrompt="1"/>
          </p:nvPr>
        </p:nvSpPr>
        <p:spPr>
          <a:xfrm>
            <a:off x="812800" y="1117600"/>
            <a:ext cx="10566400" cy="1016000"/>
          </a:xfrm>
          <a:prstGeom prst="rect">
            <a:avLst/>
          </a:prstGeom>
          <a:noFill/>
          <a:ln/>
        </p:spPr>
        <p:txBody>
          <a:bodyPr wrap="square" lIns="0" tIns="0" rIns="0" bIns="0" rtlCol="0" anchor="t"/>
          <a:lstStyle/>
          <a:p>
            <a:pPr algn="l" indent="0" marL="0">
              <a:buNone/>
            </a:pPr>
            <a:r>
              <a:rPr lang="en-US" sz="3200" b="1" dirty="0">
                <a:solidFill>
                  <a:srgbClr val="14213D"/>
                </a:solidFill>
                <a:latin typeface="Optimist Display" pitchFamily="34" charset="0"/>
                <a:ea typeface="Optimist Display" pitchFamily="34" charset="-122"/>
                <a:cs typeface="Optimist Display" pitchFamily="34" charset="-120"/>
              </a:rPr>
              <a:t>Four functions report to one team lead, from run-the-business to change-the-business</a:t>
            </a:r>
            <a:endParaRPr lang="en-US" sz="3200" dirty="0"/>
          </a:p>
        </p:txBody>
      </p:sp>
      <p:sp>
        <p:nvSpPr>
          <p:cNvPr id="4" name="Shape 2"/>
          <p:cNvSpPr/>
          <p:nvPr/>
        </p:nvSpPr>
        <p:spPr>
          <a:xfrm>
            <a:off x="4953000" y="2349500"/>
            <a:ext cx="2286000" cy="508000"/>
          </a:xfrm>
          <a:prstGeom prst="roundRect">
            <a:avLst>
              <a:gd name="adj" fmla="val 27000"/>
            </a:avLst>
          </a:prstGeom>
          <a:solidFill>
            <a:srgbClr val="14213D"/>
          </a:solidFill>
          <a:ln/>
        </p:spPr>
      </p:sp>
      <p:sp>
        <p:nvSpPr>
          <p:cNvPr id="5" name="Text 3"/>
          <p:cNvSpPr txBox="1"/>
          <p:nvPr/>
        </p:nvSpPr>
        <p:spPr>
          <a:xfrm>
            <a:off x="4953000" y="2349500"/>
            <a:ext cx="2286000" cy="508000"/>
          </a:xfrm>
          <a:prstGeom prst="rect">
            <a:avLst/>
          </a:prstGeom>
          <a:noFill/>
          <a:ln/>
        </p:spPr>
        <p:txBody>
          <a:bodyPr wrap="square" lIns="0" tIns="0" rIns="0" bIns="0" rtlCol="0" anchor="ctr"/>
          <a:lstStyle/>
          <a:p>
            <a:pPr algn="ctr" indent="0" marL="0">
              <a:lnSpc>
                <a:spcPct val="115000"/>
              </a:lnSpc>
              <a:buNone/>
            </a:pPr>
            <a:r>
              <a:rPr lang="en-US" sz="1500" b="1" dirty="0">
                <a:solidFill>
                  <a:srgbClr val="F7F6F2"/>
                </a:solidFill>
                <a:latin typeface="Optimist Sans" pitchFamily="34" charset="0"/>
                <a:ea typeface="Optimist Sans" pitchFamily="34" charset="-122"/>
                <a:cs typeface="Optimist Sans" pitchFamily="34" charset="-120"/>
              </a:rPr>
              <a:t>[Team] Lead</a:t>
            </a:r>
            <a:endParaRPr lang="en-US" sz="1500" dirty="0"/>
          </a:p>
        </p:txBody>
      </p:sp>
      <p:sp>
        <p:nvSpPr>
          <p:cNvPr id="6" name="Shape 4"/>
          <p:cNvSpPr/>
          <p:nvPr/>
        </p:nvSpPr>
        <p:spPr>
          <a:xfrm>
            <a:off x="6096000" y="2857500"/>
            <a:ext cx="914" cy="222250"/>
          </a:xfrm>
          <a:prstGeom prst="line">
            <a:avLst/>
          </a:prstGeom>
          <a:noFill/>
          <a:ln w="25400">
            <a:solidFill>
              <a:srgbClr val="6B7280"/>
            </a:solidFill>
            <a:prstDash val="solid"/>
          </a:ln>
        </p:spPr>
      </p:sp>
      <p:sp>
        <p:nvSpPr>
          <p:cNvPr id="7" name="Shape 5"/>
          <p:cNvSpPr/>
          <p:nvPr/>
        </p:nvSpPr>
        <p:spPr>
          <a:xfrm>
            <a:off x="2057400" y="3079750"/>
            <a:ext cx="8077200" cy="914"/>
          </a:xfrm>
          <a:prstGeom prst="line">
            <a:avLst/>
          </a:prstGeom>
          <a:noFill/>
          <a:ln w="25400">
            <a:solidFill>
              <a:srgbClr val="6B7280"/>
            </a:solidFill>
            <a:prstDash val="solid"/>
          </a:ln>
        </p:spPr>
      </p:sp>
      <p:sp>
        <p:nvSpPr>
          <p:cNvPr id="8" name="Shape 6"/>
          <p:cNvSpPr/>
          <p:nvPr/>
        </p:nvSpPr>
        <p:spPr>
          <a:xfrm>
            <a:off x="2057400" y="3079750"/>
            <a:ext cx="914" cy="222250"/>
          </a:xfrm>
          <a:prstGeom prst="line">
            <a:avLst/>
          </a:prstGeom>
          <a:noFill/>
          <a:ln w="25400">
            <a:solidFill>
              <a:srgbClr val="6B7280"/>
            </a:solidFill>
            <a:prstDash val="solid"/>
          </a:ln>
        </p:spPr>
      </p:sp>
      <p:sp>
        <p:nvSpPr>
          <p:cNvPr id="9" name="Shape 7"/>
          <p:cNvSpPr/>
          <p:nvPr/>
        </p:nvSpPr>
        <p:spPr>
          <a:xfrm>
            <a:off x="4749800" y="3079750"/>
            <a:ext cx="914" cy="222250"/>
          </a:xfrm>
          <a:prstGeom prst="line">
            <a:avLst/>
          </a:prstGeom>
          <a:noFill/>
          <a:ln w="25400">
            <a:solidFill>
              <a:srgbClr val="6B7280"/>
            </a:solidFill>
            <a:prstDash val="solid"/>
          </a:ln>
        </p:spPr>
      </p:sp>
      <p:sp>
        <p:nvSpPr>
          <p:cNvPr id="10" name="Shape 8"/>
          <p:cNvSpPr/>
          <p:nvPr/>
        </p:nvSpPr>
        <p:spPr>
          <a:xfrm>
            <a:off x="7442200" y="3079750"/>
            <a:ext cx="914" cy="222250"/>
          </a:xfrm>
          <a:prstGeom prst="line">
            <a:avLst/>
          </a:prstGeom>
          <a:noFill/>
          <a:ln w="25400">
            <a:solidFill>
              <a:srgbClr val="6B7280"/>
            </a:solidFill>
            <a:prstDash val="solid"/>
          </a:ln>
        </p:spPr>
      </p:sp>
      <p:sp>
        <p:nvSpPr>
          <p:cNvPr id="11" name="Shape 9"/>
          <p:cNvSpPr/>
          <p:nvPr/>
        </p:nvSpPr>
        <p:spPr>
          <a:xfrm>
            <a:off x="10134600" y="3079750"/>
            <a:ext cx="914" cy="222250"/>
          </a:xfrm>
          <a:prstGeom prst="line">
            <a:avLst/>
          </a:prstGeom>
          <a:noFill/>
          <a:ln w="25400">
            <a:solidFill>
              <a:srgbClr val="6B7280"/>
            </a:solidFill>
            <a:prstDash val="solid"/>
          </a:ln>
        </p:spPr>
      </p:sp>
      <p:sp>
        <p:nvSpPr>
          <p:cNvPr id="12" name="Shape 10"/>
          <p:cNvSpPr/>
          <p:nvPr/>
        </p:nvSpPr>
        <p:spPr>
          <a:xfrm>
            <a:off x="812800" y="3302000"/>
            <a:ext cx="2489200" cy="1968500"/>
          </a:xfrm>
          <a:prstGeom prst="roundRect">
            <a:avLst>
              <a:gd name="adj" fmla="val 3716"/>
            </a:avLst>
          </a:prstGeom>
          <a:solidFill>
            <a:srgbClr val="FDFCF9"/>
          </a:solidFill>
          <a:ln w="19050">
            <a:solidFill>
              <a:srgbClr val="1F6F7E"/>
            </a:solidFill>
            <a:prstDash val="solid"/>
          </a:ln>
        </p:spPr>
      </p:sp>
      <p:sp>
        <p:nvSpPr>
          <p:cNvPr id="13" name="Text 11"/>
          <p:cNvSpPr txBox="1"/>
          <p:nvPr/>
        </p:nvSpPr>
        <p:spPr>
          <a:xfrm>
            <a:off x="965200" y="3454400"/>
            <a:ext cx="2184400" cy="254000"/>
          </a:xfrm>
          <a:prstGeom prst="rect">
            <a:avLst/>
          </a:prstGeom>
          <a:noFill/>
          <a:ln/>
        </p:spPr>
        <p:txBody>
          <a:bodyPr wrap="square" lIns="0" tIns="0" rIns="0" bIns="0" rtlCol="0" anchor="t"/>
          <a:lstStyle/>
          <a:p>
            <a:pPr algn="l" indent="0" marL="0">
              <a:lnSpc>
                <a:spcPct val="115000"/>
              </a:lnSpc>
              <a:buNone/>
            </a:pPr>
            <a:r>
              <a:rPr lang="en-US" sz="1400" b="1" dirty="0">
                <a:solidFill>
                  <a:srgbClr val="14213D"/>
                </a:solidFill>
                <a:latin typeface="Optimist Sans" pitchFamily="34" charset="0"/>
                <a:ea typeface="Optimist Sans" pitchFamily="34" charset="-122"/>
                <a:cs typeface="Optimist Sans" pitchFamily="34" charset="-120"/>
              </a:rPr>
              <a:t>Modeling &amp; Automation</a:t>
            </a:r>
            <a:endParaRPr lang="en-US" sz="1400" dirty="0"/>
          </a:p>
        </p:txBody>
      </p:sp>
      <p:sp>
        <p:nvSpPr>
          <p:cNvPr id="14" name="Text 12"/>
          <p:cNvSpPr txBox="1"/>
          <p:nvPr/>
        </p:nvSpPr>
        <p:spPr>
          <a:xfrm>
            <a:off x="965200" y="3759200"/>
            <a:ext cx="2184400" cy="571500"/>
          </a:xfrm>
          <a:prstGeom prst="rect">
            <a:avLst/>
          </a:prstGeom>
          <a:noFill/>
          <a:ln/>
        </p:spPr>
        <p:txBody>
          <a:bodyPr wrap="square" lIns="0" tIns="0" rIns="0" bIns="0" rtlCol="0" anchor="t"/>
          <a:lstStyle/>
          <a:p>
            <a:pPr algn="l"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Leaner modeling, automated with AI</a:t>
            </a:r>
            <a:endParaRPr lang="en-US" sz="1200" dirty="0"/>
          </a:p>
        </p:txBody>
      </p:sp>
      <p:sp>
        <p:nvSpPr>
          <p:cNvPr id="15" name="Text 13"/>
          <p:cNvSpPr txBox="1"/>
          <p:nvPr/>
        </p:nvSpPr>
        <p:spPr>
          <a:xfrm>
            <a:off x="965200" y="4572000"/>
            <a:ext cx="2184400" cy="2032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Built from</a:t>
            </a:r>
            <a:endParaRPr lang="en-US" sz="1200" dirty="0"/>
          </a:p>
        </p:txBody>
      </p:sp>
      <p:sp>
        <p:nvSpPr>
          <p:cNvPr id="16" name="Shape 14"/>
          <p:cNvSpPr/>
          <p:nvPr/>
        </p:nvSpPr>
        <p:spPr>
          <a:xfrm>
            <a:off x="965200" y="4826000"/>
            <a:ext cx="863600" cy="279400"/>
          </a:xfrm>
          <a:prstGeom prst="roundRect">
            <a:avLst>
              <a:gd name="adj" fmla="val 65455"/>
            </a:avLst>
          </a:prstGeom>
          <a:solidFill>
            <a:srgbClr val="E1EEF0"/>
          </a:solidFill>
          <a:ln/>
        </p:spPr>
      </p:sp>
      <p:sp>
        <p:nvSpPr>
          <p:cNvPr id="17" name="Text 15"/>
          <p:cNvSpPr txBox="1"/>
          <p:nvPr/>
        </p:nvSpPr>
        <p:spPr>
          <a:xfrm>
            <a:off x="965200" y="4826000"/>
            <a:ext cx="863600" cy="2794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Modeling</a:t>
            </a:r>
            <a:endParaRPr lang="en-US" sz="1200" dirty="0"/>
          </a:p>
        </p:txBody>
      </p:sp>
      <p:sp>
        <p:nvSpPr>
          <p:cNvPr id="18" name="Shape 16"/>
          <p:cNvSpPr/>
          <p:nvPr/>
        </p:nvSpPr>
        <p:spPr>
          <a:xfrm>
            <a:off x="1892300" y="4826000"/>
            <a:ext cx="1028700" cy="279400"/>
          </a:xfrm>
          <a:prstGeom prst="roundRect">
            <a:avLst>
              <a:gd name="adj" fmla="val 65455"/>
            </a:avLst>
          </a:prstGeom>
          <a:solidFill>
            <a:srgbClr val="E1EEF0"/>
          </a:solidFill>
          <a:ln/>
        </p:spPr>
      </p:sp>
      <p:sp>
        <p:nvSpPr>
          <p:cNvPr id="19" name="Text 17"/>
          <p:cNvSpPr txBox="1"/>
          <p:nvPr/>
        </p:nvSpPr>
        <p:spPr>
          <a:xfrm>
            <a:off x="1892300" y="4826000"/>
            <a:ext cx="1028700" cy="2794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Tool build</a:t>
            </a:r>
            <a:endParaRPr lang="en-US" sz="1200" dirty="0"/>
          </a:p>
        </p:txBody>
      </p:sp>
      <p:sp>
        <p:nvSpPr>
          <p:cNvPr id="20" name="Shape 18"/>
          <p:cNvSpPr/>
          <p:nvPr/>
        </p:nvSpPr>
        <p:spPr>
          <a:xfrm>
            <a:off x="3505200" y="3302000"/>
            <a:ext cx="2489200" cy="1968500"/>
          </a:xfrm>
          <a:prstGeom prst="roundRect">
            <a:avLst>
              <a:gd name="adj" fmla="val 3716"/>
            </a:avLst>
          </a:prstGeom>
          <a:solidFill>
            <a:srgbClr val="FDFCF9"/>
          </a:solidFill>
          <a:ln w="19050">
            <a:solidFill>
              <a:srgbClr val="1F6F7E"/>
            </a:solidFill>
            <a:prstDash val="solid"/>
          </a:ln>
        </p:spPr>
      </p:sp>
      <p:sp>
        <p:nvSpPr>
          <p:cNvPr id="21" name="Text 19"/>
          <p:cNvSpPr txBox="1"/>
          <p:nvPr/>
        </p:nvSpPr>
        <p:spPr>
          <a:xfrm>
            <a:off x="3657600" y="3454400"/>
            <a:ext cx="2184400" cy="254000"/>
          </a:xfrm>
          <a:prstGeom prst="rect">
            <a:avLst/>
          </a:prstGeom>
          <a:noFill/>
          <a:ln/>
        </p:spPr>
        <p:txBody>
          <a:bodyPr wrap="square" lIns="0" tIns="0" rIns="0" bIns="0" rtlCol="0" anchor="t"/>
          <a:lstStyle/>
          <a:p>
            <a:pPr algn="l" indent="0" marL="0">
              <a:lnSpc>
                <a:spcPct val="115000"/>
              </a:lnSpc>
              <a:buNone/>
            </a:pPr>
            <a:r>
              <a:rPr lang="en-US" sz="1400" b="1" dirty="0">
                <a:solidFill>
                  <a:srgbClr val="14213D"/>
                </a:solidFill>
                <a:latin typeface="Optimist Sans" pitchFamily="34" charset="0"/>
                <a:ea typeface="Optimist Sans" pitchFamily="34" charset="-122"/>
                <a:cs typeface="Optimist Sans" pitchFamily="34" charset="-120"/>
              </a:rPr>
              <a:t>Data Foundation</a:t>
            </a:r>
            <a:endParaRPr lang="en-US" sz="1400" dirty="0"/>
          </a:p>
        </p:txBody>
      </p:sp>
      <p:sp>
        <p:nvSpPr>
          <p:cNvPr id="22" name="Text 20"/>
          <p:cNvSpPr txBox="1"/>
          <p:nvPr/>
        </p:nvSpPr>
        <p:spPr>
          <a:xfrm>
            <a:off x="3657600" y="3759200"/>
            <a:ext cx="2184400" cy="571500"/>
          </a:xfrm>
          <a:prstGeom prst="rect">
            <a:avLst/>
          </a:prstGeom>
          <a:noFill/>
          <a:ln/>
        </p:spPr>
        <p:txBody>
          <a:bodyPr wrap="square" lIns="0" tIns="0" rIns="0" bIns="0" rtlCol="0" anchor="t"/>
          <a:lstStyle/>
          <a:p>
            <a:pPr algn="l"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The base every team relies on; may need investment</a:t>
            </a:r>
            <a:endParaRPr lang="en-US" sz="1200" dirty="0"/>
          </a:p>
        </p:txBody>
      </p:sp>
      <p:sp>
        <p:nvSpPr>
          <p:cNvPr id="23" name="Text 21"/>
          <p:cNvSpPr txBox="1"/>
          <p:nvPr/>
        </p:nvSpPr>
        <p:spPr>
          <a:xfrm>
            <a:off x="3657600" y="4572000"/>
            <a:ext cx="2184400" cy="2032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Built from</a:t>
            </a:r>
            <a:endParaRPr lang="en-US" sz="1200" dirty="0"/>
          </a:p>
        </p:txBody>
      </p:sp>
      <p:sp>
        <p:nvSpPr>
          <p:cNvPr id="24" name="Shape 22"/>
          <p:cNvSpPr/>
          <p:nvPr/>
        </p:nvSpPr>
        <p:spPr>
          <a:xfrm>
            <a:off x="3657600" y="4826000"/>
            <a:ext cx="946150" cy="279400"/>
          </a:xfrm>
          <a:prstGeom prst="roundRect">
            <a:avLst>
              <a:gd name="adj" fmla="val 65455"/>
            </a:avLst>
          </a:prstGeom>
          <a:solidFill>
            <a:srgbClr val="E1EEF0"/>
          </a:solidFill>
          <a:ln/>
        </p:spPr>
      </p:sp>
      <p:sp>
        <p:nvSpPr>
          <p:cNvPr id="25" name="Text 23"/>
          <p:cNvSpPr txBox="1"/>
          <p:nvPr/>
        </p:nvSpPr>
        <p:spPr>
          <a:xfrm>
            <a:off x="3657600" y="4826000"/>
            <a:ext cx="946150" cy="2794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Data team</a:t>
            </a:r>
            <a:endParaRPr lang="en-US" sz="1200" dirty="0"/>
          </a:p>
        </p:txBody>
      </p:sp>
      <p:sp>
        <p:nvSpPr>
          <p:cNvPr id="26" name="Shape 24"/>
          <p:cNvSpPr/>
          <p:nvPr/>
        </p:nvSpPr>
        <p:spPr>
          <a:xfrm>
            <a:off x="6197600" y="3302000"/>
            <a:ext cx="2489200" cy="1968500"/>
          </a:xfrm>
          <a:prstGeom prst="roundRect">
            <a:avLst>
              <a:gd name="adj" fmla="val 3716"/>
            </a:avLst>
          </a:prstGeom>
          <a:solidFill>
            <a:srgbClr val="FDFCF9"/>
          </a:solidFill>
          <a:ln w="19050">
            <a:solidFill>
              <a:srgbClr val="1F6F7E"/>
            </a:solidFill>
            <a:prstDash val="solid"/>
          </a:ln>
        </p:spPr>
      </p:sp>
      <p:sp>
        <p:nvSpPr>
          <p:cNvPr id="27" name="Text 25"/>
          <p:cNvSpPr txBox="1"/>
          <p:nvPr/>
        </p:nvSpPr>
        <p:spPr>
          <a:xfrm>
            <a:off x="6350000" y="3454400"/>
            <a:ext cx="2184400" cy="254000"/>
          </a:xfrm>
          <a:prstGeom prst="rect">
            <a:avLst/>
          </a:prstGeom>
          <a:noFill/>
          <a:ln/>
        </p:spPr>
        <p:txBody>
          <a:bodyPr wrap="square" lIns="0" tIns="0" rIns="0" bIns="0" rtlCol="0" anchor="t"/>
          <a:lstStyle/>
          <a:p>
            <a:pPr algn="l" indent="0" marL="0">
              <a:lnSpc>
                <a:spcPct val="115000"/>
              </a:lnSpc>
              <a:buNone/>
            </a:pPr>
            <a:r>
              <a:rPr lang="en-US" sz="1400" b="1" dirty="0">
                <a:solidFill>
                  <a:srgbClr val="14213D"/>
                </a:solidFill>
                <a:latin typeface="Optimist Sans" pitchFamily="34" charset="0"/>
                <a:ea typeface="Optimist Sans" pitchFamily="34" charset="-122"/>
                <a:cs typeface="Optimist Sans" pitchFamily="34" charset="-120"/>
              </a:rPr>
              <a:t>Platform &amp; Deployment</a:t>
            </a:r>
            <a:endParaRPr lang="en-US" sz="1400" dirty="0"/>
          </a:p>
        </p:txBody>
      </p:sp>
      <p:sp>
        <p:nvSpPr>
          <p:cNvPr id="28" name="Text 26"/>
          <p:cNvSpPr txBox="1"/>
          <p:nvPr/>
        </p:nvSpPr>
        <p:spPr>
          <a:xfrm>
            <a:off x="6350000" y="3759200"/>
            <a:ext cx="2184400" cy="571500"/>
          </a:xfrm>
          <a:prstGeom prst="rect">
            <a:avLst/>
          </a:prstGeom>
          <a:noFill/>
          <a:ln/>
        </p:spPr>
        <p:txBody>
          <a:bodyPr wrap="square" lIns="0" tIns="0" rIns="0" bIns="0" rtlCol="0" anchor="t"/>
          <a:lstStyle/>
          <a:p>
            <a:pPr algn="l"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Closest to product tech; runs large projects</a:t>
            </a:r>
            <a:endParaRPr lang="en-US" sz="1200" dirty="0"/>
          </a:p>
        </p:txBody>
      </p:sp>
      <p:sp>
        <p:nvSpPr>
          <p:cNvPr id="29" name="Text 27"/>
          <p:cNvSpPr txBox="1"/>
          <p:nvPr/>
        </p:nvSpPr>
        <p:spPr>
          <a:xfrm>
            <a:off x="6350000" y="4572000"/>
            <a:ext cx="2184400" cy="2032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Built from</a:t>
            </a:r>
            <a:endParaRPr lang="en-US" sz="1200" dirty="0"/>
          </a:p>
        </p:txBody>
      </p:sp>
      <p:sp>
        <p:nvSpPr>
          <p:cNvPr id="30" name="Shape 28"/>
          <p:cNvSpPr/>
          <p:nvPr/>
        </p:nvSpPr>
        <p:spPr>
          <a:xfrm>
            <a:off x="6350000" y="4826000"/>
            <a:ext cx="450850" cy="279400"/>
          </a:xfrm>
          <a:prstGeom prst="roundRect">
            <a:avLst>
              <a:gd name="adj" fmla="val 65455"/>
            </a:avLst>
          </a:prstGeom>
          <a:solidFill>
            <a:srgbClr val="E1EEF0"/>
          </a:solidFill>
          <a:ln/>
        </p:spPr>
      </p:sp>
      <p:sp>
        <p:nvSpPr>
          <p:cNvPr id="31" name="Text 29"/>
          <p:cNvSpPr txBox="1"/>
          <p:nvPr/>
        </p:nvSpPr>
        <p:spPr>
          <a:xfrm>
            <a:off x="6350000" y="4826000"/>
            <a:ext cx="450850" cy="2794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R&amp;D</a:t>
            </a:r>
            <a:endParaRPr lang="en-US" sz="1200" dirty="0"/>
          </a:p>
        </p:txBody>
      </p:sp>
      <p:sp>
        <p:nvSpPr>
          <p:cNvPr id="32" name="Shape 30"/>
          <p:cNvSpPr/>
          <p:nvPr/>
        </p:nvSpPr>
        <p:spPr>
          <a:xfrm>
            <a:off x="6864350" y="4826000"/>
            <a:ext cx="1028700" cy="279400"/>
          </a:xfrm>
          <a:prstGeom prst="roundRect">
            <a:avLst>
              <a:gd name="adj" fmla="val 65455"/>
            </a:avLst>
          </a:prstGeom>
          <a:solidFill>
            <a:srgbClr val="E1EEF0"/>
          </a:solidFill>
          <a:ln/>
        </p:spPr>
      </p:sp>
      <p:sp>
        <p:nvSpPr>
          <p:cNvPr id="33" name="Text 31"/>
          <p:cNvSpPr txBox="1"/>
          <p:nvPr/>
        </p:nvSpPr>
        <p:spPr>
          <a:xfrm>
            <a:off x="6864350" y="4826000"/>
            <a:ext cx="1028700" cy="2794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Deployment</a:t>
            </a:r>
            <a:endParaRPr lang="en-US" sz="1200" dirty="0"/>
          </a:p>
        </p:txBody>
      </p:sp>
      <p:sp>
        <p:nvSpPr>
          <p:cNvPr id="34" name="Shape 32"/>
          <p:cNvSpPr/>
          <p:nvPr/>
        </p:nvSpPr>
        <p:spPr>
          <a:xfrm>
            <a:off x="8890000" y="3302000"/>
            <a:ext cx="2489200" cy="1968500"/>
          </a:xfrm>
          <a:prstGeom prst="roundRect">
            <a:avLst>
              <a:gd name="adj" fmla="val 3716"/>
            </a:avLst>
          </a:prstGeom>
          <a:solidFill>
            <a:srgbClr val="14213D"/>
          </a:solidFill>
          <a:ln w="19050">
            <a:solidFill>
              <a:srgbClr val="14213D"/>
            </a:solidFill>
            <a:prstDash val="solid"/>
          </a:ln>
        </p:spPr>
      </p:sp>
      <p:sp>
        <p:nvSpPr>
          <p:cNvPr id="35" name="Text 33"/>
          <p:cNvSpPr txBox="1"/>
          <p:nvPr/>
        </p:nvSpPr>
        <p:spPr>
          <a:xfrm>
            <a:off x="9042400" y="3454400"/>
            <a:ext cx="2184400" cy="254000"/>
          </a:xfrm>
          <a:prstGeom prst="rect">
            <a:avLst/>
          </a:prstGeom>
          <a:noFill/>
          <a:ln/>
        </p:spPr>
        <p:txBody>
          <a:bodyPr wrap="square" lIns="0" tIns="0" rIns="0" bIns="0" rtlCol="0" anchor="t"/>
          <a:lstStyle/>
          <a:p>
            <a:pPr algn="l" indent="0" marL="0">
              <a:lnSpc>
                <a:spcPct val="115000"/>
              </a:lnSpc>
              <a:buNone/>
            </a:pPr>
            <a:r>
              <a:rPr lang="en-US" sz="1400" b="1" dirty="0">
                <a:solidFill>
                  <a:srgbClr val="F7F6F2"/>
                </a:solidFill>
                <a:latin typeface="Optimist Sans" pitchFamily="34" charset="0"/>
                <a:ea typeface="Optimist Sans" pitchFamily="34" charset="-122"/>
                <a:cs typeface="Optimist Sans" pitchFamily="34" charset="-120"/>
              </a:rPr>
              <a:t>AI Enablement</a:t>
            </a:r>
            <a:endParaRPr lang="en-US" sz="1400" dirty="0"/>
          </a:p>
        </p:txBody>
      </p:sp>
      <p:sp>
        <p:nvSpPr>
          <p:cNvPr id="36" name="Text 34"/>
          <p:cNvSpPr txBox="1"/>
          <p:nvPr/>
        </p:nvSpPr>
        <p:spPr>
          <a:xfrm>
            <a:off x="9042400" y="3759200"/>
            <a:ext cx="2184400" cy="571500"/>
          </a:xfrm>
          <a:prstGeom prst="rect">
            <a:avLst/>
          </a:prstGeom>
          <a:noFill/>
          <a:ln/>
        </p:spPr>
        <p:txBody>
          <a:bodyPr wrap="square" lIns="0" tIns="0" rIns="0" bIns="0" rtlCol="0" anchor="t"/>
          <a:lstStyle/>
          <a:p>
            <a:pPr algn="l" indent="0" marL="0">
              <a:lnSpc>
                <a:spcPct val="115000"/>
              </a:lnSpc>
              <a:buNone/>
            </a:pPr>
            <a:r>
              <a:rPr lang="en-US" sz="1200" dirty="0">
                <a:solidFill>
                  <a:srgbClr val="E3E8F0"/>
                </a:solidFill>
                <a:latin typeface="Optimist Sans" pitchFamily="34" charset="0"/>
                <a:ea typeface="Optimist Sans" pitchFamily="34" charset="-122"/>
                <a:cs typeface="Optimist Sans" pitchFamily="34" charset="-120"/>
              </a:rPr>
              <a:t>Builds tools that speed up the other three</a:t>
            </a:r>
            <a:endParaRPr lang="en-US" sz="1200" dirty="0"/>
          </a:p>
        </p:txBody>
      </p:sp>
      <p:sp>
        <p:nvSpPr>
          <p:cNvPr id="37" name="Text 35"/>
          <p:cNvSpPr txBox="1"/>
          <p:nvPr/>
        </p:nvSpPr>
        <p:spPr>
          <a:xfrm>
            <a:off x="9042400" y="4572000"/>
            <a:ext cx="2184400" cy="203200"/>
          </a:xfrm>
          <a:prstGeom prst="rect">
            <a:avLst/>
          </a:prstGeom>
          <a:noFill/>
          <a:ln/>
        </p:spPr>
        <p:txBody>
          <a:bodyPr wrap="square" lIns="0" tIns="0" rIns="0" bIns="0" rtlCol="0" anchor="t"/>
          <a:lstStyle/>
          <a:p>
            <a:pPr algn="l" indent="0" marL="0">
              <a:lnSpc>
                <a:spcPct val="115000"/>
              </a:lnSpc>
              <a:buNone/>
            </a:pPr>
            <a:r>
              <a:rPr lang="en-US" sz="1200" dirty="0">
                <a:solidFill>
                  <a:srgbClr val="BFCAD9"/>
                </a:solidFill>
                <a:latin typeface="Optimist Sans" pitchFamily="34" charset="0"/>
                <a:ea typeface="Optimist Sans" pitchFamily="34" charset="-122"/>
                <a:cs typeface="Optimist Sans" pitchFamily="34" charset="-120"/>
              </a:rPr>
              <a:t>Built from</a:t>
            </a:r>
            <a:endParaRPr lang="en-US" sz="1200" dirty="0"/>
          </a:p>
        </p:txBody>
      </p:sp>
      <p:sp>
        <p:nvSpPr>
          <p:cNvPr id="38" name="Shape 36"/>
          <p:cNvSpPr/>
          <p:nvPr/>
        </p:nvSpPr>
        <p:spPr>
          <a:xfrm>
            <a:off x="9042400" y="4826000"/>
            <a:ext cx="863600" cy="279400"/>
          </a:xfrm>
          <a:prstGeom prst="roundRect">
            <a:avLst>
              <a:gd name="adj" fmla="val 65455"/>
            </a:avLst>
          </a:prstGeom>
          <a:solidFill>
            <a:srgbClr val="F2C089"/>
          </a:solidFill>
          <a:ln/>
        </p:spPr>
      </p:sp>
      <p:sp>
        <p:nvSpPr>
          <p:cNvPr id="39" name="Text 37"/>
          <p:cNvSpPr txBox="1"/>
          <p:nvPr/>
        </p:nvSpPr>
        <p:spPr>
          <a:xfrm>
            <a:off x="9042400" y="4826000"/>
            <a:ext cx="863600" cy="2794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New team</a:t>
            </a:r>
            <a:endParaRPr lang="en-US" sz="1200" dirty="0"/>
          </a:p>
        </p:txBody>
      </p:sp>
      <p:sp>
        <p:nvSpPr>
          <p:cNvPr id="40" name="Shape 38"/>
          <p:cNvSpPr/>
          <p:nvPr/>
        </p:nvSpPr>
        <p:spPr>
          <a:xfrm>
            <a:off x="812800" y="5461000"/>
            <a:ext cx="270510" cy="76200"/>
          </a:xfrm>
          <a:prstGeom prst="rect">
            <a:avLst/>
          </a:prstGeom>
          <a:solidFill>
            <a:srgbClr val="1F6F7E"/>
          </a:solidFill>
          <a:ln/>
        </p:spPr>
      </p:sp>
      <p:sp>
        <p:nvSpPr>
          <p:cNvPr id="41" name="Shape 39"/>
          <p:cNvSpPr/>
          <p:nvPr/>
        </p:nvSpPr>
        <p:spPr>
          <a:xfrm>
            <a:off x="1076960" y="5461000"/>
            <a:ext cx="270510" cy="76200"/>
          </a:xfrm>
          <a:prstGeom prst="rect">
            <a:avLst/>
          </a:prstGeom>
          <a:solidFill>
            <a:srgbClr val="24707E"/>
          </a:solidFill>
          <a:ln/>
        </p:spPr>
      </p:sp>
      <p:sp>
        <p:nvSpPr>
          <p:cNvPr id="42" name="Shape 40"/>
          <p:cNvSpPr/>
          <p:nvPr/>
        </p:nvSpPr>
        <p:spPr>
          <a:xfrm>
            <a:off x="1341120" y="5461000"/>
            <a:ext cx="270510" cy="76200"/>
          </a:xfrm>
          <a:prstGeom prst="rect">
            <a:avLst/>
          </a:prstGeom>
          <a:solidFill>
            <a:srgbClr val="29727D"/>
          </a:solidFill>
          <a:ln/>
        </p:spPr>
      </p:sp>
      <p:sp>
        <p:nvSpPr>
          <p:cNvPr id="43" name="Shape 41"/>
          <p:cNvSpPr/>
          <p:nvPr/>
        </p:nvSpPr>
        <p:spPr>
          <a:xfrm>
            <a:off x="1605280" y="5461000"/>
            <a:ext cx="270510" cy="76200"/>
          </a:xfrm>
          <a:prstGeom prst="rect">
            <a:avLst/>
          </a:prstGeom>
          <a:solidFill>
            <a:srgbClr val="2E737D"/>
          </a:solidFill>
          <a:ln/>
        </p:spPr>
      </p:sp>
      <p:sp>
        <p:nvSpPr>
          <p:cNvPr id="44" name="Shape 42"/>
          <p:cNvSpPr/>
          <p:nvPr/>
        </p:nvSpPr>
        <p:spPr>
          <a:xfrm>
            <a:off x="1869440" y="5461000"/>
            <a:ext cx="270510" cy="76200"/>
          </a:xfrm>
          <a:prstGeom prst="rect">
            <a:avLst/>
          </a:prstGeom>
          <a:solidFill>
            <a:srgbClr val="33757C"/>
          </a:solidFill>
          <a:ln/>
        </p:spPr>
      </p:sp>
      <p:sp>
        <p:nvSpPr>
          <p:cNvPr id="45" name="Shape 43"/>
          <p:cNvSpPr/>
          <p:nvPr/>
        </p:nvSpPr>
        <p:spPr>
          <a:xfrm>
            <a:off x="2133600" y="5461000"/>
            <a:ext cx="270510" cy="76200"/>
          </a:xfrm>
          <a:prstGeom prst="rect">
            <a:avLst/>
          </a:prstGeom>
          <a:solidFill>
            <a:srgbClr val="38767C"/>
          </a:solidFill>
          <a:ln/>
        </p:spPr>
      </p:sp>
      <p:sp>
        <p:nvSpPr>
          <p:cNvPr id="46" name="Shape 44"/>
          <p:cNvSpPr/>
          <p:nvPr/>
        </p:nvSpPr>
        <p:spPr>
          <a:xfrm>
            <a:off x="2397760" y="5461000"/>
            <a:ext cx="270510" cy="76200"/>
          </a:xfrm>
          <a:prstGeom prst="rect">
            <a:avLst/>
          </a:prstGeom>
          <a:solidFill>
            <a:srgbClr val="3D787B"/>
          </a:solidFill>
          <a:ln/>
        </p:spPr>
      </p:sp>
      <p:sp>
        <p:nvSpPr>
          <p:cNvPr id="47" name="Shape 45"/>
          <p:cNvSpPr/>
          <p:nvPr/>
        </p:nvSpPr>
        <p:spPr>
          <a:xfrm>
            <a:off x="2661920" y="5461000"/>
            <a:ext cx="270510" cy="76200"/>
          </a:xfrm>
          <a:prstGeom prst="rect">
            <a:avLst/>
          </a:prstGeom>
          <a:solidFill>
            <a:srgbClr val="42797B"/>
          </a:solidFill>
          <a:ln/>
        </p:spPr>
      </p:sp>
      <p:sp>
        <p:nvSpPr>
          <p:cNvPr id="48" name="Shape 46"/>
          <p:cNvSpPr/>
          <p:nvPr/>
        </p:nvSpPr>
        <p:spPr>
          <a:xfrm>
            <a:off x="2926080" y="5461000"/>
            <a:ext cx="270510" cy="76200"/>
          </a:xfrm>
          <a:prstGeom prst="rect">
            <a:avLst/>
          </a:prstGeom>
          <a:solidFill>
            <a:srgbClr val="477B7A"/>
          </a:solidFill>
          <a:ln/>
        </p:spPr>
      </p:sp>
      <p:sp>
        <p:nvSpPr>
          <p:cNvPr id="49" name="Shape 47"/>
          <p:cNvSpPr/>
          <p:nvPr/>
        </p:nvSpPr>
        <p:spPr>
          <a:xfrm>
            <a:off x="3190240" y="5461000"/>
            <a:ext cx="270510" cy="76200"/>
          </a:xfrm>
          <a:prstGeom prst="rect">
            <a:avLst/>
          </a:prstGeom>
          <a:solidFill>
            <a:srgbClr val="4C7C7A"/>
          </a:solidFill>
          <a:ln/>
        </p:spPr>
      </p:sp>
      <p:sp>
        <p:nvSpPr>
          <p:cNvPr id="50" name="Shape 48"/>
          <p:cNvSpPr/>
          <p:nvPr/>
        </p:nvSpPr>
        <p:spPr>
          <a:xfrm>
            <a:off x="3454400" y="5461000"/>
            <a:ext cx="270510" cy="76200"/>
          </a:xfrm>
          <a:prstGeom prst="rect">
            <a:avLst/>
          </a:prstGeom>
          <a:solidFill>
            <a:srgbClr val="517E79"/>
          </a:solidFill>
          <a:ln/>
        </p:spPr>
      </p:sp>
      <p:sp>
        <p:nvSpPr>
          <p:cNvPr id="51" name="Shape 49"/>
          <p:cNvSpPr/>
          <p:nvPr/>
        </p:nvSpPr>
        <p:spPr>
          <a:xfrm>
            <a:off x="3718560" y="5461000"/>
            <a:ext cx="270510" cy="76200"/>
          </a:xfrm>
          <a:prstGeom prst="rect">
            <a:avLst/>
          </a:prstGeom>
          <a:solidFill>
            <a:srgbClr val="567F79"/>
          </a:solidFill>
          <a:ln/>
        </p:spPr>
      </p:sp>
      <p:sp>
        <p:nvSpPr>
          <p:cNvPr id="52" name="Shape 50"/>
          <p:cNvSpPr/>
          <p:nvPr/>
        </p:nvSpPr>
        <p:spPr>
          <a:xfrm>
            <a:off x="3982720" y="5461000"/>
            <a:ext cx="270510" cy="76200"/>
          </a:xfrm>
          <a:prstGeom prst="rect">
            <a:avLst/>
          </a:prstGeom>
          <a:solidFill>
            <a:srgbClr val="5B8178"/>
          </a:solidFill>
          <a:ln/>
        </p:spPr>
      </p:sp>
      <p:sp>
        <p:nvSpPr>
          <p:cNvPr id="53" name="Shape 51"/>
          <p:cNvSpPr/>
          <p:nvPr/>
        </p:nvSpPr>
        <p:spPr>
          <a:xfrm>
            <a:off x="4246880" y="5461000"/>
            <a:ext cx="270510" cy="76200"/>
          </a:xfrm>
          <a:prstGeom prst="rect">
            <a:avLst/>
          </a:prstGeom>
          <a:solidFill>
            <a:srgbClr val="608278"/>
          </a:solidFill>
          <a:ln/>
        </p:spPr>
      </p:sp>
      <p:sp>
        <p:nvSpPr>
          <p:cNvPr id="54" name="Shape 52"/>
          <p:cNvSpPr/>
          <p:nvPr/>
        </p:nvSpPr>
        <p:spPr>
          <a:xfrm>
            <a:off x="4511040" y="5461000"/>
            <a:ext cx="270510" cy="76200"/>
          </a:xfrm>
          <a:prstGeom prst="rect">
            <a:avLst/>
          </a:prstGeom>
          <a:solidFill>
            <a:srgbClr val="658377"/>
          </a:solidFill>
          <a:ln/>
        </p:spPr>
      </p:sp>
      <p:sp>
        <p:nvSpPr>
          <p:cNvPr id="55" name="Shape 53"/>
          <p:cNvSpPr/>
          <p:nvPr/>
        </p:nvSpPr>
        <p:spPr>
          <a:xfrm>
            <a:off x="4775200" y="5461000"/>
            <a:ext cx="270510" cy="76200"/>
          </a:xfrm>
          <a:prstGeom prst="rect">
            <a:avLst/>
          </a:prstGeom>
          <a:solidFill>
            <a:srgbClr val="6A8577"/>
          </a:solidFill>
          <a:ln/>
        </p:spPr>
      </p:sp>
      <p:sp>
        <p:nvSpPr>
          <p:cNvPr id="56" name="Shape 54"/>
          <p:cNvSpPr/>
          <p:nvPr/>
        </p:nvSpPr>
        <p:spPr>
          <a:xfrm>
            <a:off x="5039360" y="5461000"/>
            <a:ext cx="270510" cy="76200"/>
          </a:xfrm>
          <a:prstGeom prst="rect">
            <a:avLst/>
          </a:prstGeom>
          <a:solidFill>
            <a:srgbClr val="6F8676"/>
          </a:solidFill>
          <a:ln/>
        </p:spPr>
      </p:sp>
      <p:sp>
        <p:nvSpPr>
          <p:cNvPr id="57" name="Shape 55"/>
          <p:cNvSpPr/>
          <p:nvPr/>
        </p:nvSpPr>
        <p:spPr>
          <a:xfrm>
            <a:off x="5303520" y="5461000"/>
            <a:ext cx="270510" cy="76200"/>
          </a:xfrm>
          <a:prstGeom prst="rect">
            <a:avLst/>
          </a:prstGeom>
          <a:solidFill>
            <a:srgbClr val="748876"/>
          </a:solidFill>
          <a:ln/>
        </p:spPr>
      </p:sp>
      <p:sp>
        <p:nvSpPr>
          <p:cNvPr id="58" name="Shape 56"/>
          <p:cNvSpPr/>
          <p:nvPr/>
        </p:nvSpPr>
        <p:spPr>
          <a:xfrm>
            <a:off x="5567680" y="5461000"/>
            <a:ext cx="270510" cy="76200"/>
          </a:xfrm>
          <a:prstGeom prst="rect">
            <a:avLst/>
          </a:prstGeom>
          <a:solidFill>
            <a:srgbClr val="798975"/>
          </a:solidFill>
          <a:ln/>
        </p:spPr>
      </p:sp>
      <p:sp>
        <p:nvSpPr>
          <p:cNvPr id="59" name="Shape 57"/>
          <p:cNvSpPr/>
          <p:nvPr/>
        </p:nvSpPr>
        <p:spPr>
          <a:xfrm>
            <a:off x="5831840" y="5461000"/>
            <a:ext cx="270510" cy="76200"/>
          </a:xfrm>
          <a:prstGeom prst="rect">
            <a:avLst/>
          </a:prstGeom>
          <a:solidFill>
            <a:srgbClr val="7E8B75"/>
          </a:solidFill>
          <a:ln/>
        </p:spPr>
      </p:sp>
      <p:sp>
        <p:nvSpPr>
          <p:cNvPr id="60" name="Shape 58"/>
          <p:cNvSpPr/>
          <p:nvPr/>
        </p:nvSpPr>
        <p:spPr>
          <a:xfrm>
            <a:off x="6096000" y="5461000"/>
            <a:ext cx="270510" cy="76200"/>
          </a:xfrm>
          <a:prstGeom prst="rect">
            <a:avLst/>
          </a:prstGeom>
          <a:solidFill>
            <a:srgbClr val="848C74"/>
          </a:solidFill>
          <a:ln/>
        </p:spPr>
      </p:sp>
      <p:sp>
        <p:nvSpPr>
          <p:cNvPr id="61" name="Shape 59"/>
          <p:cNvSpPr/>
          <p:nvPr/>
        </p:nvSpPr>
        <p:spPr>
          <a:xfrm>
            <a:off x="6360160" y="5461000"/>
            <a:ext cx="270510" cy="76200"/>
          </a:xfrm>
          <a:prstGeom prst="rect">
            <a:avLst/>
          </a:prstGeom>
          <a:solidFill>
            <a:srgbClr val="898E74"/>
          </a:solidFill>
          <a:ln/>
        </p:spPr>
      </p:sp>
      <p:sp>
        <p:nvSpPr>
          <p:cNvPr id="62" name="Shape 60"/>
          <p:cNvSpPr/>
          <p:nvPr/>
        </p:nvSpPr>
        <p:spPr>
          <a:xfrm>
            <a:off x="6624320" y="5461000"/>
            <a:ext cx="270510" cy="76200"/>
          </a:xfrm>
          <a:prstGeom prst="rect">
            <a:avLst/>
          </a:prstGeom>
          <a:solidFill>
            <a:srgbClr val="8E8F73"/>
          </a:solidFill>
          <a:ln/>
        </p:spPr>
      </p:sp>
      <p:sp>
        <p:nvSpPr>
          <p:cNvPr id="63" name="Shape 61"/>
          <p:cNvSpPr/>
          <p:nvPr/>
        </p:nvSpPr>
        <p:spPr>
          <a:xfrm>
            <a:off x="6888480" y="5461000"/>
            <a:ext cx="270510" cy="76200"/>
          </a:xfrm>
          <a:prstGeom prst="rect">
            <a:avLst/>
          </a:prstGeom>
          <a:solidFill>
            <a:srgbClr val="939173"/>
          </a:solidFill>
          <a:ln/>
        </p:spPr>
      </p:sp>
      <p:sp>
        <p:nvSpPr>
          <p:cNvPr id="64" name="Shape 62"/>
          <p:cNvSpPr/>
          <p:nvPr/>
        </p:nvSpPr>
        <p:spPr>
          <a:xfrm>
            <a:off x="7152640" y="5461000"/>
            <a:ext cx="270510" cy="76200"/>
          </a:xfrm>
          <a:prstGeom prst="rect">
            <a:avLst/>
          </a:prstGeom>
          <a:solidFill>
            <a:srgbClr val="989272"/>
          </a:solidFill>
          <a:ln/>
        </p:spPr>
      </p:sp>
      <p:sp>
        <p:nvSpPr>
          <p:cNvPr id="65" name="Shape 63"/>
          <p:cNvSpPr/>
          <p:nvPr/>
        </p:nvSpPr>
        <p:spPr>
          <a:xfrm>
            <a:off x="7416800" y="5461000"/>
            <a:ext cx="270510" cy="76200"/>
          </a:xfrm>
          <a:prstGeom prst="rect">
            <a:avLst/>
          </a:prstGeom>
          <a:solidFill>
            <a:srgbClr val="9D9472"/>
          </a:solidFill>
          <a:ln/>
        </p:spPr>
      </p:sp>
      <p:sp>
        <p:nvSpPr>
          <p:cNvPr id="66" name="Shape 64"/>
          <p:cNvSpPr/>
          <p:nvPr/>
        </p:nvSpPr>
        <p:spPr>
          <a:xfrm>
            <a:off x="7680960" y="5461000"/>
            <a:ext cx="270510" cy="76200"/>
          </a:xfrm>
          <a:prstGeom prst="rect">
            <a:avLst/>
          </a:prstGeom>
          <a:solidFill>
            <a:srgbClr val="A29571"/>
          </a:solidFill>
          <a:ln/>
        </p:spPr>
      </p:sp>
      <p:sp>
        <p:nvSpPr>
          <p:cNvPr id="67" name="Shape 65"/>
          <p:cNvSpPr/>
          <p:nvPr/>
        </p:nvSpPr>
        <p:spPr>
          <a:xfrm>
            <a:off x="7945120" y="5461000"/>
            <a:ext cx="270510" cy="76200"/>
          </a:xfrm>
          <a:prstGeom prst="rect">
            <a:avLst/>
          </a:prstGeom>
          <a:solidFill>
            <a:srgbClr val="A79671"/>
          </a:solidFill>
          <a:ln/>
        </p:spPr>
      </p:sp>
      <p:sp>
        <p:nvSpPr>
          <p:cNvPr id="68" name="Shape 66"/>
          <p:cNvSpPr/>
          <p:nvPr/>
        </p:nvSpPr>
        <p:spPr>
          <a:xfrm>
            <a:off x="8209280" y="5461000"/>
            <a:ext cx="270510" cy="76200"/>
          </a:xfrm>
          <a:prstGeom prst="rect">
            <a:avLst/>
          </a:prstGeom>
          <a:solidFill>
            <a:srgbClr val="AC9870"/>
          </a:solidFill>
          <a:ln/>
        </p:spPr>
      </p:sp>
      <p:sp>
        <p:nvSpPr>
          <p:cNvPr id="69" name="Shape 67"/>
          <p:cNvSpPr/>
          <p:nvPr/>
        </p:nvSpPr>
        <p:spPr>
          <a:xfrm>
            <a:off x="8473440" y="5461000"/>
            <a:ext cx="270510" cy="76200"/>
          </a:xfrm>
          <a:prstGeom prst="rect">
            <a:avLst/>
          </a:prstGeom>
          <a:solidFill>
            <a:srgbClr val="B19970"/>
          </a:solidFill>
          <a:ln/>
        </p:spPr>
      </p:sp>
      <p:sp>
        <p:nvSpPr>
          <p:cNvPr id="70" name="Shape 68"/>
          <p:cNvSpPr/>
          <p:nvPr/>
        </p:nvSpPr>
        <p:spPr>
          <a:xfrm>
            <a:off x="8737600" y="5461000"/>
            <a:ext cx="270510" cy="76200"/>
          </a:xfrm>
          <a:prstGeom prst="rect">
            <a:avLst/>
          </a:prstGeom>
          <a:solidFill>
            <a:srgbClr val="B69B6F"/>
          </a:solidFill>
          <a:ln/>
        </p:spPr>
      </p:sp>
      <p:sp>
        <p:nvSpPr>
          <p:cNvPr id="71" name="Shape 69"/>
          <p:cNvSpPr/>
          <p:nvPr/>
        </p:nvSpPr>
        <p:spPr>
          <a:xfrm>
            <a:off x="9001760" y="5461000"/>
            <a:ext cx="270510" cy="76200"/>
          </a:xfrm>
          <a:prstGeom prst="rect">
            <a:avLst/>
          </a:prstGeom>
          <a:solidFill>
            <a:srgbClr val="BB9C6F"/>
          </a:solidFill>
          <a:ln/>
        </p:spPr>
      </p:sp>
      <p:sp>
        <p:nvSpPr>
          <p:cNvPr id="72" name="Shape 70"/>
          <p:cNvSpPr/>
          <p:nvPr/>
        </p:nvSpPr>
        <p:spPr>
          <a:xfrm>
            <a:off x="9265920" y="5461000"/>
            <a:ext cx="270510" cy="76200"/>
          </a:xfrm>
          <a:prstGeom prst="rect">
            <a:avLst/>
          </a:prstGeom>
          <a:solidFill>
            <a:srgbClr val="C09E6E"/>
          </a:solidFill>
          <a:ln/>
        </p:spPr>
      </p:sp>
      <p:sp>
        <p:nvSpPr>
          <p:cNvPr id="73" name="Shape 71"/>
          <p:cNvSpPr/>
          <p:nvPr/>
        </p:nvSpPr>
        <p:spPr>
          <a:xfrm>
            <a:off x="9530080" y="5461000"/>
            <a:ext cx="270510" cy="76200"/>
          </a:xfrm>
          <a:prstGeom prst="rect">
            <a:avLst/>
          </a:prstGeom>
          <a:solidFill>
            <a:srgbClr val="C59F6E"/>
          </a:solidFill>
          <a:ln/>
        </p:spPr>
      </p:sp>
      <p:sp>
        <p:nvSpPr>
          <p:cNvPr id="74" name="Shape 72"/>
          <p:cNvSpPr/>
          <p:nvPr/>
        </p:nvSpPr>
        <p:spPr>
          <a:xfrm>
            <a:off x="9794240" y="5461000"/>
            <a:ext cx="270510" cy="76200"/>
          </a:xfrm>
          <a:prstGeom prst="rect">
            <a:avLst/>
          </a:prstGeom>
          <a:solidFill>
            <a:srgbClr val="CAA16D"/>
          </a:solidFill>
          <a:ln/>
        </p:spPr>
      </p:sp>
      <p:sp>
        <p:nvSpPr>
          <p:cNvPr id="75" name="Shape 73"/>
          <p:cNvSpPr/>
          <p:nvPr/>
        </p:nvSpPr>
        <p:spPr>
          <a:xfrm>
            <a:off x="10058400" y="5461000"/>
            <a:ext cx="270510" cy="76200"/>
          </a:xfrm>
          <a:prstGeom prst="rect">
            <a:avLst/>
          </a:prstGeom>
          <a:solidFill>
            <a:srgbClr val="CFA26D"/>
          </a:solidFill>
          <a:ln/>
        </p:spPr>
      </p:sp>
      <p:sp>
        <p:nvSpPr>
          <p:cNvPr id="76" name="Shape 74"/>
          <p:cNvSpPr/>
          <p:nvPr/>
        </p:nvSpPr>
        <p:spPr>
          <a:xfrm>
            <a:off x="10322560" y="5461000"/>
            <a:ext cx="270510" cy="76200"/>
          </a:xfrm>
          <a:prstGeom prst="rect">
            <a:avLst/>
          </a:prstGeom>
          <a:solidFill>
            <a:srgbClr val="D4A46C"/>
          </a:solidFill>
          <a:ln/>
        </p:spPr>
      </p:sp>
      <p:sp>
        <p:nvSpPr>
          <p:cNvPr id="77" name="Shape 75"/>
          <p:cNvSpPr/>
          <p:nvPr/>
        </p:nvSpPr>
        <p:spPr>
          <a:xfrm>
            <a:off x="10586720" y="5461000"/>
            <a:ext cx="270510" cy="76200"/>
          </a:xfrm>
          <a:prstGeom prst="rect">
            <a:avLst/>
          </a:prstGeom>
          <a:solidFill>
            <a:srgbClr val="D9A56C"/>
          </a:solidFill>
          <a:ln/>
        </p:spPr>
      </p:sp>
      <p:sp>
        <p:nvSpPr>
          <p:cNvPr id="78" name="Shape 76"/>
          <p:cNvSpPr/>
          <p:nvPr/>
        </p:nvSpPr>
        <p:spPr>
          <a:xfrm>
            <a:off x="10850880" y="5461000"/>
            <a:ext cx="270510" cy="76200"/>
          </a:xfrm>
          <a:prstGeom prst="rect">
            <a:avLst/>
          </a:prstGeom>
          <a:solidFill>
            <a:srgbClr val="DEA76B"/>
          </a:solidFill>
          <a:ln/>
        </p:spPr>
      </p:sp>
      <p:sp>
        <p:nvSpPr>
          <p:cNvPr id="79" name="Shape 77"/>
          <p:cNvSpPr/>
          <p:nvPr/>
        </p:nvSpPr>
        <p:spPr>
          <a:xfrm>
            <a:off x="11115040" y="5461000"/>
            <a:ext cx="270510" cy="76200"/>
          </a:xfrm>
          <a:prstGeom prst="rect">
            <a:avLst/>
          </a:prstGeom>
          <a:solidFill>
            <a:srgbClr val="E3A86B"/>
          </a:solidFill>
          <a:ln/>
        </p:spPr>
      </p:sp>
      <p:sp>
        <p:nvSpPr>
          <p:cNvPr id="80" name="Text 78"/>
          <p:cNvSpPr txBox="1"/>
          <p:nvPr/>
        </p:nvSpPr>
        <p:spPr>
          <a:xfrm>
            <a:off x="812800" y="5613400"/>
            <a:ext cx="4826000" cy="215900"/>
          </a:xfrm>
          <a:prstGeom prst="rect">
            <a:avLst/>
          </a:prstGeom>
          <a:noFill/>
          <a:ln/>
        </p:spPr>
        <p:txBody>
          <a:bodyPr wrap="square" lIns="0" tIns="0" rIns="0" bIns="0" rtlCol="0" anchor="t"/>
          <a:lstStyle/>
          <a:p>
            <a:pPr algn="l"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 Run the business: BAU-heavy</a:t>
            </a:r>
            <a:endParaRPr lang="en-US" sz="1200" dirty="0"/>
          </a:p>
        </p:txBody>
      </p:sp>
      <p:sp>
        <p:nvSpPr>
          <p:cNvPr id="81" name="Text 79"/>
          <p:cNvSpPr txBox="1"/>
          <p:nvPr/>
        </p:nvSpPr>
        <p:spPr>
          <a:xfrm>
            <a:off x="6553200" y="5613400"/>
            <a:ext cx="4826000" cy="215900"/>
          </a:xfrm>
          <a:prstGeom prst="rect">
            <a:avLst/>
          </a:prstGeom>
          <a:noFill/>
          <a:ln/>
        </p:spPr>
        <p:txBody>
          <a:bodyPr wrap="square" lIns="0" tIns="0" rIns="0" bIns="0" rtlCol="0" anchor="t"/>
          <a:lstStyle/>
          <a:p>
            <a:pPr algn="r"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Change the business: least BAU →</a:t>
            </a:r>
            <a:endParaRPr lang="en-US" sz="1200" dirty="0"/>
          </a:p>
        </p:txBody>
      </p:sp>
      <p:sp>
        <p:nvSpPr>
          <p:cNvPr id="82" name="Text 80"/>
          <p:cNvSpPr txBox="1"/>
          <p:nvPr/>
        </p:nvSpPr>
        <p:spPr>
          <a:xfrm>
            <a:off x="812800" y="6235700"/>
            <a:ext cx="9779000" cy="2159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Draft for discussion</a:t>
            </a:r>
            <a:endParaRPr lang="en-US" sz="1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A0521A"/>
                </a:solidFill>
                <a:latin typeface="Optimist Sans" pitchFamily="34" charset="0"/>
                <a:ea typeface="Optimist Sans" pitchFamily="34" charset="-122"/>
                <a:cs typeface="Optimist Sans" pitchFamily="34" charset="-120"/>
              </a:rPr>
              <a:t>HEADCOUNT STRATEGY</a:t>
            </a:r>
            <a:endParaRPr lang="en-US" sz="1200" dirty="0"/>
          </a:p>
        </p:txBody>
      </p:sp>
      <p:sp>
        <p:nvSpPr>
          <p:cNvPr id="3" name="Text 0"/>
          <p:cNvSpPr/>
          <p:nvPr>
            <p:ph idx="100" type="title" hasCustomPrompt="1"/>
          </p:nvPr>
        </p:nvSpPr>
        <p:spPr>
          <a:xfrm>
            <a:off x="812800" y="1117600"/>
            <a:ext cx="10566400" cy="1016000"/>
          </a:xfrm>
          <a:prstGeom prst="rect">
            <a:avLst/>
          </a:prstGeom>
          <a:noFill/>
          <a:ln/>
        </p:spPr>
        <p:txBody>
          <a:bodyPr wrap="square" lIns="0" tIns="0" rIns="0" bIns="0" rtlCol="0" anchor="t"/>
          <a:lstStyle/>
          <a:p>
            <a:pPr algn="l" indent="0" marL="0">
              <a:buNone/>
            </a:pPr>
            <a:r>
              <a:rPr lang="en-US" sz="3200" b="1" dirty="0">
                <a:solidFill>
                  <a:srgbClr val="14213D"/>
                </a:solidFill>
                <a:latin typeface="Optimist Display" pitchFamily="34" charset="0"/>
                <a:ea typeface="Optimist Display" pitchFamily="34" charset="-122"/>
                <a:cs typeface="Optimist Display" pitchFamily="34" charset="-120"/>
              </a:rPr>
              <a:t>AI shrinks BAU down to a firm risk floor, and the freed capacity builds AI work from near zero</a:t>
            </a:r>
            <a:endParaRPr lang="en-US" sz="3200" dirty="0"/>
          </a:p>
        </p:txBody>
      </p:sp>
      <p:sp>
        <p:nvSpPr>
          <p:cNvPr id="4" name="Text 2"/>
          <p:cNvSpPr txBox="1"/>
          <p:nvPr/>
        </p:nvSpPr>
        <p:spPr>
          <a:xfrm>
            <a:off x="812800" y="2400300"/>
            <a:ext cx="1905000" cy="2794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Today</a:t>
            </a:r>
            <a:endParaRPr lang="en-US" sz="1600" dirty="0"/>
          </a:p>
        </p:txBody>
      </p:sp>
      <p:sp>
        <p:nvSpPr>
          <p:cNvPr id="5" name="Text 3"/>
          <p:cNvSpPr txBox="1"/>
          <p:nvPr/>
        </p:nvSpPr>
        <p:spPr>
          <a:xfrm>
            <a:off x="812800" y="2679700"/>
            <a:ext cx="1905000" cy="2159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~[30] associates</a:t>
            </a:r>
            <a:endParaRPr lang="en-US" sz="1200" dirty="0"/>
          </a:p>
        </p:txBody>
      </p:sp>
      <p:sp>
        <p:nvSpPr>
          <p:cNvPr id="6" name="Shape 4"/>
          <p:cNvSpPr/>
          <p:nvPr/>
        </p:nvSpPr>
        <p:spPr>
          <a:xfrm>
            <a:off x="2921000" y="2413000"/>
            <a:ext cx="7366000" cy="508000"/>
          </a:xfrm>
          <a:prstGeom prst="rect">
            <a:avLst/>
          </a:prstGeom>
          <a:solidFill>
            <a:srgbClr val="1F6F7E"/>
          </a:solidFill>
          <a:ln/>
        </p:spPr>
      </p:sp>
      <p:sp>
        <p:nvSpPr>
          <p:cNvPr id="7" name="Text 5"/>
          <p:cNvSpPr txBox="1"/>
          <p:nvPr/>
        </p:nvSpPr>
        <p:spPr>
          <a:xfrm>
            <a:off x="3073400" y="2413000"/>
            <a:ext cx="6985000" cy="508000"/>
          </a:xfrm>
          <a:prstGeom prst="rect">
            <a:avLst/>
          </a:prstGeom>
          <a:noFill/>
          <a:ln/>
        </p:spPr>
        <p:txBody>
          <a:bodyPr wrap="square" lIns="0" tIns="0" rIns="0" bIns="0" rtlCol="0" anchor="ctr"/>
          <a:lstStyle/>
          <a:p>
            <a:pPr algn="l" indent="0" marL="0">
              <a:lnSpc>
                <a:spcPct val="115000"/>
              </a:lnSpc>
              <a:buNone/>
            </a:pPr>
            <a:r>
              <a:rPr lang="en-US" sz="1200" b="1" dirty="0">
                <a:solidFill>
                  <a:srgbClr val="F7F6F2"/>
                </a:solidFill>
                <a:latin typeface="Optimist Sans" pitchFamily="34" charset="0"/>
                <a:ea typeface="Optimist Sans" pitchFamily="34" charset="-122"/>
                <a:cs typeface="Optimist Sans" pitchFamily="34" charset="-120"/>
              </a:rPr>
              <a:t>BAU / run the business · ~100%</a:t>
            </a:r>
            <a:endParaRPr lang="en-US" sz="1200" dirty="0"/>
          </a:p>
        </p:txBody>
      </p:sp>
      <p:sp>
        <p:nvSpPr>
          <p:cNvPr id="8" name="Shape 6"/>
          <p:cNvSpPr/>
          <p:nvPr/>
        </p:nvSpPr>
        <p:spPr>
          <a:xfrm>
            <a:off x="10287000" y="2413000"/>
            <a:ext cx="127000" cy="508000"/>
          </a:xfrm>
          <a:prstGeom prst="rect">
            <a:avLst/>
          </a:prstGeom>
          <a:solidFill>
            <a:srgbClr val="E3A86B"/>
          </a:solidFill>
          <a:ln/>
        </p:spPr>
      </p:sp>
      <p:sp>
        <p:nvSpPr>
          <p:cNvPr id="9" name="Text 7"/>
          <p:cNvSpPr txBox="1"/>
          <p:nvPr/>
        </p:nvSpPr>
        <p:spPr>
          <a:xfrm>
            <a:off x="10515600" y="2413000"/>
            <a:ext cx="863600" cy="508000"/>
          </a:xfrm>
          <a:prstGeom prst="rect">
            <a:avLst/>
          </a:prstGeom>
          <a:noFill/>
          <a:ln/>
        </p:spPr>
        <p:txBody>
          <a:bodyPr wrap="square" lIns="0" tIns="0" rIns="0" bIns="0" rtlCol="0" anchor="ctr"/>
          <a:lstStyle/>
          <a:p>
            <a:pPr algn="l" indent="0" marL="0">
              <a:lnSpc>
                <a:spcPct val="115000"/>
              </a:lnSpc>
              <a:buNone/>
            </a:pPr>
            <a:r>
              <a:rPr lang="en-US" sz="1200" b="1" dirty="0">
                <a:solidFill>
                  <a:srgbClr val="8A4514"/>
                </a:solidFill>
                <a:latin typeface="Optimist Sans" pitchFamily="34" charset="0"/>
                <a:ea typeface="Optimist Sans" pitchFamily="34" charset="-122"/>
                <a:cs typeface="Optimist Sans" pitchFamily="34" charset="-120"/>
              </a:rPr>
              <a:t>AI ≈ 0</a:t>
            </a:r>
            <a:endParaRPr lang="en-US" sz="1200" dirty="0"/>
          </a:p>
        </p:txBody>
      </p:sp>
      <p:sp>
        <p:nvSpPr>
          <p:cNvPr id="10" name="Text 8"/>
          <p:cNvSpPr txBox="1"/>
          <p:nvPr/>
        </p:nvSpPr>
        <p:spPr>
          <a:xfrm>
            <a:off x="812800" y="3136900"/>
            <a:ext cx="1905000" cy="2794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Target</a:t>
            </a:r>
            <a:endParaRPr lang="en-US" sz="1600" dirty="0"/>
          </a:p>
        </p:txBody>
      </p:sp>
      <p:sp>
        <p:nvSpPr>
          <p:cNvPr id="11" name="Text 9"/>
          <p:cNvSpPr txBox="1"/>
          <p:nvPr/>
        </p:nvSpPr>
        <p:spPr>
          <a:xfrm>
            <a:off x="812800" y="3416300"/>
            <a:ext cx="1905000" cy="2159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~[__] associates</a:t>
            </a:r>
            <a:endParaRPr lang="en-US" sz="1200" dirty="0"/>
          </a:p>
        </p:txBody>
      </p:sp>
      <p:sp>
        <p:nvSpPr>
          <p:cNvPr id="12" name="Shape 10"/>
          <p:cNvSpPr/>
          <p:nvPr/>
        </p:nvSpPr>
        <p:spPr>
          <a:xfrm>
            <a:off x="2921000" y="3149600"/>
            <a:ext cx="3556000" cy="508000"/>
          </a:xfrm>
          <a:prstGeom prst="rect">
            <a:avLst/>
          </a:prstGeom>
          <a:solidFill>
            <a:srgbClr val="1F6F7E"/>
          </a:solidFill>
          <a:ln/>
        </p:spPr>
      </p:sp>
      <p:sp>
        <p:nvSpPr>
          <p:cNvPr id="13" name="Text 11"/>
          <p:cNvSpPr txBox="1"/>
          <p:nvPr/>
        </p:nvSpPr>
        <p:spPr>
          <a:xfrm>
            <a:off x="4953000" y="3149600"/>
            <a:ext cx="1371600" cy="508000"/>
          </a:xfrm>
          <a:prstGeom prst="rect">
            <a:avLst/>
          </a:prstGeom>
          <a:noFill/>
          <a:ln/>
        </p:spPr>
        <p:txBody>
          <a:bodyPr wrap="square" lIns="0" tIns="0" rIns="0" bIns="0" rtlCol="0" anchor="ctr"/>
          <a:lstStyle/>
          <a:p>
            <a:pPr algn="r" indent="0" marL="0">
              <a:lnSpc>
                <a:spcPct val="115000"/>
              </a:lnSpc>
              <a:buNone/>
            </a:pPr>
            <a:r>
              <a:rPr lang="en-US" sz="1200" b="1" dirty="0">
                <a:solidFill>
                  <a:srgbClr val="F7F6F2"/>
                </a:solidFill>
                <a:latin typeface="Optimist Sans" pitchFamily="34" charset="0"/>
                <a:ea typeface="Optimist Sans" pitchFamily="34" charset="-122"/>
                <a:cs typeface="Optimist Sans" pitchFamily="34" charset="-120"/>
              </a:rPr>
              <a:t>BAU · [__]%</a:t>
            </a:r>
            <a:endParaRPr lang="en-US" sz="1200" dirty="0"/>
          </a:p>
        </p:txBody>
      </p:sp>
      <p:sp>
        <p:nvSpPr>
          <p:cNvPr id="14" name="Shape 12"/>
          <p:cNvSpPr/>
          <p:nvPr/>
        </p:nvSpPr>
        <p:spPr>
          <a:xfrm>
            <a:off x="6477000" y="3149600"/>
            <a:ext cx="3048000" cy="508000"/>
          </a:xfrm>
          <a:prstGeom prst="rect">
            <a:avLst/>
          </a:prstGeom>
          <a:solidFill>
            <a:srgbClr val="E3A86B"/>
          </a:solidFill>
          <a:ln/>
        </p:spPr>
      </p:sp>
      <p:sp>
        <p:nvSpPr>
          <p:cNvPr id="15" name="Text 13"/>
          <p:cNvSpPr txBox="1"/>
          <p:nvPr/>
        </p:nvSpPr>
        <p:spPr>
          <a:xfrm>
            <a:off x="6629400" y="3149600"/>
            <a:ext cx="2794000" cy="508000"/>
          </a:xfrm>
          <a:prstGeom prst="rect">
            <a:avLst/>
          </a:prstGeom>
          <a:noFill/>
          <a:ln/>
        </p:spPr>
        <p:txBody>
          <a:bodyPr wrap="square" lIns="0" tIns="0" rIns="0" bIns="0" rtlCol="0" anchor="ctr"/>
          <a:lstStyle/>
          <a:p>
            <a:pPr algn="l" indent="0" marL="0">
              <a:lnSpc>
                <a:spcPct val="115000"/>
              </a:lnSpc>
              <a:buNone/>
            </a:pPr>
            <a:r>
              <a:rPr lang="en-US" sz="1200" b="1" dirty="0">
                <a:solidFill>
                  <a:srgbClr val="14213D"/>
                </a:solidFill>
                <a:latin typeface="Optimist Sans" pitchFamily="34" charset="0"/>
                <a:ea typeface="Optimist Sans" pitchFamily="34" charset="-122"/>
                <a:cs typeface="Optimist Sans" pitchFamily="34" charset="-120"/>
              </a:rPr>
              <a:t>AI &amp; change · [__]%</a:t>
            </a:r>
            <a:endParaRPr lang="en-US" sz="1200" dirty="0"/>
          </a:p>
        </p:txBody>
      </p:sp>
      <p:sp>
        <p:nvSpPr>
          <p:cNvPr id="16" name="Shape 14"/>
          <p:cNvSpPr/>
          <p:nvPr/>
        </p:nvSpPr>
        <p:spPr>
          <a:xfrm>
            <a:off x="9525000" y="3149600"/>
            <a:ext cx="889000" cy="508000"/>
          </a:xfrm>
          <a:prstGeom prst="rect">
            <a:avLst/>
          </a:prstGeom>
          <a:solidFill>
            <a:srgbClr val="F7F6F2"/>
          </a:solidFill>
          <a:ln w="19050">
            <a:solidFill>
              <a:srgbClr val="8A8F98"/>
            </a:solidFill>
            <a:prstDash val="dash"/>
          </a:ln>
        </p:spPr>
      </p:sp>
      <p:sp>
        <p:nvSpPr>
          <p:cNvPr id="17" name="Text 15"/>
          <p:cNvSpPr txBox="1"/>
          <p:nvPr/>
        </p:nvSpPr>
        <p:spPr>
          <a:xfrm>
            <a:off x="9525000" y="3149600"/>
            <a:ext cx="889000" cy="508000"/>
          </a:xfrm>
          <a:prstGeom prst="rect">
            <a:avLst/>
          </a:prstGeom>
          <a:noFill/>
          <a:ln/>
        </p:spPr>
        <p:txBody>
          <a:bodyPr wrap="square" lIns="0" tIns="0" rIns="0" bIns="0" rtlCol="0" anchor="ctr"/>
          <a:lstStyle/>
          <a:p>
            <a:pPr algn="ctr"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Net −?</a:t>
            </a:r>
            <a:endParaRPr lang="en-US" sz="1200" dirty="0"/>
          </a:p>
        </p:txBody>
      </p:sp>
      <p:sp>
        <p:nvSpPr>
          <p:cNvPr id="18" name="BAU floor marker"/>
          <p:cNvSpPr/>
          <p:nvPr/>
        </p:nvSpPr>
        <p:spPr>
          <a:xfrm>
            <a:off x="4806950" y="3060700"/>
            <a:ext cx="38100" cy="685800"/>
          </a:xfrm>
          <a:prstGeom prst="rect">
            <a:avLst/>
          </a:prstGeom>
          <a:solidFill>
            <a:srgbClr val="A0521A"/>
          </a:solidFill>
          <a:ln/>
        </p:spPr>
      </p:sp>
      <p:sp>
        <p:nvSpPr>
          <p:cNvPr id="19" name="Text 17"/>
          <p:cNvSpPr txBox="1"/>
          <p:nvPr/>
        </p:nvSpPr>
        <p:spPr>
          <a:xfrm>
            <a:off x="4064000" y="3797300"/>
            <a:ext cx="3302000" cy="228600"/>
          </a:xfrm>
          <a:prstGeom prst="rect">
            <a:avLst/>
          </a:prstGeom>
          <a:noFill/>
          <a:ln/>
        </p:spPr>
        <p:txBody>
          <a:bodyPr wrap="square" lIns="0" tIns="0" rIns="0" bIns="0" rtlCol="0" anchor="t"/>
          <a:lstStyle/>
          <a:p>
            <a:pPr algn="l" indent="0" marL="0">
              <a:lnSpc>
                <a:spcPct val="115000"/>
              </a:lnSpc>
              <a:buNone/>
            </a:pPr>
            <a:r>
              <a:rPr lang="en-US" sz="1200" b="1" dirty="0">
                <a:solidFill>
                  <a:srgbClr val="8A4514"/>
                </a:solidFill>
                <a:latin typeface="Optimist Sans" pitchFamily="34" charset="0"/>
                <a:ea typeface="Optimist Sans" pitchFamily="34" charset="-122"/>
                <a:cs typeface="Optimist Sans" pitchFamily="34" charset="-120"/>
              </a:rPr>
              <a:t>↑ BAU floor: key-person / op risk</a:t>
            </a:r>
            <a:endParaRPr lang="en-US" sz="1200" dirty="0"/>
          </a:p>
        </p:txBody>
      </p:sp>
      <p:sp>
        <p:nvSpPr>
          <p:cNvPr id="20" name="Text 18"/>
          <p:cNvSpPr txBox="1"/>
          <p:nvPr/>
        </p:nvSpPr>
        <p:spPr>
          <a:xfrm>
            <a:off x="2921000" y="4102100"/>
            <a:ext cx="8458200" cy="2286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Illustrative mix; fill with actual shares. BAU can shrink to the floor, never below it.</a:t>
            </a:r>
            <a:endParaRPr lang="en-US" sz="1200" dirty="0"/>
          </a:p>
        </p:txBody>
      </p:sp>
      <p:sp>
        <p:nvSpPr>
          <p:cNvPr id="21" name="Shape 19"/>
          <p:cNvSpPr/>
          <p:nvPr/>
        </p:nvSpPr>
        <p:spPr>
          <a:xfrm>
            <a:off x="812800" y="4572000"/>
            <a:ext cx="3384550" cy="1333500"/>
          </a:xfrm>
          <a:prstGeom prst="roundRect">
            <a:avLst>
              <a:gd name="adj" fmla="val 5486"/>
            </a:avLst>
          </a:prstGeom>
          <a:solidFill>
            <a:srgbClr val="FDFCF9"/>
          </a:solidFill>
          <a:ln w="12700">
            <a:solidFill>
              <a:srgbClr val="DDD8CC"/>
            </a:solidFill>
            <a:prstDash val="solid"/>
          </a:ln>
        </p:spPr>
      </p:sp>
      <p:pic>
        <p:nvPicPr>
          <p:cNvPr id="22" name="Image 0" descr="preencoded.png">    </p:cNvPr>
          <p:cNvPicPr>
            <a:picLocks noChangeAspect="1"/>
          </p:cNvPicPr>
          <p:nvPr/>
        </p:nvPicPr>
        <p:blipFill>
          <a:blip r:embed="rId1"/>
          <a:stretch>
            <a:fillRect/>
          </a:stretch>
        </p:blipFill>
        <p:spPr>
          <a:xfrm>
            <a:off x="990600" y="4749800"/>
            <a:ext cx="254000" cy="254000"/>
          </a:xfrm>
          <a:prstGeom prst="rect">
            <a:avLst/>
          </a:prstGeom>
        </p:spPr>
      </p:pic>
      <p:sp>
        <p:nvSpPr>
          <p:cNvPr id="23" name="Text 20"/>
          <p:cNvSpPr txBox="1"/>
          <p:nvPr/>
        </p:nvSpPr>
        <p:spPr>
          <a:xfrm>
            <a:off x="1371600" y="4737100"/>
            <a:ext cx="2647950" cy="254000"/>
          </a:xfrm>
          <a:prstGeom prst="rect">
            <a:avLst/>
          </a:prstGeom>
          <a:noFill/>
          <a:ln/>
        </p:spPr>
        <p:txBody>
          <a:bodyPr wrap="square" lIns="0" tIns="0" rIns="0" bIns="0" rtlCol="0" anchor="t"/>
          <a:lstStyle/>
          <a:p>
            <a:pPr algn="l" indent="0" marL="0">
              <a:lnSpc>
                <a:spcPct val="115000"/>
              </a:lnSpc>
              <a:buNone/>
            </a:pPr>
            <a:r>
              <a:rPr lang="en-US" sz="1400" b="1" dirty="0">
                <a:solidFill>
                  <a:srgbClr val="14213D"/>
                </a:solidFill>
                <a:latin typeface="Optimist Sans" pitchFamily="34" charset="0"/>
                <a:ea typeface="Optimist Sans" pitchFamily="34" charset="-122"/>
                <a:cs typeface="Optimist Sans" pitchFamily="34" charset="-120"/>
              </a:rPr>
              <a:t>AI shrinks BAU effort</a:t>
            </a:r>
            <a:endParaRPr lang="en-US" sz="1400" dirty="0"/>
          </a:p>
        </p:txBody>
      </p:sp>
      <p:sp>
        <p:nvSpPr>
          <p:cNvPr id="24" name="Text 21"/>
          <p:cNvSpPr txBox="1"/>
          <p:nvPr/>
        </p:nvSpPr>
        <p:spPr>
          <a:xfrm>
            <a:off x="1371600" y="5041900"/>
            <a:ext cx="2647950" cy="762000"/>
          </a:xfrm>
          <a:prstGeom prst="rect">
            <a:avLst/>
          </a:prstGeom>
          <a:noFill/>
          <a:ln/>
        </p:spPr>
        <p:txBody>
          <a:bodyPr wrap="square" lIns="0" tIns="0" rIns="0" bIns="0" rtlCol="0" anchor="t"/>
          <a:lstStyle/>
          <a:p>
            <a:pPr algn="l" indent="0" marL="0">
              <a:lnSpc>
                <a:spcPct val="120000"/>
              </a:lnSpc>
              <a:buNone/>
            </a:pPr>
            <a:r>
              <a:rPr lang="en-US" sz="1200" dirty="0">
                <a:solidFill>
                  <a:srgbClr val="4A5568"/>
                </a:solidFill>
                <a:latin typeface="Optimist Sans" pitchFamily="34" charset="0"/>
                <a:ea typeface="Optimist Sans" pitchFamily="34" charset="-122"/>
                <a:cs typeface="Optimist Sans" pitchFamily="34" charset="-120"/>
              </a:rPr>
              <a:t>Automation and new tools cut the people needed to run today’s work.</a:t>
            </a:r>
            <a:endParaRPr lang="en-US" sz="1200" dirty="0"/>
          </a:p>
        </p:txBody>
      </p:sp>
      <p:sp>
        <p:nvSpPr>
          <p:cNvPr id="25" name="Shape 22"/>
          <p:cNvSpPr/>
          <p:nvPr/>
        </p:nvSpPr>
        <p:spPr>
          <a:xfrm>
            <a:off x="4400550" y="4572000"/>
            <a:ext cx="3384550" cy="1333500"/>
          </a:xfrm>
          <a:prstGeom prst="roundRect">
            <a:avLst>
              <a:gd name="adj" fmla="val 5486"/>
            </a:avLst>
          </a:prstGeom>
          <a:solidFill>
            <a:srgbClr val="155563"/>
          </a:solidFill>
          <a:ln w="12700">
            <a:solidFill>
              <a:srgbClr val="155563"/>
            </a:solidFill>
            <a:prstDash val="solid"/>
          </a:ln>
        </p:spPr>
      </p:sp>
      <p:pic>
        <p:nvPicPr>
          <p:cNvPr id="26" name="Image 1" descr="preencoded.png">    </p:cNvPr>
          <p:cNvPicPr>
            <a:picLocks noChangeAspect="1"/>
          </p:cNvPicPr>
          <p:nvPr/>
        </p:nvPicPr>
        <p:blipFill>
          <a:blip r:embed="rId2"/>
          <a:stretch>
            <a:fillRect/>
          </a:stretch>
        </p:blipFill>
        <p:spPr>
          <a:xfrm>
            <a:off x="4578350" y="4749800"/>
            <a:ext cx="254000" cy="254000"/>
          </a:xfrm>
          <a:prstGeom prst="rect">
            <a:avLst/>
          </a:prstGeom>
        </p:spPr>
      </p:pic>
      <p:sp>
        <p:nvSpPr>
          <p:cNvPr id="27" name="Text 23"/>
          <p:cNvSpPr txBox="1"/>
          <p:nvPr/>
        </p:nvSpPr>
        <p:spPr>
          <a:xfrm>
            <a:off x="4959350" y="4737100"/>
            <a:ext cx="2647950" cy="254000"/>
          </a:xfrm>
          <a:prstGeom prst="rect">
            <a:avLst/>
          </a:prstGeom>
          <a:noFill/>
          <a:ln/>
        </p:spPr>
        <p:txBody>
          <a:bodyPr wrap="square" lIns="0" tIns="0" rIns="0" bIns="0" rtlCol="0" anchor="t"/>
          <a:lstStyle/>
          <a:p>
            <a:pPr algn="l" indent="0" marL="0">
              <a:lnSpc>
                <a:spcPct val="115000"/>
              </a:lnSpc>
              <a:buNone/>
            </a:pPr>
            <a:r>
              <a:rPr lang="en-US" sz="1400" b="1" dirty="0">
                <a:solidFill>
                  <a:srgbClr val="F7F6F2"/>
                </a:solidFill>
                <a:latin typeface="Optimist Sans" pitchFamily="34" charset="0"/>
                <a:ea typeface="Optimist Sans" pitchFamily="34" charset="-122"/>
                <a:cs typeface="Optimist Sans" pitchFamily="34" charset="-120"/>
              </a:rPr>
              <a:t>…but BAU has a firm floor</a:t>
            </a:r>
            <a:endParaRPr lang="en-US" sz="1400" dirty="0"/>
          </a:p>
        </p:txBody>
      </p:sp>
      <p:sp>
        <p:nvSpPr>
          <p:cNvPr id="28" name="Text 24"/>
          <p:cNvSpPr txBox="1"/>
          <p:nvPr/>
        </p:nvSpPr>
        <p:spPr>
          <a:xfrm>
            <a:off x="4959350" y="5041900"/>
            <a:ext cx="2647950" cy="762000"/>
          </a:xfrm>
          <a:prstGeom prst="rect">
            <a:avLst/>
          </a:prstGeom>
          <a:noFill/>
          <a:ln/>
        </p:spPr>
        <p:txBody>
          <a:bodyPr wrap="square" lIns="0" tIns="0" rIns="0" bIns="0" rtlCol="0" anchor="t"/>
          <a:lstStyle/>
          <a:p>
            <a:pPr algn="l" indent="0" marL="0">
              <a:lnSpc>
                <a:spcPct val="120000"/>
              </a:lnSpc>
              <a:buNone/>
            </a:pPr>
            <a:r>
              <a:rPr lang="en-US" sz="1200" dirty="0">
                <a:solidFill>
                  <a:srgbClr val="E3EEF0"/>
                </a:solidFill>
                <a:latin typeface="Optimist Sans" pitchFamily="34" charset="0"/>
                <a:ea typeface="Optimist Sans" pitchFamily="34" charset="-122"/>
                <a:cs typeface="Optimist Sans" pitchFamily="34" charset="-120"/>
              </a:rPr>
              <a:t>Set by operational risk: no critical function (e.g., deployment) rests on one person.</a:t>
            </a:r>
            <a:endParaRPr lang="en-US" sz="1200" dirty="0"/>
          </a:p>
        </p:txBody>
      </p:sp>
      <p:sp>
        <p:nvSpPr>
          <p:cNvPr id="29" name="Shape 25"/>
          <p:cNvSpPr/>
          <p:nvPr/>
        </p:nvSpPr>
        <p:spPr>
          <a:xfrm>
            <a:off x="7988300" y="4572000"/>
            <a:ext cx="3384550" cy="1333500"/>
          </a:xfrm>
          <a:prstGeom prst="roundRect">
            <a:avLst>
              <a:gd name="adj" fmla="val 5486"/>
            </a:avLst>
          </a:prstGeom>
          <a:solidFill>
            <a:srgbClr val="FDFCF9"/>
          </a:solidFill>
          <a:ln w="12700">
            <a:solidFill>
              <a:srgbClr val="DDD8CC"/>
            </a:solidFill>
            <a:prstDash val="solid"/>
          </a:ln>
        </p:spPr>
      </p:sp>
      <p:pic>
        <p:nvPicPr>
          <p:cNvPr id="30" name="Image 2" descr="preencoded.png">    </p:cNvPr>
          <p:cNvPicPr>
            <a:picLocks noChangeAspect="1"/>
          </p:cNvPicPr>
          <p:nvPr/>
        </p:nvPicPr>
        <p:blipFill>
          <a:blip r:embed="rId3"/>
          <a:stretch>
            <a:fillRect/>
          </a:stretch>
        </p:blipFill>
        <p:spPr>
          <a:xfrm>
            <a:off x="8166100" y="4749800"/>
            <a:ext cx="254000" cy="254000"/>
          </a:xfrm>
          <a:prstGeom prst="rect">
            <a:avLst/>
          </a:prstGeom>
        </p:spPr>
      </p:pic>
      <p:sp>
        <p:nvSpPr>
          <p:cNvPr id="31" name="Text 26"/>
          <p:cNvSpPr txBox="1"/>
          <p:nvPr/>
        </p:nvSpPr>
        <p:spPr>
          <a:xfrm>
            <a:off x="8547100" y="4737100"/>
            <a:ext cx="2647950" cy="254000"/>
          </a:xfrm>
          <a:prstGeom prst="rect">
            <a:avLst/>
          </a:prstGeom>
          <a:noFill/>
          <a:ln/>
        </p:spPr>
        <p:txBody>
          <a:bodyPr wrap="square" lIns="0" tIns="0" rIns="0" bIns="0" rtlCol="0" anchor="t"/>
          <a:lstStyle/>
          <a:p>
            <a:pPr algn="l" indent="0" marL="0">
              <a:lnSpc>
                <a:spcPct val="115000"/>
              </a:lnSpc>
              <a:buNone/>
            </a:pPr>
            <a:r>
              <a:rPr lang="en-US" sz="1400" b="1" dirty="0">
                <a:solidFill>
                  <a:srgbClr val="14213D"/>
                </a:solidFill>
                <a:latin typeface="Optimist Sans" pitchFamily="34" charset="0"/>
                <a:ea typeface="Optimist Sans" pitchFamily="34" charset="-122"/>
                <a:cs typeface="Optimist Sans" pitchFamily="34" charset="-120"/>
              </a:rPr>
              <a:t>Freed capacity builds AI</a:t>
            </a:r>
            <a:endParaRPr lang="en-US" sz="1400" dirty="0"/>
          </a:p>
        </p:txBody>
      </p:sp>
      <p:sp>
        <p:nvSpPr>
          <p:cNvPr id="32" name="Text 27"/>
          <p:cNvSpPr txBox="1"/>
          <p:nvPr/>
        </p:nvSpPr>
        <p:spPr>
          <a:xfrm>
            <a:off x="8547100" y="5041900"/>
            <a:ext cx="2647950" cy="762000"/>
          </a:xfrm>
          <a:prstGeom prst="rect">
            <a:avLst/>
          </a:prstGeom>
          <a:noFill/>
          <a:ln/>
        </p:spPr>
        <p:txBody>
          <a:bodyPr wrap="square" lIns="0" tIns="0" rIns="0" bIns="0" rtlCol="0" anchor="t"/>
          <a:lstStyle/>
          <a:p>
            <a:pPr algn="l" indent="0" marL="0">
              <a:lnSpc>
                <a:spcPct val="120000"/>
              </a:lnSpc>
              <a:buNone/>
            </a:pPr>
            <a:r>
              <a:rPr lang="en-US" sz="1200" dirty="0">
                <a:solidFill>
                  <a:srgbClr val="4A5568"/>
                </a:solidFill>
                <a:latin typeface="Optimist Sans" pitchFamily="34" charset="0"/>
                <a:ea typeface="Optimist Sans" pitchFamily="34" charset="-122"/>
                <a:cs typeface="Optimist Sans" pitchFamily="34" charset="-120"/>
              </a:rPr>
              <a:t>From near zero today to AI Enablement and Platform (previous slide).</a:t>
            </a:r>
            <a:endParaRPr lang="en-US" sz="1200" dirty="0"/>
          </a:p>
        </p:txBody>
      </p:sp>
      <p:sp>
        <p:nvSpPr>
          <p:cNvPr id="33" name="Text 28"/>
          <p:cNvSpPr txBox="1"/>
          <p:nvPr/>
        </p:nvSpPr>
        <p:spPr>
          <a:xfrm>
            <a:off x="812800" y="6235700"/>
            <a:ext cx="9779000" cy="2159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Draft for discussion</a:t>
            </a:r>
            <a:endParaRPr lang="en-US" sz="1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A0521A"/>
                </a:solidFill>
                <a:latin typeface="Optimist Sans" pitchFamily="34" charset="0"/>
                <a:ea typeface="Optimist Sans" pitchFamily="34" charset="-122"/>
                <a:cs typeface="Optimist Sans" pitchFamily="34" charset="-120"/>
              </a:rPr>
              <a:t>LOCATION STRATEGY</a:t>
            </a:r>
            <a:endParaRPr lang="en-US" sz="1200" dirty="0"/>
          </a:p>
        </p:txBody>
      </p:sp>
      <p:sp>
        <p:nvSpPr>
          <p:cNvPr id="3" name="Text 0"/>
          <p:cNvSpPr/>
          <p:nvPr>
            <p:ph idx="100" type="title" hasCustomPrompt="1"/>
          </p:nvPr>
        </p:nvSpPr>
        <p:spPr>
          <a:xfrm>
            <a:off x="812800" y="1117600"/>
            <a:ext cx="10566400" cy="1016000"/>
          </a:xfrm>
          <a:prstGeom prst="rect">
            <a:avLst/>
          </a:prstGeom>
          <a:noFill/>
          <a:ln/>
        </p:spPr>
        <p:txBody>
          <a:bodyPr wrap="square" lIns="0" tIns="0" rIns="0" bIns="0" rtlCol="0" anchor="t"/>
          <a:lstStyle/>
          <a:p>
            <a:pPr algn="l" indent="0" marL="0">
              <a:buNone/>
            </a:pPr>
            <a:r>
              <a:rPr lang="en-US" sz="3200" b="1" dirty="0">
                <a:solidFill>
                  <a:srgbClr val="14213D"/>
                </a:solidFill>
                <a:latin typeface="Optimist Display" pitchFamily="34" charset="0"/>
                <a:ea typeface="Optimist Display" pitchFamily="34" charset="-122"/>
                <a:cs typeface="Optimist Display" pitchFamily="34" charset="-120"/>
              </a:rPr>
              <a:t>Two hubs co-locate each function with the partners it works with most</a:t>
            </a:r>
            <a:endParaRPr lang="en-US" sz="3200" dirty="0"/>
          </a:p>
        </p:txBody>
      </p:sp>
      <p:sp>
        <p:nvSpPr>
          <p:cNvPr id="4" name="Shape 2"/>
          <p:cNvSpPr/>
          <p:nvPr/>
        </p:nvSpPr>
        <p:spPr>
          <a:xfrm>
            <a:off x="812800" y="2349500"/>
            <a:ext cx="4445000" cy="3556000"/>
          </a:xfrm>
          <a:prstGeom prst="roundRect">
            <a:avLst>
              <a:gd name="adj" fmla="val 1543"/>
            </a:avLst>
          </a:prstGeom>
          <a:solidFill>
            <a:srgbClr val="E1EEF0"/>
          </a:solidFill>
          <a:ln w="19050">
            <a:solidFill>
              <a:srgbClr val="1F6F7E"/>
            </a:solidFill>
            <a:prstDash val="solid"/>
          </a:ln>
        </p:spPr>
      </p:sp>
      <p:pic>
        <p:nvPicPr>
          <p:cNvPr id="5" name="Image 0" descr="preencoded.png">    </p:cNvPr>
          <p:cNvPicPr>
            <a:picLocks noChangeAspect="1"/>
          </p:cNvPicPr>
          <p:nvPr/>
        </p:nvPicPr>
        <p:blipFill>
          <a:blip r:embed="rId1"/>
          <a:stretch>
            <a:fillRect/>
          </a:stretch>
        </p:blipFill>
        <p:spPr>
          <a:xfrm>
            <a:off x="1066800" y="2616200"/>
            <a:ext cx="279400" cy="279400"/>
          </a:xfrm>
          <a:prstGeom prst="rect">
            <a:avLst/>
          </a:prstGeom>
        </p:spPr>
      </p:pic>
      <p:sp>
        <p:nvSpPr>
          <p:cNvPr id="6" name="Text 3"/>
          <p:cNvSpPr txBox="1"/>
          <p:nvPr/>
        </p:nvSpPr>
        <p:spPr>
          <a:xfrm>
            <a:off x="1447800" y="2590800"/>
            <a:ext cx="3556000" cy="330200"/>
          </a:xfrm>
          <a:prstGeom prst="rect">
            <a:avLst/>
          </a:prstGeom>
          <a:noFill/>
          <a:ln/>
        </p:spPr>
        <p:txBody>
          <a:bodyPr wrap="square" lIns="0" tIns="0" rIns="0" bIns="0" rtlCol="0" anchor="t"/>
          <a:lstStyle/>
          <a:p>
            <a:pPr algn="l" indent="0" marL="0">
              <a:lnSpc>
                <a:spcPct val="115000"/>
              </a:lnSpc>
              <a:buNone/>
            </a:pPr>
            <a:r>
              <a:rPr lang="en-US" sz="1800" b="1" dirty="0">
                <a:solidFill>
                  <a:srgbClr val="14213D"/>
                </a:solidFill>
                <a:latin typeface="Optimist Sans" pitchFamily="34" charset="0"/>
                <a:ea typeface="Optimist Sans" pitchFamily="34" charset="-122"/>
                <a:cs typeface="Optimist Sans" pitchFamily="34" charset="-120"/>
              </a:rPr>
              <a:t>[Office A]</a:t>
            </a:r>
            <a:endParaRPr lang="en-US" sz="1800" dirty="0"/>
          </a:p>
        </p:txBody>
      </p:sp>
      <p:sp>
        <p:nvSpPr>
          <p:cNvPr id="7" name="Text 4"/>
          <p:cNvSpPr txBox="1"/>
          <p:nvPr/>
        </p:nvSpPr>
        <p:spPr>
          <a:xfrm>
            <a:off x="1066800" y="3048000"/>
            <a:ext cx="39370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155563"/>
                </a:solidFill>
                <a:latin typeface="Optimist Sans" pitchFamily="34" charset="0"/>
                <a:ea typeface="Optimist Sans" pitchFamily="34" charset="-122"/>
                <a:cs typeface="Optimist Sans" pitchFamily="34" charset="-120"/>
              </a:rPr>
              <a:t>STAYS WHERE IT IS TODAY</a:t>
            </a:r>
            <a:endParaRPr lang="en-US" sz="1200" dirty="0"/>
          </a:p>
        </p:txBody>
      </p:sp>
      <p:sp>
        <p:nvSpPr>
          <p:cNvPr id="8" name="Shape 5"/>
          <p:cNvSpPr/>
          <p:nvPr/>
        </p:nvSpPr>
        <p:spPr>
          <a:xfrm>
            <a:off x="1066800" y="3403600"/>
            <a:ext cx="3937000" cy="457200"/>
          </a:xfrm>
          <a:prstGeom prst="roundRect">
            <a:avLst>
              <a:gd name="adj" fmla="val 30000"/>
            </a:avLst>
          </a:prstGeom>
          <a:solidFill>
            <a:srgbClr val="1F6F7E"/>
          </a:solidFill>
          <a:ln/>
        </p:spPr>
      </p:sp>
      <p:sp>
        <p:nvSpPr>
          <p:cNvPr id="9" name="Text 6"/>
          <p:cNvSpPr txBox="1"/>
          <p:nvPr/>
        </p:nvSpPr>
        <p:spPr>
          <a:xfrm>
            <a:off x="1219200" y="3403600"/>
            <a:ext cx="3683000" cy="457200"/>
          </a:xfrm>
          <a:prstGeom prst="rect">
            <a:avLst/>
          </a:prstGeom>
          <a:noFill/>
          <a:ln/>
        </p:spPr>
        <p:txBody>
          <a:bodyPr wrap="square" lIns="0" tIns="0" rIns="0" bIns="0" rtlCol="0" anchor="ctr"/>
          <a:lstStyle/>
          <a:p>
            <a:pPr algn="l" indent="0" marL="0">
              <a:lnSpc>
                <a:spcPct val="115000"/>
              </a:lnSpc>
              <a:buNone/>
            </a:pPr>
            <a:r>
              <a:rPr lang="en-US" sz="1400" b="1" dirty="0">
                <a:solidFill>
                  <a:srgbClr val="F7F6F2"/>
                </a:solidFill>
                <a:latin typeface="Optimist Sans" pitchFamily="34" charset="0"/>
                <a:ea typeface="Optimist Sans" pitchFamily="34" charset="-122"/>
                <a:cs typeface="Optimist Sans" pitchFamily="34" charset="-120"/>
              </a:rPr>
              <a:t>Modeling &amp; Automation</a:t>
            </a:r>
            <a:endParaRPr lang="en-US" sz="1400" dirty="0"/>
          </a:p>
        </p:txBody>
      </p:sp>
      <p:sp>
        <p:nvSpPr>
          <p:cNvPr id="10" name="Text 7"/>
          <p:cNvSpPr txBox="1"/>
          <p:nvPr/>
        </p:nvSpPr>
        <p:spPr>
          <a:xfrm>
            <a:off x="1066800" y="4953000"/>
            <a:ext cx="3937000" cy="762000"/>
          </a:xfrm>
          <a:prstGeom prst="rect">
            <a:avLst/>
          </a:prstGeom>
          <a:noFill/>
          <a:ln/>
        </p:spPr>
        <p:txBody>
          <a:bodyPr wrap="square" lIns="0" tIns="0" rIns="0" bIns="0" rtlCol="0" anchor="t"/>
          <a:lstStyle/>
          <a:p>
            <a:pPr algn="l" indent="0" marL="0">
              <a:lnSpc>
                <a:spcPct val="125000"/>
              </a:lnSpc>
              <a:buNone/>
            </a:pPr>
            <a:r>
              <a:rPr lang="en-US" sz="1300" b="1" dirty="0">
                <a:solidFill>
                  <a:srgbClr val="14213D"/>
                </a:solidFill>
                <a:latin typeface="Optimist Sans" pitchFamily="34" charset="0"/>
                <a:ea typeface="Optimist Sans" pitchFamily="34" charset="-122"/>
                <a:cs typeface="Optimist Sans" pitchFamily="34" charset="-120"/>
              </a:rPr>
              <a:t>Why: </a:t>
            </a:r>
            <a:pPr algn="l" indent="0" marL="0">
              <a:lnSpc>
                <a:spcPct val="125000"/>
              </a:lnSpc>
              <a:buNone/>
            </a:pPr>
            <a:r>
              <a:rPr lang="en-US" sz="1300" dirty="0">
                <a:solidFill>
                  <a:srgbClr val="14213D"/>
                </a:solidFill>
                <a:latin typeface="Optimist Sans" pitchFamily="34" charset="0"/>
                <a:ea typeface="Optimist Sans" pitchFamily="34" charset="-122"/>
                <a:cs typeface="Optimist Sans" pitchFamily="34" charset="-120"/>
              </a:rPr>
              <a:t>the modeling team is already based here. Keeping it here avoids disruption and keeps its expertise.</a:t>
            </a:r>
            <a:endParaRPr lang="en-US" sz="1300" dirty="0"/>
          </a:p>
        </p:txBody>
      </p:sp>
      <p:sp>
        <p:nvSpPr>
          <p:cNvPr id="11" name="Shape 8"/>
          <p:cNvSpPr/>
          <p:nvPr/>
        </p:nvSpPr>
        <p:spPr>
          <a:xfrm>
            <a:off x="6934200" y="2349500"/>
            <a:ext cx="4445000" cy="3556000"/>
          </a:xfrm>
          <a:prstGeom prst="roundRect">
            <a:avLst>
              <a:gd name="adj" fmla="val 1543"/>
            </a:avLst>
          </a:prstGeom>
          <a:solidFill>
            <a:srgbClr val="F6E6D6"/>
          </a:solidFill>
          <a:ln w="19050">
            <a:solidFill>
              <a:srgbClr val="A0521A"/>
            </a:solidFill>
            <a:prstDash val="solid"/>
          </a:ln>
        </p:spPr>
      </p:sp>
      <p:pic>
        <p:nvPicPr>
          <p:cNvPr id="12" name="Image 1" descr="preencoded.png">    </p:cNvPr>
          <p:cNvPicPr>
            <a:picLocks noChangeAspect="1"/>
          </p:cNvPicPr>
          <p:nvPr/>
        </p:nvPicPr>
        <p:blipFill>
          <a:blip r:embed="rId2"/>
          <a:stretch>
            <a:fillRect/>
          </a:stretch>
        </p:blipFill>
        <p:spPr>
          <a:xfrm>
            <a:off x="7188200" y="2616200"/>
            <a:ext cx="279400" cy="279400"/>
          </a:xfrm>
          <a:prstGeom prst="rect">
            <a:avLst/>
          </a:prstGeom>
        </p:spPr>
      </p:pic>
      <p:sp>
        <p:nvSpPr>
          <p:cNvPr id="13" name="Text 9"/>
          <p:cNvSpPr txBox="1"/>
          <p:nvPr/>
        </p:nvSpPr>
        <p:spPr>
          <a:xfrm>
            <a:off x="7569200" y="2590800"/>
            <a:ext cx="3556000" cy="330200"/>
          </a:xfrm>
          <a:prstGeom prst="rect">
            <a:avLst/>
          </a:prstGeom>
          <a:noFill/>
          <a:ln/>
        </p:spPr>
        <p:txBody>
          <a:bodyPr wrap="square" lIns="0" tIns="0" rIns="0" bIns="0" rtlCol="0" anchor="t"/>
          <a:lstStyle/>
          <a:p>
            <a:pPr algn="l" indent="0" marL="0">
              <a:lnSpc>
                <a:spcPct val="115000"/>
              </a:lnSpc>
              <a:buNone/>
            </a:pPr>
            <a:r>
              <a:rPr lang="en-US" sz="1800" b="1" dirty="0">
                <a:solidFill>
                  <a:srgbClr val="14213D"/>
                </a:solidFill>
                <a:latin typeface="Optimist Sans" pitchFamily="34" charset="0"/>
                <a:ea typeface="Optimist Sans" pitchFamily="34" charset="-122"/>
                <a:cs typeface="Optimist Sans" pitchFamily="34" charset="-120"/>
              </a:rPr>
              <a:t>[Office B]</a:t>
            </a:r>
            <a:endParaRPr lang="en-US" sz="1800" dirty="0"/>
          </a:p>
        </p:txBody>
      </p:sp>
      <p:sp>
        <p:nvSpPr>
          <p:cNvPr id="14" name="Text 10"/>
          <p:cNvSpPr txBox="1"/>
          <p:nvPr/>
        </p:nvSpPr>
        <p:spPr>
          <a:xfrm>
            <a:off x="7188200" y="3048000"/>
            <a:ext cx="39370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8A4514"/>
                </a:solidFill>
                <a:latin typeface="Optimist Sans" pitchFamily="34" charset="0"/>
                <a:ea typeface="Optimist Sans" pitchFamily="34" charset="-122"/>
                <a:cs typeface="Optimist Sans" pitchFamily="34" charset="-120"/>
              </a:rPr>
              <a:t>CENTERED HERE GOING FORWARD</a:t>
            </a:r>
            <a:endParaRPr lang="en-US" sz="1200" dirty="0"/>
          </a:p>
        </p:txBody>
      </p:sp>
      <p:sp>
        <p:nvSpPr>
          <p:cNvPr id="15" name="Shape 11"/>
          <p:cNvSpPr/>
          <p:nvPr/>
        </p:nvSpPr>
        <p:spPr>
          <a:xfrm>
            <a:off x="7188200" y="3403600"/>
            <a:ext cx="3937000" cy="381000"/>
          </a:xfrm>
          <a:prstGeom prst="roundRect">
            <a:avLst>
              <a:gd name="adj" fmla="val 36000"/>
            </a:avLst>
          </a:prstGeom>
          <a:solidFill>
            <a:srgbClr val="FDFCF9"/>
          </a:solidFill>
          <a:ln/>
        </p:spPr>
      </p:sp>
      <p:sp>
        <p:nvSpPr>
          <p:cNvPr id="16" name="Text 12"/>
          <p:cNvSpPr txBox="1"/>
          <p:nvPr/>
        </p:nvSpPr>
        <p:spPr>
          <a:xfrm>
            <a:off x="7340600" y="3403600"/>
            <a:ext cx="3683000" cy="381000"/>
          </a:xfrm>
          <a:prstGeom prst="rect">
            <a:avLst/>
          </a:prstGeom>
          <a:noFill/>
          <a:ln/>
        </p:spPr>
        <p:txBody>
          <a:bodyPr wrap="square" lIns="0" tIns="0" rIns="0" bIns="0" rtlCol="0" anchor="ctr"/>
          <a:lstStyle/>
          <a:p>
            <a:pPr algn="l" indent="0" marL="0">
              <a:lnSpc>
                <a:spcPct val="115000"/>
              </a:lnSpc>
              <a:buNone/>
            </a:pPr>
            <a:r>
              <a:rPr lang="en-US" sz="1400" b="1" dirty="0">
                <a:solidFill>
                  <a:srgbClr val="14213D"/>
                </a:solidFill>
                <a:latin typeface="Optimist Sans" pitchFamily="34" charset="0"/>
                <a:ea typeface="Optimist Sans" pitchFamily="34" charset="-122"/>
                <a:cs typeface="Optimist Sans" pitchFamily="34" charset="-120"/>
              </a:rPr>
              <a:t>Data Foundation</a:t>
            </a:r>
            <a:endParaRPr lang="en-US" sz="1400" dirty="0"/>
          </a:p>
        </p:txBody>
      </p:sp>
      <p:sp>
        <p:nvSpPr>
          <p:cNvPr id="17" name="Shape 13"/>
          <p:cNvSpPr/>
          <p:nvPr/>
        </p:nvSpPr>
        <p:spPr>
          <a:xfrm>
            <a:off x="7188200" y="3860800"/>
            <a:ext cx="3937000" cy="381000"/>
          </a:xfrm>
          <a:prstGeom prst="roundRect">
            <a:avLst>
              <a:gd name="adj" fmla="val 36000"/>
            </a:avLst>
          </a:prstGeom>
          <a:solidFill>
            <a:srgbClr val="FDFCF9"/>
          </a:solidFill>
          <a:ln/>
        </p:spPr>
      </p:sp>
      <p:sp>
        <p:nvSpPr>
          <p:cNvPr id="18" name="Text 14"/>
          <p:cNvSpPr txBox="1"/>
          <p:nvPr/>
        </p:nvSpPr>
        <p:spPr>
          <a:xfrm>
            <a:off x="7340600" y="3860800"/>
            <a:ext cx="3683000" cy="381000"/>
          </a:xfrm>
          <a:prstGeom prst="rect">
            <a:avLst/>
          </a:prstGeom>
          <a:noFill/>
          <a:ln/>
        </p:spPr>
        <p:txBody>
          <a:bodyPr wrap="square" lIns="0" tIns="0" rIns="0" bIns="0" rtlCol="0" anchor="ctr"/>
          <a:lstStyle/>
          <a:p>
            <a:pPr algn="l" indent="0" marL="0">
              <a:lnSpc>
                <a:spcPct val="115000"/>
              </a:lnSpc>
              <a:buNone/>
            </a:pPr>
            <a:r>
              <a:rPr lang="en-US" sz="1400" b="1" dirty="0">
                <a:solidFill>
                  <a:srgbClr val="14213D"/>
                </a:solidFill>
                <a:latin typeface="Optimist Sans" pitchFamily="34" charset="0"/>
                <a:ea typeface="Optimist Sans" pitchFamily="34" charset="-122"/>
                <a:cs typeface="Optimist Sans" pitchFamily="34" charset="-120"/>
              </a:rPr>
              <a:t>Platform &amp; Deployment</a:t>
            </a:r>
            <a:endParaRPr lang="en-US" sz="1400" dirty="0"/>
          </a:p>
        </p:txBody>
      </p:sp>
      <p:sp>
        <p:nvSpPr>
          <p:cNvPr id="19" name="Shape 15"/>
          <p:cNvSpPr/>
          <p:nvPr/>
        </p:nvSpPr>
        <p:spPr>
          <a:xfrm>
            <a:off x="7188200" y="4318000"/>
            <a:ext cx="3937000" cy="381000"/>
          </a:xfrm>
          <a:prstGeom prst="roundRect">
            <a:avLst>
              <a:gd name="adj" fmla="val 36000"/>
            </a:avLst>
          </a:prstGeom>
          <a:solidFill>
            <a:srgbClr val="14213D"/>
          </a:solidFill>
          <a:ln/>
        </p:spPr>
      </p:sp>
      <p:sp>
        <p:nvSpPr>
          <p:cNvPr id="20" name="Text 16"/>
          <p:cNvSpPr txBox="1"/>
          <p:nvPr/>
        </p:nvSpPr>
        <p:spPr>
          <a:xfrm>
            <a:off x="7340600" y="4318000"/>
            <a:ext cx="3683000" cy="381000"/>
          </a:xfrm>
          <a:prstGeom prst="rect">
            <a:avLst/>
          </a:prstGeom>
          <a:noFill/>
          <a:ln/>
        </p:spPr>
        <p:txBody>
          <a:bodyPr wrap="square" lIns="0" tIns="0" rIns="0" bIns="0" rtlCol="0" anchor="ctr"/>
          <a:lstStyle/>
          <a:p>
            <a:pPr algn="l" indent="0" marL="0">
              <a:lnSpc>
                <a:spcPct val="115000"/>
              </a:lnSpc>
              <a:buNone/>
            </a:pPr>
            <a:r>
              <a:rPr lang="en-US" sz="1400" b="1" dirty="0">
                <a:solidFill>
                  <a:srgbClr val="F7F6F2"/>
                </a:solidFill>
                <a:latin typeface="Optimist Sans" pitchFamily="34" charset="0"/>
                <a:ea typeface="Optimist Sans" pitchFamily="34" charset="-122"/>
                <a:cs typeface="Optimist Sans" pitchFamily="34" charset="-120"/>
              </a:rPr>
              <a:t>AI Enablement</a:t>
            </a:r>
            <a:endParaRPr lang="en-US" sz="1400" dirty="0"/>
          </a:p>
        </p:txBody>
      </p:sp>
      <p:sp>
        <p:nvSpPr>
          <p:cNvPr id="21" name="Text 17"/>
          <p:cNvSpPr txBox="1"/>
          <p:nvPr/>
        </p:nvSpPr>
        <p:spPr>
          <a:xfrm>
            <a:off x="7188200" y="4953000"/>
            <a:ext cx="3937000" cy="762000"/>
          </a:xfrm>
          <a:prstGeom prst="rect">
            <a:avLst/>
          </a:prstGeom>
          <a:noFill/>
          <a:ln/>
        </p:spPr>
        <p:txBody>
          <a:bodyPr wrap="square" lIns="0" tIns="0" rIns="0" bIns="0" rtlCol="0" anchor="t"/>
          <a:lstStyle/>
          <a:p>
            <a:pPr algn="l" indent="0" marL="0">
              <a:lnSpc>
                <a:spcPct val="125000"/>
              </a:lnSpc>
              <a:buNone/>
            </a:pPr>
            <a:r>
              <a:rPr lang="en-US" sz="1300" b="1" dirty="0">
                <a:solidFill>
                  <a:srgbClr val="14213D"/>
                </a:solidFill>
                <a:latin typeface="Optimist Sans" pitchFamily="34" charset="0"/>
                <a:ea typeface="Optimist Sans" pitchFamily="34" charset="-122"/>
                <a:cs typeface="Optimist Sans" pitchFamily="34" charset="-120"/>
              </a:rPr>
              <a:t>Why: </a:t>
            </a:r>
            <a:pPr algn="l" indent="0" marL="0">
              <a:lnSpc>
                <a:spcPct val="125000"/>
              </a:lnSpc>
              <a:buNone/>
            </a:pPr>
            <a:r>
              <a:rPr lang="en-US" sz="1300" dirty="0">
                <a:solidFill>
                  <a:srgbClr val="14213D"/>
                </a:solidFill>
                <a:latin typeface="Optimist Sans" pitchFamily="34" charset="0"/>
                <a:ea typeface="Optimist Sans" pitchFamily="34" charset="-122"/>
                <a:cs typeface="Optimist Sans" pitchFamily="34" charset="-120"/>
              </a:rPr>
              <a:t>sits with technology partners and the wider company, and matches where these teams already are.</a:t>
            </a:r>
            <a:endParaRPr lang="en-US" sz="1300" dirty="0"/>
          </a:p>
        </p:txBody>
      </p:sp>
      <p:sp>
        <p:nvSpPr>
          <p:cNvPr id="22" name="Shape 18"/>
          <p:cNvSpPr/>
          <p:nvPr/>
        </p:nvSpPr>
        <p:spPr>
          <a:xfrm>
            <a:off x="5257800" y="4127500"/>
            <a:ext cx="1676400" cy="914"/>
          </a:xfrm>
          <a:prstGeom prst="line">
            <a:avLst/>
          </a:prstGeom>
          <a:noFill/>
          <a:ln w="25400">
            <a:solidFill>
              <a:srgbClr val="8A8F98"/>
            </a:solidFill>
            <a:prstDash val="dash"/>
            <a:headEnd type="triangle"/>
            <a:tailEnd type="triangle"/>
          </a:ln>
        </p:spPr>
      </p:sp>
      <p:sp>
        <p:nvSpPr>
          <p:cNvPr id="23" name="Text 19"/>
          <p:cNvSpPr txBox="1"/>
          <p:nvPr/>
        </p:nvSpPr>
        <p:spPr>
          <a:xfrm>
            <a:off x="5334000" y="3797300"/>
            <a:ext cx="1524000" cy="228600"/>
          </a:xfrm>
          <a:prstGeom prst="rect">
            <a:avLst/>
          </a:prstGeom>
          <a:noFill/>
          <a:ln/>
        </p:spPr>
        <p:txBody>
          <a:bodyPr wrap="square" lIns="0" tIns="0" rIns="0" bIns="0" rtlCol="0" anchor="t"/>
          <a:lstStyle/>
          <a:p>
            <a:pPr algn="ctr"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One team</a:t>
            </a:r>
            <a:endParaRPr lang="en-US" sz="1200" dirty="0"/>
          </a:p>
        </p:txBody>
      </p:sp>
      <p:sp>
        <p:nvSpPr>
          <p:cNvPr id="24" name="Text 20"/>
          <p:cNvSpPr txBox="1"/>
          <p:nvPr/>
        </p:nvSpPr>
        <p:spPr>
          <a:xfrm>
            <a:off x="5334000" y="4216400"/>
            <a:ext cx="1524000" cy="228600"/>
          </a:xfrm>
          <a:prstGeom prst="rect">
            <a:avLst/>
          </a:prstGeom>
          <a:noFill/>
          <a:ln/>
        </p:spPr>
        <p:txBody>
          <a:bodyPr wrap="square" lIns="0" tIns="0" rIns="0" bIns="0" rtlCol="0" anchor="t"/>
          <a:lstStyle/>
          <a:p>
            <a:pPr algn="ctr"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[Sync cadence]</a:t>
            </a:r>
            <a:endParaRPr lang="en-US" sz="1200" dirty="0"/>
          </a:p>
        </p:txBody>
      </p:sp>
      <p:sp>
        <p:nvSpPr>
          <p:cNvPr id="25" name="Text 21"/>
          <p:cNvSpPr txBox="1"/>
          <p:nvPr/>
        </p:nvSpPr>
        <p:spPr>
          <a:xfrm>
            <a:off x="812800" y="6235700"/>
            <a:ext cx="9779000" cy="2159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Draft for discussion · [Or another office for Office B]</a:t>
            </a:r>
            <a:endParaRPr lang="en-US" sz="1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A0521A"/>
                </a:solidFill>
                <a:latin typeface="Optimist Sans" pitchFamily="34" charset="0"/>
                <a:ea typeface="Optimist Sans" pitchFamily="34" charset="-122"/>
                <a:cs typeface="Optimist Sans" pitchFamily="34" charset="-120"/>
              </a:rPr>
              <a:t>PRIORITIES</a:t>
            </a:r>
            <a:endParaRPr lang="en-US" sz="1200" dirty="0"/>
          </a:p>
        </p:txBody>
      </p:sp>
      <p:sp>
        <p:nvSpPr>
          <p:cNvPr id="3" name="Text 0"/>
          <p:cNvSpPr/>
          <p:nvPr>
            <p:ph idx="100" type="title" hasCustomPrompt="1"/>
          </p:nvPr>
        </p:nvSpPr>
        <p:spPr>
          <a:xfrm>
            <a:off x="812800" y="1117600"/>
            <a:ext cx="10566400" cy="1016000"/>
          </a:xfrm>
          <a:prstGeom prst="rect">
            <a:avLst/>
          </a:prstGeom>
          <a:noFill/>
          <a:ln/>
        </p:spPr>
        <p:txBody>
          <a:bodyPr wrap="square" lIns="0" tIns="0" rIns="0" bIns="0" rtlCol="0" anchor="t"/>
          <a:lstStyle/>
          <a:p>
            <a:pPr algn="l" indent="0" marL="0">
              <a:buNone/>
            </a:pPr>
            <a:r>
              <a:rPr lang="en-US" sz="3200" b="1" dirty="0">
                <a:solidFill>
                  <a:srgbClr val="14213D"/>
                </a:solidFill>
                <a:latin typeface="Optimist Display" pitchFamily="34" charset="0"/>
                <a:ea typeface="Optimist Display" pitchFamily="34" charset="-122"/>
                <a:cs typeface="Optimist Display" pitchFamily="34" charset="-120"/>
              </a:rPr>
              <a:t>Four priorities move us from improving today’s work to reinventing it</a:t>
            </a:r>
            <a:endParaRPr lang="en-US" sz="3200" dirty="0"/>
          </a:p>
        </p:txBody>
      </p:sp>
      <p:sp>
        <p:nvSpPr>
          <p:cNvPr id="4" name="Shape 2"/>
          <p:cNvSpPr/>
          <p:nvPr/>
        </p:nvSpPr>
        <p:spPr>
          <a:xfrm>
            <a:off x="812800" y="2222500"/>
            <a:ext cx="5181600" cy="38100"/>
          </a:xfrm>
          <a:prstGeom prst="rect">
            <a:avLst/>
          </a:prstGeom>
          <a:solidFill>
            <a:srgbClr val="1F6F7E"/>
          </a:solidFill>
          <a:ln/>
        </p:spPr>
      </p:sp>
      <p:sp>
        <p:nvSpPr>
          <p:cNvPr id="5" name="Text 3"/>
          <p:cNvSpPr txBox="1"/>
          <p:nvPr/>
        </p:nvSpPr>
        <p:spPr>
          <a:xfrm>
            <a:off x="812800" y="2336800"/>
            <a:ext cx="5181600" cy="228600"/>
          </a:xfrm>
          <a:prstGeom prst="rect">
            <a:avLst/>
          </a:prstGeom>
          <a:noFill/>
          <a:ln/>
        </p:spPr>
        <p:txBody>
          <a:bodyPr wrap="square" lIns="0" tIns="0" rIns="0" bIns="0" rtlCol="0" anchor="t"/>
          <a:lstStyle/>
          <a:p>
            <a:pPr algn="l" indent="0" marL="0">
              <a:lnSpc>
                <a:spcPct val="115000"/>
              </a:lnSpc>
              <a:buNone/>
            </a:pPr>
            <a:r>
              <a:rPr lang="en-US" sz="1200" b="1" dirty="0">
                <a:solidFill>
                  <a:srgbClr val="155563"/>
                </a:solidFill>
                <a:latin typeface="Optimist Sans" pitchFamily="34" charset="0"/>
                <a:ea typeface="Optimist Sans" pitchFamily="34" charset="-122"/>
                <a:cs typeface="Optimist Sans" pitchFamily="34" charset="-120"/>
              </a:rPr>
              <a:t>Improve how we work today</a:t>
            </a:r>
            <a:endParaRPr lang="en-US" sz="1200" dirty="0"/>
          </a:p>
        </p:txBody>
      </p:sp>
      <p:sp>
        <p:nvSpPr>
          <p:cNvPr id="6" name="Shape 4"/>
          <p:cNvSpPr/>
          <p:nvPr/>
        </p:nvSpPr>
        <p:spPr>
          <a:xfrm>
            <a:off x="6197600" y="2222500"/>
            <a:ext cx="2489200" cy="38100"/>
          </a:xfrm>
          <a:prstGeom prst="rect">
            <a:avLst/>
          </a:prstGeom>
          <a:solidFill>
            <a:srgbClr val="A0521A"/>
          </a:solidFill>
          <a:ln/>
        </p:spPr>
      </p:sp>
      <p:sp>
        <p:nvSpPr>
          <p:cNvPr id="7" name="Text 5"/>
          <p:cNvSpPr txBox="1"/>
          <p:nvPr/>
        </p:nvSpPr>
        <p:spPr>
          <a:xfrm>
            <a:off x="6197600" y="2336800"/>
            <a:ext cx="2489200" cy="228600"/>
          </a:xfrm>
          <a:prstGeom prst="rect">
            <a:avLst/>
          </a:prstGeom>
          <a:noFill/>
          <a:ln/>
        </p:spPr>
        <p:txBody>
          <a:bodyPr wrap="square" lIns="0" tIns="0" rIns="0" bIns="0" rtlCol="0" anchor="t"/>
          <a:lstStyle/>
          <a:p>
            <a:pPr algn="l" indent="0" marL="0">
              <a:lnSpc>
                <a:spcPct val="115000"/>
              </a:lnSpc>
              <a:buNone/>
            </a:pPr>
            <a:r>
              <a:rPr lang="en-US" sz="1200" b="1" dirty="0">
                <a:solidFill>
                  <a:srgbClr val="8A4514"/>
                </a:solidFill>
                <a:latin typeface="Optimist Sans" pitchFamily="34" charset="0"/>
                <a:ea typeface="Optimist Sans" pitchFamily="34" charset="-122"/>
                <a:cs typeface="Optimist Sans" pitchFamily="34" charset="-120"/>
              </a:rPr>
              <a:t>Reinvent, outside in</a:t>
            </a:r>
            <a:endParaRPr lang="en-US" sz="1200" dirty="0"/>
          </a:p>
        </p:txBody>
      </p:sp>
      <p:sp>
        <p:nvSpPr>
          <p:cNvPr id="8" name="Shape 6"/>
          <p:cNvSpPr/>
          <p:nvPr/>
        </p:nvSpPr>
        <p:spPr>
          <a:xfrm>
            <a:off x="8890000" y="2222500"/>
            <a:ext cx="2489200" cy="38100"/>
          </a:xfrm>
          <a:prstGeom prst="rect">
            <a:avLst/>
          </a:prstGeom>
          <a:solidFill>
            <a:srgbClr val="14213D"/>
          </a:solidFill>
          <a:ln/>
        </p:spPr>
      </p:sp>
      <p:sp>
        <p:nvSpPr>
          <p:cNvPr id="9" name="Text 7"/>
          <p:cNvSpPr txBox="1"/>
          <p:nvPr/>
        </p:nvSpPr>
        <p:spPr>
          <a:xfrm>
            <a:off x="8890000" y="2336800"/>
            <a:ext cx="2489200" cy="228600"/>
          </a:xfrm>
          <a:prstGeom prst="rect">
            <a:avLst/>
          </a:prstGeom>
          <a:noFill/>
          <a:ln/>
        </p:spPr>
        <p:txBody>
          <a:bodyPr wrap="square" lIns="0" tIns="0" rIns="0" bIns="0" rtlCol="0" anchor="t"/>
          <a:lstStyle/>
          <a:p>
            <a:pPr algn="l" indent="0" marL="0">
              <a:lnSpc>
                <a:spcPct val="115000"/>
              </a:lnSpc>
              <a:buNone/>
            </a:pPr>
            <a:r>
              <a:rPr lang="en-US" sz="1200" b="1" dirty="0">
                <a:solidFill>
                  <a:srgbClr val="14213D"/>
                </a:solidFill>
                <a:latin typeface="Optimist Sans" pitchFamily="34" charset="0"/>
                <a:ea typeface="Optimist Sans" pitchFamily="34" charset="-122"/>
                <a:cs typeface="Optimist Sans" pitchFamily="34" charset="-120"/>
              </a:rPr>
              <a:t>Enable the team</a:t>
            </a:r>
            <a:endParaRPr lang="en-US" sz="1200" dirty="0"/>
          </a:p>
        </p:txBody>
      </p:sp>
      <p:sp>
        <p:nvSpPr>
          <p:cNvPr id="10" name="Shape 8"/>
          <p:cNvSpPr/>
          <p:nvPr/>
        </p:nvSpPr>
        <p:spPr>
          <a:xfrm>
            <a:off x="812800" y="2717800"/>
            <a:ext cx="2489200" cy="3124200"/>
          </a:xfrm>
          <a:prstGeom prst="roundRect">
            <a:avLst>
              <a:gd name="adj" fmla="val 2939"/>
            </a:avLst>
          </a:prstGeom>
          <a:solidFill>
            <a:srgbClr val="FDFCF9"/>
          </a:solidFill>
          <a:ln w="12700">
            <a:solidFill>
              <a:srgbClr val="DDD8CC"/>
            </a:solidFill>
            <a:prstDash val="solid"/>
          </a:ln>
        </p:spPr>
      </p:sp>
      <p:pic>
        <p:nvPicPr>
          <p:cNvPr id="11" name="Image 0" descr="preencoded.png">    </p:cNvPr>
          <p:cNvPicPr>
            <a:picLocks noChangeAspect="1"/>
          </p:cNvPicPr>
          <p:nvPr/>
        </p:nvPicPr>
        <p:blipFill>
          <a:blip r:embed="rId1"/>
          <a:stretch>
            <a:fillRect/>
          </a:stretch>
        </p:blipFill>
        <p:spPr>
          <a:xfrm>
            <a:off x="1016000" y="2870200"/>
            <a:ext cx="279400" cy="279400"/>
          </a:xfrm>
          <a:prstGeom prst="rect">
            <a:avLst/>
          </a:prstGeom>
        </p:spPr>
      </p:pic>
      <p:sp>
        <p:nvSpPr>
          <p:cNvPr id="12" name="Text 9"/>
          <p:cNvSpPr txBox="1"/>
          <p:nvPr/>
        </p:nvSpPr>
        <p:spPr>
          <a:xfrm>
            <a:off x="1016000" y="3213100"/>
            <a:ext cx="2082800" cy="508000"/>
          </a:xfrm>
          <a:prstGeom prst="rect">
            <a:avLst/>
          </a:prstGeom>
          <a:noFill/>
          <a:ln/>
        </p:spPr>
        <p:txBody>
          <a:bodyPr wrap="square" lIns="0" tIns="0" rIns="0" bIns="0" rtlCol="0" anchor="t"/>
          <a:lstStyle/>
          <a:p>
            <a:pPr algn="l" indent="0" marL="0">
              <a:lnSpc>
                <a:spcPct val="105000"/>
              </a:lnSpc>
              <a:buNone/>
            </a:pPr>
            <a:r>
              <a:rPr lang="en-US" sz="1600" b="1" dirty="0">
                <a:solidFill>
                  <a:srgbClr val="14213D"/>
                </a:solidFill>
                <a:latin typeface="Optimist Sans" pitchFamily="34" charset="0"/>
                <a:ea typeface="Optimist Sans" pitchFamily="34" charset="-122"/>
                <a:cs typeface="Optimist Sans" pitchFamily="34" charset="-120"/>
              </a:rPr>
              <a:t>Sharpen model strategy</a:t>
            </a:r>
            <a:endParaRPr lang="en-US" sz="1600" dirty="0"/>
          </a:p>
        </p:txBody>
      </p:sp>
      <p:sp>
        <p:nvSpPr>
          <p:cNvPr id="13" name="Text 10"/>
          <p:cNvSpPr txBox="1"/>
          <p:nvPr/>
        </p:nvSpPr>
        <p:spPr>
          <a:xfrm>
            <a:off x="1016000" y="3771900"/>
            <a:ext cx="2082800" cy="444500"/>
          </a:xfrm>
          <a:prstGeom prst="rect">
            <a:avLst/>
          </a:prstGeom>
          <a:noFill/>
          <a:ln/>
        </p:spPr>
        <p:txBody>
          <a:bodyPr wrap="square" lIns="0" tIns="0" rIns="0" bIns="0" rtlCol="0" anchor="t"/>
          <a:lstStyle/>
          <a:p>
            <a:pPr algn="l" indent="0" marL="0">
              <a:lnSpc>
                <a:spcPct val="115000"/>
              </a:lnSpc>
              <a:buNone/>
            </a:pPr>
            <a:r>
              <a:rPr lang="en-US" sz="1300" dirty="0">
                <a:solidFill>
                  <a:srgbClr val="4A5568"/>
                </a:solidFill>
                <a:latin typeface="Optimist Sans" pitchFamily="34" charset="0"/>
                <a:ea typeface="Optimist Sans" pitchFamily="34" charset="-122"/>
                <a:cs typeface="Optimist Sans" pitchFamily="34" charset="-120"/>
              </a:rPr>
              <a:t>Build on today’s defined strategy.</a:t>
            </a:r>
            <a:endParaRPr lang="en-US" sz="1300" dirty="0"/>
          </a:p>
        </p:txBody>
      </p:sp>
      <p:sp>
        <p:nvSpPr>
          <p:cNvPr id="14" name="Text 11"/>
          <p:cNvSpPr txBox="1"/>
          <p:nvPr/>
        </p:nvSpPr>
        <p:spPr>
          <a:xfrm>
            <a:off x="1016000" y="4394200"/>
            <a:ext cx="208280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Model consolidation [scope]</a:t>
            </a:r>
            <a:endParaRPr lang="en-US" sz="1200" dirty="0"/>
          </a:p>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Re-leveling [scope]</a:t>
            </a:r>
            <a:endParaRPr lang="en-US" sz="1200" dirty="0"/>
          </a:p>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[Further optimization]</a:t>
            </a:r>
            <a:endParaRPr lang="en-US" sz="1200" dirty="0"/>
          </a:p>
        </p:txBody>
      </p:sp>
      <p:sp>
        <p:nvSpPr>
          <p:cNvPr id="15" name="Shape 12"/>
          <p:cNvSpPr/>
          <p:nvPr/>
        </p:nvSpPr>
        <p:spPr>
          <a:xfrm>
            <a:off x="3505200" y="2717800"/>
            <a:ext cx="2489200" cy="3124200"/>
          </a:xfrm>
          <a:prstGeom prst="roundRect">
            <a:avLst>
              <a:gd name="adj" fmla="val 2939"/>
            </a:avLst>
          </a:prstGeom>
          <a:solidFill>
            <a:srgbClr val="FDFCF9"/>
          </a:solidFill>
          <a:ln w="12700">
            <a:solidFill>
              <a:srgbClr val="DDD8CC"/>
            </a:solidFill>
            <a:prstDash val="solid"/>
          </a:ln>
        </p:spPr>
      </p:sp>
      <p:pic>
        <p:nvPicPr>
          <p:cNvPr id="16" name="Image 1" descr="preencoded.png">    </p:cNvPr>
          <p:cNvPicPr>
            <a:picLocks noChangeAspect="1"/>
          </p:cNvPicPr>
          <p:nvPr/>
        </p:nvPicPr>
        <p:blipFill>
          <a:blip r:embed="rId2"/>
          <a:stretch>
            <a:fillRect/>
          </a:stretch>
        </p:blipFill>
        <p:spPr>
          <a:xfrm>
            <a:off x="3708400" y="2870200"/>
            <a:ext cx="279400" cy="279400"/>
          </a:xfrm>
          <a:prstGeom prst="rect">
            <a:avLst/>
          </a:prstGeom>
        </p:spPr>
      </p:pic>
      <p:sp>
        <p:nvSpPr>
          <p:cNvPr id="17" name="Text 13"/>
          <p:cNvSpPr txBox="1"/>
          <p:nvPr/>
        </p:nvSpPr>
        <p:spPr>
          <a:xfrm>
            <a:off x="3708400" y="3213100"/>
            <a:ext cx="2082800" cy="508000"/>
          </a:xfrm>
          <a:prstGeom prst="rect">
            <a:avLst/>
          </a:prstGeom>
          <a:noFill/>
          <a:ln/>
        </p:spPr>
        <p:txBody>
          <a:bodyPr wrap="square" lIns="0" tIns="0" rIns="0" bIns="0" rtlCol="0" anchor="t"/>
          <a:lstStyle/>
          <a:p>
            <a:pPr algn="l" indent="0" marL="0">
              <a:lnSpc>
                <a:spcPct val="105000"/>
              </a:lnSpc>
              <a:buNone/>
            </a:pPr>
            <a:r>
              <a:rPr lang="en-US" sz="1600" b="1" dirty="0">
                <a:solidFill>
                  <a:srgbClr val="14213D"/>
                </a:solidFill>
                <a:latin typeface="Optimist Sans" pitchFamily="34" charset="0"/>
                <a:ea typeface="Optimist Sans" pitchFamily="34" charset="-122"/>
                <a:cs typeface="Optimist Sans" pitchFamily="34" charset="-120"/>
              </a:rPr>
              <a:t>Clean our house</a:t>
            </a:r>
            <a:endParaRPr lang="en-US" sz="1600" dirty="0"/>
          </a:p>
        </p:txBody>
      </p:sp>
      <p:sp>
        <p:nvSpPr>
          <p:cNvPr id="18" name="Text 14"/>
          <p:cNvSpPr txBox="1"/>
          <p:nvPr/>
        </p:nvSpPr>
        <p:spPr>
          <a:xfrm>
            <a:off x="3708400" y="3771900"/>
            <a:ext cx="2082800" cy="444500"/>
          </a:xfrm>
          <a:prstGeom prst="rect">
            <a:avLst/>
          </a:prstGeom>
          <a:noFill/>
          <a:ln/>
        </p:spPr>
        <p:txBody>
          <a:bodyPr wrap="square" lIns="0" tIns="0" rIns="0" bIns="0" rtlCol="0" anchor="t"/>
          <a:lstStyle/>
          <a:p>
            <a:pPr algn="l" indent="0" marL="0">
              <a:lnSpc>
                <a:spcPct val="115000"/>
              </a:lnSpc>
              <a:buNone/>
            </a:pPr>
            <a:r>
              <a:rPr lang="en-US" sz="1300" dirty="0">
                <a:solidFill>
                  <a:srgbClr val="4A5568"/>
                </a:solidFill>
                <a:latin typeface="Optimist Sans" pitchFamily="34" charset="0"/>
                <a:ea typeface="Optimist Sans" pitchFamily="34" charset="-122"/>
                <a:cs typeface="Optimist Sans" pitchFamily="34" charset="-120"/>
              </a:rPr>
              <a:t>Standardize and streamline current work.</a:t>
            </a:r>
            <a:endParaRPr lang="en-US" sz="1300" dirty="0"/>
          </a:p>
        </p:txBody>
      </p:sp>
      <p:sp>
        <p:nvSpPr>
          <p:cNvPr id="19" name="Text 15"/>
          <p:cNvSpPr txBox="1"/>
          <p:nvPr/>
        </p:nvSpPr>
        <p:spPr>
          <a:xfrm>
            <a:off x="3708400" y="4394200"/>
            <a:ext cx="208280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Standard tooling [tool name]</a:t>
            </a:r>
            <a:endParaRPr lang="en-US" sz="1200" dirty="0"/>
          </a:p>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Process optimization [areas]</a:t>
            </a:r>
            <a:endParaRPr lang="en-US" sz="1200" dirty="0"/>
          </a:p>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[Item]</a:t>
            </a:r>
            <a:endParaRPr lang="en-US" sz="1200" dirty="0"/>
          </a:p>
        </p:txBody>
      </p:sp>
      <p:sp>
        <p:nvSpPr>
          <p:cNvPr id="20" name="Shape 16"/>
          <p:cNvSpPr/>
          <p:nvPr/>
        </p:nvSpPr>
        <p:spPr>
          <a:xfrm>
            <a:off x="6197600" y="2717800"/>
            <a:ext cx="2489200" cy="3124200"/>
          </a:xfrm>
          <a:prstGeom prst="roundRect">
            <a:avLst>
              <a:gd name="adj" fmla="val 2939"/>
            </a:avLst>
          </a:prstGeom>
          <a:solidFill>
            <a:srgbClr val="FDFCF9"/>
          </a:solidFill>
          <a:ln w="12700">
            <a:solidFill>
              <a:srgbClr val="DDD8CC"/>
            </a:solidFill>
            <a:prstDash val="solid"/>
          </a:ln>
        </p:spPr>
      </p:sp>
      <p:pic>
        <p:nvPicPr>
          <p:cNvPr id="21" name="Image 2" descr="preencoded.png">    </p:cNvPr>
          <p:cNvPicPr>
            <a:picLocks noChangeAspect="1"/>
          </p:cNvPicPr>
          <p:nvPr/>
        </p:nvPicPr>
        <p:blipFill>
          <a:blip r:embed="rId3"/>
          <a:stretch>
            <a:fillRect/>
          </a:stretch>
        </p:blipFill>
        <p:spPr>
          <a:xfrm>
            <a:off x="6400800" y="2870200"/>
            <a:ext cx="279400" cy="279400"/>
          </a:xfrm>
          <a:prstGeom prst="rect">
            <a:avLst/>
          </a:prstGeom>
        </p:spPr>
      </p:pic>
      <p:sp>
        <p:nvSpPr>
          <p:cNvPr id="22" name="Text 17"/>
          <p:cNvSpPr txBox="1"/>
          <p:nvPr/>
        </p:nvSpPr>
        <p:spPr>
          <a:xfrm>
            <a:off x="6400800" y="3213100"/>
            <a:ext cx="2082800" cy="508000"/>
          </a:xfrm>
          <a:prstGeom prst="rect">
            <a:avLst/>
          </a:prstGeom>
          <a:noFill/>
          <a:ln/>
        </p:spPr>
        <p:txBody>
          <a:bodyPr wrap="square" lIns="0" tIns="0" rIns="0" bIns="0" rtlCol="0" anchor="t"/>
          <a:lstStyle/>
          <a:p>
            <a:pPr algn="l" indent="0" marL="0">
              <a:lnSpc>
                <a:spcPct val="105000"/>
              </a:lnSpc>
              <a:buNone/>
            </a:pPr>
            <a:r>
              <a:rPr lang="en-US" sz="1600" b="1" dirty="0">
                <a:solidFill>
                  <a:srgbClr val="14213D"/>
                </a:solidFill>
                <a:latin typeface="Optimist Sans" pitchFamily="34" charset="0"/>
                <a:ea typeface="Optimist Sans" pitchFamily="34" charset="-122"/>
                <a:cs typeface="Optimist Sans" pitchFamily="34" charset="-120"/>
              </a:rPr>
              <a:t>Rethink with AI</a:t>
            </a:r>
            <a:endParaRPr lang="en-US" sz="1600" dirty="0"/>
          </a:p>
        </p:txBody>
      </p:sp>
      <p:sp>
        <p:nvSpPr>
          <p:cNvPr id="23" name="Text 18"/>
          <p:cNvSpPr txBox="1"/>
          <p:nvPr/>
        </p:nvSpPr>
        <p:spPr>
          <a:xfrm>
            <a:off x="6400800" y="3771900"/>
            <a:ext cx="2082800" cy="444500"/>
          </a:xfrm>
          <a:prstGeom prst="rect">
            <a:avLst/>
          </a:prstGeom>
          <a:noFill/>
          <a:ln/>
        </p:spPr>
        <p:txBody>
          <a:bodyPr wrap="square" lIns="0" tIns="0" rIns="0" bIns="0" rtlCol="0" anchor="t"/>
          <a:lstStyle/>
          <a:p>
            <a:pPr algn="l" indent="0" marL="0">
              <a:lnSpc>
                <a:spcPct val="115000"/>
              </a:lnSpc>
              <a:buNone/>
            </a:pPr>
            <a:r>
              <a:rPr lang="en-US" sz="1300" dirty="0">
                <a:solidFill>
                  <a:srgbClr val="4A5568"/>
                </a:solidFill>
                <a:latin typeface="Optimist Sans" pitchFamily="34" charset="0"/>
                <a:ea typeface="Optimist Sans" pitchFamily="34" charset="-122"/>
                <a:cs typeface="Optimist Sans" pitchFamily="34" charset="-120"/>
              </a:rPr>
              <a:t>If we built the team today, what would differ?</a:t>
            </a:r>
            <a:endParaRPr lang="en-US" sz="1300" dirty="0"/>
          </a:p>
        </p:txBody>
      </p:sp>
      <p:sp>
        <p:nvSpPr>
          <p:cNvPr id="24" name="Text 19"/>
          <p:cNvSpPr txBox="1"/>
          <p:nvPr/>
        </p:nvSpPr>
        <p:spPr>
          <a:xfrm>
            <a:off x="6400800" y="4394200"/>
            <a:ext cx="208280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Codify unwritten know-how for humans and AI</a:t>
            </a:r>
            <a:endParaRPr lang="en-US" sz="1200" dirty="0"/>
          </a:p>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[Opportunity 2]</a:t>
            </a:r>
            <a:endParaRPr lang="en-US" sz="1200" dirty="0"/>
          </a:p>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[Opportunity 3]</a:t>
            </a:r>
            <a:endParaRPr lang="en-US" sz="1200" dirty="0"/>
          </a:p>
        </p:txBody>
      </p:sp>
      <p:sp>
        <p:nvSpPr>
          <p:cNvPr id="25" name="Shape 20"/>
          <p:cNvSpPr/>
          <p:nvPr/>
        </p:nvSpPr>
        <p:spPr>
          <a:xfrm>
            <a:off x="8890000" y="2717800"/>
            <a:ext cx="2489200" cy="3124200"/>
          </a:xfrm>
          <a:prstGeom prst="roundRect">
            <a:avLst>
              <a:gd name="adj" fmla="val 2939"/>
            </a:avLst>
          </a:prstGeom>
          <a:solidFill>
            <a:srgbClr val="FDFCF9"/>
          </a:solidFill>
          <a:ln w="12700">
            <a:solidFill>
              <a:srgbClr val="DDD8CC"/>
            </a:solidFill>
            <a:prstDash val="solid"/>
          </a:ln>
        </p:spPr>
      </p:sp>
      <p:pic>
        <p:nvPicPr>
          <p:cNvPr id="26" name="Image 3" descr="preencoded.png">    </p:cNvPr>
          <p:cNvPicPr>
            <a:picLocks noChangeAspect="1"/>
          </p:cNvPicPr>
          <p:nvPr/>
        </p:nvPicPr>
        <p:blipFill>
          <a:blip r:embed="rId4"/>
          <a:stretch>
            <a:fillRect/>
          </a:stretch>
        </p:blipFill>
        <p:spPr>
          <a:xfrm>
            <a:off x="9093200" y="2870200"/>
            <a:ext cx="279400" cy="279400"/>
          </a:xfrm>
          <a:prstGeom prst="rect">
            <a:avLst/>
          </a:prstGeom>
        </p:spPr>
      </p:pic>
      <p:sp>
        <p:nvSpPr>
          <p:cNvPr id="27" name="Text 21"/>
          <p:cNvSpPr txBox="1"/>
          <p:nvPr/>
        </p:nvSpPr>
        <p:spPr>
          <a:xfrm>
            <a:off x="9093200" y="3213100"/>
            <a:ext cx="2082800" cy="508000"/>
          </a:xfrm>
          <a:prstGeom prst="rect">
            <a:avLst/>
          </a:prstGeom>
          <a:noFill/>
          <a:ln/>
        </p:spPr>
        <p:txBody>
          <a:bodyPr wrap="square" lIns="0" tIns="0" rIns="0" bIns="0" rtlCol="0" anchor="t"/>
          <a:lstStyle/>
          <a:p>
            <a:pPr algn="l" indent="0" marL="0">
              <a:lnSpc>
                <a:spcPct val="105000"/>
              </a:lnSpc>
              <a:buNone/>
            </a:pPr>
            <a:r>
              <a:rPr lang="en-US" sz="1600" b="1" dirty="0">
                <a:solidFill>
                  <a:srgbClr val="14213D"/>
                </a:solidFill>
                <a:latin typeface="Optimist Sans" pitchFamily="34" charset="0"/>
                <a:ea typeface="Optimist Sans" pitchFamily="34" charset="-122"/>
                <a:cs typeface="Optimist Sans" pitchFamily="34" charset="-120"/>
              </a:rPr>
              <a:t>Build an AI-era team</a:t>
            </a:r>
            <a:endParaRPr lang="en-US" sz="1600" dirty="0"/>
          </a:p>
        </p:txBody>
      </p:sp>
      <p:sp>
        <p:nvSpPr>
          <p:cNvPr id="28" name="Text 22"/>
          <p:cNvSpPr txBox="1"/>
          <p:nvPr/>
        </p:nvSpPr>
        <p:spPr>
          <a:xfrm>
            <a:off x="9093200" y="3771900"/>
            <a:ext cx="2082800" cy="444500"/>
          </a:xfrm>
          <a:prstGeom prst="rect">
            <a:avLst/>
          </a:prstGeom>
          <a:noFill/>
          <a:ln/>
        </p:spPr>
        <p:txBody>
          <a:bodyPr wrap="square" lIns="0" tIns="0" rIns="0" bIns="0" rtlCol="0" anchor="t"/>
          <a:lstStyle/>
          <a:p>
            <a:pPr algn="l" indent="0" marL="0">
              <a:lnSpc>
                <a:spcPct val="115000"/>
              </a:lnSpc>
              <a:buNone/>
            </a:pPr>
            <a:r>
              <a:rPr lang="en-US" sz="1300" dirty="0">
                <a:solidFill>
                  <a:srgbClr val="4A5568"/>
                </a:solidFill>
                <a:latin typeface="Optimist Sans" pitchFamily="34" charset="0"/>
                <a:ea typeface="Optimist Sans" pitchFamily="34" charset="-122"/>
                <a:cs typeface="Optimist Sans" pitchFamily="34" charset="-120"/>
              </a:rPr>
              <a:t>Structure and talent for ~30 associates.</a:t>
            </a:r>
            <a:endParaRPr lang="en-US" sz="1300" dirty="0"/>
          </a:p>
        </p:txBody>
      </p:sp>
      <p:sp>
        <p:nvSpPr>
          <p:cNvPr id="29" name="Text 23"/>
          <p:cNvSpPr txBox="1"/>
          <p:nvPr/>
        </p:nvSpPr>
        <p:spPr>
          <a:xfrm>
            <a:off x="9093200" y="4394200"/>
            <a:ext cx="208280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Flatter structure for AI-empowered talent</a:t>
            </a:r>
            <a:endParaRPr lang="en-US" sz="1200" dirty="0"/>
          </a:p>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Leaders for mixed IC + agent teams, wider spans</a:t>
            </a:r>
            <a:endParaRPr lang="en-US" sz="1200" dirty="0"/>
          </a:p>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Consistent, rising talent bar; IC development</a:t>
            </a:r>
            <a:endParaRPr lang="en-US" sz="1200" dirty="0"/>
          </a:p>
        </p:txBody>
      </p:sp>
      <p:sp>
        <p:nvSpPr>
          <p:cNvPr id="30" name="Text 24"/>
          <p:cNvSpPr txBox="1"/>
          <p:nvPr/>
        </p:nvSpPr>
        <p:spPr>
          <a:xfrm>
            <a:off x="812800" y="6235700"/>
            <a:ext cx="9779000" cy="2159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Draft for discussion</a:t>
            </a:r>
            <a:endParaRPr lang="en-US" sz="1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A0521A"/>
                </a:solidFill>
                <a:latin typeface="Optimist Sans" pitchFamily="34" charset="0"/>
                <a:ea typeface="Optimist Sans" pitchFamily="34" charset="-122"/>
                <a:cs typeface="Optimist Sans" pitchFamily="34" charset="-120"/>
              </a:rPr>
              <a:t>TEAM FOR THE AI ERA · 1 GROWTH</a:t>
            </a:r>
            <a:endParaRPr lang="en-US" sz="1200" dirty="0"/>
          </a:p>
        </p:txBody>
      </p:sp>
      <p:sp>
        <p:nvSpPr>
          <p:cNvPr id="3" name="Text 0"/>
          <p:cNvSpPr/>
          <p:nvPr>
            <p:ph idx="100" type="title" hasCustomPrompt="1"/>
          </p:nvPr>
        </p:nvSpPr>
        <p:spPr>
          <a:xfrm>
            <a:off x="812800" y="1117600"/>
            <a:ext cx="10566400" cy="1016000"/>
          </a:xfrm>
          <a:prstGeom prst="rect">
            <a:avLst/>
          </a:prstGeom>
          <a:noFill/>
          <a:ln/>
        </p:spPr>
        <p:txBody>
          <a:bodyPr wrap="square" lIns="0" tIns="0" rIns="0" bIns="0" rtlCol="0" anchor="t"/>
          <a:lstStyle/>
          <a:p>
            <a:pPr algn="l" indent="0" marL="0">
              <a:buNone/>
            </a:pPr>
            <a:r>
              <a:rPr lang="en-US" sz="3200" b="1" dirty="0">
                <a:solidFill>
                  <a:srgbClr val="14213D"/>
                </a:solidFill>
                <a:latin typeface="Optimist Display" pitchFamily="34" charset="0"/>
                <a:ea typeface="Optimist Display" pitchFamily="34" charset="-122"/>
                <a:cs typeface="Optimist Display" pitchFamily="34" charset="-120"/>
              </a:rPr>
              <a:t>Everyone starts as an IC, then chooses between two equally valued paths</a:t>
            </a:r>
            <a:endParaRPr lang="en-US" sz="3200" dirty="0"/>
          </a:p>
        </p:txBody>
      </p:sp>
      <p:sp>
        <p:nvSpPr>
          <p:cNvPr id="4" name="Shape 2"/>
          <p:cNvSpPr/>
          <p:nvPr/>
        </p:nvSpPr>
        <p:spPr>
          <a:xfrm>
            <a:off x="2654300" y="2286000"/>
            <a:ext cx="3048000" cy="355600"/>
          </a:xfrm>
          <a:prstGeom prst="roundRect">
            <a:avLst>
              <a:gd name="adj" fmla="val 38571"/>
            </a:avLst>
          </a:prstGeom>
          <a:solidFill>
            <a:srgbClr val="14213D"/>
          </a:solidFill>
          <a:ln/>
        </p:spPr>
      </p:sp>
      <p:sp>
        <p:nvSpPr>
          <p:cNvPr id="5" name="Text 3"/>
          <p:cNvSpPr txBox="1"/>
          <p:nvPr/>
        </p:nvSpPr>
        <p:spPr>
          <a:xfrm>
            <a:off x="2654300" y="2286000"/>
            <a:ext cx="3048000" cy="355600"/>
          </a:xfrm>
          <a:prstGeom prst="rect">
            <a:avLst/>
          </a:prstGeom>
          <a:noFill/>
          <a:ln/>
        </p:spPr>
        <p:txBody>
          <a:bodyPr wrap="square" lIns="0" tIns="0" rIns="0" bIns="0" rtlCol="0" anchor="ctr"/>
          <a:lstStyle/>
          <a:p>
            <a:pPr algn="ctr" indent="0" marL="0">
              <a:lnSpc>
                <a:spcPct val="115000"/>
              </a:lnSpc>
              <a:buNone/>
            </a:pPr>
            <a:r>
              <a:rPr lang="en-US" sz="1300" b="1" dirty="0">
                <a:solidFill>
                  <a:srgbClr val="F7F6F2"/>
                </a:solidFill>
                <a:latin typeface="Optimist Sans" pitchFamily="34" charset="0"/>
                <a:ea typeface="Optimist Sans" pitchFamily="34" charset="-122"/>
                <a:cs typeface="Optimist Sans" pitchFamily="34" charset="-120"/>
              </a:rPr>
              <a:t>Junior IC: everyone starts here</a:t>
            </a:r>
            <a:endParaRPr lang="en-US" sz="1300" dirty="0"/>
          </a:p>
        </p:txBody>
      </p:sp>
      <p:sp>
        <p:nvSpPr>
          <p:cNvPr id="6" name="Text 4"/>
          <p:cNvSpPr txBox="1"/>
          <p:nvPr/>
        </p:nvSpPr>
        <p:spPr>
          <a:xfrm>
            <a:off x="4279900" y="2628900"/>
            <a:ext cx="2032000" cy="215900"/>
          </a:xfrm>
          <a:prstGeom prst="rect">
            <a:avLst/>
          </a:prstGeom>
          <a:noFill/>
          <a:ln/>
        </p:spPr>
        <p:txBody>
          <a:bodyPr wrap="square" lIns="0" tIns="0" rIns="0" bIns="0" rtlCol="0" anchor="t"/>
          <a:lstStyle/>
          <a:p>
            <a:pPr algn="l" indent="0" marL="0">
              <a:lnSpc>
                <a:spcPct val="115000"/>
              </a:lnSpc>
              <a:buNone/>
            </a:pPr>
            <a:r>
              <a:rPr lang="en-US" sz="1200" i="1" dirty="0">
                <a:solidFill>
                  <a:srgbClr val="6B7280"/>
                </a:solidFill>
                <a:latin typeface="Optimist Sans" pitchFamily="34" charset="0"/>
                <a:ea typeface="Optimist Sans" pitchFamily="34" charset="-122"/>
                <a:cs typeface="Optimist Sans" pitchFamily="34" charset="-120"/>
              </a:rPr>
              <a:t>Choose at senior level</a:t>
            </a:r>
            <a:endParaRPr lang="en-US" sz="1200" dirty="0"/>
          </a:p>
        </p:txBody>
      </p:sp>
      <p:sp>
        <p:nvSpPr>
          <p:cNvPr id="7" name="Shape 5"/>
          <p:cNvSpPr/>
          <p:nvPr/>
        </p:nvSpPr>
        <p:spPr>
          <a:xfrm>
            <a:off x="4178300" y="2641600"/>
            <a:ext cx="914" cy="228600"/>
          </a:xfrm>
          <a:prstGeom prst="line">
            <a:avLst/>
          </a:prstGeom>
          <a:noFill/>
          <a:ln w="25400">
            <a:solidFill>
              <a:srgbClr val="6B7280"/>
            </a:solidFill>
            <a:prstDash val="solid"/>
          </a:ln>
        </p:spPr>
      </p:sp>
      <p:sp>
        <p:nvSpPr>
          <p:cNvPr id="8" name="Shape 6"/>
          <p:cNvSpPr/>
          <p:nvPr/>
        </p:nvSpPr>
        <p:spPr>
          <a:xfrm>
            <a:off x="2432050" y="2870200"/>
            <a:ext cx="3492500" cy="914"/>
          </a:xfrm>
          <a:prstGeom prst="line">
            <a:avLst/>
          </a:prstGeom>
          <a:noFill/>
          <a:ln w="25400">
            <a:solidFill>
              <a:srgbClr val="6B7280"/>
            </a:solidFill>
            <a:prstDash val="solid"/>
          </a:ln>
        </p:spPr>
      </p:sp>
      <p:sp>
        <p:nvSpPr>
          <p:cNvPr id="9" name="Shape 7"/>
          <p:cNvSpPr/>
          <p:nvPr/>
        </p:nvSpPr>
        <p:spPr>
          <a:xfrm>
            <a:off x="2432050" y="2870200"/>
            <a:ext cx="914" cy="114300"/>
          </a:xfrm>
          <a:prstGeom prst="line">
            <a:avLst/>
          </a:prstGeom>
          <a:noFill/>
          <a:ln w="25400">
            <a:solidFill>
              <a:srgbClr val="6B7280"/>
            </a:solidFill>
            <a:prstDash val="solid"/>
            <a:tailEnd type="triangle"/>
          </a:ln>
        </p:spPr>
      </p:sp>
      <p:sp>
        <p:nvSpPr>
          <p:cNvPr id="10" name="Shape 8"/>
          <p:cNvSpPr/>
          <p:nvPr/>
        </p:nvSpPr>
        <p:spPr>
          <a:xfrm>
            <a:off x="5924550" y="2870200"/>
            <a:ext cx="914" cy="114300"/>
          </a:xfrm>
          <a:prstGeom prst="line">
            <a:avLst/>
          </a:prstGeom>
          <a:noFill/>
          <a:ln w="25400">
            <a:solidFill>
              <a:srgbClr val="6B7280"/>
            </a:solidFill>
            <a:prstDash val="solid"/>
            <a:tailEnd type="triangle"/>
          </a:ln>
        </p:spPr>
      </p:sp>
      <p:sp>
        <p:nvSpPr>
          <p:cNvPr id="11" name="Shape 9"/>
          <p:cNvSpPr/>
          <p:nvPr/>
        </p:nvSpPr>
        <p:spPr>
          <a:xfrm>
            <a:off x="812800" y="2984500"/>
            <a:ext cx="3238500" cy="2222500"/>
          </a:xfrm>
          <a:prstGeom prst="roundRect">
            <a:avLst>
              <a:gd name="adj" fmla="val 2469"/>
            </a:avLst>
          </a:prstGeom>
          <a:solidFill>
            <a:srgbClr val="E1EEF0"/>
          </a:solidFill>
          <a:ln w="19050">
            <a:solidFill>
              <a:srgbClr val="1F6F7E"/>
            </a:solidFill>
            <a:prstDash val="solid"/>
          </a:ln>
        </p:spPr>
      </p:sp>
      <p:sp>
        <p:nvSpPr>
          <p:cNvPr id="12" name="Text 10"/>
          <p:cNvSpPr txBox="1"/>
          <p:nvPr/>
        </p:nvSpPr>
        <p:spPr>
          <a:xfrm>
            <a:off x="1016000" y="3162300"/>
            <a:ext cx="28321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155563"/>
                </a:solidFill>
                <a:latin typeface="Optimist Sans" pitchFamily="34" charset="0"/>
                <a:ea typeface="Optimist Sans" pitchFamily="34" charset="-122"/>
                <a:cs typeface="Optimist Sans" pitchFamily="34" charset="-120"/>
              </a:rPr>
              <a:t>PATH 1 · MORE COMMON NOW</a:t>
            </a:r>
            <a:endParaRPr lang="en-US" sz="1200" dirty="0"/>
          </a:p>
        </p:txBody>
      </p:sp>
      <p:sp>
        <p:nvSpPr>
          <p:cNvPr id="13" name="Text 11"/>
          <p:cNvSpPr txBox="1"/>
          <p:nvPr/>
        </p:nvSpPr>
        <p:spPr>
          <a:xfrm>
            <a:off x="1016000" y="3441700"/>
            <a:ext cx="2832100" cy="3048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Individual contributor</a:t>
            </a:r>
            <a:endParaRPr lang="en-US" sz="1600" dirty="0"/>
          </a:p>
        </p:txBody>
      </p:sp>
      <p:sp>
        <p:nvSpPr>
          <p:cNvPr id="14" name="Text 12"/>
          <p:cNvSpPr txBox="1"/>
          <p:nvPr/>
        </p:nvSpPr>
        <p:spPr>
          <a:xfrm>
            <a:off x="1016000" y="3822700"/>
            <a:ext cx="2832100" cy="635000"/>
          </a:xfrm>
          <a:prstGeom prst="rect">
            <a:avLst/>
          </a:prstGeom>
          <a:noFill/>
          <a:ln/>
        </p:spPr>
        <p:txBody>
          <a:bodyPr wrap="square" lIns="0" tIns="0" rIns="0" bIns="0" rtlCol="0" anchor="t"/>
          <a:lstStyle/>
          <a:p>
            <a:pPr algn="l" indent="0" marL="0">
              <a:lnSpc>
                <a:spcPct val="120000"/>
              </a:lnSpc>
              <a:buNone/>
            </a:pPr>
            <a:r>
              <a:rPr lang="en-US" sz="1300" b="1" dirty="0">
                <a:solidFill>
                  <a:srgbClr val="14213D"/>
                </a:solidFill>
                <a:latin typeface="Optimist Sans" pitchFamily="34" charset="0"/>
                <a:ea typeface="Optimist Sans" pitchFamily="34" charset="-122"/>
                <a:cs typeface="Optimist Sans" pitchFamily="34" charset="-120"/>
              </a:rPr>
              <a:t>Focus: </a:t>
            </a:r>
            <a:pPr algn="l" indent="0" marL="0">
              <a:lnSpc>
                <a:spcPct val="120000"/>
              </a:lnSpc>
              <a:buNone/>
            </a:pPr>
            <a:r>
              <a:rPr lang="en-US" sz="1300" dirty="0">
                <a:solidFill>
                  <a:srgbClr val="14213D"/>
                </a:solidFill>
                <a:latin typeface="Optimist Sans" pitchFamily="34" charset="0"/>
                <a:ea typeface="Optimist Sans" pitchFamily="34" charset="-122"/>
                <a:cs typeface="Optimist Sans" pitchFamily="34" charset="-120"/>
              </a:rPr>
              <a:t>personal leverage, using AI to deliver more and go deeper.</a:t>
            </a:r>
            <a:endParaRPr lang="en-US" sz="1300" dirty="0"/>
          </a:p>
        </p:txBody>
      </p:sp>
      <p:sp>
        <p:nvSpPr>
          <p:cNvPr id="15" name="Text 13"/>
          <p:cNvSpPr txBox="1"/>
          <p:nvPr/>
        </p:nvSpPr>
        <p:spPr>
          <a:xfrm>
            <a:off x="1016000" y="4533900"/>
            <a:ext cx="2832100" cy="571500"/>
          </a:xfrm>
          <a:prstGeom prst="rect">
            <a:avLst/>
          </a:prstGeom>
          <a:noFill/>
          <a:ln/>
        </p:spPr>
        <p:txBody>
          <a:bodyPr wrap="square" lIns="0" tIns="0" rIns="0" bIns="0" rtlCol="0" anchor="t"/>
          <a:lstStyle/>
          <a:p>
            <a:pPr algn="l" indent="0" marL="0">
              <a:lnSpc>
                <a:spcPct val="120000"/>
              </a:lnSpc>
              <a:buNone/>
            </a:pPr>
            <a:r>
              <a:rPr lang="en-US" sz="1300" b="1" dirty="0">
                <a:solidFill>
                  <a:srgbClr val="4A5568"/>
                </a:solidFill>
                <a:latin typeface="Optimist Sans" pitchFamily="34" charset="0"/>
                <a:ea typeface="Optimist Sans" pitchFamily="34" charset="-122"/>
                <a:cs typeface="Optimist Sans" pitchFamily="34" charset="-120"/>
              </a:rPr>
              <a:t>Grows by: </a:t>
            </a:r>
            <a:pPr algn="l" indent="0" marL="0">
              <a:lnSpc>
                <a:spcPct val="120000"/>
              </a:lnSpc>
              <a:buNone/>
            </a:pPr>
            <a:r>
              <a:rPr lang="en-US" sz="1300" dirty="0">
                <a:solidFill>
                  <a:srgbClr val="4A5568"/>
                </a:solidFill>
                <a:latin typeface="Optimist Sans" pitchFamily="34" charset="0"/>
                <a:ea typeface="Optimist Sans" pitchFamily="34" charset="-122"/>
                <a:cs typeface="Optimist Sans" pitchFamily="34" charset="-120"/>
              </a:rPr>
              <a:t>[scope, complexity, technical influence]</a:t>
            </a:r>
            <a:endParaRPr lang="en-US" sz="1300" dirty="0"/>
          </a:p>
        </p:txBody>
      </p:sp>
      <p:sp>
        <p:nvSpPr>
          <p:cNvPr id="16" name="Shape 14"/>
          <p:cNvSpPr/>
          <p:nvPr/>
        </p:nvSpPr>
        <p:spPr>
          <a:xfrm>
            <a:off x="4305300" y="2984500"/>
            <a:ext cx="3238500" cy="2222500"/>
          </a:xfrm>
          <a:prstGeom prst="roundRect">
            <a:avLst>
              <a:gd name="adj" fmla="val 2469"/>
            </a:avLst>
          </a:prstGeom>
          <a:solidFill>
            <a:srgbClr val="F6E6D6"/>
          </a:solidFill>
          <a:ln w="19050">
            <a:solidFill>
              <a:srgbClr val="A0521A"/>
            </a:solidFill>
            <a:prstDash val="solid"/>
          </a:ln>
        </p:spPr>
      </p:sp>
      <p:sp>
        <p:nvSpPr>
          <p:cNvPr id="17" name="Text 15"/>
          <p:cNvSpPr txBox="1"/>
          <p:nvPr/>
        </p:nvSpPr>
        <p:spPr>
          <a:xfrm>
            <a:off x="4508500" y="3162300"/>
            <a:ext cx="28321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8A4514"/>
                </a:solidFill>
                <a:latin typeface="Optimist Sans" pitchFamily="34" charset="0"/>
                <a:ea typeface="Optimist Sans" pitchFamily="34" charset="-122"/>
                <a:cs typeface="Optimist Sans" pitchFamily="34" charset="-120"/>
              </a:rPr>
              <a:t>PATH 2</a:t>
            </a:r>
            <a:endParaRPr lang="en-US" sz="1200" dirty="0"/>
          </a:p>
        </p:txBody>
      </p:sp>
      <p:sp>
        <p:nvSpPr>
          <p:cNvPr id="18" name="Text 16"/>
          <p:cNvSpPr txBox="1"/>
          <p:nvPr/>
        </p:nvSpPr>
        <p:spPr>
          <a:xfrm>
            <a:off x="4508500" y="3441700"/>
            <a:ext cx="2832100" cy="3048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People manager</a:t>
            </a:r>
            <a:endParaRPr lang="en-US" sz="1600" dirty="0"/>
          </a:p>
        </p:txBody>
      </p:sp>
      <p:sp>
        <p:nvSpPr>
          <p:cNvPr id="19" name="Text 17"/>
          <p:cNvSpPr txBox="1"/>
          <p:nvPr/>
        </p:nvSpPr>
        <p:spPr>
          <a:xfrm>
            <a:off x="4508500" y="3822700"/>
            <a:ext cx="2832100" cy="635000"/>
          </a:xfrm>
          <a:prstGeom prst="rect">
            <a:avLst/>
          </a:prstGeom>
          <a:noFill/>
          <a:ln/>
        </p:spPr>
        <p:txBody>
          <a:bodyPr wrap="square" lIns="0" tIns="0" rIns="0" bIns="0" rtlCol="0" anchor="t"/>
          <a:lstStyle/>
          <a:p>
            <a:pPr algn="l" indent="0" marL="0">
              <a:lnSpc>
                <a:spcPct val="120000"/>
              </a:lnSpc>
              <a:buNone/>
            </a:pPr>
            <a:r>
              <a:rPr lang="en-US" sz="1300" b="1" dirty="0">
                <a:solidFill>
                  <a:srgbClr val="14213D"/>
                </a:solidFill>
                <a:latin typeface="Optimist Sans" pitchFamily="34" charset="0"/>
                <a:ea typeface="Optimist Sans" pitchFamily="34" charset="-122"/>
                <a:cs typeface="Optimist Sans" pitchFamily="34" charset="-120"/>
              </a:rPr>
              <a:t>Focus: </a:t>
            </a:r>
            <a:pPr algn="l" indent="0" marL="0">
              <a:lnSpc>
                <a:spcPct val="120000"/>
              </a:lnSpc>
              <a:buNone/>
            </a:pPr>
            <a:r>
              <a:rPr lang="en-US" sz="1300" dirty="0">
                <a:solidFill>
                  <a:srgbClr val="14213D"/>
                </a:solidFill>
                <a:latin typeface="Optimist Sans" pitchFamily="34" charset="0"/>
                <a:ea typeface="Optimist Sans" pitchFamily="34" charset="-122"/>
                <a:cs typeface="Optimist Sans" pitchFamily="34" charset="-120"/>
              </a:rPr>
              <a:t>people, strategy and connecting teams; less on technical efficiency.</a:t>
            </a:r>
            <a:endParaRPr lang="en-US" sz="1300" dirty="0"/>
          </a:p>
        </p:txBody>
      </p:sp>
      <p:sp>
        <p:nvSpPr>
          <p:cNvPr id="20" name="Text 18"/>
          <p:cNvSpPr txBox="1"/>
          <p:nvPr/>
        </p:nvSpPr>
        <p:spPr>
          <a:xfrm>
            <a:off x="4508500" y="4533900"/>
            <a:ext cx="2832100" cy="571500"/>
          </a:xfrm>
          <a:prstGeom prst="rect">
            <a:avLst/>
          </a:prstGeom>
          <a:noFill/>
          <a:ln/>
        </p:spPr>
        <p:txBody>
          <a:bodyPr wrap="square" lIns="0" tIns="0" rIns="0" bIns="0" rtlCol="0" anchor="t"/>
          <a:lstStyle/>
          <a:p>
            <a:pPr algn="l" indent="0" marL="0">
              <a:lnSpc>
                <a:spcPct val="120000"/>
              </a:lnSpc>
              <a:buNone/>
            </a:pPr>
            <a:r>
              <a:rPr lang="en-US" sz="1300" b="1" dirty="0">
                <a:solidFill>
                  <a:srgbClr val="4A5568"/>
                </a:solidFill>
                <a:latin typeface="Optimist Sans" pitchFamily="34" charset="0"/>
                <a:ea typeface="Optimist Sans" pitchFamily="34" charset="-122"/>
                <a:cs typeface="Optimist Sans" pitchFamily="34" charset="-120"/>
              </a:rPr>
              <a:t>Grows by: </a:t>
            </a:r>
            <a:pPr algn="l" indent="0" marL="0">
              <a:lnSpc>
                <a:spcPct val="120000"/>
              </a:lnSpc>
              <a:buNone/>
            </a:pPr>
            <a:r>
              <a:rPr lang="en-US" sz="1300" dirty="0">
                <a:solidFill>
                  <a:srgbClr val="4A5568"/>
                </a:solidFill>
                <a:latin typeface="Optimist Sans" pitchFamily="34" charset="0"/>
                <a:ea typeface="Optimist Sans" pitchFamily="34" charset="-122"/>
                <a:cs typeface="Optimist Sans" pitchFamily="34" charset="-120"/>
              </a:rPr>
              <a:t>[team scope, span, strategic impact]</a:t>
            </a:r>
            <a:endParaRPr lang="en-US" sz="1300" dirty="0"/>
          </a:p>
        </p:txBody>
      </p:sp>
      <p:sp>
        <p:nvSpPr>
          <p:cNvPr id="21" name="Shape 19"/>
          <p:cNvSpPr/>
          <p:nvPr/>
        </p:nvSpPr>
        <p:spPr>
          <a:xfrm>
            <a:off x="3975100" y="3892550"/>
            <a:ext cx="406400" cy="406400"/>
          </a:xfrm>
          <a:prstGeom prst="ellipse">
            <a:avLst/>
          </a:prstGeom>
          <a:solidFill>
            <a:srgbClr val="14213D"/>
          </a:solidFill>
          <a:ln w="38100">
            <a:solidFill>
              <a:srgbClr val="F7F6F2"/>
            </a:solidFill>
            <a:prstDash val="solid"/>
          </a:ln>
        </p:spPr>
      </p:sp>
      <p:sp>
        <p:nvSpPr>
          <p:cNvPr id="22" name="Text 20"/>
          <p:cNvSpPr txBox="1"/>
          <p:nvPr/>
        </p:nvSpPr>
        <p:spPr>
          <a:xfrm>
            <a:off x="3975100" y="3892550"/>
            <a:ext cx="406400" cy="406400"/>
          </a:xfrm>
          <a:prstGeom prst="rect">
            <a:avLst/>
          </a:prstGeom>
          <a:noFill/>
          <a:ln/>
        </p:spPr>
        <p:txBody>
          <a:bodyPr wrap="square" lIns="0" tIns="0" rIns="0" bIns="0" rtlCol="0" anchor="ctr"/>
          <a:lstStyle/>
          <a:p>
            <a:pPr algn="ctr" indent="0" marL="0">
              <a:lnSpc>
                <a:spcPct val="115000"/>
              </a:lnSpc>
              <a:buNone/>
            </a:pPr>
            <a:r>
              <a:rPr lang="en-US" sz="2200" b="1" dirty="0">
                <a:solidFill>
                  <a:srgbClr val="F7F6F2"/>
                </a:solidFill>
                <a:latin typeface="Optimist Sans" pitchFamily="34" charset="0"/>
                <a:ea typeface="Optimist Sans" pitchFamily="34" charset="-122"/>
                <a:cs typeface="Optimist Sans" pitchFamily="34" charset="-120"/>
              </a:rPr>
              <a:t>=</a:t>
            </a:r>
            <a:endParaRPr lang="en-US" sz="2200" dirty="0"/>
          </a:p>
        </p:txBody>
      </p:sp>
      <p:sp>
        <p:nvSpPr>
          <p:cNvPr id="23" name="Text 21"/>
          <p:cNvSpPr txBox="1"/>
          <p:nvPr/>
        </p:nvSpPr>
        <p:spPr>
          <a:xfrm>
            <a:off x="812800" y="5334000"/>
            <a:ext cx="6731000" cy="444500"/>
          </a:xfrm>
          <a:prstGeom prst="rect">
            <a:avLst/>
          </a:prstGeom>
          <a:noFill/>
          <a:ln/>
        </p:spPr>
        <p:txBody>
          <a:bodyPr wrap="square" lIns="0" tIns="0" rIns="0" bIns="0" rtlCol="0" anchor="t"/>
          <a:lstStyle/>
          <a:p>
            <a:pPr algn="l" indent="0" marL="0">
              <a:lnSpc>
                <a:spcPct val="120000"/>
              </a:lnSpc>
              <a:buNone/>
            </a:pPr>
            <a:r>
              <a:rPr lang="en-US" sz="1200" b="1" dirty="0">
                <a:solidFill>
                  <a:srgbClr val="14213D"/>
                </a:solidFill>
                <a:latin typeface="Optimist Sans" pitchFamily="34" charset="0"/>
                <a:ea typeface="Optimist Sans" pitchFamily="34" charset="-122"/>
                <a:cs typeface="Optimist Sans" pitchFamily="34" charset="-120"/>
              </a:rPr>
              <a:t>Everyone builds skills as an IC first and chooses once senior. </a:t>
            </a:r>
            <a:pPr algn="l" indent="0" marL="0">
              <a:lnSpc>
                <a:spcPct val="120000"/>
              </a:lnSpc>
              <a:buNone/>
            </a:pPr>
            <a:r>
              <a:rPr lang="en-US" sz="1200" dirty="0">
                <a:solidFill>
                  <a:srgbClr val="4A5568"/>
                </a:solidFill>
                <a:latin typeface="Optimist Sans" pitchFamily="34" charset="0"/>
                <a:ea typeface="Optimist Sans" pitchFamily="34" charset="-122"/>
                <a:cs typeface="Optimist Sans" pitchFamily="34" charset="-120"/>
              </a:rPr>
              <a:t>Both paths offer an equal chance of success; we expect more people to stay on the IC path than in the past.</a:t>
            </a:r>
            <a:endParaRPr lang="en-US" sz="1200" dirty="0"/>
          </a:p>
        </p:txBody>
      </p:sp>
      <p:sp>
        <p:nvSpPr>
          <p:cNvPr id="24" name="Shape 22"/>
          <p:cNvSpPr/>
          <p:nvPr/>
        </p:nvSpPr>
        <p:spPr>
          <a:xfrm>
            <a:off x="7848600" y="2286000"/>
            <a:ext cx="3530600" cy="3492500"/>
          </a:xfrm>
          <a:prstGeom prst="roundRect">
            <a:avLst>
              <a:gd name="adj" fmla="val 1571"/>
            </a:avLst>
          </a:prstGeom>
          <a:solidFill>
            <a:srgbClr val="ECEAE3"/>
          </a:solidFill>
          <a:ln/>
        </p:spPr>
      </p:sp>
      <p:pic>
        <p:nvPicPr>
          <p:cNvPr id="25" name="Image 0" descr="preencoded.png">    </p:cNvPr>
          <p:cNvPicPr>
            <a:picLocks noChangeAspect="1"/>
          </p:cNvPicPr>
          <p:nvPr/>
        </p:nvPicPr>
        <p:blipFill>
          <a:blip r:embed="rId1"/>
          <a:stretch>
            <a:fillRect/>
          </a:stretch>
        </p:blipFill>
        <p:spPr>
          <a:xfrm>
            <a:off x="8051800" y="2489200"/>
            <a:ext cx="279400" cy="279400"/>
          </a:xfrm>
          <a:prstGeom prst="rect">
            <a:avLst/>
          </a:prstGeom>
        </p:spPr>
      </p:pic>
      <p:sp>
        <p:nvSpPr>
          <p:cNvPr id="26" name="Text 23"/>
          <p:cNvSpPr txBox="1"/>
          <p:nvPr/>
        </p:nvSpPr>
        <p:spPr>
          <a:xfrm>
            <a:off x="8051800" y="2895600"/>
            <a:ext cx="3124200" cy="5715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Rethink performance management</a:t>
            </a:r>
            <a:endParaRPr lang="en-US" sz="1600" dirty="0"/>
          </a:p>
        </p:txBody>
      </p:sp>
      <p:sp>
        <p:nvSpPr>
          <p:cNvPr id="27" name="Text 24"/>
          <p:cNvSpPr txBox="1"/>
          <p:nvPr/>
        </p:nvSpPr>
        <p:spPr>
          <a:xfrm>
            <a:off x="8051800" y="3619500"/>
            <a:ext cx="3124200" cy="825500"/>
          </a:xfrm>
          <a:prstGeom prst="rect">
            <a:avLst/>
          </a:prstGeom>
          <a:noFill/>
          <a:ln/>
        </p:spPr>
        <p:txBody>
          <a:bodyPr wrap="square" lIns="0" tIns="0" rIns="0" bIns="0" rtlCol="0" anchor="t"/>
          <a:lstStyle/>
          <a:p>
            <a:pPr algn="l" indent="0" marL="0">
              <a:lnSpc>
                <a:spcPct val="120000"/>
              </a:lnSpc>
              <a:buNone/>
            </a:pPr>
            <a:r>
              <a:rPr lang="en-US" sz="1300" dirty="0">
                <a:solidFill>
                  <a:srgbClr val="4A5568"/>
                </a:solidFill>
                <a:latin typeface="Optimist Sans" pitchFamily="34" charset="0"/>
                <a:ea typeface="Optimist Sans" pitchFamily="34" charset="-122"/>
                <a:cs typeface="Optimist Sans" pitchFamily="34" charset="-120"/>
              </a:rPr>
              <a:t>Everyone is getting better, yet we still fit a distribution. We must keep benchmarks reasonable.</a:t>
            </a:r>
            <a:endParaRPr lang="en-US" sz="1300" dirty="0"/>
          </a:p>
        </p:txBody>
      </p:sp>
      <p:sp>
        <p:nvSpPr>
          <p:cNvPr id="28" name="Shape 25"/>
          <p:cNvSpPr/>
          <p:nvPr/>
        </p:nvSpPr>
        <p:spPr>
          <a:xfrm>
            <a:off x="8001000" y="4546600"/>
            <a:ext cx="3225800" cy="1143000"/>
          </a:xfrm>
          <a:prstGeom prst="roundRect">
            <a:avLst>
              <a:gd name="adj" fmla="val 6400"/>
            </a:avLst>
          </a:prstGeom>
          <a:solidFill>
            <a:srgbClr val="E1EEF0"/>
          </a:solidFill>
          <a:ln/>
        </p:spPr>
      </p:sp>
      <p:sp>
        <p:nvSpPr>
          <p:cNvPr id="29" name="Text 26"/>
          <p:cNvSpPr txBox="1"/>
          <p:nvPr/>
        </p:nvSpPr>
        <p:spPr>
          <a:xfrm>
            <a:off x="8153400" y="4648200"/>
            <a:ext cx="2921000" cy="952500"/>
          </a:xfrm>
          <a:prstGeom prst="rect">
            <a:avLst/>
          </a:prstGeom>
          <a:noFill/>
          <a:ln/>
        </p:spPr>
        <p:txBody>
          <a:bodyPr wrap="square" lIns="0" tIns="0" rIns="0" bIns="0" rtlCol="0" anchor="ctr"/>
          <a:lstStyle/>
          <a:p>
            <a:pPr algn="l" indent="0" marL="0">
              <a:lnSpc>
                <a:spcPct val="120000"/>
              </a:lnSpc>
              <a:buNone/>
            </a:pPr>
            <a:r>
              <a:rPr lang="en-US" sz="1300" b="1" dirty="0">
                <a:solidFill>
                  <a:srgbClr val="14213D"/>
                </a:solidFill>
                <a:latin typeface="Optimist Sans" pitchFamily="34" charset="0"/>
                <a:ea typeface="Optimist Sans" pitchFamily="34" charset="-122"/>
                <a:cs typeface="Optimist Sans" pitchFamily="34" charset="-120"/>
              </a:rPr>
              <a:t>Our answer: </a:t>
            </a:r>
            <a:pPr algn="l" indent="0" marL="0">
              <a:lnSpc>
                <a:spcPct val="120000"/>
              </a:lnSpc>
              <a:buNone/>
            </a:pPr>
            <a:r>
              <a:rPr lang="en-US" sz="1300" dirty="0">
                <a:solidFill>
                  <a:srgbClr val="14213D"/>
                </a:solidFill>
                <a:latin typeface="Optimist Sans" pitchFamily="34" charset="0"/>
                <a:ea typeface="Optimist Sans" pitchFamily="34" charset="-122"/>
                <a:cs typeface="Optimist Sans" pitchFamily="34" charset="-120"/>
              </a:rPr>
              <a:t>a clear, fair development path on both tracks, so people feel treated fairly as expectations evolve.</a:t>
            </a:r>
            <a:endParaRPr lang="en-US" sz="1300" dirty="0"/>
          </a:p>
        </p:txBody>
      </p:sp>
      <p:sp>
        <p:nvSpPr>
          <p:cNvPr id="30" name="Text 27"/>
          <p:cNvSpPr txBox="1"/>
          <p:nvPr/>
        </p:nvSpPr>
        <p:spPr>
          <a:xfrm>
            <a:off x="812800" y="6235700"/>
            <a:ext cx="9779000" cy="2159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Draft for discussion · These two paths shape the team structure on the next slide</a:t>
            </a:r>
            <a:endParaRPr lang="en-US" sz="1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A0521A"/>
                </a:solidFill>
                <a:latin typeface="Optimist Sans" pitchFamily="34" charset="0"/>
                <a:ea typeface="Optimist Sans" pitchFamily="34" charset="-122"/>
                <a:cs typeface="Optimist Sans" pitchFamily="34" charset="-120"/>
              </a:rPr>
              <a:t>TEAM FOR THE AI ERA · 2 STRUCTURE</a:t>
            </a:r>
            <a:endParaRPr lang="en-US" sz="1200" dirty="0"/>
          </a:p>
        </p:txBody>
      </p:sp>
      <p:sp>
        <p:nvSpPr>
          <p:cNvPr id="3" name="Text 0"/>
          <p:cNvSpPr/>
          <p:nvPr>
            <p:ph idx="100" type="title" hasCustomPrompt="1"/>
          </p:nvPr>
        </p:nvSpPr>
        <p:spPr>
          <a:xfrm>
            <a:off x="812800" y="1117600"/>
            <a:ext cx="10566400" cy="1016000"/>
          </a:xfrm>
          <a:prstGeom prst="rect">
            <a:avLst/>
          </a:prstGeom>
          <a:noFill/>
          <a:ln/>
        </p:spPr>
        <p:txBody>
          <a:bodyPr wrap="square" lIns="0" tIns="0" rIns="0" bIns="0" rtlCol="0" anchor="t"/>
          <a:lstStyle/>
          <a:p>
            <a:pPr algn="l" indent="0" marL="0">
              <a:buNone/>
            </a:pPr>
            <a:r>
              <a:rPr lang="en-US" sz="3200" b="1" dirty="0">
                <a:solidFill>
                  <a:srgbClr val="14213D"/>
                </a:solidFill>
                <a:latin typeface="Optimist Display" pitchFamily="34" charset="0"/>
                <a:ea typeface="Optimist Display" pitchFamily="34" charset="-122"/>
                <a:cs typeface="Optimist Display" pitchFamily="34" charset="-120"/>
              </a:rPr>
              <a:t>The two paths lead to a flatter team built around senior ICs who lead AI agents</a:t>
            </a:r>
            <a:endParaRPr lang="en-US" sz="3200" dirty="0"/>
          </a:p>
        </p:txBody>
      </p:sp>
      <p:sp>
        <p:nvSpPr>
          <p:cNvPr id="4" name="Text 2"/>
          <p:cNvSpPr txBox="1"/>
          <p:nvPr/>
        </p:nvSpPr>
        <p:spPr>
          <a:xfrm>
            <a:off x="812800" y="2349500"/>
            <a:ext cx="3048000" cy="228600"/>
          </a:xfrm>
          <a:prstGeom prst="rect">
            <a:avLst/>
          </a:prstGeom>
          <a:noFill/>
          <a:ln/>
        </p:spPr>
        <p:txBody>
          <a:bodyPr wrap="square" lIns="0" tIns="0" rIns="0" bIns="0" rtlCol="0" anchor="t"/>
          <a:lstStyle/>
          <a:p>
            <a:pPr algn="ctr" indent="0" marL="0">
              <a:lnSpc>
                <a:spcPct val="115000"/>
              </a:lnSpc>
              <a:buNone/>
            </a:pPr>
            <a:r>
              <a:rPr lang="en-US" sz="1200" b="1" dirty="0">
                <a:solidFill>
                  <a:srgbClr val="6B7280"/>
                </a:solidFill>
                <a:latin typeface="Optimist Sans" pitchFamily="34" charset="0"/>
                <a:ea typeface="Optimist Sans" pitchFamily="34" charset="-122"/>
                <a:cs typeface="Optimist Sans" pitchFamily="34" charset="-120"/>
              </a:rPr>
              <a:t>TODAY · PYRAMID</a:t>
            </a:r>
            <a:endParaRPr lang="en-US" sz="1200" dirty="0"/>
          </a:p>
        </p:txBody>
      </p:sp>
      <p:sp>
        <p:nvSpPr>
          <p:cNvPr id="5" name="Shape 3"/>
          <p:cNvSpPr/>
          <p:nvPr/>
        </p:nvSpPr>
        <p:spPr>
          <a:xfrm>
            <a:off x="1892300" y="2667000"/>
            <a:ext cx="889000" cy="330200"/>
          </a:xfrm>
          <a:prstGeom prst="roundRect">
            <a:avLst>
              <a:gd name="adj" fmla="val 41538"/>
            </a:avLst>
          </a:prstGeom>
          <a:solidFill>
            <a:srgbClr val="14213D"/>
          </a:solidFill>
          <a:ln/>
        </p:spPr>
      </p:sp>
      <p:sp>
        <p:nvSpPr>
          <p:cNvPr id="6" name="Text 4"/>
          <p:cNvSpPr txBox="1"/>
          <p:nvPr/>
        </p:nvSpPr>
        <p:spPr>
          <a:xfrm>
            <a:off x="1892300" y="2667000"/>
            <a:ext cx="889000" cy="330200"/>
          </a:xfrm>
          <a:prstGeom prst="rect">
            <a:avLst/>
          </a:prstGeom>
          <a:noFill/>
          <a:ln/>
        </p:spPr>
        <p:txBody>
          <a:bodyPr wrap="square" lIns="0" tIns="0" rIns="0" bIns="0" rtlCol="0" anchor="ctr"/>
          <a:lstStyle/>
          <a:p>
            <a:pPr algn="ctr" indent="0" marL="0">
              <a:lnSpc>
                <a:spcPct val="115000"/>
              </a:lnSpc>
              <a:buNone/>
            </a:pPr>
            <a:r>
              <a:rPr lang="en-US" sz="1200" dirty="0">
                <a:solidFill>
                  <a:srgbClr val="F7F6F2"/>
                </a:solidFill>
                <a:latin typeface="Optimist Sans" pitchFamily="34" charset="0"/>
                <a:ea typeface="Optimist Sans" pitchFamily="34" charset="-122"/>
                <a:cs typeface="Optimist Sans" pitchFamily="34" charset="-120"/>
              </a:rPr>
              <a:t>Lead</a:t>
            </a:r>
            <a:endParaRPr lang="en-US" sz="1200" dirty="0"/>
          </a:p>
        </p:txBody>
      </p:sp>
      <p:sp>
        <p:nvSpPr>
          <p:cNvPr id="7" name="Shape 5"/>
          <p:cNvSpPr/>
          <p:nvPr/>
        </p:nvSpPr>
        <p:spPr>
          <a:xfrm>
            <a:off x="1574800" y="3073400"/>
            <a:ext cx="1524000" cy="330200"/>
          </a:xfrm>
          <a:prstGeom prst="roundRect">
            <a:avLst>
              <a:gd name="adj" fmla="val 41538"/>
            </a:avLst>
          </a:prstGeom>
          <a:solidFill>
            <a:srgbClr val="C9D3DC"/>
          </a:solidFill>
          <a:ln/>
        </p:spPr>
      </p:sp>
      <p:sp>
        <p:nvSpPr>
          <p:cNvPr id="8" name="Text 6"/>
          <p:cNvSpPr txBox="1"/>
          <p:nvPr/>
        </p:nvSpPr>
        <p:spPr>
          <a:xfrm>
            <a:off x="1574800" y="3073400"/>
            <a:ext cx="1524000" cy="3302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Managers</a:t>
            </a:r>
            <a:endParaRPr lang="en-US" sz="1200" dirty="0"/>
          </a:p>
        </p:txBody>
      </p:sp>
      <p:sp>
        <p:nvSpPr>
          <p:cNvPr id="9" name="Shape 7"/>
          <p:cNvSpPr/>
          <p:nvPr/>
        </p:nvSpPr>
        <p:spPr>
          <a:xfrm>
            <a:off x="1257300" y="3479800"/>
            <a:ext cx="2159000" cy="330200"/>
          </a:xfrm>
          <a:prstGeom prst="roundRect">
            <a:avLst>
              <a:gd name="adj" fmla="val 41538"/>
            </a:avLst>
          </a:prstGeom>
          <a:solidFill>
            <a:srgbClr val="DCE3E9"/>
          </a:solidFill>
          <a:ln/>
        </p:spPr>
      </p:sp>
      <p:sp>
        <p:nvSpPr>
          <p:cNvPr id="10" name="Text 8"/>
          <p:cNvSpPr txBox="1"/>
          <p:nvPr/>
        </p:nvSpPr>
        <p:spPr>
          <a:xfrm>
            <a:off x="1257300" y="3479800"/>
            <a:ext cx="2159000" cy="3302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Seniors</a:t>
            </a:r>
            <a:endParaRPr lang="en-US" sz="1200" dirty="0"/>
          </a:p>
        </p:txBody>
      </p:sp>
      <p:sp>
        <p:nvSpPr>
          <p:cNvPr id="11" name="Shape 9"/>
          <p:cNvSpPr/>
          <p:nvPr/>
        </p:nvSpPr>
        <p:spPr>
          <a:xfrm>
            <a:off x="876300" y="3886200"/>
            <a:ext cx="2921000" cy="330200"/>
          </a:xfrm>
          <a:prstGeom prst="roundRect">
            <a:avLst>
              <a:gd name="adj" fmla="val 41538"/>
            </a:avLst>
          </a:prstGeom>
          <a:solidFill>
            <a:srgbClr val="E8EDF1"/>
          </a:solidFill>
          <a:ln/>
        </p:spPr>
      </p:sp>
      <p:sp>
        <p:nvSpPr>
          <p:cNvPr id="12" name="Text 10"/>
          <p:cNvSpPr txBox="1"/>
          <p:nvPr/>
        </p:nvSpPr>
        <p:spPr>
          <a:xfrm>
            <a:off x="876300" y="3886200"/>
            <a:ext cx="2921000" cy="3302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Juniors</a:t>
            </a:r>
            <a:endParaRPr lang="en-US" sz="1200" dirty="0"/>
          </a:p>
        </p:txBody>
      </p:sp>
      <p:sp>
        <p:nvSpPr>
          <p:cNvPr id="13" name="Text 11"/>
          <p:cNvSpPr txBox="1"/>
          <p:nvPr/>
        </p:nvSpPr>
        <p:spPr>
          <a:xfrm>
            <a:off x="812800" y="4318000"/>
            <a:ext cx="3048000" cy="228600"/>
          </a:xfrm>
          <a:prstGeom prst="rect">
            <a:avLst/>
          </a:prstGeom>
          <a:noFill/>
          <a:ln/>
        </p:spPr>
        <p:txBody>
          <a:bodyPr wrap="square" lIns="0" tIns="0" rIns="0" bIns="0" rtlCol="0" anchor="t"/>
          <a:lstStyle/>
          <a:p>
            <a:pPr algn="ctr"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Narrow spans, more layers</a:t>
            </a:r>
            <a:endParaRPr lang="en-US" sz="1200" dirty="0"/>
          </a:p>
        </p:txBody>
      </p:sp>
      <p:sp>
        <p:nvSpPr>
          <p:cNvPr id="14" name="Shape 12"/>
          <p:cNvSpPr/>
          <p:nvPr/>
        </p:nvSpPr>
        <p:spPr>
          <a:xfrm>
            <a:off x="4064000" y="3365500"/>
            <a:ext cx="406400" cy="203200"/>
          </a:xfrm>
          <a:prstGeom prst="rightArrow">
            <a:avLst/>
          </a:prstGeom>
          <a:solidFill>
            <a:srgbClr val="A0521A"/>
          </a:solidFill>
          <a:ln/>
        </p:spPr>
      </p:sp>
      <p:sp>
        <p:nvSpPr>
          <p:cNvPr id="15" name="Text 13"/>
          <p:cNvSpPr txBox="1"/>
          <p:nvPr/>
        </p:nvSpPr>
        <p:spPr>
          <a:xfrm>
            <a:off x="4673600" y="2349500"/>
            <a:ext cx="3048000" cy="228600"/>
          </a:xfrm>
          <a:prstGeom prst="rect">
            <a:avLst/>
          </a:prstGeom>
          <a:noFill/>
          <a:ln/>
        </p:spPr>
        <p:txBody>
          <a:bodyPr wrap="square" lIns="0" tIns="0" rIns="0" bIns="0" rtlCol="0" anchor="t"/>
          <a:lstStyle/>
          <a:p>
            <a:pPr algn="ctr" indent="0" marL="0">
              <a:lnSpc>
                <a:spcPct val="115000"/>
              </a:lnSpc>
              <a:buNone/>
            </a:pPr>
            <a:r>
              <a:rPr lang="en-US" sz="1200" b="1" dirty="0">
                <a:solidFill>
                  <a:srgbClr val="155563"/>
                </a:solidFill>
                <a:latin typeface="Optimist Sans" pitchFamily="34" charset="0"/>
                <a:ea typeface="Optimist Sans" pitchFamily="34" charset="-122"/>
                <a:cs typeface="Optimist Sans" pitchFamily="34" charset="-120"/>
              </a:rPr>
              <a:t>MOVING TO · FLATTER</a:t>
            </a:r>
            <a:endParaRPr lang="en-US" sz="1200" dirty="0"/>
          </a:p>
        </p:txBody>
      </p:sp>
      <p:sp>
        <p:nvSpPr>
          <p:cNvPr id="16" name="Shape 14"/>
          <p:cNvSpPr/>
          <p:nvPr/>
        </p:nvSpPr>
        <p:spPr>
          <a:xfrm>
            <a:off x="5753100" y="2667000"/>
            <a:ext cx="889000" cy="330200"/>
          </a:xfrm>
          <a:prstGeom prst="roundRect">
            <a:avLst>
              <a:gd name="adj" fmla="val 41538"/>
            </a:avLst>
          </a:prstGeom>
          <a:solidFill>
            <a:srgbClr val="14213D"/>
          </a:solidFill>
          <a:ln/>
        </p:spPr>
      </p:sp>
      <p:sp>
        <p:nvSpPr>
          <p:cNvPr id="17" name="Text 15"/>
          <p:cNvSpPr txBox="1"/>
          <p:nvPr/>
        </p:nvSpPr>
        <p:spPr>
          <a:xfrm>
            <a:off x="5753100" y="2667000"/>
            <a:ext cx="889000" cy="330200"/>
          </a:xfrm>
          <a:prstGeom prst="rect">
            <a:avLst/>
          </a:prstGeom>
          <a:noFill/>
          <a:ln/>
        </p:spPr>
        <p:txBody>
          <a:bodyPr wrap="square" lIns="0" tIns="0" rIns="0" bIns="0" rtlCol="0" anchor="ctr"/>
          <a:lstStyle/>
          <a:p>
            <a:pPr algn="ctr" indent="0" marL="0">
              <a:lnSpc>
                <a:spcPct val="115000"/>
              </a:lnSpc>
              <a:buNone/>
            </a:pPr>
            <a:r>
              <a:rPr lang="en-US" sz="1200" dirty="0">
                <a:solidFill>
                  <a:srgbClr val="F7F6F2"/>
                </a:solidFill>
                <a:latin typeface="Optimist Sans" pitchFamily="34" charset="0"/>
                <a:ea typeface="Optimist Sans" pitchFamily="34" charset="-122"/>
                <a:cs typeface="Optimist Sans" pitchFamily="34" charset="-120"/>
              </a:rPr>
              <a:t>Lead</a:t>
            </a:r>
            <a:endParaRPr lang="en-US" sz="1200" dirty="0"/>
          </a:p>
        </p:txBody>
      </p:sp>
      <p:sp>
        <p:nvSpPr>
          <p:cNvPr id="18" name="Shape 16"/>
          <p:cNvSpPr/>
          <p:nvPr/>
        </p:nvSpPr>
        <p:spPr>
          <a:xfrm>
            <a:off x="5118100" y="3073400"/>
            <a:ext cx="2159000" cy="330200"/>
          </a:xfrm>
          <a:prstGeom prst="roundRect">
            <a:avLst>
              <a:gd name="adj" fmla="val 41538"/>
            </a:avLst>
          </a:prstGeom>
          <a:solidFill>
            <a:srgbClr val="F6E6D6"/>
          </a:solidFill>
          <a:ln/>
        </p:spPr>
      </p:sp>
      <p:sp>
        <p:nvSpPr>
          <p:cNvPr id="19" name="Text 17"/>
          <p:cNvSpPr txBox="1"/>
          <p:nvPr/>
        </p:nvSpPr>
        <p:spPr>
          <a:xfrm>
            <a:off x="5118100" y="3073400"/>
            <a:ext cx="2159000" cy="3302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Managers, wider spans</a:t>
            </a:r>
            <a:endParaRPr lang="en-US" sz="1200" dirty="0"/>
          </a:p>
        </p:txBody>
      </p:sp>
      <p:sp>
        <p:nvSpPr>
          <p:cNvPr id="20" name="Shape 18"/>
          <p:cNvSpPr/>
          <p:nvPr/>
        </p:nvSpPr>
        <p:spPr>
          <a:xfrm>
            <a:off x="4737100" y="3479800"/>
            <a:ext cx="2921000" cy="330200"/>
          </a:xfrm>
          <a:prstGeom prst="roundRect">
            <a:avLst>
              <a:gd name="adj" fmla="val 41538"/>
            </a:avLst>
          </a:prstGeom>
          <a:solidFill>
            <a:srgbClr val="1F6F7E"/>
          </a:solidFill>
          <a:ln/>
        </p:spPr>
      </p:sp>
      <p:sp>
        <p:nvSpPr>
          <p:cNvPr id="21" name="Text 19"/>
          <p:cNvSpPr txBox="1"/>
          <p:nvPr/>
        </p:nvSpPr>
        <p:spPr>
          <a:xfrm>
            <a:off x="4737100" y="3479800"/>
            <a:ext cx="2921000" cy="330200"/>
          </a:xfrm>
          <a:prstGeom prst="rect">
            <a:avLst/>
          </a:prstGeom>
          <a:noFill/>
          <a:ln/>
        </p:spPr>
        <p:txBody>
          <a:bodyPr wrap="square" lIns="0" tIns="0" rIns="0" bIns="0" rtlCol="0" anchor="ctr"/>
          <a:lstStyle/>
          <a:p>
            <a:pPr algn="ctr" indent="0" marL="0">
              <a:lnSpc>
                <a:spcPct val="115000"/>
              </a:lnSpc>
              <a:buNone/>
            </a:pPr>
            <a:r>
              <a:rPr lang="en-US" sz="1200" dirty="0">
                <a:solidFill>
                  <a:srgbClr val="F7F6F2"/>
                </a:solidFill>
                <a:latin typeface="Optimist Sans" pitchFamily="34" charset="0"/>
                <a:ea typeface="Optimist Sans" pitchFamily="34" charset="-122"/>
                <a:cs typeface="Optimist Sans" pitchFamily="34" charset="-120"/>
              </a:rPr>
              <a:t>Senior ICs + AI agents</a:t>
            </a:r>
            <a:endParaRPr lang="en-US" sz="1200" dirty="0"/>
          </a:p>
        </p:txBody>
      </p:sp>
      <p:sp>
        <p:nvSpPr>
          <p:cNvPr id="22" name="Shape 20"/>
          <p:cNvSpPr/>
          <p:nvPr/>
        </p:nvSpPr>
        <p:spPr>
          <a:xfrm>
            <a:off x="5372100" y="3886200"/>
            <a:ext cx="1651000" cy="330200"/>
          </a:xfrm>
          <a:prstGeom prst="roundRect">
            <a:avLst>
              <a:gd name="adj" fmla="val 41538"/>
            </a:avLst>
          </a:prstGeom>
          <a:solidFill>
            <a:srgbClr val="E1EEF0"/>
          </a:solidFill>
          <a:ln/>
        </p:spPr>
      </p:sp>
      <p:sp>
        <p:nvSpPr>
          <p:cNvPr id="23" name="Text 21"/>
          <p:cNvSpPr txBox="1"/>
          <p:nvPr/>
        </p:nvSpPr>
        <p:spPr>
          <a:xfrm>
            <a:off x="5372100" y="3886200"/>
            <a:ext cx="1651000" cy="330200"/>
          </a:xfrm>
          <a:prstGeom prst="rect">
            <a:avLst/>
          </a:prstGeom>
          <a:noFill/>
          <a:ln/>
        </p:spPr>
        <p:txBody>
          <a:bodyPr wrap="square" lIns="0" tIns="0" rIns="0" bIns="0" rtlCol="0" anchor="ctr"/>
          <a:lstStyle/>
          <a:p>
            <a:pPr algn="ctr" indent="0" marL="0">
              <a:lnSpc>
                <a:spcPct val="115000"/>
              </a:lnSpc>
              <a:buNone/>
            </a:pPr>
            <a:r>
              <a:rPr lang="en-US" sz="1200" dirty="0">
                <a:solidFill>
                  <a:srgbClr val="14213D"/>
                </a:solidFill>
                <a:latin typeface="Optimist Sans" pitchFamily="34" charset="0"/>
                <a:ea typeface="Optimist Sans" pitchFamily="34" charset="-122"/>
                <a:cs typeface="Optimist Sans" pitchFamily="34" charset="-120"/>
              </a:rPr>
              <a:t>Juniors</a:t>
            </a:r>
            <a:endParaRPr lang="en-US" sz="1200" dirty="0"/>
          </a:p>
        </p:txBody>
      </p:sp>
      <p:sp>
        <p:nvSpPr>
          <p:cNvPr id="24" name="Text 22"/>
          <p:cNvSpPr txBox="1"/>
          <p:nvPr/>
        </p:nvSpPr>
        <p:spPr>
          <a:xfrm>
            <a:off x="4673600" y="4318000"/>
            <a:ext cx="3048000" cy="228600"/>
          </a:xfrm>
          <a:prstGeom prst="rect">
            <a:avLst/>
          </a:prstGeom>
          <a:noFill/>
          <a:ln/>
        </p:spPr>
        <p:txBody>
          <a:bodyPr wrap="square" lIns="0" tIns="0" rIns="0" bIns="0" rtlCol="0" anchor="t"/>
          <a:lstStyle/>
          <a:p>
            <a:pPr algn="ctr" indent="0" marL="0">
              <a:lnSpc>
                <a:spcPct val="115000"/>
              </a:lnSpc>
              <a:buNone/>
            </a:pPr>
            <a:r>
              <a:rPr lang="en-US" sz="1200" dirty="0">
                <a:solidFill>
                  <a:srgbClr val="4A5568"/>
                </a:solidFill>
                <a:latin typeface="Optimist Sans" pitchFamily="34" charset="0"/>
                <a:ea typeface="Optimist Sans" pitchFamily="34" charset="-122"/>
                <a:cs typeface="Optimist Sans" pitchFamily="34" charset="-120"/>
              </a:rPr>
              <a:t>Fewer layers, more senior mix</a:t>
            </a:r>
            <a:endParaRPr lang="en-US" sz="1200" dirty="0"/>
          </a:p>
        </p:txBody>
      </p:sp>
      <p:sp>
        <p:nvSpPr>
          <p:cNvPr id="25" name="Shape 23"/>
          <p:cNvSpPr/>
          <p:nvPr/>
        </p:nvSpPr>
        <p:spPr>
          <a:xfrm>
            <a:off x="8026400" y="2349500"/>
            <a:ext cx="3352800" cy="3429000"/>
          </a:xfrm>
          <a:prstGeom prst="roundRect">
            <a:avLst>
              <a:gd name="adj" fmla="val 1636"/>
            </a:avLst>
          </a:prstGeom>
          <a:solidFill>
            <a:srgbClr val="FDFCF9"/>
          </a:solidFill>
          <a:ln w="12700">
            <a:solidFill>
              <a:srgbClr val="D3CDBE"/>
            </a:solidFill>
            <a:prstDash val="solid"/>
          </a:ln>
        </p:spPr>
      </p:sp>
      <p:sp>
        <p:nvSpPr>
          <p:cNvPr id="26" name="Text 24"/>
          <p:cNvSpPr txBox="1"/>
          <p:nvPr/>
        </p:nvSpPr>
        <p:spPr>
          <a:xfrm>
            <a:off x="8229600" y="2552700"/>
            <a:ext cx="2946400" cy="2794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What changes</a:t>
            </a:r>
            <a:endParaRPr lang="en-US" sz="1600" dirty="0"/>
          </a:p>
        </p:txBody>
      </p:sp>
      <p:sp>
        <p:nvSpPr>
          <p:cNvPr id="27" name="Text 25"/>
          <p:cNvSpPr txBox="1"/>
          <p:nvPr/>
        </p:nvSpPr>
        <p:spPr>
          <a:xfrm>
            <a:off x="8229600" y="2959100"/>
            <a:ext cx="2946400" cy="508000"/>
          </a:xfrm>
          <a:prstGeom prst="rect">
            <a:avLst/>
          </a:prstGeom>
          <a:noFill/>
          <a:ln/>
        </p:spPr>
        <p:txBody>
          <a:bodyPr wrap="square" lIns="0" tIns="0" rIns="0" bIns="0" rtlCol="0" anchor="t"/>
          <a:lstStyle/>
          <a:p>
            <a:pPr algn="l" indent="0" marL="0">
              <a:lnSpc>
                <a:spcPct val="125000"/>
              </a:lnSpc>
              <a:buNone/>
            </a:pPr>
            <a:r>
              <a:rPr lang="en-US" sz="1300" b="1" dirty="0">
                <a:solidFill>
                  <a:srgbClr val="8A4514"/>
                </a:solidFill>
                <a:latin typeface="Optimist Sans" pitchFamily="34" charset="0"/>
                <a:ea typeface="Optimist Sans" pitchFamily="34" charset="-122"/>
                <a:cs typeface="Optimist Sans" pitchFamily="34" charset="-120"/>
              </a:rPr>
              <a:t>Manager path </a:t>
            </a:r>
            <a:pPr algn="l" indent="0" marL="0">
              <a:lnSpc>
                <a:spcPct val="125000"/>
              </a:lnSpc>
              <a:buNone/>
            </a:pPr>
            <a:r>
              <a:rPr lang="en-US" sz="1300" dirty="0">
                <a:solidFill>
                  <a:srgbClr val="4A5568"/>
                </a:solidFill>
                <a:latin typeface="Optimist Sans" pitchFamily="34" charset="0"/>
                <a:ea typeface="Optimist Sans" pitchFamily="34" charset="-122"/>
                <a:cs typeface="Optimist Sans" pitchFamily="34" charset="-120"/>
              </a:rPr>
              <a:t>carries wider spans</a:t>
            </a:r>
            <a:endParaRPr lang="en-US" sz="1300" dirty="0"/>
          </a:p>
        </p:txBody>
      </p:sp>
      <p:sp>
        <p:nvSpPr>
          <p:cNvPr id="28" name="Text 26"/>
          <p:cNvSpPr txBox="1"/>
          <p:nvPr/>
        </p:nvSpPr>
        <p:spPr>
          <a:xfrm>
            <a:off x="8229600" y="3530600"/>
            <a:ext cx="2946400" cy="508000"/>
          </a:xfrm>
          <a:prstGeom prst="rect">
            <a:avLst/>
          </a:prstGeom>
          <a:noFill/>
          <a:ln/>
        </p:spPr>
        <p:txBody>
          <a:bodyPr wrap="square" lIns="0" tIns="0" rIns="0" bIns="0" rtlCol="0" anchor="t"/>
          <a:lstStyle/>
          <a:p>
            <a:pPr algn="l" indent="0" marL="0">
              <a:lnSpc>
                <a:spcPct val="125000"/>
              </a:lnSpc>
              <a:buNone/>
            </a:pPr>
            <a:r>
              <a:rPr lang="en-US" sz="1300" b="1" dirty="0">
                <a:solidFill>
                  <a:srgbClr val="155563"/>
                </a:solidFill>
                <a:latin typeface="Optimist Sans" pitchFamily="34" charset="0"/>
                <a:ea typeface="Optimist Sans" pitchFamily="34" charset="-122"/>
                <a:cs typeface="Optimist Sans" pitchFamily="34" charset="-120"/>
              </a:rPr>
              <a:t>IC path </a:t>
            </a:r>
            <a:pPr algn="l" indent="0" marL="0">
              <a:lnSpc>
                <a:spcPct val="125000"/>
              </a:lnSpc>
              <a:buNone/>
            </a:pPr>
            <a:r>
              <a:rPr lang="en-US" sz="1300" dirty="0">
                <a:solidFill>
                  <a:srgbClr val="4A5568"/>
                </a:solidFill>
                <a:latin typeface="Optimist Sans" pitchFamily="34" charset="0"/>
                <a:ea typeface="Optimist Sans" pitchFamily="34" charset="-122"/>
                <a:cs typeface="Optimist Sans" pitchFamily="34" charset="-120"/>
              </a:rPr>
              <a:t>becomes the core: seniors directing agents</a:t>
            </a:r>
            <a:endParaRPr lang="en-US" sz="1300" dirty="0"/>
          </a:p>
        </p:txBody>
      </p:sp>
      <p:sp>
        <p:nvSpPr>
          <p:cNvPr id="29" name="Shape 27"/>
          <p:cNvSpPr/>
          <p:nvPr/>
        </p:nvSpPr>
        <p:spPr>
          <a:xfrm>
            <a:off x="8178800" y="4102100"/>
            <a:ext cx="3048000" cy="533400"/>
          </a:xfrm>
          <a:prstGeom prst="roundRect">
            <a:avLst>
              <a:gd name="adj" fmla="val 20571"/>
            </a:avLst>
          </a:prstGeom>
          <a:solidFill>
            <a:srgbClr val="E1EEF0"/>
          </a:solidFill>
          <a:ln/>
        </p:spPr>
      </p:sp>
      <p:sp>
        <p:nvSpPr>
          <p:cNvPr id="30" name="Text 28"/>
          <p:cNvSpPr txBox="1"/>
          <p:nvPr/>
        </p:nvSpPr>
        <p:spPr>
          <a:xfrm>
            <a:off x="8280400" y="4102100"/>
            <a:ext cx="2895600" cy="533400"/>
          </a:xfrm>
          <a:prstGeom prst="rect">
            <a:avLst/>
          </a:prstGeom>
          <a:noFill/>
          <a:ln/>
        </p:spPr>
        <p:txBody>
          <a:bodyPr wrap="square" lIns="0" tIns="0" rIns="0" bIns="0" rtlCol="0" anchor="ctr"/>
          <a:lstStyle/>
          <a:p>
            <a:pPr algn="l" indent="0" marL="0">
              <a:lnSpc>
                <a:spcPct val="115000"/>
              </a:lnSpc>
              <a:buNone/>
            </a:pPr>
            <a:r>
              <a:rPr lang="en-US" sz="1200" b="1" dirty="0">
                <a:solidFill>
                  <a:srgbClr val="14213D"/>
                </a:solidFill>
                <a:latin typeface="Optimist Sans" pitchFamily="34" charset="0"/>
                <a:ea typeface="Optimist Sans" pitchFamily="34" charset="-122"/>
                <a:cs typeface="Optimist Sans" pitchFamily="34" charset="-120"/>
              </a:rPr>
              <a:t>Juniors learn by judging, not just doing:</a:t>
            </a:r>
            <a:endParaRPr lang="en-US" sz="1200" dirty="0"/>
          </a:p>
        </p:txBody>
      </p:sp>
      <p:sp>
        <p:nvSpPr>
          <p:cNvPr id="31" name="Text 29"/>
          <p:cNvSpPr txBox="1"/>
          <p:nvPr/>
        </p:nvSpPr>
        <p:spPr>
          <a:xfrm>
            <a:off x="8229600" y="4749800"/>
            <a:ext cx="2946400" cy="9525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Review and challenge agent output</a:t>
            </a:r>
            <a:endParaRPr lang="en-US" sz="1200" dirty="0"/>
          </a:p>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Hand-build some work end to end</a:t>
            </a:r>
            <a:endParaRPr lang="en-US" sz="1200" dirty="0"/>
          </a:p>
          <a:p>
            <a:pPr marL="342900" indent="-342900">
              <a:spcAft>
                <a:spcPts val="600"/>
              </a:spcAft>
              <a:buSzPct val="100000"/>
              <a:buChar char="•"/>
            </a:pPr>
            <a:r>
              <a:rPr lang="en-US" sz="1200" dirty="0">
                <a:solidFill>
                  <a:srgbClr val="4A5568"/>
                </a:solidFill>
                <a:latin typeface="Optimist Sans" pitchFamily="34" charset="0"/>
                <a:ea typeface="Optimist Sans" pitchFamily="34" charset="-122"/>
                <a:cs typeface="Optimist Sans" pitchFamily="34" charset="-120"/>
              </a:rPr>
              <a:t>Pair with senior ICs on real decisions</a:t>
            </a:r>
            <a:endParaRPr lang="en-US" sz="1200" dirty="0"/>
          </a:p>
        </p:txBody>
      </p:sp>
      <p:sp>
        <p:nvSpPr>
          <p:cNvPr id="32" name="Text 30"/>
          <p:cNvSpPr txBox="1"/>
          <p:nvPr/>
        </p:nvSpPr>
        <p:spPr>
          <a:xfrm>
            <a:off x="812800" y="6235700"/>
            <a:ext cx="9779000" cy="2159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Draft for discussion · Shapes are illustrative</a:t>
            </a:r>
            <a:endParaRPr lang="en-US" sz="1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15000"/>
              </a:lnSpc>
              <a:buNone/>
            </a:pPr>
            <a:r>
              <a:rPr lang="en-US" sz="1200" b="1" spc="150" kern="0" dirty="0">
                <a:solidFill>
                  <a:srgbClr val="A0521A"/>
                </a:solidFill>
                <a:latin typeface="Optimist Sans" pitchFamily="34" charset="0"/>
                <a:ea typeface="Optimist Sans" pitchFamily="34" charset="-122"/>
                <a:cs typeface="Optimist Sans" pitchFamily="34" charset="-120"/>
              </a:rPr>
              <a:t>NEXT STEPS</a:t>
            </a:r>
            <a:endParaRPr lang="en-US" sz="1200" dirty="0"/>
          </a:p>
        </p:txBody>
      </p:sp>
      <p:sp>
        <p:nvSpPr>
          <p:cNvPr id="3" name="Text 0"/>
          <p:cNvSpPr/>
          <p:nvPr>
            <p:ph idx="100" type="title" hasCustomPrompt="1"/>
          </p:nvPr>
        </p:nvSpPr>
        <p:spPr>
          <a:xfrm>
            <a:off x="812800" y="1117600"/>
            <a:ext cx="10566400" cy="1016000"/>
          </a:xfrm>
          <a:prstGeom prst="rect">
            <a:avLst/>
          </a:prstGeom>
          <a:noFill/>
          <a:ln/>
        </p:spPr>
        <p:txBody>
          <a:bodyPr wrap="square" lIns="0" tIns="0" rIns="0" bIns="0" rtlCol="0" anchor="t"/>
          <a:lstStyle/>
          <a:p>
            <a:pPr algn="l" indent="0" marL="0">
              <a:buNone/>
            </a:pPr>
            <a:r>
              <a:rPr lang="en-US" sz="3200" b="1" dirty="0">
                <a:solidFill>
                  <a:srgbClr val="14213D"/>
                </a:solidFill>
                <a:latin typeface="Optimist Display" pitchFamily="34" charset="0"/>
                <a:ea typeface="Optimist Display" pitchFamily="34" charset="-122"/>
                <a:cs typeface="Optimist Display" pitchFamily="34" charset="-120"/>
              </a:rPr>
              <a:t>We are asking leadership to align on the vision and four near-term decisions</a:t>
            </a:r>
            <a:endParaRPr lang="en-US" sz="3200" dirty="0"/>
          </a:p>
        </p:txBody>
      </p:sp>
      <p:sp>
        <p:nvSpPr>
          <p:cNvPr id="4" name="Shape 2"/>
          <p:cNvSpPr/>
          <p:nvPr/>
        </p:nvSpPr>
        <p:spPr>
          <a:xfrm>
            <a:off x="812800" y="2413000"/>
            <a:ext cx="10566400" cy="914"/>
          </a:xfrm>
          <a:prstGeom prst="line">
            <a:avLst/>
          </a:prstGeom>
          <a:noFill/>
          <a:ln w="12700">
            <a:solidFill>
              <a:srgbClr val="DDD8CC"/>
            </a:solidFill>
            <a:prstDash val="solid"/>
          </a:ln>
        </p:spPr>
      </p:sp>
      <p:sp>
        <p:nvSpPr>
          <p:cNvPr id="5" name="Text 3"/>
          <p:cNvSpPr txBox="1"/>
          <p:nvPr/>
        </p:nvSpPr>
        <p:spPr>
          <a:xfrm>
            <a:off x="812800" y="2565400"/>
            <a:ext cx="508000" cy="381000"/>
          </a:xfrm>
          <a:prstGeom prst="rect">
            <a:avLst/>
          </a:prstGeom>
          <a:noFill/>
          <a:ln/>
        </p:spPr>
        <p:txBody>
          <a:bodyPr wrap="square" lIns="0" tIns="0" rIns="0" bIns="0" rtlCol="0" anchor="t"/>
          <a:lstStyle/>
          <a:p>
            <a:pPr algn="l" indent="0" marL="0">
              <a:lnSpc>
                <a:spcPct val="115000"/>
              </a:lnSpc>
              <a:buNone/>
            </a:pPr>
            <a:r>
              <a:rPr lang="en-US" sz="2200" b="1" dirty="0">
                <a:solidFill>
                  <a:srgbClr val="1F6F7E"/>
                </a:solidFill>
                <a:latin typeface="Optimist Display" pitchFamily="34" charset="0"/>
                <a:ea typeface="Optimist Display" pitchFamily="34" charset="-122"/>
                <a:cs typeface="Optimist Display" pitchFamily="34" charset="-120"/>
              </a:rPr>
              <a:t>1</a:t>
            </a:r>
            <a:endParaRPr lang="en-US" sz="2200" dirty="0"/>
          </a:p>
        </p:txBody>
      </p:sp>
      <p:sp>
        <p:nvSpPr>
          <p:cNvPr id="6" name="Text 4"/>
          <p:cNvSpPr txBox="1"/>
          <p:nvPr/>
        </p:nvSpPr>
        <p:spPr>
          <a:xfrm>
            <a:off x="1574800" y="2578100"/>
            <a:ext cx="9804400" cy="2794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Endorse the combined vision and four-function structure</a:t>
            </a:r>
            <a:endParaRPr lang="en-US" sz="1600" dirty="0"/>
          </a:p>
        </p:txBody>
      </p:sp>
      <p:sp>
        <p:nvSpPr>
          <p:cNvPr id="7" name="Text 5"/>
          <p:cNvSpPr txBox="1"/>
          <p:nvPr/>
        </p:nvSpPr>
        <p:spPr>
          <a:xfrm>
            <a:off x="1574800" y="2882900"/>
            <a:ext cx="9804400" cy="254000"/>
          </a:xfrm>
          <a:prstGeom prst="rect">
            <a:avLst/>
          </a:prstGeom>
          <a:noFill/>
          <a:ln/>
        </p:spPr>
        <p:txBody>
          <a:bodyPr wrap="square" lIns="0" tIns="0" rIns="0" bIns="0" rtlCol="0" anchor="t"/>
          <a:lstStyle/>
          <a:p>
            <a:pPr algn="l" indent="0" marL="0">
              <a:lnSpc>
                <a:spcPct val="115000"/>
              </a:lnSpc>
              <a:buNone/>
            </a:pPr>
            <a:r>
              <a:rPr lang="en-US" sz="1300" dirty="0">
                <a:solidFill>
                  <a:srgbClr val="4A5568"/>
                </a:solidFill>
                <a:latin typeface="Optimist Sans" pitchFamily="34" charset="0"/>
                <a:ea typeface="Optimist Sans" pitchFamily="34" charset="-122"/>
                <a:cs typeface="Optimist Sans" pitchFamily="34" charset="-120"/>
              </a:rPr>
              <a:t>Modeling &amp; Automation, Data Foundation, Platform &amp; Deployment, AI Enablement</a:t>
            </a:r>
            <a:endParaRPr lang="en-US" sz="1300" dirty="0"/>
          </a:p>
        </p:txBody>
      </p:sp>
      <p:sp>
        <p:nvSpPr>
          <p:cNvPr id="8" name="Shape 6"/>
          <p:cNvSpPr/>
          <p:nvPr/>
        </p:nvSpPr>
        <p:spPr>
          <a:xfrm>
            <a:off x="812800" y="3263900"/>
            <a:ext cx="10566400" cy="914"/>
          </a:xfrm>
          <a:prstGeom prst="line">
            <a:avLst/>
          </a:prstGeom>
          <a:noFill/>
          <a:ln w="12700">
            <a:solidFill>
              <a:srgbClr val="DDD8CC"/>
            </a:solidFill>
            <a:prstDash val="solid"/>
          </a:ln>
        </p:spPr>
      </p:sp>
      <p:sp>
        <p:nvSpPr>
          <p:cNvPr id="9" name="Text 7"/>
          <p:cNvSpPr txBox="1"/>
          <p:nvPr/>
        </p:nvSpPr>
        <p:spPr>
          <a:xfrm>
            <a:off x="812800" y="3416300"/>
            <a:ext cx="508000" cy="381000"/>
          </a:xfrm>
          <a:prstGeom prst="rect">
            <a:avLst/>
          </a:prstGeom>
          <a:noFill/>
          <a:ln/>
        </p:spPr>
        <p:txBody>
          <a:bodyPr wrap="square" lIns="0" tIns="0" rIns="0" bIns="0" rtlCol="0" anchor="t"/>
          <a:lstStyle/>
          <a:p>
            <a:pPr algn="l" indent="0" marL="0">
              <a:lnSpc>
                <a:spcPct val="115000"/>
              </a:lnSpc>
              <a:buNone/>
            </a:pPr>
            <a:r>
              <a:rPr lang="en-US" sz="2200" b="1" dirty="0">
                <a:solidFill>
                  <a:srgbClr val="1F6F7E"/>
                </a:solidFill>
                <a:latin typeface="Optimist Display" pitchFamily="34" charset="0"/>
                <a:ea typeface="Optimist Display" pitchFamily="34" charset="-122"/>
                <a:cs typeface="Optimist Display" pitchFamily="34" charset="-120"/>
              </a:rPr>
              <a:t>2</a:t>
            </a:r>
            <a:endParaRPr lang="en-US" sz="2200" dirty="0"/>
          </a:p>
        </p:txBody>
      </p:sp>
      <p:sp>
        <p:nvSpPr>
          <p:cNvPr id="10" name="Text 8"/>
          <p:cNvSpPr txBox="1"/>
          <p:nvPr/>
        </p:nvSpPr>
        <p:spPr>
          <a:xfrm>
            <a:off x="1574800" y="3429000"/>
            <a:ext cx="9804400" cy="2794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Support leaders stepping into stretch roles</a:t>
            </a:r>
            <a:endParaRPr lang="en-US" sz="1600" dirty="0"/>
          </a:p>
        </p:txBody>
      </p:sp>
      <p:sp>
        <p:nvSpPr>
          <p:cNvPr id="11" name="Text 9"/>
          <p:cNvSpPr txBox="1"/>
          <p:nvPr/>
        </p:nvSpPr>
        <p:spPr>
          <a:xfrm>
            <a:off x="1574800" y="3733800"/>
            <a:ext cx="9804400" cy="254000"/>
          </a:xfrm>
          <a:prstGeom prst="rect">
            <a:avLst/>
          </a:prstGeom>
          <a:noFill/>
          <a:ln/>
        </p:spPr>
        <p:txBody>
          <a:bodyPr wrap="square" lIns="0" tIns="0" rIns="0" bIns="0" rtlCol="0" anchor="t"/>
          <a:lstStyle/>
          <a:p>
            <a:pPr algn="l" indent="0" marL="0">
              <a:lnSpc>
                <a:spcPct val="115000"/>
              </a:lnSpc>
              <a:buNone/>
            </a:pPr>
            <a:r>
              <a:rPr lang="en-US" sz="1300" dirty="0">
                <a:solidFill>
                  <a:srgbClr val="4A5568"/>
                </a:solidFill>
                <a:latin typeface="Optimist Sans" pitchFamily="34" charset="0"/>
                <a:ea typeface="Optimist Sans" pitchFamily="34" charset="-122"/>
                <a:cs typeface="Optimist Sans" pitchFamily="34" charset="-120"/>
              </a:rPr>
              <a:t>[Interim coverage, coaching or hiring plan for vacated lead roles]</a:t>
            </a:r>
            <a:endParaRPr lang="en-US" sz="1300" dirty="0"/>
          </a:p>
        </p:txBody>
      </p:sp>
      <p:sp>
        <p:nvSpPr>
          <p:cNvPr id="12" name="Shape 10"/>
          <p:cNvSpPr/>
          <p:nvPr/>
        </p:nvSpPr>
        <p:spPr>
          <a:xfrm>
            <a:off x="812800" y="4114800"/>
            <a:ext cx="10566400" cy="914"/>
          </a:xfrm>
          <a:prstGeom prst="line">
            <a:avLst/>
          </a:prstGeom>
          <a:noFill/>
          <a:ln w="12700">
            <a:solidFill>
              <a:srgbClr val="DDD8CC"/>
            </a:solidFill>
            <a:prstDash val="solid"/>
          </a:ln>
        </p:spPr>
      </p:sp>
      <p:sp>
        <p:nvSpPr>
          <p:cNvPr id="13" name="Text 11"/>
          <p:cNvSpPr txBox="1"/>
          <p:nvPr/>
        </p:nvSpPr>
        <p:spPr>
          <a:xfrm>
            <a:off x="812800" y="4267200"/>
            <a:ext cx="508000" cy="381000"/>
          </a:xfrm>
          <a:prstGeom prst="rect">
            <a:avLst/>
          </a:prstGeom>
          <a:noFill/>
          <a:ln/>
        </p:spPr>
        <p:txBody>
          <a:bodyPr wrap="square" lIns="0" tIns="0" rIns="0" bIns="0" rtlCol="0" anchor="t"/>
          <a:lstStyle/>
          <a:p>
            <a:pPr algn="l" indent="0" marL="0">
              <a:lnSpc>
                <a:spcPct val="115000"/>
              </a:lnSpc>
              <a:buNone/>
            </a:pPr>
            <a:r>
              <a:rPr lang="en-US" sz="2200" b="1" dirty="0">
                <a:solidFill>
                  <a:srgbClr val="1F6F7E"/>
                </a:solidFill>
                <a:latin typeface="Optimist Display" pitchFamily="34" charset="0"/>
                <a:ea typeface="Optimist Display" pitchFamily="34" charset="-122"/>
                <a:cs typeface="Optimist Display" pitchFamily="34" charset="-120"/>
              </a:rPr>
              <a:t>3</a:t>
            </a:r>
            <a:endParaRPr lang="en-US" sz="2200" dirty="0"/>
          </a:p>
        </p:txBody>
      </p:sp>
      <p:sp>
        <p:nvSpPr>
          <p:cNvPr id="14" name="Text 12"/>
          <p:cNvSpPr txBox="1"/>
          <p:nvPr/>
        </p:nvSpPr>
        <p:spPr>
          <a:xfrm>
            <a:off x="1574800" y="4279900"/>
            <a:ext cx="9804400" cy="2794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Endorse redeploying freed capacity to AI work</a:t>
            </a:r>
            <a:endParaRPr lang="en-US" sz="1600" dirty="0"/>
          </a:p>
        </p:txBody>
      </p:sp>
      <p:sp>
        <p:nvSpPr>
          <p:cNvPr id="15" name="Text 13"/>
          <p:cNvSpPr txBox="1"/>
          <p:nvPr/>
        </p:nvSpPr>
        <p:spPr>
          <a:xfrm>
            <a:off x="1574800" y="4584700"/>
            <a:ext cx="9804400" cy="254000"/>
          </a:xfrm>
          <a:prstGeom prst="rect">
            <a:avLst/>
          </a:prstGeom>
          <a:noFill/>
          <a:ln/>
        </p:spPr>
        <p:txBody>
          <a:bodyPr wrap="square" lIns="0" tIns="0" rIns="0" bIns="0" rtlCol="0" anchor="t"/>
          <a:lstStyle/>
          <a:p>
            <a:pPr algn="l" indent="0" marL="0">
              <a:lnSpc>
                <a:spcPct val="115000"/>
              </a:lnSpc>
              <a:buNone/>
            </a:pPr>
            <a:r>
              <a:rPr lang="en-US" sz="1300" dirty="0">
                <a:solidFill>
                  <a:srgbClr val="4A5568"/>
                </a:solidFill>
                <a:latin typeface="Optimist Sans" pitchFamily="34" charset="0"/>
                <a:ea typeface="Optimist Sans" pitchFamily="34" charset="-122"/>
                <a:cs typeface="Optimist Sans" pitchFamily="34" charset="-120"/>
              </a:rPr>
              <a:t>Plus investment in the data foundation: [headcount or funding needed]</a:t>
            </a:r>
            <a:endParaRPr lang="en-US" sz="1300" dirty="0"/>
          </a:p>
        </p:txBody>
      </p:sp>
      <p:sp>
        <p:nvSpPr>
          <p:cNvPr id="16" name="Shape 14"/>
          <p:cNvSpPr/>
          <p:nvPr/>
        </p:nvSpPr>
        <p:spPr>
          <a:xfrm>
            <a:off x="812800" y="4965700"/>
            <a:ext cx="10566400" cy="914"/>
          </a:xfrm>
          <a:prstGeom prst="line">
            <a:avLst/>
          </a:prstGeom>
          <a:noFill/>
          <a:ln w="12700">
            <a:solidFill>
              <a:srgbClr val="DDD8CC"/>
            </a:solidFill>
            <a:prstDash val="solid"/>
          </a:ln>
        </p:spPr>
      </p:sp>
      <p:sp>
        <p:nvSpPr>
          <p:cNvPr id="17" name="Text 15"/>
          <p:cNvSpPr txBox="1"/>
          <p:nvPr/>
        </p:nvSpPr>
        <p:spPr>
          <a:xfrm>
            <a:off x="812800" y="5118100"/>
            <a:ext cx="508000" cy="381000"/>
          </a:xfrm>
          <a:prstGeom prst="rect">
            <a:avLst/>
          </a:prstGeom>
          <a:noFill/>
          <a:ln/>
        </p:spPr>
        <p:txBody>
          <a:bodyPr wrap="square" lIns="0" tIns="0" rIns="0" bIns="0" rtlCol="0" anchor="t"/>
          <a:lstStyle/>
          <a:p>
            <a:pPr algn="l" indent="0" marL="0">
              <a:lnSpc>
                <a:spcPct val="115000"/>
              </a:lnSpc>
              <a:buNone/>
            </a:pPr>
            <a:r>
              <a:rPr lang="en-US" sz="2200" b="1" dirty="0">
                <a:solidFill>
                  <a:srgbClr val="1F6F7E"/>
                </a:solidFill>
                <a:latin typeface="Optimist Display" pitchFamily="34" charset="0"/>
                <a:ea typeface="Optimist Display" pitchFamily="34" charset="-122"/>
                <a:cs typeface="Optimist Display" pitchFamily="34" charset="-120"/>
              </a:rPr>
              <a:t>4</a:t>
            </a:r>
            <a:endParaRPr lang="en-US" sz="2200" dirty="0"/>
          </a:p>
        </p:txBody>
      </p:sp>
      <p:sp>
        <p:nvSpPr>
          <p:cNvPr id="18" name="Text 16"/>
          <p:cNvSpPr txBox="1"/>
          <p:nvPr/>
        </p:nvSpPr>
        <p:spPr>
          <a:xfrm>
            <a:off x="1574800" y="5130800"/>
            <a:ext cx="9804400" cy="279400"/>
          </a:xfrm>
          <a:prstGeom prst="rect">
            <a:avLst/>
          </a:prstGeom>
          <a:noFill/>
          <a:ln/>
        </p:spPr>
        <p:txBody>
          <a:bodyPr wrap="square" lIns="0" tIns="0" rIns="0" bIns="0" rtlCol="0" anchor="t"/>
          <a:lstStyle/>
          <a:p>
            <a:pPr algn="l" indent="0" marL="0">
              <a:lnSpc>
                <a:spcPct val="115000"/>
              </a:lnSpc>
              <a:buNone/>
            </a:pPr>
            <a:r>
              <a:rPr lang="en-US" sz="1600" b="1" dirty="0">
                <a:solidFill>
                  <a:srgbClr val="14213D"/>
                </a:solidFill>
                <a:latin typeface="Optimist Sans" pitchFamily="34" charset="0"/>
                <a:ea typeface="Optimist Sans" pitchFamily="34" charset="-122"/>
                <a:cs typeface="Optimist Sans" pitchFamily="34" charset="-120"/>
              </a:rPr>
              <a:t>Agree on a transition timeline and checkpoints</a:t>
            </a:r>
            <a:endParaRPr lang="en-US" sz="1600" dirty="0"/>
          </a:p>
        </p:txBody>
      </p:sp>
      <p:sp>
        <p:nvSpPr>
          <p:cNvPr id="19" name="Text 17"/>
          <p:cNvSpPr txBox="1"/>
          <p:nvPr/>
        </p:nvSpPr>
        <p:spPr>
          <a:xfrm>
            <a:off x="1574800" y="5435600"/>
            <a:ext cx="9804400" cy="254000"/>
          </a:xfrm>
          <a:prstGeom prst="rect">
            <a:avLst/>
          </a:prstGeom>
          <a:noFill/>
          <a:ln/>
        </p:spPr>
        <p:txBody>
          <a:bodyPr wrap="square" lIns="0" tIns="0" rIns="0" bIns="0" rtlCol="0" anchor="t"/>
          <a:lstStyle/>
          <a:p>
            <a:pPr algn="l" indent="0" marL="0">
              <a:lnSpc>
                <a:spcPct val="115000"/>
              </a:lnSpc>
              <a:buNone/>
            </a:pPr>
            <a:r>
              <a:rPr lang="en-US" sz="1300" dirty="0">
                <a:solidFill>
                  <a:srgbClr val="4A5568"/>
                </a:solidFill>
                <a:latin typeface="Optimist Sans" pitchFamily="34" charset="0"/>
                <a:ea typeface="Optimist Sans" pitchFamily="34" charset="-122"/>
                <a:cs typeface="Optimist Sans" pitchFamily="34" charset="-120"/>
              </a:rPr>
              <a:t>[30/60/90-day milestones and review cadence]</a:t>
            </a:r>
            <a:endParaRPr lang="en-US" sz="1300" dirty="0"/>
          </a:p>
        </p:txBody>
      </p:sp>
      <p:sp>
        <p:nvSpPr>
          <p:cNvPr id="20" name="Shape 18"/>
          <p:cNvSpPr/>
          <p:nvPr/>
        </p:nvSpPr>
        <p:spPr>
          <a:xfrm>
            <a:off x="812800" y="5816600"/>
            <a:ext cx="10566400" cy="914"/>
          </a:xfrm>
          <a:prstGeom prst="line">
            <a:avLst/>
          </a:prstGeom>
          <a:noFill/>
          <a:ln w="12700">
            <a:solidFill>
              <a:srgbClr val="DDD8CC"/>
            </a:solidFill>
            <a:prstDash val="solid"/>
          </a:ln>
        </p:spPr>
      </p:sp>
      <p:sp>
        <p:nvSpPr>
          <p:cNvPr id="21" name="Text 19"/>
          <p:cNvSpPr txBox="1"/>
          <p:nvPr/>
        </p:nvSpPr>
        <p:spPr>
          <a:xfrm>
            <a:off x="812800" y="6235700"/>
            <a:ext cx="9779000" cy="215900"/>
          </a:xfrm>
          <a:prstGeom prst="rect">
            <a:avLst/>
          </a:prstGeom>
          <a:noFill/>
          <a:ln/>
        </p:spPr>
        <p:txBody>
          <a:bodyPr wrap="square" lIns="0" tIns="0" rIns="0" bIns="0" rtlCol="0" anchor="t"/>
          <a:lstStyle/>
          <a:p>
            <a:pPr algn="l" indent="0" marL="0">
              <a:lnSpc>
                <a:spcPct val="115000"/>
              </a:lnSpc>
              <a:buNone/>
            </a:pPr>
            <a:r>
              <a:rPr lang="en-US" sz="1200" dirty="0">
                <a:solidFill>
                  <a:srgbClr val="6B7280"/>
                </a:solidFill>
                <a:latin typeface="Optimist Sans" pitchFamily="34" charset="0"/>
                <a:ea typeface="Optimist Sans" pitchFamily="34" charset="-122"/>
                <a:cs typeface="Optimist Sans" pitchFamily="34" charset="-120"/>
              </a:rPr>
              <a:t>Draft for discussion</a:t>
            </a:r>
            <a:endParaRPr lang="en-US" sz="1200" dirty="0"/>
          </a:p>
        </p:txBody>
      </p:sp>
      <p:sp>
        <p:nvSpPr>
          <p:cNvPr id="25" name="Slide Number Placeholder 0"/>
          <p:cNvSpPr>
            <a:spLocks noGrp="1"/>
          </p:cNvSpPr>
          <p:nvPr>
            <p:ph type="sldNum" sz="quarter" idx="4294967295"/>
          </p:nvPr>
        </p:nvSpPr>
        <p:spPr>
          <a:xfrm>
            <a:off x="10795000" y="6235700"/>
            <a:ext cx="584200" cy="21590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Optimist Sans"/>
                <a:ea typeface="Optimist Sans"/>
                <a:cs typeface="Optimist Sans"/>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Unified Team Strategy">
  <a:themeElements>
    <a:clrScheme name="Unified Team Strategy">
      <a:dk1>
        <a:srgbClr val="14213D"/>
      </a:dk1>
      <a:lt1>
        <a:srgbClr val="FDFCF9"/>
      </a:lt1>
      <a:dk2>
        <a:srgbClr val="155563"/>
      </a:dk2>
      <a:lt2>
        <a:srgbClr val="F7F6F2"/>
      </a:lt2>
      <a:accent1>
        <a:srgbClr val="1F6F7E"/>
      </a:accent1>
      <a:accent2>
        <a:srgbClr val="A0521A"/>
      </a:accent2>
      <a:accent3>
        <a:srgbClr val="E3A86B"/>
      </a:accent3>
      <a:accent4>
        <a:srgbClr val="1F5F6B"/>
      </a:accent4>
      <a:accent5>
        <a:srgbClr val="F2C089"/>
      </a:accent5>
      <a:accent6>
        <a:srgbClr val="8A8F98"/>
      </a:accent6>
      <a:hlink>
        <a:srgbClr val="1F6F7E"/>
      </a:hlink>
      <a:folHlink>
        <a:srgbClr val="8A4514"/>
      </a:folHlink>
    </a:clrScheme>
    <a:fontScheme name="Unified Team Strategy">
      <a:majorFont>
        <a:latin typeface="Optimist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ptimist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Unified Team Strategy</dc:title>
  <dc:subject>PptxGenJS Presentation</dc:subject>
  <dc:creator>PptxGenJS</dc:creator>
  <cp:lastModifiedBy>PptxGenJS</cp:lastModifiedBy>
  <cp:revision>1</cp:revision>
  <dcterms:created xsi:type="dcterms:W3CDTF">2026-10-23T12:52:51Z</dcterms:created>
  <dcterms:modified xsi:type="dcterms:W3CDTF">2026-10-23T12:52:51Z</dcterms:modified>
</cp:coreProperties>
</file>