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5cd9def0-031c-07e9-e2cd-894518d77e06}">
          <p14:sldIdLst>
            <p14:sldId id="256"/>
            <p14:sldId id="257"/>
          </p14:sldIdLst>
        </p14:section>
        <p14:section name="How we organize" id="{0c7e561f-c58b-6a0d-e143-fcdc241b7120}">
          <p14:sldIdLst>
            <p14:sldId id="258"/>
            <p14:sldId id="259"/>
            <p14:sldId id="260"/>
            <p14:sldId id="261"/>
          </p14:sldIdLst>
        </p14:section>
        <p14:section name="What we do and how we grow" id="{b9c3c889-d034-c044-a716-d58821b5c1d0}">
          <p14:sldIdLst>
            <p14:sldId id="262"/>
            <p14:sldId id="263"/>
            <p14:sldId id="264"/>
          </p14:sldIdLst>
        </p14:section>
        <p14:section name="Asks" id="{a681bac5-2d66-2f38-fe2b-83122850330a}">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Stretched leads in new areas. With mid-level managers gone, the people stepping up, including the team lead, cover a broader scope that includes unfamiliar areas such as Dual Risk Rating modeling and its business stakeholders. We lean on business analysts and former team members who know the area; the wider support model is still to be decided. (2) BAU delivery at risk. While attention goes to the reorg and the new AI work, in-flight model deliverables must not slip; we name owners and backups for each critical deliverable through the transition. (3) Rework hurts morale. The new vision revisits some earlier decisions, such as tooling development and model consolidation, and the rework that follows can hurt team morale. We share the vision openly with the whole team from day one and are clear about what each person is doing and why; because the vision now comes from the team’s own lead rather than a partner team, buy-in follows more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four-function structure into the actual team: one team lead, four sub-team heads, and three sub-teams under Modeling, each with its own lead and level. Each box lists who is on the team, then year-end headcount: this year’s total with open roles to backfill in parentheses, and the planned size at the end of next year and the year after. Modeling, Data Foundation and Platform &amp; Deployment get smaller over time as AI takes on BAU work; AI Enablement grows. The next slide rolls these team-level numbers up into the overall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rolls up the team-by-team plan on the previous slide. 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One opportunity already identified: turn the team’s unwritten procedures and best practices into explicit, shared documentation that both people and AI agents can read and follow. The fourth sets up the next two slides: a flatter structure that fits talent empowered by AI; a pipeline of next-generation leaders who can manage mixed teams of ICs and agents with wider spans; and a talent bar that stays consistent while it keeps rising, backed by a development program that helps ICs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Everyone starts as an individual contributor; juniors are not yet in a position to manage. As they grow more senior, they test their interests and choose the IC or the people-manager path.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leads, new areas</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managers; leads cover more, incl. unfamiliar DRR work</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E1EEF0"/>
          </a:solidFill>
          <a:ln w="19050">
            <a:solidFill>
              <a:srgbClr val="1F6F7E"/>
            </a:solidFill>
            <a:prstDash val="solid"/>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prior team members. Wider support: [TBD]</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BAU delivery at risk</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Transition pulls focus from in-flight model deliverables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Name owners and backups for critical deliverables through the transition</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hurts morale</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New vision revisits past decisions, forcing rework</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Bracketed text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 · DETAIL</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BAU-heavy teams shrink as AI Enablement grows</a:t>
            </a:r>
            <a:endParaRPr lang="en-US" sz="3200" dirty="0"/>
          </a:p>
        </p:txBody>
      </p:sp>
      <p:sp>
        <p:nvSpPr>
          <p:cNvPr id="4" name="Shape 2"/>
          <p:cNvSpPr/>
          <p:nvPr/>
        </p:nvSpPr>
        <p:spPr>
          <a:xfrm>
            <a:off x="6096000" y="2717800"/>
            <a:ext cx="914" cy="127000"/>
          </a:xfrm>
          <a:prstGeom prst="line">
            <a:avLst/>
          </a:prstGeom>
          <a:noFill/>
          <a:ln w="25400">
            <a:solidFill>
              <a:srgbClr val="8A8F98"/>
            </a:solidFill>
            <a:prstDash val="solid"/>
          </a:ln>
        </p:spPr>
      </p:sp>
      <p:sp>
        <p:nvSpPr>
          <p:cNvPr id="5" name="Shape 3"/>
          <p:cNvSpPr/>
          <p:nvPr/>
        </p:nvSpPr>
        <p:spPr>
          <a:xfrm>
            <a:off x="3200400" y="2844800"/>
            <a:ext cx="7289800" cy="914"/>
          </a:xfrm>
          <a:prstGeom prst="line">
            <a:avLst/>
          </a:prstGeom>
          <a:noFill/>
          <a:ln w="25400">
            <a:solidFill>
              <a:srgbClr val="8A8F98"/>
            </a:solidFill>
            <a:prstDash val="solid"/>
          </a:ln>
        </p:spPr>
      </p:sp>
      <p:sp>
        <p:nvSpPr>
          <p:cNvPr id="6" name="Shape 4"/>
          <p:cNvSpPr/>
          <p:nvPr/>
        </p:nvSpPr>
        <p:spPr>
          <a:xfrm>
            <a:off x="3200400" y="2844800"/>
            <a:ext cx="914" cy="127000"/>
          </a:xfrm>
          <a:prstGeom prst="line">
            <a:avLst/>
          </a:prstGeom>
          <a:noFill/>
          <a:ln w="25400">
            <a:solidFill>
              <a:srgbClr val="8A8F98"/>
            </a:solidFill>
            <a:prstDash val="solid"/>
          </a:ln>
        </p:spPr>
      </p:sp>
      <p:sp>
        <p:nvSpPr>
          <p:cNvPr id="7" name="Shape 5"/>
          <p:cNvSpPr/>
          <p:nvPr/>
        </p:nvSpPr>
        <p:spPr>
          <a:xfrm>
            <a:off x="6629400" y="2844800"/>
            <a:ext cx="914" cy="127000"/>
          </a:xfrm>
          <a:prstGeom prst="line">
            <a:avLst/>
          </a:prstGeom>
          <a:noFill/>
          <a:ln w="25400">
            <a:solidFill>
              <a:srgbClr val="8A8F98"/>
            </a:solidFill>
            <a:prstDash val="solid"/>
          </a:ln>
        </p:spPr>
      </p:sp>
      <p:sp>
        <p:nvSpPr>
          <p:cNvPr id="8" name="Shape 6"/>
          <p:cNvSpPr/>
          <p:nvPr/>
        </p:nvSpPr>
        <p:spPr>
          <a:xfrm>
            <a:off x="8559800" y="2844800"/>
            <a:ext cx="914" cy="127000"/>
          </a:xfrm>
          <a:prstGeom prst="line">
            <a:avLst/>
          </a:prstGeom>
          <a:noFill/>
          <a:ln w="25400">
            <a:solidFill>
              <a:srgbClr val="8A8F98"/>
            </a:solidFill>
            <a:prstDash val="solid"/>
          </a:ln>
        </p:spPr>
      </p:sp>
      <p:sp>
        <p:nvSpPr>
          <p:cNvPr id="9" name="Shape 7"/>
          <p:cNvSpPr/>
          <p:nvPr/>
        </p:nvSpPr>
        <p:spPr>
          <a:xfrm>
            <a:off x="10490200" y="2844800"/>
            <a:ext cx="914" cy="127000"/>
          </a:xfrm>
          <a:prstGeom prst="line">
            <a:avLst/>
          </a:prstGeom>
          <a:noFill/>
          <a:ln w="25400">
            <a:solidFill>
              <a:srgbClr val="8A8F98"/>
            </a:solidFill>
            <a:prstDash val="solid"/>
          </a:ln>
        </p:spPr>
      </p:sp>
      <p:sp>
        <p:nvSpPr>
          <p:cNvPr id="10" name="Shape 8"/>
          <p:cNvSpPr/>
          <p:nvPr/>
        </p:nvSpPr>
        <p:spPr>
          <a:xfrm>
            <a:off x="3200400" y="3632200"/>
            <a:ext cx="914" cy="101600"/>
          </a:xfrm>
          <a:prstGeom prst="line">
            <a:avLst/>
          </a:prstGeom>
          <a:noFill/>
          <a:ln w="25400">
            <a:solidFill>
              <a:srgbClr val="8A8F98"/>
            </a:solidFill>
            <a:prstDash val="solid"/>
          </a:ln>
        </p:spPr>
      </p:sp>
      <p:sp>
        <p:nvSpPr>
          <p:cNvPr id="11" name="Shape 9"/>
          <p:cNvSpPr/>
          <p:nvPr/>
        </p:nvSpPr>
        <p:spPr>
          <a:xfrm>
            <a:off x="1574800" y="3733800"/>
            <a:ext cx="3251200" cy="914"/>
          </a:xfrm>
          <a:prstGeom prst="line">
            <a:avLst/>
          </a:prstGeom>
          <a:noFill/>
          <a:ln w="25400">
            <a:solidFill>
              <a:srgbClr val="8A8F98"/>
            </a:solidFill>
            <a:prstDash val="solid"/>
          </a:ln>
        </p:spPr>
      </p:sp>
      <p:sp>
        <p:nvSpPr>
          <p:cNvPr id="12" name="Shape 10"/>
          <p:cNvSpPr/>
          <p:nvPr/>
        </p:nvSpPr>
        <p:spPr>
          <a:xfrm>
            <a:off x="1574800" y="3733800"/>
            <a:ext cx="914" cy="101600"/>
          </a:xfrm>
          <a:prstGeom prst="line">
            <a:avLst/>
          </a:prstGeom>
          <a:noFill/>
          <a:ln w="25400">
            <a:solidFill>
              <a:srgbClr val="8A8F98"/>
            </a:solidFill>
            <a:prstDash val="solid"/>
          </a:ln>
        </p:spPr>
      </p:sp>
      <p:sp>
        <p:nvSpPr>
          <p:cNvPr id="13" name="Shape 11"/>
          <p:cNvSpPr/>
          <p:nvPr/>
        </p:nvSpPr>
        <p:spPr>
          <a:xfrm>
            <a:off x="1574800" y="4343400"/>
            <a:ext cx="914" cy="101600"/>
          </a:xfrm>
          <a:prstGeom prst="line">
            <a:avLst/>
          </a:prstGeom>
          <a:noFill/>
          <a:ln w="25400">
            <a:solidFill>
              <a:srgbClr val="8A8F98"/>
            </a:solidFill>
            <a:prstDash val="solid"/>
          </a:ln>
        </p:spPr>
      </p:sp>
      <p:sp>
        <p:nvSpPr>
          <p:cNvPr id="14" name="Shape 12"/>
          <p:cNvSpPr/>
          <p:nvPr/>
        </p:nvSpPr>
        <p:spPr>
          <a:xfrm>
            <a:off x="3200400" y="3733800"/>
            <a:ext cx="914" cy="101600"/>
          </a:xfrm>
          <a:prstGeom prst="line">
            <a:avLst/>
          </a:prstGeom>
          <a:noFill/>
          <a:ln w="25400">
            <a:solidFill>
              <a:srgbClr val="8A8F98"/>
            </a:solidFill>
            <a:prstDash val="solid"/>
          </a:ln>
        </p:spPr>
      </p:sp>
      <p:sp>
        <p:nvSpPr>
          <p:cNvPr id="15" name="Shape 13"/>
          <p:cNvSpPr/>
          <p:nvPr/>
        </p:nvSpPr>
        <p:spPr>
          <a:xfrm>
            <a:off x="3200400" y="4343400"/>
            <a:ext cx="914" cy="101600"/>
          </a:xfrm>
          <a:prstGeom prst="line">
            <a:avLst/>
          </a:prstGeom>
          <a:noFill/>
          <a:ln w="25400">
            <a:solidFill>
              <a:srgbClr val="8A8F98"/>
            </a:solidFill>
            <a:prstDash val="solid"/>
          </a:ln>
        </p:spPr>
      </p:sp>
      <p:sp>
        <p:nvSpPr>
          <p:cNvPr id="16" name="Shape 14"/>
          <p:cNvSpPr/>
          <p:nvPr/>
        </p:nvSpPr>
        <p:spPr>
          <a:xfrm>
            <a:off x="4826000" y="3733800"/>
            <a:ext cx="914" cy="101600"/>
          </a:xfrm>
          <a:prstGeom prst="line">
            <a:avLst/>
          </a:prstGeom>
          <a:noFill/>
          <a:ln w="25400">
            <a:solidFill>
              <a:srgbClr val="8A8F98"/>
            </a:solidFill>
            <a:prstDash val="solid"/>
          </a:ln>
        </p:spPr>
      </p:sp>
      <p:sp>
        <p:nvSpPr>
          <p:cNvPr id="17" name="Shape 15"/>
          <p:cNvSpPr/>
          <p:nvPr/>
        </p:nvSpPr>
        <p:spPr>
          <a:xfrm>
            <a:off x="4826000" y="4343400"/>
            <a:ext cx="914" cy="101600"/>
          </a:xfrm>
          <a:prstGeom prst="line">
            <a:avLst/>
          </a:prstGeom>
          <a:noFill/>
          <a:ln w="25400">
            <a:solidFill>
              <a:srgbClr val="8A8F98"/>
            </a:solidFill>
            <a:prstDash val="solid"/>
          </a:ln>
        </p:spPr>
      </p:sp>
      <p:sp>
        <p:nvSpPr>
          <p:cNvPr id="18" name="Shape 16"/>
          <p:cNvSpPr/>
          <p:nvPr/>
        </p:nvSpPr>
        <p:spPr>
          <a:xfrm>
            <a:off x="6629400" y="3632200"/>
            <a:ext cx="914" cy="203200"/>
          </a:xfrm>
          <a:prstGeom prst="line">
            <a:avLst/>
          </a:prstGeom>
          <a:noFill/>
          <a:ln w="25400">
            <a:solidFill>
              <a:srgbClr val="8A8F98"/>
            </a:solidFill>
            <a:prstDash val="solid"/>
          </a:ln>
        </p:spPr>
      </p:sp>
      <p:sp>
        <p:nvSpPr>
          <p:cNvPr id="19" name="Shape 17"/>
          <p:cNvSpPr/>
          <p:nvPr/>
        </p:nvSpPr>
        <p:spPr>
          <a:xfrm>
            <a:off x="8559800" y="3632200"/>
            <a:ext cx="914" cy="203200"/>
          </a:xfrm>
          <a:prstGeom prst="line">
            <a:avLst/>
          </a:prstGeom>
          <a:noFill/>
          <a:ln w="25400">
            <a:solidFill>
              <a:srgbClr val="8A8F98"/>
            </a:solidFill>
            <a:prstDash val="solid"/>
          </a:ln>
        </p:spPr>
      </p:sp>
      <p:sp>
        <p:nvSpPr>
          <p:cNvPr id="20" name="Shape 18"/>
          <p:cNvSpPr/>
          <p:nvPr/>
        </p:nvSpPr>
        <p:spPr>
          <a:xfrm>
            <a:off x="10490200" y="3632200"/>
            <a:ext cx="914" cy="203200"/>
          </a:xfrm>
          <a:prstGeom prst="line">
            <a:avLst/>
          </a:prstGeom>
          <a:noFill/>
          <a:ln w="25400">
            <a:solidFill>
              <a:srgbClr val="8A8F98"/>
            </a:solidFill>
            <a:prstDash val="solid"/>
          </a:ln>
        </p:spPr>
      </p:sp>
      <p:sp>
        <p:nvSpPr>
          <p:cNvPr id="21" name="Shape 19"/>
          <p:cNvSpPr/>
          <p:nvPr/>
        </p:nvSpPr>
        <p:spPr>
          <a:xfrm>
            <a:off x="4826000" y="2362200"/>
            <a:ext cx="2540000" cy="355600"/>
          </a:xfrm>
          <a:prstGeom prst="roundRect">
            <a:avLst>
              <a:gd name="adj" fmla="val 38571"/>
            </a:avLst>
          </a:prstGeom>
          <a:solidFill>
            <a:srgbClr val="14213D"/>
          </a:solidFill>
          <a:ln/>
        </p:spPr>
      </p:sp>
      <p:sp>
        <p:nvSpPr>
          <p:cNvPr id="22" name="Text 20"/>
          <p:cNvSpPr txBox="1"/>
          <p:nvPr/>
        </p:nvSpPr>
        <p:spPr>
          <a:xfrm>
            <a:off x="4826000" y="2362200"/>
            <a:ext cx="2540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[Name] · Team lead [SD]</a:t>
            </a:r>
            <a:endParaRPr lang="en-US" sz="1300" dirty="0"/>
          </a:p>
        </p:txBody>
      </p:sp>
      <p:sp>
        <p:nvSpPr>
          <p:cNvPr id="23" name="Shape 21"/>
          <p:cNvSpPr/>
          <p:nvPr/>
        </p:nvSpPr>
        <p:spPr>
          <a:xfrm>
            <a:off x="812800" y="2971800"/>
            <a:ext cx="4775200" cy="660400"/>
          </a:xfrm>
          <a:prstGeom prst="roundRect">
            <a:avLst>
              <a:gd name="adj" fmla="val 13846"/>
            </a:avLst>
          </a:prstGeom>
          <a:solidFill>
            <a:srgbClr val="E1EEF0"/>
          </a:solidFill>
          <a:ln w="19050">
            <a:solidFill>
              <a:srgbClr val="1F6F7E"/>
            </a:solidFill>
            <a:prstDash val="solid"/>
          </a:ln>
        </p:spPr>
      </p:sp>
      <p:sp>
        <p:nvSpPr>
          <p:cNvPr id="24" name="Text 22"/>
          <p:cNvSpPr txBox="1"/>
          <p:nvPr/>
        </p:nvSpPr>
        <p:spPr>
          <a:xfrm>
            <a:off x="901700" y="3022600"/>
            <a:ext cx="45974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Modeling</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[XX] [D]</a:t>
            </a:r>
            <a:endParaRPr lang="en-US" sz="1200" dirty="0"/>
          </a:p>
        </p:txBody>
      </p:sp>
      <p:sp>
        <p:nvSpPr>
          <p:cNvPr id="25" name="Shape 23"/>
          <p:cNvSpPr/>
          <p:nvPr/>
        </p:nvSpPr>
        <p:spPr>
          <a:xfrm>
            <a:off x="5740400" y="2971800"/>
            <a:ext cx="1778000" cy="660400"/>
          </a:xfrm>
          <a:prstGeom prst="roundRect">
            <a:avLst>
              <a:gd name="adj" fmla="val 13846"/>
            </a:avLst>
          </a:prstGeom>
          <a:solidFill>
            <a:srgbClr val="E1EEF0"/>
          </a:solidFill>
          <a:ln w="19050">
            <a:solidFill>
              <a:srgbClr val="1F6F7E"/>
            </a:solidFill>
            <a:prstDash val="solid"/>
          </a:ln>
        </p:spPr>
      </p:sp>
      <p:sp>
        <p:nvSpPr>
          <p:cNvPr id="26" name="Text 24"/>
          <p:cNvSpPr txBox="1"/>
          <p:nvPr/>
        </p:nvSpPr>
        <p:spPr>
          <a:xfrm>
            <a:off x="58293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Data Foundation</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7" name="Shape 25"/>
          <p:cNvSpPr/>
          <p:nvPr/>
        </p:nvSpPr>
        <p:spPr>
          <a:xfrm>
            <a:off x="7670800" y="2971800"/>
            <a:ext cx="1778000" cy="660400"/>
          </a:xfrm>
          <a:prstGeom prst="roundRect">
            <a:avLst>
              <a:gd name="adj" fmla="val 13846"/>
            </a:avLst>
          </a:prstGeom>
          <a:solidFill>
            <a:srgbClr val="E1EEF0"/>
          </a:solidFill>
          <a:ln w="19050">
            <a:solidFill>
              <a:srgbClr val="1F6F7E"/>
            </a:solidFill>
            <a:prstDash val="solid"/>
          </a:ln>
        </p:spPr>
      </p:sp>
      <p:sp>
        <p:nvSpPr>
          <p:cNvPr id="28" name="Text 26"/>
          <p:cNvSpPr txBox="1"/>
          <p:nvPr/>
        </p:nvSpPr>
        <p:spPr>
          <a:xfrm>
            <a:off x="77597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Platform &amp; Deployment</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9" name="Shape 27"/>
          <p:cNvSpPr/>
          <p:nvPr/>
        </p:nvSpPr>
        <p:spPr>
          <a:xfrm>
            <a:off x="9601200" y="2971800"/>
            <a:ext cx="1778000" cy="660400"/>
          </a:xfrm>
          <a:prstGeom prst="roundRect">
            <a:avLst>
              <a:gd name="adj" fmla="val 13846"/>
            </a:avLst>
          </a:prstGeom>
          <a:solidFill>
            <a:srgbClr val="14213D"/>
          </a:solidFill>
          <a:ln w="19050">
            <a:solidFill>
              <a:srgbClr val="14213D"/>
            </a:solidFill>
            <a:prstDash val="solid"/>
          </a:ln>
        </p:spPr>
      </p:sp>
      <p:sp>
        <p:nvSpPr>
          <p:cNvPr id="30" name="Text 28"/>
          <p:cNvSpPr txBox="1"/>
          <p:nvPr/>
        </p:nvSpPr>
        <p:spPr>
          <a:xfrm>
            <a:off x="96901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F7F6F2"/>
                </a:solidFill>
                <a:latin typeface="Optimist Sans" pitchFamily="34" charset="0"/>
                <a:ea typeface="Optimist Sans" pitchFamily="34" charset="-122"/>
                <a:cs typeface="Optimist Sans" pitchFamily="34" charset="-120"/>
              </a:rPr>
              <a:t>AI Enablement</a:t>
            </a:r>
            <a:endParaRPr lang="en-US" sz="1200" dirty="0"/>
          </a:p>
          <a:p>
            <a:pPr algn="l" indent="0" marL="0">
              <a:lnSpc>
                <a:spcPct val="110000"/>
              </a:lnSpc>
              <a:buNone/>
            </a:pPr>
            <a:r>
              <a:rPr lang="en-US" sz="1200" dirty="0">
                <a:solidFill>
                  <a:srgbClr val="BFCAD9"/>
                </a:solidFill>
                <a:latin typeface="Optimist Sans" pitchFamily="34" charset="0"/>
                <a:ea typeface="Optimist Sans" pitchFamily="34" charset="-122"/>
                <a:cs typeface="Optimist Sans" pitchFamily="34" charset="-120"/>
              </a:rPr>
              <a:t>[Name] ([D/SM])</a:t>
            </a:r>
            <a:endParaRPr lang="en-US" sz="1200" dirty="0"/>
          </a:p>
        </p:txBody>
      </p:sp>
      <p:sp>
        <p:nvSpPr>
          <p:cNvPr id="31" name="Shape 29"/>
          <p:cNvSpPr/>
          <p:nvPr/>
        </p:nvSpPr>
        <p:spPr>
          <a:xfrm>
            <a:off x="812800" y="3835400"/>
            <a:ext cx="1524000" cy="508000"/>
          </a:xfrm>
          <a:prstGeom prst="roundRect">
            <a:avLst>
              <a:gd name="adj" fmla="val 21600"/>
            </a:avLst>
          </a:prstGeom>
          <a:solidFill>
            <a:srgbClr val="FDFCF9"/>
          </a:solidFill>
          <a:ln w="19050">
            <a:solidFill>
              <a:srgbClr val="1F6F7E"/>
            </a:solidFill>
            <a:prstDash val="solid"/>
          </a:ln>
        </p:spPr>
      </p:sp>
      <p:sp>
        <p:nvSpPr>
          <p:cNvPr id="32" name="Text 30"/>
          <p:cNvSpPr txBox="1"/>
          <p:nvPr/>
        </p:nvSpPr>
        <p:spPr>
          <a:xfrm>
            <a:off x="9017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A]</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33" name="Shape 31"/>
          <p:cNvSpPr/>
          <p:nvPr/>
        </p:nvSpPr>
        <p:spPr>
          <a:xfrm>
            <a:off x="2438400" y="3835400"/>
            <a:ext cx="1524000" cy="508000"/>
          </a:xfrm>
          <a:prstGeom prst="roundRect">
            <a:avLst>
              <a:gd name="adj" fmla="val 21600"/>
            </a:avLst>
          </a:prstGeom>
          <a:solidFill>
            <a:srgbClr val="FDFCF9"/>
          </a:solidFill>
          <a:ln w="19050">
            <a:solidFill>
              <a:srgbClr val="1F6F7E"/>
            </a:solidFill>
            <a:prstDash val="solid"/>
          </a:ln>
        </p:spPr>
      </p:sp>
      <p:sp>
        <p:nvSpPr>
          <p:cNvPr id="34" name="Text 32"/>
          <p:cNvSpPr txBox="1"/>
          <p:nvPr/>
        </p:nvSpPr>
        <p:spPr>
          <a:xfrm>
            <a:off x="25273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B]</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5" name="Shape 33"/>
          <p:cNvSpPr/>
          <p:nvPr/>
        </p:nvSpPr>
        <p:spPr>
          <a:xfrm>
            <a:off x="4064000" y="3835400"/>
            <a:ext cx="1524000" cy="508000"/>
          </a:xfrm>
          <a:prstGeom prst="roundRect">
            <a:avLst>
              <a:gd name="adj" fmla="val 21600"/>
            </a:avLst>
          </a:prstGeom>
          <a:solidFill>
            <a:srgbClr val="FDFCF9"/>
          </a:solidFill>
          <a:ln w="19050">
            <a:solidFill>
              <a:srgbClr val="1F6F7E"/>
            </a:solidFill>
            <a:prstDash val="solid"/>
          </a:ln>
        </p:spPr>
      </p:sp>
      <p:sp>
        <p:nvSpPr>
          <p:cNvPr id="36" name="Text 34"/>
          <p:cNvSpPr txBox="1"/>
          <p:nvPr/>
        </p:nvSpPr>
        <p:spPr>
          <a:xfrm>
            <a:off x="41529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C]</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7" name="Shape 35"/>
          <p:cNvSpPr/>
          <p:nvPr/>
        </p:nvSpPr>
        <p:spPr>
          <a:xfrm>
            <a:off x="812800" y="4445000"/>
            <a:ext cx="1524000" cy="1397000"/>
          </a:xfrm>
          <a:prstGeom prst="roundRect">
            <a:avLst>
              <a:gd name="adj" fmla="val 3927"/>
            </a:avLst>
          </a:prstGeom>
          <a:solidFill>
            <a:srgbClr val="FDFCF9"/>
          </a:solidFill>
          <a:ln w="12700">
            <a:solidFill>
              <a:srgbClr val="D3CDBE"/>
            </a:solidFill>
            <a:prstDash val="solid"/>
          </a:ln>
        </p:spPr>
      </p:sp>
      <p:sp>
        <p:nvSpPr>
          <p:cNvPr id="38" name="Text 36"/>
          <p:cNvSpPr txBox="1"/>
          <p:nvPr/>
        </p:nvSpPr>
        <p:spPr>
          <a:xfrm>
            <a:off x="914400" y="4521200"/>
            <a:ext cx="1320800" cy="4064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[Name], [Name], [Name], …</a:t>
            </a:r>
            <a:endParaRPr lang="en-US" sz="1200" dirty="0"/>
          </a:p>
        </p:txBody>
      </p:sp>
      <p:sp>
        <p:nvSpPr>
          <p:cNvPr id="39" name="Text 37"/>
          <p:cNvSpPr txBox="1"/>
          <p:nvPr/>
        </p:nvSpPr>
        <p:spPr>
          <a:xfrm>
            <a:off x="914400" y="50673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40" name="Text 38"/>
          <p:cNvSpPr txBox="1"/>
          <p:nvPr/>
        </p:nvSpPr>
        <p:spPr>
          <a:xfrm>
            <a:off x="1295400" y="5067300"/>
            <a:ext cx="939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 </a:t>
            </a:r>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([n])</a:t>
            </a:r>
            <a:endParaRPr lang="en-US" sz="1200" dirty="0"/>
          </a:p>
        </p:txBody>
      </p:sp>
      <p:sp>
        <p:nvSpPr>
          <p:cNvPr id="41" name="Text 39"/>
          <p:cNvSpPr txBox="1"/>
          <p:nvPr/>
        </p:nvSpPr>
        <p:spPr>
          <a:xfrm>
            <a:off x="914400" y="52959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42" name="Text 40"/>
          <p:cNvSpPr txBox="1"/>
          <p:nvPr/>
        </p:nvSpPr>
        <p:spPr>
          <a:xfrm>
            <a:off x="1295400" y="5295900"/>
            <a:ext cx="939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3" name="Text 41"/>
          <p:cNvSpPr txBox="1"/>
          <p:nvPr/>
        </p:nvSpPr>
        <p:spPr>
          <a:xfrm>
            <a:off x="914400" y="55245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44" name="Text 42"/>
          <p:cNvSpPr txBox="1"/>
          <p:nvPr/>
        </p:nvSpPr>
        <p:spPr>
          <a:xfrm>
            <a:off x="1295400" y="5524500"/>
            <a:ext cx="939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5" name="Shape 43"/>
          <p:cNvSpPr/>
          <p:nvPr/>
        </p:nvSpPr>
        <p:spPr>
          <a:xfrm>
            <a:off x="2438400" y="4445000"/>
            <a:ext cx="1524000" cy="1397000"/>
          </a:xfrm>
          <a:prstGeom prst="roundRect">
            <a:avLst>
              <a:gd name="adj" fmla="val 3927"/>
            </a:avLst>
          </a:prstGeom>
          <a:solidFill>
            <a:srgbClr val="FDFCF9"/>
          </a:solidFill>
          <a:ln w="12700">
            <a:solidFill>
              <a:srgbClr val="D3CDBE"/>
            </a:solidFill>
            <a:prstDash val="solid"/>
          </a:ln>
        </p:spPr>
      </p:sp>
      <p:sp>
        <p:nvSpPr>
          <p:cNvPr id="46" name="Text 44"/>
          <p:cNvSpPr txBox="1"/>
          <p:nvPr/>
        </p:nvSpPr>
        <p:spPr>
          <a:xfrm>
            <a:off x="2540000" y="4521200"/>
            <a:ext cx="1320800" cy="4064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[Name], [Name], [Name], …</a:t>
            </a:r>
            <a:endParaRPr lang="en-US" sz="1200" dirty="0"/>
          </a:p>
        </p:txBody>
      </p:sp>
      <p:sp>
        <p:nvSpPr>
          <p:cNvPr id="47" name="Text 45"/>
          <p:cNvSpPr txBox="1"/>
          <p:nvPr/>
        </p:nvSpPr>
        <p:spPr>
          <a:xfrm>
            <a:off x="2540000" y="50673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48" name="Text 46"/>
          <p:cNvSpPr txBox="1"/>
          <p:nvPr/>
        </p:nvSpPr>
        <p:spPr>
          <a:xfrm>
            <a:off x="2921000" y="5067300"/>
            <a:ext cx="939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 </a:t>
            </a:r>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([n])</a:t>
            </a:r>
            <a:endParaRPr lang="en-US" sz="1200" dirty="0"/>
          </a:p>
        </p:txBody>
      </p:sp>
      <p:sp>
        <p:nvSpPr>
          <p:cNvPr id="49" name="Text 47"/>
          <p:cNvSpPr txBox="1"/>
          <p:nvPr/>
        </p:nvSpPr>
        <p:spPr>
          <a:xfrm>
            <a:off x="2540000" y="52959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50" name="Text 48"/>
          <p:cNvSpPr txBox="1"/>
          <p:nvPr/>
        </p:nvSpPr>
        <p:spPr>
          <a:xfrm>
            <a:off x="2921000" y="5295900"/>
            <a:ext cx="939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1" name="Text 49"/>
          <p:cNvSpPr txBox="1"/>
          <p:nvPr/>
        </p:nvSpPr>
        <p:spPr>
          <a:xfrm>
            <a:off x="2540000" y="55245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52" name="Text 50"/>
          <p:cNvSpPr txBox="1"/>
          <p:nvPr/>
        </p:nvSpPr>
        <p:spPr>
          <a:xfrm>
            <a:off x="2921000" y="5524500"/>
            <a:ext cx="939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3" name="Shape 51"/>
          <p:cNvSpPr/>
          <p:nvPr/>
        </p:nvSpPr>
        <p:spPr>
          <a:xfrm>
            <a:off x="4064000" y="4445000"/>
            <a:ext cx="1524000" cy="1397000"/>
          </a:xfrm>
          <a:prstGeom prst="roundRect">
            <a:avLst>
              <a:gd name="adj" fmla="val 3927"/>
            </a:avLst>
          </a:prstGeom>
          <a:solidFill>
            <a:srgbClr val="FDFCF9"/>
          </a:solidFill>
          <a:ln w="12700">
            <a:solidFill>
              <a:srgbClr val="D3CDBE"/>
            </a:solidFill>
            <a:prstDash val="solid"/>
          </a:ln>
        </p:spPr>
      </p:sp>
      <p:sp>
        <p:nvSpPr>
          <p:cNvPr id="54" name="Text 52"/>
          <p:cNvSpPr txBox="1"/>
          <p:nvPr/>
        </p:nvSpPr>
        <p:spPr>
          <a:xfrm>
            <a:off x="4165600" y="4521200"/>
            <a:ext cx="1320800" cy="4064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[Name], [Name], [Name], …</a:t>
            </a:r>
            <a:endParaRPr lang="en-US" sz="1200" dirty="0"/>
          </a:p>
        </p:txBody>
      </p:sp>
      <p:sp>
        <p:nvSpPr>
          <p:cNvPr id="55" name="Text 53"/>
          <p:cNvSpPr txBox="1"/>
          <p:nvPr/>
        </p:nvSpPr>
        <p:spPr>
          <a:xfrm>
            <a:off x="4165600" y="50673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56" name="Text 54"/>
          <p:cNvSpPr txBox="1"/>
          <p:nvPr/>
        </p:nvSpPr>
        <p:spPr>
          <a:xfrm>
            <a:off x="4546600" y="5067300"/>
            <a:ext cx="939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 </a:t>
            </a:r>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([n])</a:t>
            </a:r>
            <a:endParaRPr lang="en-US" sz="1200" dirty="0"/>
          </a:p>
        </p:txBody>
      </p:sp>
      <p:sp>
        <p:nvSpPr>
          <p:cNvPr id="57" name="Text 55"/>
          <p:cNvSpPr txBox="1"/>
          <p:nvPr/>
        </p:nvSpPr>
        <p:spPr>
          <a:xfrm>
            <a:off x="4165600" y="52959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58" name="Text 56"/>
          <p:cNvSpPr txBox="1"/>
          <p:nvPr/>
        </p:nvSpPr>
        <p:spPr>
          <a:xfrm>
            <a:off x="4546600" y="5295900"/>
            <a:ext cx="939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9" name="Text 57"/>
          <p:cNvSpPr txBox="1"/>
          <p:nvPr/>
        </p:nvSpPr>
        <p:spPr>
          <a:xfrm>
            <a:off x="4165600" y="55245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60" name="Text 58"/>
          <p:cNvSpPr txBox="1"/>
          <p:nvPr/>
        </p:nvSpPr>
        <p:spPr>
          <a:xfrm>
            <a:off x="4546600" y="5524500"/>
            <a:ext cx="939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1" name="Shape 59"/>
          <p:cNvSpPr/>
          <p:nvPr/>
        </p:nvSpPr>
        <p:spPr>
          <a:xfrm>
            <a:off x="5740400" y="3835400"/>
            <a:ext cx="1778000" cy="2006600"/>
          </a:xfrm>
          <a:prstGeom prst="roundRect">
            <a:avLst>
              <a:gd name="adj" fmla="val 3086"/>
            </a:avLst>
          </a:prstGeom>
          <a:solidFill>
            <a:srgbClr val="FDFCF9"/>
          </a:solidFill>
          <a:ln w="12700">
            <a:solidFill>
              <a:srgbClr val="D3CDBE"/>
            </a:solidFill>
            <a:prstDash val="solid"/>
          </a:ln>
        </p:spPr>
      </p:sp>
      <p:sp>
        <p:nvSpPr>
          <p:cNvPr id="62" name="Text 60"/>
          <p:cNvSpPr txBox="1"/>
          <p:nvPr/>
        </p:nvSpPr>
        <p:spPr>
          <a:xfrm>
            <a:off x="5842000" y="3911600"/>
            <a:ext cx="1574800" cy="4064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[Name], [Name], [Name], …</a:t>
            </a:r>
            <a:endParaRPr lang="en-US" sz="1200" dirty="0"/>
          </a:p>
        </p:txBody>
      </p:sp>
      <p:sp>
        <p:nvSpPr>
          <p:cNvPr id="63" name="Text 61"/>
          <p:cNvSpPr txBox="1"/>
          <p:nvPr/>
        </p:nvSpPr>
        <p:spPr>
          <a:xfrm>
            <a:off x="5842000" y="50673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64" name="Text 62"/>
          <p:cNvSpPr txBox="1"/>
          <p:nvPr/>
        </p:nvSpPr>
        <p:spPr>
          <a:xfrm>
            <a:off x="6223000" y="5067300"/>
            <a:ext cx="1193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 </a:t>
            </a:r>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([n])</a:t>
            </a:r>
            <a:endParaRPr lang="en-US" sz="1200" dirty="0"/>
          </a:p>
        </p:txBody>
      </p:sp>
      <p:sp>
        <p:nvSpPr>
          <p:cNvPr id="65" name="Text 63"/>
          <p:cNvSpPr txBox="1"/>
          <p:nvPr/>
        </p:nvSpPr>
        <p:spPr>
          <a:xfrm>
            <a:off x="5842000" y="52959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66" name="Text 64"/>
          <p:cNvSpPr txBox="1"/>
          <p:nvPr/>
        </p:nvSpPr>
        <p:spPr>
          <a:xfrm>
            <a:off x="6223000" y="5295900"/>
            <a:ext cx="1193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7" name="Text 65"/>
          <p:cNvSpPr txBox="1"/>
          <p:nvPr/>
        </p:nvSpPr>
        <p:spPr>
          <a:xfrm>
            <a:off x="5842000" y="55245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68" name="Text 66"/>
          <p:cNvSpPr txBox="1"/>
          <p:nvPr/>
        </p:nvSpPr>
        <p:spPr>
          <a:xfrm>
            <a:off x="6223000" y="5524500"/>
            <a:ext cx="1193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9" name="Shape 67"/>
          <p:cNvSpPr/>
          <p:nvPr/>
        </p:nvSpPr>
        <p:spPr>
          <a:xfrm>
            <a:off x="7670800" y="3835400"/>
            <a:ext cx="1778000" cy="2006600"/>
          </a:xfrm>
          <a:prstGeom prst="roundRect">
            <a:avLst>
              <a:gd name="adj" fmla="val 3086"/>
            </a:avLst>
          </a:prstGeom>
          <a:solidFill>
            <a:srgbClr val="FDFCF9"/>
          </a:solidFill>
          <a:ln w="12700">
            <a:solidFill>
              <a:srgbClr val="D3CDBE"/>
            </a:solidFill>
            <a:prstDash val="solid"/>
          </a:ln>
        </p:spPr>
      </p:sp>
      <p:sp>
        <p:nvSpPr>
          <p:cNvPr id="70" name="Text 68"/>
          <p:cNvSpPr txBox="1"/>
          <p:nvPr/>
        </p:nvSpPr>
        <p:spPr>
          <a:xfrm>
            <a:off x="7772400" y="3911600"/>
            <a:ext cx="1574800" cy="4064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[Name], [Name], [Name], …</a:t>
            </a:r>
            <a:endParaRPr lang="en-US" sz="1200" dirty="0"/>
          </a:p>
        </p:txBody>
      </p:sp>
      <p:sp>
        <p:nvSpPr>
          <p:cNvPr id="71" name="Text 69"/>
          <p:cNvSpPr txBox="1"/>
          <p:nvPr/>
        </p:nvSpPr>
        <p:spPr>
          <a:xfrm>
            <a:off x="7772400" y="50673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72" name="Text 70"/>
          <p:cNvSpPr txBox="1"/>
          <p:nvPr/>
        </p:nvSpPr>
        <p:spPr>
          <a:xfrm>
            <a:off x="8153400" y="5067300"/>
            <a:ext cx="1193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 </a:t>
            </a:r>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([n])</a:t>
            </a:r>
            <a:endParaRPr lang="en-US" sz="1200" dirty="0"/>
          </a:p>
        </p:txBody>
      </p:sp>
      <p:sp>
        <p:nvSpPr>
          <p:cNvPr id="73" name="Text 71"/>
          <p:cNvSpPr txBox="1"/>
          <p:nvPr/>
        </p:nvSpPr>
        <p:spPr>
          <a:xfrm>
            <a:off x="7772400" y="52959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74" name="Text 72"/>
          <p:cNvSpPr txBox="1"/>
          <p:nvPr/>
        </p:nvSpPr>
        <p:spPr>
          <a:xfrm>
            <a:off x="8153400" y="5295900"/>
            <a:ext cx="1193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5" name="Text 73"/>
          <p:cNvSpPr txBox="1"/>
          <p:nvPr/>
        </p:nvSpPr>
        <p:spPr>
          <a:xfrm>
            <a:off x="7772400" y="55245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76" name="Text 74"/>
          <p:cNvSpPr txBox="1"/>
          <p:nvPr/>
        </p:nvSpPr>
        <p:spPr>
          <a:xfrm>
            <a:off x="8153400" y="5524500"/>
            <a:ext cx="1193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7" name="Shape 75"/>
          <p:cNvSpPr/>
          <p:nvPr/>
        </p:nvSpPr>
        <p:spPr>
          <a:xfrm>
            <a:off x="9601200" y="3835400"/>
            <a:ext cx="1778000" cy="2006600"/>
          </a:xfrm>
          <a:prstGeom prst="roundRect">
            <a:avLst>
              <a:gd name="adj" fmla="val 3086"/>
            </a:avLst>
          </a:prstGeom>
          <a:solidFill>
            <a:srgbClr val="FDFCF9"/>
          </a:solidFill>
          <a:ln w="12700">
            <a:solidFill>
              <a:srgbClr val="D3CDBE"/>
            </a:solidFill>
            <a:prstDash val="solid"/>
          </a:ln>
        </p:spPr>
      </p:sp>
      <p:sp>
        <p:nvSpPr>
          <p:cNvPr id="78" name="Text 76"/>
          <p:cNvSpPr txBox="1"/>
          <p:nvPr/>
        </p:nvSpPr>
        <p:spPr>
          <a:xfrm>
            <a:off x="9702800" y="3911600"/>
            <a:ext cx="1574800" cy="4064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[Name], [Name], [Name], …</a:t>
            </a:r>
            <a:endParaRPr lang="en-US" sz="1200" dirty="0"/>
          </a:p>
        </p:txBody>
      </p:sp>
      <p:sp>
        <p:nvSpPr>
          <p:cNvPr id="79" name="Text 77"/>
          <p:cNvSpPr txBox="1"/>
          <p:nvPr/>
        </p:nvSpPr>
        <p:spPr>
          <a:xfrm>
            <a:off x="9702800" y="50673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80" name="Text 78"/>
          <p:cNvSpPr txBox="1"/>
          <p:nvPr/>
        </p:nvSpPr>
        <p:spPr>
          <a:xfrm>
            <a:off x="10083800" y="5067300"/>
            <a:ext cx="1193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[n] </a:t>
            </a:r>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([n])</a:t>
            </a:r>
            <a:endParaRPr lang="en-US" sz="1200" dirty="0"/>
          </a:p>
        </p:txBody>
      </p:sp>
      <p:sp>
        <p:nvSpPr>
          <p:cNvPr id="81" name="Text 79"/>
          <p:cNvSpPr txBox="1"/>
          <p:nvPr/>
        </p:nvSpPr>
        <p:spPr>
          <a:xfrm>
            <a:off x="9702800" y="52959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82" name="Text 80"/>
          <p:cNvSpPr txBox="1"/>
          <p:nvPr/>
        </p:nvSpPr>
        <p:spPr>
          <a:xfrm>
            <a:off x="10083800" y="5295900"/>
            <a:ext cx="1193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83" name="Text 81"/>
          <p:cNvSpPr txBox="1"/>
          <p:nvPr/>
        </p:nvSpPr>
        <p:spPr>
          <a:xfrm>
            <a:off x="9702800" y="5524500"/>
            <a:ext cx="3048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84" name="Text 82"/>
          <p:cNvSpPr txBox="1"/>
          <p:nvPr/>
        </p:nvSpPr>
        <p:spPr>
          <a:xfrm>
            <a:off x="10083800" y="5524500"/>
            <a:ext cx="1193800" cy="2159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85" name="Text 83"/>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Year-end headcount; open roles in parentheses</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(slide 3).</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242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870200"/>
            <a:ext cx="279400" cy="279400"/>
          </a:xfrm>
          <a:prstGeom prst="rect">
            <a:avLst/>
          </a:prstGeom>
        </p:spPr>
      </p:pic>
      <p:sp>
        <p:nvSpPr>
          <p:cNvPr id="12" name="Text 9"/>
          <p:cNvSpPr txBox="1"/>
          <p:nvPr/>
        </p:nvSpPr>
        <p:spPr>
          <a:xfrm>
            <a:off x="10160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242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870200"/>
            <a:ext cx="279400" cy="279400"/>
          </a:xfrm>
          <a:prstGeom prst="rect">
            <a:avLst/>
          </a:prstGeom>
        </p:spPr>
      </p:pic>
      <p:sp>
        <p:nvSpPr>
          <p:cNvPr id="17" name="Text 13"/>
          <p:cNvSpPr txBox="1"/>
          <p:nvPr/>
        </p:nvSpPr>
        <p:spPr>
          <a:xfrm>
            <a:off x="37084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242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870200"/>
            <a:ext cx="279400" cy="279400"/>
          </a:xfrm>
          <a:prstGeom prst="rect">
            <a:avLst/>
          </a:prstGeom>
        </p:spPr>
      </p:pic>
      <p:sp>
        <p:nvSpPr>
          <p:cNvPr id="22" name="Text 17"/>
          <p:cNvSpPr txBox="1"/>
          <p:nvPr/>
        </p:nvSpPr>
        <p:spPr>
          <a:xfrm>
            <a:off x="64008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Codify unwritten know-how for humans and AI</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242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870200"/>
            <a:ext cx="279400" cy="279400"/>
          </a:xfrm>
          <a:prstGeom prst="rect">
            <a:avLst/>
          </a:prstGeom>
        </p:spPr>
      </p:pic>
      <p:sp>
        <p:nvSpPr>
          <p:cNvPr id="27" name="Text 21"/>
          <p:cNvSpPr txBox="1"/>
          <p:nvPr/>
        </p:nvSpPr>
        <p:spPr>
          <a:xfrm>
            <a:off x="90932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 for AI-empowered talent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Leaders for mixed IC + agent teams, wider spans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Consistent, rising talent bar; IC development</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Everyone starts as an IC, then chooses between two equally valued paths</a:t>
            </a:r>
            <a:endParaRPr lang="en-US" sz="3200" dirty="0"/>
          </a:p>
        </p:txBody>
      </p:sp>
      <p:sp>
        <p:nvSpPr>
          <p:cNvPr id="4" name="Shape 2"/>
          <p:cNvSpPr/>
          <p:nvPr/>
        </p:nvSpPr>
        <p:spPr>
          <a:xfrm>
            <a:off x="2654300" y="2286000"/>
            <a:ext cx="3048000" cy="355600"/>
          </a:xfrm>
          <a:prstGeom prst="roundRect">
            <a:avLst>
              <a:gd name="adj" fmla="val 38571"/>
            </a:avLst>
          </a:prstGeom>
          <a:solidFill>
            <a:srgbClr val="14213D"/>
          </a:solidFill>
          <a:ln/>
        </p:spPr>
      </p:sp>
      <p:sp>
        <p:nvSpPr>
          <p:cNvPr id="5" name="Text 3"/>
          <p:cNvSpPr txBox="1"/>
          <p:nvPr/>
        </p:nvSpPr>
        <p:spPr>
          <a:xfrm>
            <a:off x="2654300" y="2286000"/>
            <a:ext cx="3048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Junior IC: everyone starts here</a:t>
            </a:r>
            <a:endParaRPr lang="en-US" sz="1300" dirty="0"/>
          </a:p>
        </p:txBody>
      </p:sp>
      <p:sp>
        <p:nvSpPr>
          <p:cNvPr id="6" name="Text 4"/>
          <p:cNvSpPr txBox="1"/>
          <p:nvPr/>
        </p:nvSpPr>
        <p:spPr>
          <a:xfrm>
            <a:off x="4279900" y="2628900"/>
            <a:ext cx="2032000" cy="215900"/>
          </a:xfrm>
          <a:prstGeom prst="rect">
            <a:avLst/>
          </a:prstGeom>
          <a:noFill/>
          <a:ln/>
        </p:spPr>
        <p:txBody>
          <a:bodyPr wrap="square" lIns="0" tIns="0" rIns="0" bIns="0" rtlCol="0" anchor="t"/>
          <a:lstStyle/>
          <a:p>
            <a:pPr algn="l" indent="0" marL="0">
              <a:lnSpc>
                <a:spcPct val="115000"/>
              </a:lnSpc>
              <a:buNone/>
            </a:pPr>
            <a:r>
              <a:rPr lang="en-US" sz="1200" i="1" dirty="0">
                <a:solidFill>
                  <a:srgbClr val="6B7280"/>
                </a:solidFill>
                <a:latin typeface="Optimist Sans" pitchFamily="34" charset="0"/>
                <a:ea typeface="Optimist Sans" pitchFamily="34" charset="-122"/>
                <a:cs typeface="Optimist Sans" pitchFamily="34" charset="-120"/>
              </a:rPr>
              <a:t>Choose at senior level</a:t>
            </a:r>
            <a:endParaRPr lang="en-US" sz="1200" dirty="0"/>
          </a:p>
        </p:txBody>
      </p:sp>
      <p:sp>
        <p:nvSpPr>
          <p:cNvPr id="7" name="Shape 5"/>
          <p:cNvSpPr/>
          <p:nvPr/>
        </p:nvSpPr>
        <p:spPr>
          <a:xfrm>
            <a:off x="4178300" y="2641600"/>
            <a:ext cx="914" cy="228600"/>
          </a:xfrm>
          <a:prstGeom prst="line">
            <a:avLst/>
          </a:prstGeom>
          <a:noFill/>
          <a:ln w="25400">
            <a:solidFill>
              <a:srgbClr val="6B7280"/>
            </a:solidFill>
            <a:prstDash val="solid"/>
          </a:ln>
        </p:spPr>
      </p:sp>
      <p:sp>
        <p:nvSpPr>
          <p:cNvPr id="8" name="Shape 6"/>
          <p:cNvSpPr/>
          <p:nvPr/>
        </p:nvSpPr>
        <p:spPr>
          <a:xfrm>
            <a:off x="2432050" y="2870200"/>
            <a:ext cx="3492500" cy="914"/>
          </a:xfrm>
          <a:prstGeom prst="line">
            <a:avLst/>
          </a:prstGeom>
          <a:noFill/>
          <a:ln w="25400">
            <a:solidFill>
              <a:srgbClr val="6B7280"/>
            </a:solidFill>
            <a:prstDash val="solid"/>
          </a:ln>
        </p:spPr>
      </p:sp>
      <p:sp>
        <p:nvSpPr>
          <p:cNvPr id="9" name="Shape 7"/>
          <p:cNvSpPr/>
          <p:nvPr/>
        </p:nvSpPr>
        <p:spPr>
          <a:xfrm>
            <a:off x="2432050" y="2870200"/>
            <a:ext cx="914" cy="114300"/>
          </a:xfrm>
          <a:prstGeom prst="line">
            <a:avLst/>
          </a:prstGeom>
          <a:noFill/>
          <a:ln w="25400">
            <a:solidFill>
              <a:srgbClr val="6B7280"/>
            </a:solidFill>
            <a:prstDash val="solid"/>
            <a:tailEnd type="triangle"/>
          </a:ln>
        </p:spPr>
      </p:sp>
      <p:sp>
        <p:nvSpPr>
          <p:cNvPr id="10" name="Shape 8"/>
          <p:cNvSpPr/>
          <p:nvPr/>
        </p:nvSpPr>
        <p:spPr>
          <a:xfrm>
            <a:off x="5924550" y="2870200"/>
            <a:ext cx="914" cy="114300"/>
          </a:xfrm>
          <a:prstGeom prst="line">
            <a:avLst/>
          </a:prstGeom>
          <a:noFill/>
          <a:ln w="25400">
            <a:solidFill>
              <a:srgbClr val="6B7280"/>
            </a:solidFill>
            <a:prstDash val="solid"/>
            <a:tailEnd type="triangle"/>
          </a:ln>
        </p:spPr>
      </p:sp>
      <p:sp>
        <p:nvSpPr>
          <p:cNvPr id="11" name="Shape 9"/>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2" name="Text 10"/>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3" name="Text 11"/>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4" name="Text 12"/>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5" name="Text 13"/>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6" name="Shape 14"/>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7" name="Text 15"/>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8" name="Text 16"/>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9" name="Text 17"/>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20" name="Text 18"/>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1" name="Shape 19"/>
          <p:cNvSpPr/>
          <p:nvPr/>
        </p:nvSpPr>
        <p:spPr>
          <a:xfrm>
            <a:off x="3975100" y="3892550"/>
            <a:ext cx="406400" cy="406400"/>
          </a:xfrm>
          <a:prstGeom prst="ellipse">
            <a:avLst/>
          </a:prstGeom>
          <a:solidFill>
            <a:srgbClr val="14213D"/>
          </a:solidFill>
          <a:ln w="38100">
            <a:solidFill>
              <a:srgbClr val="F7F6F2"/>
            </a:solidFill>
            <a:prstDash val="solid"/>
          </a:ln>
        </p:spPr>
      </p:sp>
      <p:sp>
        <p:nvSpPr>
          <p:cNvPr id="22" name="Text 20"/>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3" name="Text 21"/>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Everyone builds skills as an IC first and chooses once senior.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Both paths offer an equal chance of success; we expect more people to stay on the IC path than in the past.</a:t>
            </a:r>
            <a:endParaRPr lang="en-US" sz="1200" dirty="0"/>
          </a:p>
        </p:txBody>
      </p:sp>
      <p:sp>
        <p:nvSpPr>
          <p:cNvPr id="24" name="Shape 22"/>
          <p:cNvSpPr/>
          <p:nvPr/>
        </p:nvSpPr>
        <p:spPr>
          <a:xfrm>
            <a:off x="7848600" y="2286000"/>
            <a:ext cx="3530600" cy="3492500"/>
          </a:xfrm>
          <a:prstGeom prst="roundRect">
            <a:avLst>
              <a:gd name="adj" fmla="val 1571"/>
            </a:avLst>
          </a:prstGeom>
          <a:solidFill>
            <a:srgbClr val="ECEAE3"/>
          </a:solidFill>
          <a:ln/>
        </p:spPr>
      </p:sp>
      <p:pic>
        <p:nvPicPr>
          <p:cNvPr id="25"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6" name="Text 23"/>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7" name="Text 24"/>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8" name="Shape 25"/>
          <p:cNvSpPr/>
          <p:nvPr/>
        </p:nvSpPr>
        <p:spPr>
          <a:xfrm>
            <a:off x="8001000" y="4546600"/>
            <a:ext cx="3225800" cy="1143000"/>
          </a:xfrm>
          <a:prstGeom prst="roundRect">
            <a:avLst>
              <a:gd name="adj" fmla="val 6400"/>
            </a:avLst>
          </a:prstGeom>
          <a:solidFill>
            <a:srgbClr val="E1EEF0"/>
          </a:solidFill>
          <a:ln/>
        </p:spPr>
      </p:sp>
      <p:sp>
        <p:nvSpPr>
          <p:cNvPr id="29" name="Text 26"/>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30" name="Text 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2026-10-24T14:02:04Z</dcterms:created>
  <dcterms:modified xsi:type="dcterms:W3CDTF">2026-10-24T14:02:04Z</dcterms:modified>
</cp:coreProperties>
</file>