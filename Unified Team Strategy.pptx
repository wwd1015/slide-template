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72a98bbb-f8dc-7a06-3342-0d78bf7e936c}">
          <p14:sldIdLst>
            <p14:sldId id="256"/>
            <p14:sldId id="257"/>
          </p14:sldIdLst>
        </p14:section>
        <p14:section name="How we organize" id="{ff6de905-8132-0dba-7121-5a051584d2e2}">
          <p14:sldIdLst>
            <p14:sldId id="258"/>
            <p14:sldId id="259"/>
            <p14:sldId id="260"/>
          </p14:sldIdLst>
        </p14:section>
        <p14:section name="What we do and how we grow" id="{eef132fa-3793-43d6-2b5e-bb2f712ac103}">
          <p14:sldIdLst>
            <p14:sldId id="261"/>
            <p14:sldId id="262"/>
            <p14:sldId id="263"/>
          </p14:sldIdLst>
        </p14:section>
        <p14:section name="Asks" id="{dd8d2d76-ba18-0b6f-cf83-dfed7d5b7553}">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&amp; Automation: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today almost all capacity goes to BAU, and dedicated AI work is near zero. AI and new tooling let BAU shrink,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The fourth is covered on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 &amp; Automation</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Today</a:t>
            </a:r>
            <a:endParaRPr lang="en-US" sz="1600" dirty="0"/>
          </a:p>
        </p:txBody>
      </p:sp>
      <p:sp>
        <p:nvSpPr>
          <p:cNvPr id="5" name="Text 3"/>
          <p:cNvSpPr txBox="1"/>
          <p:nvPr/>
        </p:nvSpPr>
        <p:spPr>
          <a:xfrm>
            <a:off x="812800" y="26797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associates</a:t>
            </a:r>
            <a:endParaRPr lang="en-US" sz="1200" dirty="0"/>
          </a:p>
        </p:txBody>
      </p:sp>
      <p:sp>
        <p:nvSpPr>
          <p:cNvPr id="6" name="Shape 4"/>
          <p:cNvSpPr/>
          <p:nvPr/>
        </p:nvSpPr>
        <p:spPr>
          <a:xfrm>
            <a:off x="2921000" y="2413000"/>
            <a:ext cx="7366000" cy="508000"/>
          </a:xfrm>
          <a:prstGeom prst="rect">
            <a:avLst/>
          </a:prstGeom>
          <a:solidFill>
            <a:srgbClr val="1F6F7E"/>
          </a:solidFill>
          <a:ln/>
        </p:spPr>
      </p:sp>
      <p:sp>
        <p:nvSpPr>
          <p:cNvPr id="7" name="Text 5"/>
          <p:cNvSpPr txBox="1"/>
          <p:nvPr/>
        </p:nvSpPr>
        <p:spPr>
          <a:xfrm>
            <a:off x="3073400" y="2413000"/>
            <a:ext cx="6985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13000"/>
            <a:ext cx="127000" cy="508000"/>
          </a:xfrm>
          <a:prstGeom prst="rect">
            <a:avLst/>
          </a:prstGeom>
          <a:solidFill>
            <a:srgbClr val="E3A86B"/>
          </a:solidFill>
          <a:ln/>
        </p:spPr>
      </p:sp>
      <p:sp>
        <p:nvSpPr>
          <p:cNvPr id="9" name="Text 7"/>
          <p:cNvSpPr txBox="1"/>
          <p:nvPr/>
        </p:nvSpPr>
        <p:spPr>
          <a:xfrm>
            <a:off x="10515600" y="2413000"/>
            <a:ext cx="8636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3136900"/>
            <a:ext cx="19050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Target</a:t>
            </a:r>
            <a:endParaRPr lang="en-US" sz="1600" dirty="0"/>
          </a:p>
        </p:txBody>
      </p:sp>
      <p:sp>
        <p:nvSpPr>
          <p:cNvPr id="11" name="Text 9"/>
          <p:cNvSpPr txBox="1"/>
          <p:nvPr/>
        </p:nvSpPr>
        <p:spPr>
          <a:xfrm>
            <a:off x="812800" y="3416300"/>
            <a:ext cx="1905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associates</a:t>
            </a:r>
            <a:endParaRPr lang="en-US" sz="1200" dirty="0"/>
          </a:p>
        </p:txBody>
      </p:sp>
      <p:sp>
        <p:nvSpPr>
          <p:cNvPr id="12" name="Shape 10"/>
          <p:cNvSpPr/>
          <p:nvPr/>
        </p:nvSpPr>
        <p:spPr>
          <a:xfrm>
            <a:off x="2921000" y="3149600"/>
            <a:ext cx="3556000" cy="508000"/>
          </a:xfrm>
          <a:prstGeom prst="rect">
            <a:avLst/>
          </a:prstGeom>
          <a:solidFill>
            <a:srgbClr val="1F6F7E"/>
          </a:solidFill>
          <a:ln/>
        </p:spPr>
      </p:sp>
      <p:sp>
        <p:nvSpPr>
          <p:cNvPr id="13" name="Text 11"/>
          <p:cNvSpPr txBox="1"/>
          <p:nvPr/>
        </p:nvSpPr>
        <p:spPr>
          <a:xfrm>
            <a:off x="4953000" y="3149600"/>
            <a:ext cx="1371600" cy="5080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6477000" y="3149600"/>
            <a:ext cx="3048000" cy="508000"/>
          </a:xfrm>
          <a:prstGeom prst="rect">
            <a:avLst/>
          </a:prstGeom>
          <a:solidFill>
            <a:srgbClr val="E3A86B"/>
          </a:solidFill>
          <a:ln/>
        </p:spPr>
      </p:sp>
      <p:sp>
        <p:nvSpPr>
          <p:cNvPr id="15" name="Text 13"/>
          <p:cNvSpPr txBox="1"/>
          <p:nvPr/>
        </p:nvSpPr>
        <p:spPr>
          <a:xfrm>
            <a:off x="6629400" y="3149600"/>
            <a:ext cx="2794000" cy="5080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9525000" y="3149600"/>
            <a:ext cx="889000" cy="508000"/>
          </a:xfrm>
          <a:prstGeom prst="rect">
            <a:avLst/>
          </a:prstGeom>
          <a:solidFill>
            <a:srgbClr val="F7F6F2"/>
          </a:solidFill>
          <a:ln w="19050">
            <a:solidFill>
              <a:srgbClr val="8A8F98"/>
            </a:solidFill>
            <a:prstDash val="dash"/>
          </a:ln>
        </p:spPr>
      </p:sp>
      <p:sp>
        <p:nvSpPr>
          <p:cNvPr id="17" name="Text 15"/>
          <p:cNvSpPr txBox="1"/>
          <p:nvPr/>
        </p:nvSpPr>
        <p:spPr>
          <a:xfrm>
            <a:off x="9525000" y="3149600"/>
            <a:ext cx="889000" cy="5080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18" name="BAU floor marker"/>
          <p:cNvSpPr/>
          <p:nvPr/>
        </p:nvSpPr>
        <p:spPr>
          <a:xfrm>
            <a:off x="4806950" y="3060700"/>
            <a:ext cx="38100" cy="685800"/>
          </a:xfrm>
          <a:prstGeom prst="rect">
            <a:avLst/>
          </a:prstGeom>
          <a:solidFill>
            <a:srgbClr val="A0521A"/>
          </a:solidFill>
          <a:ln/>
        </p:spPr>
      </p:sp>
      <p:sp>
        <p:nvSpPr>
          <p:cNvPr id="19" name="Text 17"/>
          <p:cNvSpPr txBox="1"/>
          <p:nvPr/>
        </p:nvSpPr>
        <p:spPr>
          <a:xfrm>
            <a:off x="4064000" y="37973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0" name="Text 18"/>
          <p:cNvSpPr txBox="1"/>
          <p:nvPr/>
        </p:nvSpPr>
        <p:spPr>
          <a:xfrm>
            <a:off x="2921000" y="4102100"/>
            <a:ext cx="8458200" cy="2286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Illustrative mix; fill with actual shares. BAU can shrink to the floor, never below it.</a:t>
            </a:r>
            <a:endParaRPr lang="en-US" sz="1200" dirty="0"/>
          </a:p>
        </p:txBody>
      </p:sp>
      <p:sp>
        <p:nvSpPr>
          <p:cNvPr id="21" name="Shape 19"/>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2"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23" name="Text 20"/>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24" name="Text 21"/>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25" name="Shape 22"/>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26"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27" name="Text 23"/>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28" name="Text 24"/>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29" name="Shape 25"/>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0"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1" name="Text 26"/>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2" name="Text 27"/>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(previous slide).</a:t>
            </a:r>
            <a:endParaRPr lang="en-US" sz="1200" dirty="0"/>
          </a:p>
        </p:txBody>
      </p:sp>
      <p:sp>
        <p:nvSpPr>
          <p:cNvPr id="33" name="Text 28"/>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 &amp; Automation</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750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921000"/>
            <a:ext cx="304800" cy="304800"/>
          </a:xfrm>
          <a:prstGeom prst="rect">
            <a:avLst/>
          </a:prstGeom>
        </p:spPr>
      </p:pic>
      <p:sp>
        <p:nvSpPr>
          <p:cNvPr id="12" name="Text 9"/>
          <p:cNvSpPr txBox="1"/>
          <p:nvPr/>
        </p:nvSpPr>
        <p:spPr>
          <a:xfrm>
            <a:off x="10160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750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921000"/>
            <a:ext cx="304800" cy="304800"/>
          </a:xfrm>
          <a:prstGeom prst="rect">
            <a:avLst/>
          </a:prstGeom>
        </p:spPr>
      </p:pic>
      <p:sp>
        <p:nvSpPr>
          <p:cNvPr id="17" name="Text 13"/>
          <p:cNvSpPr txBox="1"/>
          <p:nvPr/>
        </p:nvSpPr>
        <p:spPr>
          <a:xfrm>
            <a:off x="37084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750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921000"/>
            <a:ext cx="304800" cy="304800"/>
          </a:xfrm>
          <a:prstGeom prst="rect">
            <a:avLst/>
          </a:prstGeom>
        </p:spPr>
      </p:pic>
      <p:sp>
        <p:nvSpPr>
          <p:cNvPr id="22" name="Text 17"/>
          <p:cNvSpPr txBox="1"/>
          <p:nvPr/>
        </p:nvSpPr>
        <p:spPr>
          <a:xfrm>
            <a:off x="64008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1]</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750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921000"/>
            <a:ext cx="304800" cy="304800"/>
          </a:xfrm>
          <a:prstGeom prst="rect">
            <a:avLst/>
          </a:prstGeom>
        </p:spPr>
      </p:pic>
      <p:sp>
        <p:nvSpPr>
          <p:cNvPr id="27" name="Text 21"/>
          <p:cNvSpPr txBox="1"/>
          <p:nvPr/>
        </p:nvSpPr>
        <p:spPr>
          <a:xfrm>
            <a:off x="9093200" y="3327400"/>
            <a:ext cx="20828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657600"/>
            <a:ext cx="2082800" cy="508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18000"/>
            <a:ext cx="2082800" cy="13970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Next-gen leader pipeline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&amp; Automation,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2026-10-23T12:21:23Z</dcterms:created>
  <dcterms:modified xsi:type="dcterms:W3CDTF">2026-10-23T12:21:23Z</dcterms:modified>
</cp:coreProperties>
</file>