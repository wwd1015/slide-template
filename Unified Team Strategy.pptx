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14b54796-c006-2b29-73e0-c674af4ffb27}">
          <p14:sldIdLst>
            <p14:sldId id="256"/>
            <p14:sldId id="257"/>
          </p14:sldIdLst>
        </p14:section>
        <p14:section name="How we organize" id="{382d21b2-6495-ce76-40d3-edd1d1f410e6}">
          <p14:sldIdLst>
            <p14:sldId id="258"/>
            <p14:sldId id="259"/>
            <p14:sldId id="260"/>
          </p14:sldIdLst>
        </p14:section>
        <p14:section name="What we do and how we grow" id="{a45363a9-852d-d5be-7da3-693654eb719d}">
          <p14:sldIdLst>
            <p14:sldId id="261"/>
            <p14:sldId id="262"/>
            <p14:sldId id="263"/>
          </p14:sldIdLst>
        </p14:section>
        <p14:section name="Asks" id="{1b9b985f-bf71-86c9-a350-deb3864db75b}">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The stretch roles are both an opportunity and a risk for the people in them. The point of this slide: every near-term cost has a named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&amp; Automation: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today almost all capacity goes to BAU, and dedicated AI work is near zero. AI and new tooling let BAU shrink,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The fourth is covered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Both paths are equally valued and both lead to senior levels. The IC path is about personal efficiency and leverage with AI; the manager path is about people, strategy and connecting teams. On performance: in a small, highly efficient team, forced ranking rewards out-competing peers rather than team growth — a dangerous culture over the long run.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12800"/>
          </a:xfrm>
          <a:prstGeom prst="roundRect">
            <a:avLst>
              <a:gd name="adj" fmla="val 11250"/>
            </a:avLst>
          </a:prstGeom>
          <a:solidFill>
            <a:srgbClr val="FDFCF9"/>
          </a:solidFill>
          <a:ln w="19050">
            <a:solidFill>
              <a:srgbClr val="A0521A"/>
            </a:solidFill>
            <a:prstDash val="solid"/>
          </a:ln>
        </p:spPr>
      </p:sp>
      <p:sp>
        <p:nvSpPr>
          <p:cNvPr id="18" name="Text 13"/>
          <p:cNvSpPr txBox="1"/>
          <p:nvPr/>
        </p:nvSpPr>
        <p:spPr>
          <a:xfrm>
            <a:off x="4826000" y="28956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Large new model scope</a:t>
            </a:r>
            <a:endParaRPr lang="en-US" sz="1400" dirty="0"/>
          </a:p>
        </p:txBody>
      </p:sp>
      <p:sp>
        <p:nvSpPr>
          <p:cNvPr id="19" name="Text 14"/>
          <p:cNvSpPr txBox="1"/>
          <p:nvPr/>
        </p:nvSpPr>
        <p:spPr>
          <a:xfrm>
            <a:off x="4826000" y="3187700"/>
            <a:ext cx="2413000" cy="2540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Dual Risk Rating models</a:t>
            </a:r>
            <a:endParaRPr lang="en-US" sz="1200" dirty="0"/>
          </a:p>
        </p:txBody>
      </p:sp>
      <p:sp>
        <p:nvSpPr>
          <p:cNvPr id="20" name="Shape 15"/>
          <p:cNvSpPr/>
          <p:nvPr/>
        </p:nvSpPr>
        <p:spPr>
          <a:xfrm>
            <a:off x="7493000" y="3073400"/>
            <a:ext cx="406400" cy="203200"/>
          </a:xfrm>
          <a:prstGeom prst="rightArrow">
            <a:avLst/>
          </a:prstGeom>
          <a:solidFill>
            <a:srgbClr val="8A8F98"/>
          </a:solidFill>
          <a:ln/>
        </p:spPr>
      </p:sp>
      <p:sp>
        <p:nvSpPr>
          <p:cNvPr id="21" name="Shape 16"/>
          <p:cNvSpPr/>
          <p:nvPr/>
        </p:nvSpPr>
        <p:spPr>
          <a:xfrm>
            <a:off x="8051800" y="2768600"/>
            <a:ext cx="3327400" cy="812800"/>
          </a:xfrm>
          <a:prstGeom prst="roundRect">
            <a:avLst>
              <a:gd name="adj" fmla="val 11250"/>
            </a:avLst>
          </a:prstGeom>
          <a:solidFill>
            <a:srgbClr val="FDFCF9"/>
          </a:solidFill>
          <a:ln w="19050">
            <a:solidFill>
              <a:srgbClr val="1F6F7E"/>
            </a:solidFill>
            <a:prstDash val="dash"/>
          </a:ln>
        </p:spPr>
      </p:sp>
      <p:sp>
        <p:nvSpPr>
          <p:cNvPr id="22" name="Text 17"/>
          <p:cNvSpPr txBox="1"/>
          <p:nvPr/>
        </p:nvSpPr>
        <p:spPr>
          <a:xfrm>
            <a:off x="8204200" y="2895600"/>
            <a:ext cx="3022600" cy="571500"/>
          </a:xfrm>
          <a:prstGeom prst="rect">
            <a:avLst/>
          </a:prstGeom>
          <a:noFill/>
          <a:ln/>
        </p:spPr>
        <p:txBody>
          <a:bodyPr wrap="square" lIns="0" tIns="0" rIns="0" bIns="0" rtlCol="0" anchor="ctr"/>
          <a:lstStyle/>
          <a:p>
            <a:pPr algn="l" indent="0" marL="0">
              <a:lnSpc>
                <a:spcPct val="115000"/>
              </a:lnSpc>
              <a:buNone/>
            </a:pPr>
            <a:r>
              <a:rPr lang="en-US" sz="1200" dirty="0">
                <a:solidFill>
                  <a:srgbClr val="155563"/>
                </a:solidFill>
                <a:latin typeface="Optimist Sans" pitchFamily="34" charset="0"/>
                <a:ea typeface="Optimist Sans" pitchFamily="34" charset="-122"/>
                <a:cs typeface="Optimist Sans" pitchFamily="34" charset="-120"/>
              </a:rPr>
              <a:t>[e.g., phased handover; lean on DRR experts in the team]</a:t>
            </a:r>
            <a:endParaRPr lang="en-US" sz="1200" dirty="0"/>
          </a:p>
        </p:txBody>
      </p:sp>
      <p:sp>
        <p:nvSpPr>
          <p:cNvPr id="23" name="Shape 18"/>
          <p:cNvSpPr/>
          <p:nvPr/>
        </p:nvSpPr>
        <p:spPr>
          <a:xfrm>
            <a:off x="4673600" y="3759200"/>
            <a:ext cx="2667000" cy="812800"/>
          </a:xfrm>
          <a:prstGeom prst="roundRect">
            <a:avLst>
              <a:gd name="adj" fmla="val 11250"/>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Leadership gap</a:t>
            </a:r>
            <a:endParaRPr lang="en-US" sz="1400" dirty="0"/>
          </a:p>
        </p:txBody>
      </p:sp>
      <p:sp>
        <p:nvSpPr>
          <p:cNvPr id="25" name="Text 20"/>
          <p:cNvSpPr txBox="1"/>
          <p:nvPr/>
        </p:nvSpPr>
        <p:spPr>
          <a:xfrm>
            <a:off x="4826000" y="4178300"/>
            <a:ext cx="2413000" cy="2540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Interim leads left the team</a:t>
            </a:r>
            <a:endParaRPr lang="en-US" sz="1200" dirty="0"/>
          </a:p>
        </p:txBody>
      </p:sp>
      <p:sp>
        <p:nvSpPr>
          <p:cNvPr id="26" name="Shape 21"/>
          <p:cNvSpPr/>
          <p:nvPr/>
        </p:nvSpPr>
        <p:spPr>
          <a:xfrm>
            <a:off x="7493000" y="4064000"/>
            <a:ext cx="406400" cy="203200"/>
          </a:xfrm>
          <a:prstGeom prst="rightArrow">
            <a:avLst/>
          </a:prstGeom>
          <a:solidFill>
            <a:srgbClr val="8A8F98"/>
          </a:solidFill>
          <a:ln/>
        </p:spPr>
      </p:sp>
      <p:sp>
        <p:nvSpPr>
          <p:cNvPr id="27" name="Shape 22"/>
          <p:cNvSpPr/>
          <p:nvPr/>
        </p:nvSpPr>
        <p:spPr>
          <a:xfrm>
            <a:off x="8051800" y="3759200"/>
            <a:ext cx="3327400" cy="812800"/>
          </a:xfrm>
          <a:prstGeom prst="roundRect">
            <a:avLst>
              <a:gd name="adj" fmla="val 11250"/>
            </a:avLst>
          </a:prstGeom>
          <a:solidFill>
            <a:srgbClr val="FDFCF9"/>
          </a:solidFill>
          <a:ln w="19050">
            <a:solidFill>
              <a:srgbClr val="1F6F7E"/>
            </a:solidFill>
            <a:prstDash val="dash"/>
          </a:ln>
        </p:spPr>
      </p:sp>
      <p:sp>
        <p:nvSpPr>
          <p:cNvPr id="28" name="Text 23"/>
          <p:cNvSpPr txBox="1"/>
          <p:nvPr/>
        </p:nvSpPr>
        <p:spPr>
          <a:xfrm>
            <a:off x="8204200" y="3886200"/>
            <a:ext cx="3022600" cy="571500"/>
          </a:xfrm>
          <a:prstGeom prst="rect">
            <a:avLst/>
          </a:prstGeom>
          <a:noFill/>
          <a:ln/>
        </p:spPr>
        <p:txBody>
          <a:bodyPr wrap="square" lIns="0" tIns="0" rIns="0" bIns="0" rtlCol="0" anchor="ctr"/>
          <a:lstStyle/>
          <a:p>
            <a:pPr algn="l" indent="0" marL="0">
              <a:lnSpc>
                <a:spcPct val="115000"/>
              </a:lnSpc>
              <a:buNone/>
            </a:pPr>
            <a:r>
              <a:rPr lang="en-US" sz="1200" dirty="0">
                <a:solidFill>
                  <a:srgbClr val="155563"/>
                </a:solidFill>
                <a:latin typeface="Optimist Sans" pitchFamily="34" charset="0"/>
                <a:ea typeface="Optimist Sans" pitchFamily="34" charset="-122"/>
                <a:cs typeface="Optimist Sans" pitchFamily="34" charset="-120"/>
              </a:rPr>
              <a:t>[e.g., coaching and backup for direct reports in stretch roles]</a:t>
            </a:r>
            <a:endParaRPr lang="en-US" sz="1200" dirty="0"/>
          </a:p>
        </p:txBody>
      </p:sp>
      <p:sp>
        <p:nvSpPr>
          <p:cNvPr id="29" name="Shape 24"/>
          <p:cNvSpPr/>
          <p:nvPr/>
        </p:nvSpPr>
        <p:spPr>
          <a:xfrm>
            <a:off x="4673600" y="4749800"/>
            <a:ext cx="2667000" cy="812800"/>
          </a:xfrm>
          <a:prstGeom prst="roundRect">
            <a:avLst>
              <a:gd name="adj" fmla="val 11250"/>
            </a:avLst>
          </a:prstGeom>
          <a:solidFill>
            <a:srgbClr val="FDFCF9"/>
          </a:solidFill>
          <a:ln w="19050">
            <a:solidFill>
              <a:srgbClr val="A0521A"/>
            </a:solidFill>
            <a:prstDash val="solid"/>
          </a:ln>
        </p:spPr>
      </p:sp>
      <p:sp>
        <p:nvSpPr>
          <p:cNvPr id="30" name="Text 25"/>
          <p:cNvSpPr txBox="1"/>
          <p:nvPr/>
        </p:nvSpPr>
        <p:spPr>
          <a:xfrm>
            <a:off x="4826000" y="48768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Growth and stretch pain</a:t>
            </a:r>
            <a:endParaRPr lang="en-US" sz="1400" dirty="0"/>
          </a:p>
        </p:txBody>
      </p:sp>
      <p:sp>
        <p:nvSpPr>
          <p:cNvPr id="31" name="Text 26"/>
          <p:cNvSpPr txBox="1"/>
          <p:nvPr/>
        </p:nvSpPr>
        <p:spPr>
          <a:xfrm>
            <a:off x="4826000" y="5168900"/>
            <a:ext cx="2413000" cy="2540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Load rises as we adapt</a:t>
            </a:r>
            <a:endParaRPr lang="en-US" sz="1200" dirty="0"/>
          </a:p>
        </p:txBody>
      </p:sp>
      <p:sp>
        <p:nvSpPr>
          <p:cNvPr id="32" name="Shape 27"/>
          <p:cNvSpPr/>
          <p:nvPr/>
        </p:nvSpPr>
        <p:spPr>
          <a:xfrm>
            <a:off x="7493000" y="5054600"/>
            <a:ext cx="406400" cy="203200"/>
          </a:xfrm>
          <a:prstGeom prst="rightArrow">
            <a:avLst/>
          </a:prstGeom>
          <a:solidFill>
            <a:srgbClr val="8A8F98"/>
          </a:solidFill>
          <a:ln/>
        </p:spPr>
      </p:sp>
      <p:sp>
        <p:nvSpPr>
          <p:cNvPr id="33" name="Shape 28"/>
          <p:cNvSpPr/>
          <p:nvPr/>
        </p:nvSpPr>
        <p:spPr>
          <a:xfrm>
            <a:off x="8051800" y="4749800"/>
            <a:ext cx="3327400" cy="812800"/>
          </a:xfrm>
          <a:prstGeom prst="roundRect">
            <a:avLst>
              <a:gd name="adj" fmla="val 11250"/>
            </a:avLst>
          </a:prstGeom>
          <a:solidFill>
            <a:srgbClr val="FDFCF9"/>
          </a:solidFill>
          <a:ln w="19050">
            <a:solidFill>
              <a:srgbClr val="1F6F7E"/>
            </a:solidFill>
            <a:prstDash val="dash"/>
          </a:ln>
        </p:spPr>
      </p:sp>
      <p:sp>
        <p:nvSpPr>
          <p:cNvPr id="34" name="Text 29"/>
          <p:cNvSpPr txBox="1"/>
          <p:nvPr/>
        </p:nvSpPr>
        <p:spPr>
          <a:xfrm>
            <a:off x="8204200" y="4876800"/>
            <a:ext cx="3022600" cy="571500"/>
          </a:xfrm>
          <a:prstGeom prst="rect">
            <a:avLst/>
          </a:prstGeom>
          <a:noFill/>
          <a:ln/>
        </p:spPr>
        <p:txBody>
          <a:bodyPr wrap="square" lIns="0" tIns="0" rIns="0" bIns="0" rtlCol="0" anchor="ctr"/>
          <a:lstStyle/>
          <a:p>
            <a:pPr algn="l" indent="0" marL="0">
              <a:lnSpc>
                <a:spcPct val="115000"/>
              </a:lnSpc>
              <a:buNone/>
            </a:pPr>
            <a:r>
              <a:rPr lang="en-US" sz="1200" dirty="0">
                <a:solidFill>
                  <a:srgbClr val="155563"/>
                </a:solidFill>
                <a:latin typeface="Optimist Sans" pitchFamily="34" charset="0"/>
                <a:ea typeface="Optimist Sans" pitchFamily="34" charset="-122"/>
                <a:cs typeface="Optimist Sans" pitchFamily="34" charset="-120"/>
              </a:rPr>
              <a:t>[e.g., sequence priorities; protect BAU capacity]</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Dashed boxes are placeholders to fill</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 &amp; Automation</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Today</a:t>
            </a:r>
            <a:endParaRPr lang="en-US" sz="1600" dirty="0"/>
          </a:p>
        </p:txBody>
      </p:sp>
      <p:sp>
        <p:nvSpPr>
          <p:cNvPr id="5" name="Text 3"/>
          <p:cNvSpPr txBox="1"/>
          <p:nvPr/>
        </p:nvSpPr>
        <p:spPr>
          <a:xfrm>
            <a:off x="812800" y="26797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associates</a:t>
            </a:r>
            <a:endParaRPr lang="en-US" sz="1200" dirty="0"/>
          </a:p>
        </p:txBody>
      </p:sp>
      <p:sp>
        <p:nvSpPr>
          <p:cNvPr id="6" name="Shape 4"/>
          <p:cNvSpPr/>
          <p:nvPr/>
        </p:nvSpPr>
        <p:spPr>
          <a:xfrm>
            <a:off x="2921000" y="2413000"/>
            <a:ext cx="7366000" cy="508000"/>
          </a:xfrm>
          <a:prstGeom prst="rect">
            <a:avLst/>
          </a:prstGeom>
          <a:solidFill>
            <a:srgbClr val="1F6F7E"/>
          </a:solidFill>
          <a:ln/>
        </p:spPr>
      </p:sp>
      <p:sp>
        <p:nvSpPr>
          <p:cNvPr id="7" name="Text 5"/>
          <p:cNvSpPr txBox="1"/>
          <p:nvPr/>
        </p:nvSpPr>
        <p:spPr>
          <a:xfrm>
            <a:off x="3073400" y="2413000"/>
            <a:ext cx="6985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13000"/>
            <a:ext cx="127000" cy="508000"/>
          </a:xfrm>
          <a:prstGeom prst="rect">
            <a:avLst/>
          </a:prstGeom>
          <a:solidFill>
            <a:srgbClr val="E3A86B"/>
          </a:solidFill>
          <a:ln/>
        </p:spPr>
      </p:sp>
      <p:sp>
        <p:nvSpPr>
          <p:cNvPr id="9" name="Text 7"/>
          <p:cNvSpPr txBox="1"/>
          <p:nvPr/>
        </p:nvSpPr>
        <p:spPr>
          <a:xfrm>
            <a:off x="10515600" y="2413000"/>
            <a:ext cx="8636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31369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Target</a:t>
            </a:r>
            <a:endParaRPr lang="en-US" sz="1600" dirty="0"/>
          </a:p>
        </p:txBody>
      </p:sp>
      <p:sp>
        <p:nvSpPr>
          <p:cNvPr id="11" name="Text 9"/>
          <p:cNvSpPr txBox="1"/>
          <p:nvPr/>
        </p:nvSpPr>
        <p:spPr>
          <a:xfrm>
            <a:off x="812800" y="34163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associates</a:t>
            </a:r>
            <a:endParaRPr lang="en-US" sz="1200" dirty="0"/>
          </a:p>
        </p:txBody>
      </p:sp>
      <p:sp>
        <p:nvSpPr>
          <p:cNvPr id="12" name="Shape 10"/>
          <p:cNvSpPr/>
          <p:nvPr/>
        </p:nvSpPr>
        <p:spPr>
          <a:xfrm>
            <a:off x="2921000" y="3149600"/>
            <a:ext cx="3556000" cy="508000"/>
          </a:xfrm>
          <a:prstGeom prst="rect">
            <a:avLst/>
          </a:prstGeom>
          <a:solidFill>
            <a:srgbClr val="1F6F7E"/>
          </a:solidFill>
          <a:ln/>
        </p:spPr>
      </p:sp>
      <p:sp>
        <p:nvSpPr>
          <p:cNvPr id="13" name="Text 11"/>
          <p:cNvSpPr txBox="1"/>
          <p:nvPr/>
        </p:nvSpPr>
        <p:spPr>
          <a:xfrm>
            <a:off x="4953000" y="3149600"/>
            <a:ext cx="1371600" cy="5080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6477000" y="3149600"/>
            <a:ext cx="3048000" cy="508000"/>
          </a:xfrm>
          <a:prstGeom prst="rect">
            <a:avLst/>
          </a:prstGeom>
          <a:solidFill>
            <a:srgbClr val="E3A86B"/>
          </a:solidFill>
          <a:ln/>
        </p:spPr>
      </p:sp>
      <p:sp>
        <p:nvSpPr>
          <p:cNvPr id="15" name="Text 13"/>
          <p:cNvSpPr txBox="1"/>
          <p:nvPr/>
        </p:nvSpPr>
        <p:spPr>
          <a:xfrm>
            <a:off x="6629400" y="3149600"/>
            <a:ext cx="2794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9525000" y="3149600"/>
            <a:ext cx="889000" cy="508000"/>
          </a:xfrm>
          <a:prstGeom prst="rect">
            <a:avLst/>
          </a:prstGeom>
          <a:solidFill>
            <a:srgbClr val="F7F6F2"/>
          </a:solidFill>
          <a:ln w="19050">
            <a:solidFill>
              <a:srgbClr val="8A8F98"/>
            </a:solidFill>
            <a:prstDash val="dash"/>
          </a:ln>
        </p:spPr>
      </p:sp>
      <p:sp>
        <p:nvSpPr>
          <p:cNvPr id="17" name="Text 15"/>
          <p:cNvSpPr txBox="1"/>
          <p:nvPr/>
        </p:nvSpPr>
        <p:spPr>
          <a:xfrm>
            <a:off x="9525000" y="3149600"/>
            <a:ext cx="889000" cy="5080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18" name="BAU floor marker"/>
          <p:cNvSpPr/>
          <p:nvPr/>
        </p:nvSpPr>
        <p:spPr>
          <a:xfrm>
            <a:off x="4806950" y="3060700"/>
            <a:ext cx="38100" cy="685800"/>
          </a:xfrm>
          <a:prstGeom prst="rect">
            <a:avLst/>
          </a:prstGeom>
          <a:solidFill>
            <a:srgbClr val="A0521A"/>
          </a:solidFill>
          <a:ln/>
        </p:spPr>
      </p:sp>
      <p:sp>
        <p:nvSpPr>
          <p:cNvPr id="19" name="Text 17"/>
          <p:cNvSpPr txBox="1"/>
          <p:nvPr/>
        </p:nvSpPr>
        <p:spPr>
          <a:xfrm>
            <a:off x="4064000" y="37973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key-person / op risk</a:t>
            </a:r>
            <a:endParaRPr lang="en-US" sz="1200" dirty="0"/>
          </a:p>
        </p:txBody>
      </p:sp>
      <p:sp>
        <p:nvSpPr>
          <p:cNvPr id="20" name="Text 18"/>
          <p:cNvSpPr txBox="1"/>
          <p:nvPr/>
        </p:nvSpPr>
        <p:spPr>
          <a:xfrm>
            <a:off x="2921000" y="4102100"/>
            <a:ext cx="8458200" cy="2286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Illustrative mix; fill with actual shares. BAU can shrink to the floor, never below it.</a:t>
            </a:r>
            <a:endParaRPr lang="en-US" sz="1200" dirty="0"/>
          </a:p>
        </p:txBody>
      </p:sp>
      <p:sp>
        <p:nvSpPr>
          <p:cNvPr id="21" name="Shape 19"/>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2"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23" name="Text 20"/>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24" name="Text 21"/>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25" name="Shape 22"/>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26"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27" name="Text 23"/>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28" name="Text 24"/>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29" name="Shape 25"/>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0"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1" name="Text 26"/>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2" name="Text 27"/>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(previous slide).</a:t>
            </a:r>
            <a:endParaRPr lang="en-US" sz="1200" dirty="0"/>
          </a:p>
        </p:txBody>
      </p:sp>
      <p:sp>
        <p:nvSpPr>
          <p:cNvPr id="33" name="Text 28"/>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 &amp; Automation</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750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921000"/>
            <a:ext cx="304800" cy="304800"/>
          </a:xfrm>
          <a:prstGeom prst="rect">
            <a:avLst/>
          </a:prstGeom>
        </p:spPr>
      </p:pic>
      <p:sp>
        <p:nvSpPr>
          <p:cNvPr id="12" name="Text 9"/>
          <p:cNvSpPr txBox="1"/>
          <p:nvPr/>
        </p:nvSpPr>
        <p:spPr>
          <a:xfrm>
            <a:off x="10160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750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921000"/>
            <a:ext cx="304800" cy="304800"/>
          </a:xfrm>
          <a:prstGeom prst="rect">
            <a:avLst/>
          </a:prstGeom>
        </p:spPr>
      </p:pic>
      <p:sp>
        <p:nvSpPr>
          <p:cNvPr id="17" name="Text 13"/>
          <p:cNvSpPr txBox="1"/>
          <p:nvPr/>
        </p:nvSpPr>
        <p:spPr>
          <a:xfrm>
            <a:off x="37084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750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921000"/>
            <a:ext cx="304800" cy="304800"/>
          </a:xfrm>
          <a:prstGeom prst="rect">
            <a:avLst/>
          </a:prstGeom>
        </p:spPr>
      </p:pic>
      <p:sp>
        <p:nvSpPr>
          <p:cNvPr id="22" name="Text 17"/>
          <p:cNvSpPr txBox="1"/>
          <p:nvPr/>
        </p:nvSpPr>
        <p:spPr>
          <a:xfrm>
            <a:off x="64008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1]</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750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921000"/>
            <a:ext cx="304800" cy="304800"/>
          </a:xfrm>
          <a:prstGeom prst="rect">
            <a:avLst/>
          </a:prstGeom>
        </p:spPr>
      </p:pic>
      <p:sp>
        <p:nvSpPr>
          <p:cNvPr id="27" name="Text 21"/>
          <p:cNvSpPr txBox="1"/>
          <p:nvPr/>
        </p:nvSpPr>
        <p:spPr>
          <a:xfrm>
            <a:off x="90932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Next-gen leader pipeline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clear career paths show every associate how to grow in the AI era</a:t>
            </a:r>
            <a:endParaRPr lang="en-US" sz="3200" dirty="0"/>
          </a:p>
        </p:txBody>
      </p:sp>
      <p:sp>
        <p:nvSpPr>
          <p:cNvPr id="4" name="Shape 2"/>
          <p:cNvSpPr/>
          <p:nvPr/>
        </p:nvSpPr>
        <p:spPr>
          <a:xfrm>
            <a:off x="3225800" y="2286000"/>
            <a:ext cx="1905000" cy="355600"/>
          </a:xfrm>
          <a:prstGeom prst="roundRect">
            <a:avLst>
              <a:gd name="adj" fmla="val 38571"/>
            </a:avLst>
          </a:prstGeom>
          <a:solidFill>
            <a:srgbClr val="14213D"/>
          </a:solidFill>
          <a:ln/>
        </p:spPr>
      </p:sp>
      <p:sp>
        <p:nvSpPr>
          <p:cNvPr id="5" name="Text 3"/>
          <p:cNvSpPr txBox="1"/>
          <p:nvPr/>
        </p:nvSpPr>
        <p:spPr>
          <a:xfrm>
            <a:off x="3225800" y="2286000"/>
            <a:ext cx="1905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Associate</a:t>
            </a:r>
            <a:endParaRPr lang="en-US" sz="1300" dirty="0"/>
          </a:p>
        </p:txBody>
      </p:sp>
      <p:sp>
        <p:nvSpPr>
          <p:cNvPr id="6" name="Shape 4"/>
          <p:cNvSpPr/>
          <p:nvPr/>
        </p:nvSpPr>
        <p:spPr>
          <a:xfrm>
            <a:off x="4178300" y="2641600"/>
            <a:ext cx="914" cy="152400"/>
          </a:xfrm>
          <a:prstGeom prst="line">
            <a:avLst/>
          </a:prstGeom>
          <a:noFill/>
          <a:ln w="25400">
            <a:solidFill>
              <a:srgbClr val="6B7280"/>
            </a:solidFill>
            <a:prstDash val="solid"/>
          </a:ln>
        </p:spPr>
      </p:sp>
      <p:sp>
        <p:nvSpPr>
          <p:cNvPr id="7" name="Shape 5"/>
          <p:cNvSpPr/>
          <p:nvPr/>
        </p:nvSpPr>
        <p:spPr>
          <a:xfrm>
            <a:off x="2432050" y="2794000"/>
            <a:ext cx="3492500" cy="914"/>
          </a:xfrm>
          <a:prstGeom prst="line">
            <a:avLst/>
          </a:prstGeom>
          <a:noFill/>
          <a:ln w="25400">
            <a:solidFill>
              <a:srgbClr val="6B7280"/>
            </a:solidFill>
            <a:prstDash val="solid"/>
          </a:ln>
        </p:spPr>
      </p:sp>
      <p:sp>
        <p:nvSpPr>
          <p:cNvPr id="8" name="Shape 6"/>
          <p:cNvSpPr/>
          <p:nvPr/>
        </p:nvSpPr>
        <p:spPr>
          <a:xfrm>
            <a:off x="2432050" y="2794000"/>
            <a:ext cx="914" cy="190500"/>
          </a:xfrm>
          <a:prstGeom prst="line">
            <a:avLst/>
          </a:prstGeom>
          <a:noFill/>
          <a:ln w="25400">
            <a:solidFill>
              <a:srgbClr val="6B7280"/>
            </a:solidFill>
            <a:prstDash val="solid"/>
            <a:tailEnd type="triangle"/>
          </a:ln>
        </p:spPr>
      </p:sp>
      <p:sp>
        <p:nvSpPr>
          <p:cNvPr id="9" name="Shape 7"/>
          <p:cNvSpPr/>
          <p:nvPr/>
        </p:nvSpPr>
        <p:spPr>
          <a:xfrm>
            <a:off x="5924550" y="2794000"/>
            <a:ext cx="914" cy="190500"/>
          </a:xfrm>
          <a:prstGeom prst="line">
            <a:avLst/>
          </a:prstGeom>
          <a:noFill/>
          <a:ln w="25400">
            <a:solidFill>
              <a:srgbClr val="6B7280"/>
            </a:solidFill>
            <a:prstDash val="solid"/>
            <a:tailEnd type="triangle"/>
          </a:ln>
        </p:spPr>
      </p:sp>
      <p:sp>
        <p:nvSpPr>
          <p:cNvPr id="10" name="Shape 8"/>
          <p:cNvSpPr/>
          <p:nvPr/>
        </p:nvSpPr>
        <p:spPr>
          <a:xfrm>
            <a:off x="812800" y="2984500"/>
            <a:ext cx="3238500" cy="2794000"/>
          </a:xfrm>
          <a:prstGeom prst="roundRect">
            <a:avLst>
              <a:gd name="adj" fmla="val 1964"/>
            </a:avLst>
          </a:prstGeom>
          <a:solidFill>
            <a:srgbClr val="E1EEF0"/>
          </a:solidFill>
          <a:ln w="19050">
            <a:solidFill>
              <a:srgbClr val="1F6F7E"/>
            </a:solidFill>
            <a:prstDash val="solid"/>
          </a:ln>
        </p:spPr>
      </p:sp>
      <p:sp>
        <p:nvSpPr>
          <p:cNvPr id="11" name="Text 9"/>
          <p:cNvSpPr txBox="1"/>
          <p:nvPr/>
        </p:nvSpPr>
        <p:spPr>
          <a:xfrm>
            <a:off x="1016000" y="31877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a:t>
            </a:r>
            <a:endParaRPr lang="en-US" sz="1200" dirty="0"/>
          </a:p>
        </p:txBody>
      </p:sp>
      <p:sp>
        <p:nvSpPr>
          <p:cNvPr id="12" name="Text 10"/>
          <p:cNvSpPr txBox="1"/>
          <p:nvPr/>
        </p:nvSpPr>
        <p:spPr>
          <a:xfrm>
            <a:off x="1016000" y="3467100"/>
            <a:ext cx="28321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Senior individual contributor</a:t>
            </a:r>
            <a:endParaRPr lang="en-US" sz="1600" dirty="0"/>
          </a:p>
        </p:txBody>
      </p:sp>
      <p:sp>
        <p:nvSpPr>
          <p:cNvPr id="13" name="Text 11"/>
          <p:cNvSpPr txBox="1"/>
          <p:nvPr/>
        </p:nvSpPr>
        <p:spPr>
          <a:xfrm>
            <a:off x="1016000" y="4127500"/>
            <a:ext cx="28321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4" name="Text 12"/>
          <p:cNvSpPr txBox="1"/>
          <p:nvPr/>
        </p:nvSpPr>
        <p:spPr>
          <a:xfrm>
            <a:off x="1016000" y="5016500"/>
            <a:ext cx="2832100" cy="635000"/>
          </a:xfrm>
          <a:prstGeom prst="rect">
            <a:avLst/>
          </a:prstGeom>
          <a:noFill/>
          <a:ln/>
        </p:spPr>
        <p:txBody>
          <a:bodyPr wrap="square" lIns="0" tIns="0" rIns="0" bIns="0" rtlCol="0" anchor="t"/>
          <a:lstStyle/>
          <a:p>
            <a:pPr algn="l" indent="0" marL="0">
              <a:lnSpc>
                <a:spcPct val="125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5" name="Shape 13"/>
          <p:cNvSpPr/>
          <p:nvPr/>
        </p:nvSpPr>
        <p:spPr>
          <a:xfrm>
            <a:off x="4305300" y="2984500"/>
            <a:ext cx="3238500" cy="2794000"/>
          </a:xfrm>
          <a:prstGeom prst="roundRect">
            <a:avLst>
              <a:gd name="adj" fmla="val 1964"/>
            </a:avLst>
          </a:prstGeom>
          <a:solidFill>
            <a:srgbClr val="F6E6D6"/>
          </a:solidFill>
          <a:ln w="19050">
            <a:solidFill>
              <a:srgbClr val="A0521A"/>
            </a:solidFill>
            <a:prstDash val="solid"/>
          </a:ln>
        </p:spPr>
      </p:sp>
      <p:sp>
        <p:nvSpPr>
          <p:cNvPr id="16" name="Text 14"/>
          <p:cNvSpPr txBox="1"/>
          <p:nvPr/>
        </p:nvSpPr>
        <p:spPr>
          <a:xfrm>
            <a:off x="4508500" y="31877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7" name="Text 15"/>
          <p:cNvSpPr txBox="1"/>
          <p:nvPr/>
        </p:nvSpPr>
        <p:spPr>
          <a:xfrm>
            <a:off x="4508500" y="3467100"/>
            <a:ext cx="28321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8" name="Text 16"/>
          <p:cNvSpPr txBox="1"/>
          <p:nvPr/>
        </p:nvSpPr>
        <p:spPr>
          <a:xfrm>
            <a:off x="4508500" y="4127500"/>
            <a:ext cx="28321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19" name="Text 17"/>
          <p:cNvSpPr txBox="1"/>
          <p:nvPr/>
        </p:nvSpPr>
        <p:spPr>
          <a:xfrm>
            <a:off x="4508500" y="5016500"/>
            <a:ext cx="2832100" cy="635000"/>
          </a:xfrm>
          <a:prstGeom prst="rect">
            <a:avLst/>
          </a:prstGeom>
          <a:noFill/>
          <a:ln/>
        </p:spPr>
        <p:txBody>
          <a:bodyPr wrap="square" lIns="0" tIns="0" rIns="0" bIns="0" rtlCol="0" anchor="t"/>
          <a:lstStyle/>
          <a:p>
            <a:pPr algn="l" indent="0" marL="0">
              <a:lnSpc>
                <a:spcPct val="125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0" name="Shape 18"/>
          <p:cNvSpPr/>
          <p:nvPr/>
        </p:nvSpPr>
        <p:spPr>
          <a:xfrm>
            <a:off x="7848600" y="2286000"/>
            <a:ext cx="3530600" cy="3492500"/>
          </a:xfrm>
          <a:prstGeom prst="roundRect">
            <a:avLst>
              <a:gd name="adj" fmla="val 1571"/>
            </a:avLst>
          </a:prstGeom>
          <a:solidFill>
            <a:srgbClr val="ECEAE3"/>
          </a:solidFill>
          <a:ln/>
        </p:spPr>
      </p:sp>
      <p:pic>
        <p:nvPicPr>
          <p:cNvPr id="21"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2" name="Text 19"/>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3" name="Text 20"/>
          <p:cNvSpPr txBox="1"/>
          <p:nvPr/>
        </p:nvSpPr>
        <p:spPr>
          <a:xfrm>
            <a:off x="8051800" y="3556000"/>
            <a:ext cx="3124200" cy="127000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As everyone gets more efficient, forcing a distribution pits peers against each other. That hurts sustainable growth and culture.</a:t>
            </a:r>
            <a:endParaRPr lang="en-US" sz="1300" dirty="0"/>
          </a:p>
        </p:txBody>
      </p:sp>
      <p:sp>
        <p:nvSpPr>
          <p:cNvPr id="24" name="Text 21"/>
          <p:cNvSpPr txBox="1"/>
          <p:nvPr/>
        </p:nvSpPr>
        <p:spPr>
          <a:xfrm>
            <a:off x="8051800" y="5016500"/>
            <a:ext cx="3124200" cy="571500"/>
          </a:xfrm>
          <a:prstGeom prst="rect">
            <a:avLst/>
          </a:prstGeom>
          <a:noFill/>
          <a:ln/>
        </p:spPr>
        <p:txBody>
          <a:bodyPr wrap="square" lIns="0" tIns="0" rIns="0" bIns="0" rtlCol="0" anchor="t"/>
          <a:lstStyle/>
          <a:p>
            <a:pPr algn="l" indent="0" marL="0">
              <a:lnSpc>
                <a:spcPct val="115000"/>
              </a:lnSpc>
              <a:buNone/>
            </a:pPr>
            <a:r>
              <a:rPr lang="en-US" sz="1300" dirty="0">
                <a:solidFill>
                  <a:srgbClr val="155563"/>
                </a:solidFill>
                <a:latin typeface="Optimist Sans" pitchFamily="34" charset="0"/>
                <a:ea typeface="Optimist Sans" pitchFamily="34" charset="-122"/>
                <a:cs typeface="Optimist Sans" pitchFamily="34" charset="-120"/>
              </a:rPr>
              <a:t>[Proposal, e.g., measure impact against goals]</a:t>
            </a:r>
            <a:endParaRPr lang="en-US" sz="1300" dirty="0"/>
          </a:p>
        </p:txBody>
      </p:sp>
      <p:sp>
        <p:nvSpPr>
          <p:cNvPr id="25" name="Text 22"/>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Text 27"/>
          <p:cNvSpPr txBox="1"/>
          <p:nvPr/>
        </p:nvSpPr>
        <p:spPr>
          <a:xfrm>
            <a:off x="8229600" y="4102100"/>
            <a:ext cx="2946400" cy="762000"/>
          </a:xfrm>
          <a:prstGeom prst="rect">
            <a:avLst/>
          </a:prstGeom>
          <a:noFill/>
          <a:ln/>
        </p:spPr>
        <p:txBody>
          <a:bodyPr wrap="square" lIns="0" tIns="0" rIns="0" bIns="0" rtlCol="0" anchor="t"/>
          <a:lstStyle/>
          <a:p>
            <a:pPr algn="l" indent="0" marL="0">
              <a:lnSpc>
                <a:spcPct val="125000"/>
              </a:lnSpc>
              <a:buNone/>
            </a:pPr>
            <a:r>
              <a:rPr lang="en-US" sz="1300" b="1" dirty="0">
                <a:solidFill>
                  <a:srgbClr val="4A5568"/>
                </a:solidFill>
                <a:latin typeface="Optimist Sans" pitchFamily="34" charset="0"/>
                <a:ea typeface="Optimist Sans" pitchFamily="34" charset="-122"/>
                <a:cs typeface="Optimist Sans" pitchFamily="34" charset="-120"/>
              </a:rPr>
              <a:t>Open question: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how do juniors build judgment when agents do entry-level work?</a:t>
            </a:r>
            <a:endParaRPr lang="en-US" sz="1300" dirty="0"/>
          </a:p>
        </p:txBody>
      </p:sp>
      <p:sp>
        <p:nvSpPr>
          <p:cNvPr id="30" name="Text 28"/>
          <p:cNvSpPr txBox="1"/>
          <p:nvPr/>
        </p:nvSpPr>
        <p:spPr>
          <a:xfrm>
            <a:off x="8229600" y="5016500"/>
            <a:ext cx="2946400" cy="279400"/>
          </a:xfrm>
          <a:prstGeom prst="rect">
            <a:avLst/>
          </a:prstGeom>
          <a:noFill/>
          <a:ln/>
        </p:spPr>
        <p:txBody>
          <a:bodyPr wrap="square" lIns="0" tIns="0" rIns="0" bIns="0" rtlCol="0" anchor="t"/>
          <a:lstStyle/>
          <a:p>
            <a:pPr algn="l" indent="0" marL="0">
              <a:lnSpc>
                <a:spcPct val="115000"/>
              </a:lnSpc>
              <a:buNone/>
            </a:pPr>
            <a:r>
              <a:rPr lang="en-US" sz="1300" dirty="0">
                <a:solidFill>
                  <a:srgbClr val="A0521A"/>
                </a:solidFill>
                <a:latin typeface="Optimist Sans" pitchFamily="34" charset="0"/>
                <a:ea typeface="Optimist Sans" pitchFamily="34" charset="-122"/>
                <a:cs typeface="Optimist Sans" pitchFamily="34" charset="-120"/>
              </a:rPr>
              <a:t>→ [Junior pipeline approach]</a:t>
            </a:r>
            <a:endParaRPr lang="en-US" sz="1300" dirty="0"/>
          </a:p>
        </p:txBody>
      </p:sp>
      <p:sp>
        <p:nvSpPr>
          <p:cNvPr id="31" name="Text 2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&amp; Automation,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2026-10-23T02:02:13Z</dcterms:created>
  <dcterms:modified xsi:type="dcterms:W3CDTF">2026-10-23T02:02:13Z</dcterms:modified>
</cp:coreProperties>
</file>