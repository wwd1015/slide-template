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6b5c9b1c-2747-b660-ad37-f0af475094e8}">
          <p14:sldIdLst>
            <p14:sldId id="256"/>
            <p14:sldId id="257"/>
          </p14:sldIdLst>
        </p14:section>
        <p14:section name="How we organize" id="{447fe89d-375e-1ad6-74fd-f3638ebf351d}">
          <p14:sldIdLst>
            <p14:sldId id="258"/>
            <p14:sldId id="259"/>
            <p14:sldId id="260"/>
            <p14:sldId id="261"/>
          </p14:sldIdLst>
        </p14:section>
        <p14:section name="What we do and how we grow" id="{bfb5ca6f-89bd-e184-84e8-98e9b462c95e}">
          <p14:sldIdLst>
            <p14:sldId id="262"/>
            <p14:sldId id="263"/>
            <p14:sldId id="264"/>
          </p14:sldIdLst>
        </p14:section>
        <p14:section name="Asks" id="{9da28ad2-3330-f158-d6d9-34e5c837d4a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with open roles color-coded: rust for backfills of current or expected departures (expected departures of [XYZ] associates are already counted), teal for new investment roles;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end-2026 count includes open roles; 2027 and 2028 assume every role is filled. The story, from the end of this year to the end of 2028: today almost all capacity goes to BAU, and dedicated AI work is near zero. AI and new tooling let BAU shrink step by step (the end of 2027 shows the midpoint),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144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Shape 38"/>
          <p:cNvSpPr/>
          <p:nvPr/>
        </p:nvSpPr>
        <p:spPr>
          <a:xfrm>
            <a:off x="1066800" y="5264150"/>
            <a:ext cx="203200" cy="152400"/>
          </a:xfrm>
          <a:prstGeom prst="rect">
            <a:avLst/>
          </a:prstGeom>
          <a:solidFill>
            <a:srgbClr val="1F6F7E"/>
          </a:solidFill>
          <a:ln/>
        </p:spPr>
      </p:sp>
      <p:sp>
        <p:nvSpPr>
          <p:cNvPr id="41" name="Text 39"/>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2" name="Text 40"/>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3" name="Shape 41"/>
          <p:cNvSpPr/>
          <p:nvPr/>
        </p:nvSpPr>
        <p:spPr>
          <a:xfrm>
            <a:off x="1473200" y="5302250"/>
            <a:ext cx="203200" cy="114300"/>
          </a:xfrm>
          <a:prstGeom prst="rect">
            <a:avLst/>
          </a:prstGeom>
          <a:solidFill>
            <a:srgbClr val="1F6F7E"/>
          </a:solidFill>
          <a:ln/>
        </p:spPr>
      </p:sp>
      <p:sp>
        <p:nvSpPr>
          <p:cNvPr id="44" name="Text 42"/>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Text 43"/>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6" name="Shape 44"/>
          <p:cNvSpPr/>
          <p:nvPr/>
        </p:nvSpPr>
        <p:spPr>
          <a:xfrm>
            <a:off x="1879600" y="5340350"/>
            <a:ext cx="203200" cy="76200"/>
          </a:xfrm>
          <a:prstGeom prst="rect">
            <a:avLst/>
          </a:prstGeom>
          <a:solidFill>
            <a:srgbClr val="1F6F7E"/>
          </a:solidFill>
          <a:ln/>
        </p:spPr>
      </p:sp>
      <p:sp>
        <p:nvSpPr>
          <p:cNvPr id="47" name="Text 45"/>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8" name="Text 46"/>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9" name="Shape 47"/>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50" name="Text 48"/>
          <p:cNvSpPr txBox="1"/>
          <p:nvPr/>
        </p:nvSpPr>
        <p:spPr>
          <a:xfrm>
            <a:off x="25400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51" name="Shape 49"/>
          <p:cNvSpPr/>
          <p:nvPr/>
        </p:nvSpPr>
        <p:spPr>
          <a:xfrm>
            <a:off x="2540000" y="5213350"/>
            <a:ext cx="1320800" cy="914"/>
          </a:xfrm>
          <a:prstGeom prst="line">
            <a:avLst/>
          </a:prstGeom>
          <a:noFill/>
          <a:ln w="12700">
            <a:solidFill>
              <a:srgbClr val="E3DED2"/>
            </a:solidFill>
            <a:prstDash val="solid"/>
          </a:ln>
        </p:spPr>
      </p:sp>
      <p:sp>
        <p:nvSpPr>
          <p:cNvPr id="52" name="Shape 50"/>
          <p:cNvSpPr/>
          <p:nvPr/>
        </p:nvSpPr>
        <p:spPr>
          <a:xfrm>
            <a:off x="2692400" y="5264150"/>
            <a:ext cx="203200" cy="152400"/>
          </a:xfrm>
          <a:prstGeom prst="rect">
            <a:avLst/>
          </a:prstGeom>
          <a:solidFill>
            <a:srgbClr val="1F6F7E"/>
          </a:solidFill>
          <a:ln/>
        </p:spPr>
      </p:sp>
      <p:sp>
        <p:nvSpPr>
          <p:cNvPr id="53" name="Text 51"/>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4" name="Text 52"/>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5" name="Shape 53"/>
          <p:cNvSpPr/>
          <p:nvPr/>
        </p:nvSpPr>
        <p:spPr>
          <a:xfrm>
            <a:off x="3098800" y="5302250"/>
            <a:ext cx="203200" cy="114300"/>
          </a:xfrm>
          <a:prstGeom prst="rect">
            <a:avLst/>
          </a:prstGeom>
          <a:solidFill>
            <a:srgbClr val="1F6F7E"/>
          </a:solidFill>
          <a:ln/>
        </p:spPr>
      </p:sp>
      <p:sp>
        <p:nvSpPr>
          <p:cNvPr id="56" name="Text 54"/>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Shape 56"/>
          <p:cNvSpPr/>
          <p:nvPr/>
        </p:nvSpPr>
        <p:spPr>
          <a:xfrm>
            <a:off x="3505200" y="5340350"/>
            <a:ext cx="203200" cy="76200"/>
          </a:xfrm>
          <a:prstGeom prst="rect">
            <a:avLst/>
          </a:prstGeom>
          <a:solidFill>
            <a:srgbClr val="1F6F7E"/>
          </a:solidFill>
          <a:ln/>
        </p:spPr>
      </p:sp>
      <p:sp>
        <p:nvSpPr>
          <p:cNvPr id="59" name="Text 57"/>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0" name="Text 58"/>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1" name="Shape 59"/>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62" name="Text 60"/>
          <p:cNvSpPr txBox="1"/>
          <p:nvPr/>
        </p:nvSpPr>
        <p:spPr>
          <a:xfrm>
            <a:off x="41656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63" name="Shape 61"/>
          <p:cNvSpPr/>
          <p:nvPr/>
        </p:nvSpPr>
        <p:spPr>
          <a:xfrm>
            <a:off x="4165600" y="5213350"/>
            <a:ext cx="1320800" cy="914"/>
          </a:xfrm>
          <a:prstGeom prst="line">
            <a:avLst/>
          </a:prstGeom>
          <a:noFill/>
          <a:ln w="12700">
            <a:solidFill>
              <a:srgbClr val="E3DED2"/>
            </a:solidFill>
            <a:prstDash val="solid"/>
          </a:ln>
        </p:spPr>
      </p:sp>
      <p:sp>
        <p:nvSpPr>
          <p:cNvPr id="64" name="Shape 62"/>
          <p:cNvSpPr/>
          <p:nvPr/>
        </p:nvSpPr>
        <p:spPr>
          <a:xfrm>
            <a:off x="4318000" y="5264150"/>
            <a:ext cx="203200" cy="152400"/>
          </a:xfrm>
          <a:prstGeom prst="rect">
            <a:avLst/>
          </a:prstGeom>
          <a:solidFill>
            <a:srgbClr val="1F6F7E"/>
          </a:solidFill>
          <a:ln/>
        </p:spPr>
      </p:sp>
      <p:sp>
        <p:nvSpPr>
          <p:cNvPr id="65" name="Text 63"/>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6" name="Text 64"/>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7" name="Shape 65"/>
          <p:cNvSpPr/>
          <p:nvPr/>
        </p:nvSpPr>
        <p:spPr>
          <a:xfrm>
            <a:off x="4724400" y="5302250"/>
            <a:ext cx="203200" cy="114300"/>
          </a:xfrm>
          <a:prstGeom prst="rect">
            <a:avLst/>
          </a:prstGeom>
          <a:solidFill>
            <a:srgbClr val="1F6F7E"/>
          </a:solidFill>
          <a:ln/>
        </p:spPr>
      </p:sp>
      <p:sp>
        <p:nvSpPr>
          <p:cNvPr id="68" name="Text 66"/>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Text 67"/>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0" name="Shape 68"/>
          <p:cNvSpPr/>
          <p:nvPr/>
        </p:nvSpPr>
        <p:spPr>
          <a:xfrm>
            <a:off x="5130800" y="5340350"/>
            <a:ext cx="203200" cy="76200"/>
          </a:xfrm>
          <a:prstGeom prst="rect">
            <a:avLst/>
          </a:prstGeom>
          <a:solidFill>
            <a:srgbClr val="1F6F7E"/>
          </a:solidFill>
          <a:ln/>
        </p:spPr>
      </p:sp>
      <p:sp>
        <p:nvSpPr>
          <p:cNvPr id="71" name="Text 69"/>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3" name="Shape 71"/>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74" name="Text 72"/>
          <p:cNvSpPr txBox="1"/>
          <p:nvPr/>
        </p:nvSpPr>
        <p:spPr>
          <a:xfrm>
            <a:off x="58420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75" name="Shape 73"/>
          <p:cNvSpPr/>
          <p:nvPr/>
        </p:nvSpPr>
        <p:spPr>
          <a:xfrm>
            <a:off x="5842000" y="5213350"/>
            <a:ext cx="1574800" cy="914"/>
          </a:xfrm>
          <a:prstGeom prst="line">
            <a:avLst/>
          </a:prstGeom>
          <a:noFill/>
          <a:ln w="12700">
            <a:solidFill>
              <a:srgbClr val="E3DED2"/>
            </a:solidFill>
            <a:prstDash val="solid"/>
          </a:ln>
        </p:spPr>
      </p:sp>
      <p:sp>
        <p:nvSpPr>
          <p:cNvPr id="76" name="Shape 74"/>
          <p:cNvSpPr/>
          <p:nvPr/>
        </p:nvSpPr>
        <p:spPr>
          <a:xfrm>
            <a:off x="6121400" y="5264150"/>
            <a:ext cx="203200" cy="152400"/>
          </a:xfrm>
          <a:prstGeom prst="rect">
            <a:avLst/>
          </a:prstGeom>
          <a:solidFill>
            <a:srgbClr val="1F6F7E"/>
          </a:solidFill>
          <a:ln/>
        </p:spPr>
      </p:sp>
      <p:sp>
        <p:nvSpPr>
          <p:cNvPr id="77" name="Text 75"/>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9" name="Shape 77"/>
          <p:cNvSpPr/>
          <p:nvPr/>
        </p:nvSpPr>
        <p:spPr>
          <a:xfrm>
            <a:off x="6527800" y="5302250"/>
            <a:ext cx="203200" cy="114300"/>
          </a:xfrm>
          <a:prstGeom prst="rect">
            <a:avLst/>
          </a:prstGeom>
          <a:solidFill>
            <a:srgbClr val="1F6F7E"/>
          </a:solidFill>
          <a:ln/>
        </p:spPr>
      </p:sp>
      <p:sp>
        <p:nvSpPr>
          <p:cNvPr id="80" name="Text 78"/>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Shape 80"/>
          <p:cNvSpPr/>
          <p:nvPr/>
        </p:nvSpPr>
        <p:spPr>
          <a:xfrm>
            <a:off x="6934200" y="5340350"/>
            <a:ext cx="203200" cy="76200"/>
          </a:xfrm>
          <a:prstGeom prst="rect">
            <a:avLst/>
          </a:prstGeom>
          <a:solidFill>
            <a:srgbClr val="1F6F7E"/>
          </a:solidFill>
          <a:ln/>
        </p:spPr>
      </p:sp>
      <p:sp>
        <p:nvSpPr>
          <p:cNvPr id="83" name="Text 81"/>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4" name="Text 82"/>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5" name="Shape 83"/>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86" name="Text 84"/>
          <p:cNvSpPr txBox="1"/>
          <p:nvPr/>
        </p:nvSpPr>
        <p:spPr>
          <a:xfrm>
            <a:off x="77724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New role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87" name="Shape 85"/>
          <p:cNvSpPr/>
          <p:nvPr/>
        </p:nvSpPr>
        <p:spPr>
          <a:xfrm>
            <a:off x="7772400" y="5213350"/>
            <a:ext cx="1574800" cy="914"/>
          </a:xfrm>
          <a:prstGeom prst="line">
            <a:avLst/>
          </a:prstGeom>
          <a:noFill/>
          <a:ln w="12700">
            <a:solidFill>
              <a:srgbClr val="E3DED2"/>
            </a:solidFill>
            <a:prstDash val="solid"/>
          </a:ln>
        </p:spPr>
      </p:sp>
      <p:sp>
        <p:nvSpPr>
          <p:cNvPr id="88" name="Shape 86"/>
          <p:cNvSpPr/>
          <p:nvPr/>
        </p:nvSpPr>
        <p:spPr>
          <a:xfrm>
            <a:off x="8051800" y="5264150"/>
            <a:ext cx="203200" cy="152400"/>
          </a:xfrm>
          <a:prstGeom prst="rect">
            <a:avLst/>
          </a:prstGeom>
          <a:solidFill>
            <a:srgbClr val="1F6F7E"/>
          </a:solidFill>
          <a:ln/>
        </p:spPr>
      </p:sp>
      <p:sp>
        <p:nvSpPr>
          <p:cNvPr id="89" name="Text 8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0" name="Text 8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91" name="Shape 89"/>
          <p:cNvSpPr/>
          <p:nvPr/>
        </p:nvSpPr>
        <p:spPr>
          <a:xfrm>
            <a:off x="8458200" y="5302250"/>
            <a:ext cx="203200" cy="114300"/>
          </a:xfrm>
          <a:prstGeom prst="rect">
            <a:avLst/>
          </a:prstGeom>
          <a:solidFill>
            <a:srgbClr val="1F6F7E"/>
          </a:solidFill>
          <a:ln/>
        </p:spPr>
      </p:sp>
      <p:sp>
        <p:nvSpPr>
          <p:cNvPr id="92" name="Text 9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3" name="Text 9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4" name="Shape 92"/>
          <p:cNvSpPr/>
          <p:nvPr/>
        </p:nvSpPr>
        <p:spPr>
          <a:xfrm>
            <a:off x="8864600" y="5340350"/>
            <a:ext cx="203200" cy="76200"/>
          </a:xfrm>
          <a:prstGeom prst="rect">
            <a:avLst/>
          </a:prstGeom>
          <a:solidFill>
            <a:srgbClr val="1F6F7E"/>
          </a:solidFill>
          <a:ln/>
        </p:spPr>
      </p:sp>
      <p:sp>
        <p:nvSpPr>
          <p:cNvPr id="95" name="Text 9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6" name="Text 9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7" name="Shape 9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98" name="Text 96"/>
          <p:cNvSpPr txBox="1"/>
          <p:nvPr/>
        </p:nvSpPr>
        <p:spPr>
          <a:xfrm>
            <a:off x="97028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New role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New role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New role [Lvl]</a:t>
            </a:r>
            <a:endParaRPr lang="en-US" sz="1200" dirty="0"/>
          </a:p>
        </p:txBody>
      </p:sp>
      <p:sp>
        <p:nvSpPr>
          <p:cNvPr id="99" name="Shape 97"/>
          <p:cNvSpPr/>
          <p:nvPr/>
        </p:nvSpPr>
        <p:spPr>
          <a:xfrm>
            <a:off x="9702800" y="5213350"/>
            <a:ext cx="1574800" cy="914"/>
          </a:xfrm>
          <a:prstGeom prst="line">
            <a:avLst/>
          </a:prstGeom>
          <a:noFill/>
          <a:ln w="12700">
            <a:solidFill>
              <a:srgbClr val="E3DED2"/>
            </a:solidFill>
            <a:prstDash val="solid"/>
          </a:ln>
        </p:spPr>
      </p:sp>
      <p:sp>
        <p:nvSpPr>
          <p:cNvPr id="100" name="Shape 98"/>
          <p:cNvSpPr/>
          <p:nvPr/>
        </p:nvSpPr>
        <p:spPr>
          <a:xfrm>
            <a:off x="9982200" y="5353050"/>
            <a:ext cx="203200" cy="63500"/>
          </a:xfrm>
          <a:prstGeom prst="rect">
            <a:avLst/>
          </a:prstGeom>
          <a:solidFill>
            <a:srgbClr val="E3A86B"/>
          </a:solidFill>
          <a:ln/>
        </p:spPr>
      </p:sp>
      <p:sp>
        <p:nvSpPr>
          <p:cNvPr id="101" name="Text 99"/>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2" name="Text 100"/>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3" name="Shape 101"/>
          <p:cNvSpPr/>
          <p:nvPr/>
        </p:nvSpPr>
        <p:spPr>
          <a:xfrm>
            <a:off x="10388600" y="5308600"/>
            <a:ext cx="203200" cy="107950"/>
          </a:xfrm>
          <a:prstGeom prst="rect">
            <a:avLst/>
          </a:prstGeom>
          <a:solidFill>
            <a:srgbClr val="E3A86B"/>
          </a:solidFill>
          <a:ln/>
        </p:spPr>
      </p:sp>
      <p:sp>
        <p:nvSpPr>
          <p:cNvPr id="104" name="Text 102"/>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5" name="Text 103"/>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6" name="Shape 104"/>
          <p:cNvSpPr/>
          <p:nvPr/>
        </p:nvSpPr>
        <p:spPr>
          <a:xfrm>
            <a:off x="10795000" y="5264150"/>
            <a:ext cx="203200" cy="152400"/>
          </a:xfrm>
          <a:prstGeom prst="rect">
            <a:avLst/>
          </a:prstGeom>
          <a:solidFill>
            <a:srgbClr val="E3A86B"/>
          </a:solidFill>
          <a:ln/>
        </p:spPr>
      </p:sp>
      <p:sp>
        <p:nvSpPr>
          <p:cNvPr id="107" name="Text 105"/>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8" name="Text 106"/>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9" name="Shape 107"/>
          <p:cNvSpPr/>
          <p:nvPr/>
        </p:nvSpPr>
        <p:spPr>
          <a:xfrm>
            <a:off x="6350000" y="1949450"/>
            <a:ext cx="127000" cy="127000"/>
          </a:xfrm>
          <a:prstGeom prst="rect">
            <a:avLst/>
          </a:prstGeom>
          <a:solidFill>
            <a:srgbClr val="4A5568"/>
          </a:solidFill>
          <a:ln/>
        </p:spPr>
      </p:sp>
      <p:sp>
        <p:nvSpPr>
          <p:cNvPr id="110" name="Text 108"/>
          <p:cNvSpPr txBox="1"/>
          <p:nvPr/>
        </p:nvSpPr>
        <p:spPr>
          <a:xfrm>
            <a:off x="6540500" y="1905000"/>
            <a:ext cx="15875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Filled</a:t>
            </a:r>
            <a:endParaRPr lang="en-US" sz="1200" dirty="0"/>
          </a:p>
        </p:txBody>
      </p:sp>
      <p:sp>
        <p:nvSpPr>
          <p:cNvPr id="111" name="Shape 109"/>
          <p:cNvSpPr/>
          <p:nvPr/>
        </p:nvSpPr>
        <p:spPr>
          <a:xfrm>
            <a:off x="7493000" y="1949450"/>
            <a:ext cx="127000" cy="127000"/>
          </a:xfrm>
          <a:prstGeom prst="rect">
            <a:avLst/>
          </a:prstGeom>
          <a:solidFill>
            <a:srgbClr val="A0521A"/>
          </a:solidFill>
          <a:ln/>
        </p:spPr>
      </p:sp>
      <p:sp>
        <p:nvSpPr>
          <p:cNvPr id="112" name="Text 110"/>
          <p:cNvSpPr txBox="1"/>
          <p:nvPr/>
        </p:nvSpPr>
        <p:spPr>
          <a:xfrm>
            <a:off x="7683500" y="1905000"/>
            <a:ext cx="15875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Backfill opening</a:t>
            </a:r>
            <a:endParaRPr lang="en-US" sz="1200" dirty="0"/>
          </a:p>
        </p:txBody>
      </p:sp>
      <p:sp>
        <p:nvSpPr>
          <p:cNvPr id="113" name="Shape 111"/>
          <p:cNvSpPr/>
          <p:nvPr/>
        </p:nvSpPr>
        <p:spPr>
          <a:xfrm>
            <a:off x="9207500" y="1949450"/>
            <a:ext cx="127000" cy="127000"/>
          </a:xfrm>
          <a:prstGeom prst="rect">
            <a:avLst/>
          </a:prstGeom>
          <a:solidFill>
            <a:srgbClr val="1F6F7E"/>
          </a:solidFill>
          <a:ln/>
        </p:spPr>
      </p:sp>
      <p:sp>
        <p:nvSpPr>
          <p:cNvPr id="114" name="Text 112"/>
          <p:cNvSpPr txBox="1"/>
          <p:nvPr/>
        </p:nvSpPr>
        <p:spPr>
          <a:xfrm>
            <a:off x="9398000" y="1905000"/>
            <a:ext cx="15875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F6F7E"/>
                </a:solidFill>
                <a:latin typeface="Optimist Sans" pitchFamily="34" charset="0"/>
                <a:ea typeface="Optimist Sans" pitchFamily="34" charset="-122"/>
                <a:cs typeface="Optimist Sans" pitchFamily="34" charset="-120"/>
              </a:rPr>
              <a:t>New investment</a:t>
            </a:r>
            <a:endParaRPr lang="en-US" sz="1200" dirty="0"/>
          </a:p>
        </p:txBody>
      </p:sp>
      <p:sp>
        <p:nvSpPr>
          <p:cNvPr id="115" name="Text 113"/>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show year-end headcount · Expected departures of [XYZ] associates are counted as backfill openings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incl. [n] openings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 target</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’26 includes open roles; ’27–’28 assume the team is fully staffed · Mix is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2026-10-24T14:14:44Z</dcterms:created>
  <dcterms:modified xsi:type="dcterms:W3CDTF">2026-10-24T14:14:44Z</dcterms:modified>
</cp:coreProperties>
</file>