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11bab82d-bf3a-dad3-1238-60455fd61e1e}">
          <p14:sldIdLst>
            <p14:sldId id="256"/>
            <p14:sldId id="257"/>
          </p14:sldIdLst>
        </p14:section>
        <p14:section name="How we organize" id="{6edda9af-58a8-fb5f-8577-c70a54bdf3f8}">
          <p14:sldIdLst>
            <p14:sldId id="258"/>
            <p14:sldId id="259"/>
            <p14:sldId id="260"/>
          </p14:sldIdLst>
        </p14:section>
        <p14:section name="What we do and how we grow" id="{262ebd2e-93f1-7195-9ae9-8bdba9784195}">
          <p14:sldIdLst>
            <p14:sldId id="261"/>
            <p14:sldId id="262"/>
            <p14:sldId id="263"/>
          </p14:sldIdLst>
        </p14:section>
        <p14:section name="Asks" id="{f7415e6b-23eb-d4ef-51d6-4dc9cfaa0197}">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With mid-level managers gone, the people stepping up, including the team lead, cover a broader scope; how we support them is still open. (2) Every lead takes on unfamiliar areas, for example Dual Risk Rating modeling and its business stakeholders. This is expected reorg pain; we lean on business analysts and former team members who know the area. (3) The new vision changes some earlier decisions (modeling choices, integration plans, tool development), which can cause rework and frustration. The answer is transparent communication of the vision to the whole team, not only to senior leaders; that is on the team lead to do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and both lead to senior levels. The IC path is about personal efficiency and leverage with AI; the manager path is about people, strategy and connecting teams. On performance: in a small, highly efficient team, forced ranking rewards out-competing peers rather than team growth — a dangerous culture over the long run.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leadership</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Mid-level managers left; leads cover more</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FDFCF9"/>
          </a:solidFill>
          <a:ln w="19050">
            <a:solidFill>
              <a:srgbClr val="1F6F7E"/>
            </a:solidFill>
            <a:prstDash val="dash"/>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[TBD: support model for stretched leads]</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Steep learning curve</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areas for leads, e.g., DRR and its stakeholders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and prior team members</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and frustration</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Vision revisits past model, integration, tool choices</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openly with the whole team, not just senior leaders</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clear career paths show every associate how to grow in the AI era</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794000"/>
          </a:xfrm>
          <a:prstGeom prst="roundRect">
            <a:avLst>
              <a:gd name="adj" fmla="val 1964"/>
            </a:avLst>
          </a:prstGeom>
          <a:solidFill>
            <a:srgbClr val="E1EEF0"/>
          </a:solidFill>
          <a:ln w="19050">
            <a:solidFill>
              <a:srgbClr val="1F6F7E"/>
            </a:solidFill>
            <a:prstDash val="solid"/>
          </a:ln>
        </p:spPr>
      </p:sp>
      <p:sp>
        <p:nvSpPr>
          <p:cNvPr id="11" name="Text 9"/>
          <p:cNvSpPr txBox="1"/>
          <p:nvPr/>
        </p:nvSpPr>
        <p:spPr>
          <a:xfrm>
            <a:off x="10160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a:t>
            </a:r>
            <a:endParaRPr lang="en-US" sz="1200" dirty="0"/>
          </a:p>
        </p:txBody>
      </p:sp>
      <p:sp>
        <p:nvSpPr>
          <p:cNvPr id="12" name="Text 10"/>
          <p:cNvSpPr txBox="1"/>
          <p:nvPr/>
        </p:nvSpPr>
        <p:spPr>
          <a:xfrm>
            <a:off x="10160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Senior individual contributor</a:t>
            </a:r>
            <a:endParaRPr lang="en-US" sz="1600" dirty="0"/>
          </a:p>
        </p:txBody>
      </p:sp>
      <p:sp>
        <p:nvSpPr>
          <p:cNvPr id="13" name="Text 11"/>
          <p:cNvSpPr txBox="1"/>
          <p:nvPr/>
        </p:nvSpPr>
        <p:spPr>
          <a:xfrm>
            <a:off x="10160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794000"/>
          </a:xfrm>
          <a:prstGeom prst="roundRect">
            <a:avLst>
              <a:gd name="adj" fmla="val 1964"/>
            </a:avLst>
          </a:prstGeom>
          <a:solidFill>
            <a:srgbClr val="F6E6D6"/>
          </a:solidFill>
          <a:ln w="19050">
            <a:solidFill>
              <a:srgbClr val="A0521A"/>
            </a:solidFill>
            <a:prstDash val="solid"/>
          </a:ln>
        </p:spPr>
      </p:sp>
      <p:sp>
        <p:nvSpPr>
          <p:cNvPr id="16" name="Text 14"/>
          <p:cNvSpPr txBox="1"/>
          <p:nvPr/>
        </p:nvSpPr>
        <p:spPr>
          <a:xfrm>
            <a:off x="4508500" y="31877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67100"/>
            <a:ext cx="28321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4127500"/>
            <a:ext cx="28321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5016500"/>
            <a:ext cx="2832100" cy="635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7848600" y="2286000"/>
            <a:ext cx="3530600" cy="3492500"/>
          </a:xfrm>
          <a:prstGeom prst="roundRect">
            <a:avLst>
              <a:gd name="adj" fmla="val 1571"/>
            </a:avLst>
          </a:prstGeom>
          <a:solidFill>
            <a:srgbClr val="ECEAE3"/>
          </a:solidFill>
          <a:ln/>
        </p:spPr>
      </p:sp>
      <p:pic>
        <p:nvPicPr>
          <p:cNvPr id="21"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2" name="Text 19"/>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3" name="Text 20"/>
          <p:cNvSpPr txBox="1"/>
          <p:nvPr/>
        </p:nvSpPr>
        <p:spPr>
          <a:xfrm>
            <a:off x="8051800" y="3556000"/>
            <a:ext cx="3124200" cy="1270000"/>
          </a:xfrm>
          <a:prstGeom prst="rect">
            <a:avLst/>
          </a:prstGeom>
          <a:noFill/>
          <a:ln/>
        </p:spPr>
        <p:txBody>
          <a:bodyPr wrap="square" lIns="0" tIns="0" rIns="0" bIns="0" rtlCol="0" anchor="t"/>
          <a:lstStyle/>
          <a:p>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As everyone gets more efficient, forcing a distribution pits peers against each other. That hurts sustainable growth and culture.</a:t>
            </a:r>
            <a:endParaRPr lang="en-US" sz="1300" dirty="0"/>
          </a:p>
        </p:txBody>
      </p:sp>
      <p:sp>
        <p:nvSpPr>
          <p:cNvPr id="24" name="Text 21"/>
          <p:cNvSpPr txBox="1"/>
          <p:nvPr/>
        </p:nvSpPr>
        <p:spPr>
          <a:xfrm>
            <a:off x="8051800" y="5016500"/>
            <a:ext cx="3124200" cy="571500"/>
          </a:xfrm>
          <a:prstGeom prst="rect">
            <a:avLst/>
          </a:prstGeom>
          <a:noFill/>
          <a:ln/>
        </p:spPr>
        <p:txBody>
          <a:bodyPr wrap="square" lIns="0" tIns="0" rIns="0" bIns="0" rtlCol="0" anchor="t"/>
          <a:lstStyle/>
          <a:p>
            <a:pPr algn="l" indent="0" marL="0">
              <a:lnSpc>
                <a:spcPct val="115000"/>
              </a:lnSpc>
              <a:buNone/>
            </a:pPr>
            <a:r>
              <a:rPr lang="en-US" sz="1300" dirty="0">
                <a:solidFill>
                  <a:srgbClr val="155563"/>
                </a:solidFill>
                <a:latin typeface="Optimist Sans" pitchFamily="34" charset="0"/>
                <a:ea typeface="Optimist Sans" pitchFamily="34" charset="-122"/>
                <a:cs typeface="Optimist Sans" pitchFamily="34" charset="-120"/>
              </a:rPr>
              <a:t>[Proposal, e.g., measure impact against goals]</a:t>
            </a:r>
            <a:endParaRPr lang="en-US" sz="1300" dirty="0"/>
          </a:p>
        </p:txBody>
      </p:sp>
      <p:sp>
        <p:nvSpPr>
          <p:cNvPr id="25" name="Text 22"/>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Text 27"/>
          <p:cNvSpPr txBox="1"/>
          <p:nvPr/>
        </p:nvSpPr>
        <p:spPr>
          <a:xfrm>
            <a:off x="8229600" y="4102100"/>
            <a:ext cx="2946400" cy="762000"/>
          </a:xfrm>
          <a:prstGeom prst="rect">
            <a:avLst/>
          </a:prstGeom>
          <a:noFill/>
          <a:ln/>
        </p:spPr>
        <p:txBody>
          <a:bodyPr wrap="square" lIns="0" tIns="0" rIns="0" bIns="0" rtlCol="0" anchor="t"/>
          <a:lstStyle/>
          <a:p>
            <a:pPr algn="l" indent="0" marL="0">
              <a:lnSpc>
                <a:spcPct val="125000"/>
              </a:lnSpc>
              <a:buNone/>
            </a:pPr>
            <a:r>
              <a:rPr lang="en-US" sz="1300" b="1" dirty="0">
                <a:solidFill>
                  <a:srgbClr val="4A5568"/>
                </a:solidFill>
                <a:latin typeface="Optimist Sans" pitchFamily="34" charset="0"/>
                <a:ea typeface="Optimist Sans" pitchFamily="34" charset="-122"/>
                <a:cs typeface="Optimist Sans" pitchFamily="34" charset="-120"/>
              </a:rPr>
              <a:t>Open question: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how do juniors build judgment when agents do entry-level work?</a:t>
            </a:r>
            <a:endParaRPr lang="en-US" sz="1300" dirty="0"/>
          </a:p>
        </p:txBody>
      </p:sp>
      <p:sp>
        <p:nvSpPr>
          <p:cNvPr id="30" name="Text 28"/>
          <p:cNvSpPr txBox="1"/>
          <p:nvPr/>
        </p:nvSpPr>
        <p:spPr>
          <a:xfrm>
            <a:off x="8229600" y="5016500"/>
            <a:ext cx="2946400" cy="279400"/>
          </a:xfrm>
          <a:prstGeom prst="rect">
            <a:avLst/>
          </a:prstGeom>
          <a:noFill/>
          <a:ln/>
        </p:spPr>
        <p:txBody>
          <a:bodyPr wrap="square" lIns="0" tIns="0" rIns="0" bIns="0" rtlCol="0" anchor="t"/>
          <a:lstStyle/>
          <a:p>
            <a:pPr algn="l" indent="0" marL="0">
              <a:lnSpc>
                <a:spcPct val="115000"/>
              </a:lnSpc>
              <a:buNone/>
            </a:pPr>
            <a:r>
              <a:rPr lang="en-US" sz="1300" dirty="0">
                <a:solidFill>
                  <a:srgbClr val="A0521A"/>
                </a:solidFill>
                <a:latin typeface="Optimist Sans" pitchFamily="34" charset="0"/>
                <a:ea typeface="Optimist Sans" pitchFamily="34" charset="-122"/>
                <a:cs typeface="Optimist Sans" pitchFamily="34" charset="-120"/>
              </a:rPr>
              <a:t>→ [Junior pipeline approach]</a:t>
            </a:r>
            <a:endParaRPr lang="en-US" sz="1300" dirty="0"/>
          </a:p>
        </p:txBody>
      </p:sp>
      <p:sp>
        <p:nvSpPr>
          <p:cNvPr id="31" name="Text 2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2026-10-23T02:08:12Z</dcterms:created>
  <dcterms:modified xsi:type="dcterms:W3CDTF">2026-10-23T02:08:12Z</dcterms:modified>
</cp:coreProperties>
</file>