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133c6a6f-61d8-183a-4696-aa2fb3cf5ae4}">
          <p14:sldIdLst>
            <p14:sldId id="256"/>
            <p14:sldId id="257"/>
          </p14:sldIdLst>
        </p14:section>
        <p14:section name="How we organize" id="{76974712-220d-693e-98a6-53b28bd7c958}">
          <p14:sldIdLst>
            <p14:sldId id="258"/>
            <p14:sldId id="259"/>
            <p14:sldId id="260"/>
          </p14:sldIdLst>
        </p14:section>
        <p14:section name="What we do and how we grow" id="{503e1cf9-d8a1-6f62-7037-427bc285a78d}">
          <p14:sldIdLst>
            <p14:sldId id="261"/>
            <p14:sldId id="262"/>
            <p14:sldId id="263"/>
          </p14:sldIdLst>
        </p14:section>
        <p14:section name="Asks" id="{58a758c0-5dfe-f639-241f-98e7961de3bc}">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today is modest, not a crisis — frame it as removing recurring overhead. The stretch roles are both an opportunity and a risk for the people in them. The point of this slide: every near-term cost has a named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and both lead to senior levels. The IC path is about personal efficiency and leverage with AI; the manager path is about people, strategy and connecting teams. On performance: in a small, highly efficient team, forced ranking rewards out-competing peers rather than team growth — a dangerous culture over the long run.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35300"/>
            <a:ext cx="228600" cy="228600"/>
          </a:xfrm>
          <a:prstGeom prst="rect">
            <a:avLst/>
          </a:prstGeom>
        </p:spPr>
      </p:pic>
      <p:sp>
        <p:nvSpPr>
          <p:cNvPr id="7" name="Text 4"/>
          <p:cNvSpPr txBox="1"/>
          <p:nvPr/>
        </p:nvSpPr>
        <p:spPr>
          <a:xfrm>
            <a:off x="1371600" y="30226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owner for AI initiatives</a:t>
            </a:r>
            <a:endParaRPr lang="en-US" sz="1400" dirty="0"/>
          </a:p>
        </p:txBody>
      </p:sp>
      <p:sp>
        <p:nvSpPr>
          <p:cNvPr id="8" name="Text 5"/>
          <p:cNvSpPr txBox="1"/>
          <p:nvPr/>
        </p:nvSpPr>
        <p:spPr>
          <a:xfrm>
            <a:off x="1371600" y="3302000"/>
            <a:ext cx="2857500" cy="4445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Key AI projects in one org, fewer hand-offs</a:t>
            </a:r>
            <a:endParaRPr lang="en-US" sz="1200" dirty="0"/>
          </a:p>
        </p:txBody>
      </p:sp>
      <p:pic>
        <p:nvPicPr>
          <p:cNvPr id="9" name="Image 1" descr="preencoded.png">    </p:cNvPr>
          <p:cNvPicPr>
            <a:picLocks noChangeAspect="1"/>
          </p:cNvPicPr>
          <p:nvPr/>
        </p:nvPicPr>
        <p:blipFill>
          <a:blip r:embed="rId2"/>
          <a:stretch>
            <a:fillRect/>
          </a:stretch>
        </p:blipFill>
        <p:spPr>
          <a:xfrm>
            <a:off x="1016000" y="3886200"/>
            <a:ext cx="228600" cy="228600"/>
          </a:xfrm>
          <a:prstGeom prst="rect">
            <a:avLst/>
          </a:prstGeom>
        </p:spPr>
      </p:pic>
      <p:sp>
        <p:nvSpPr>
          <p:cNvPr id="10" name="Text 6"/>
          <p:cNvSpPr txBox="1"/>
          <p:nvPr/>
        </p:nvSpPr>
        <p:spPr>
          <a:xfrm>
            <a:off x="1371600" y="38735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Less friction</a:t>
            </a:r>
            <a:endParaRPr lang="en-US" sz="1400" dirty="0"/>
          </a:p>
        </p:txBody>
      </p:sp>
      <p:sp>
        <p:nvSpPr>
          <p:cNvPr id="11" name="Text 7"/>
          <p:cNvSpPr txBox="1"/>
          <p:nvPr/>
        </p:nvSpPr>
        <p:spPr>
          <a:xfrm>
            <a:off x="1371600" y="4152900"/>
            <a:ext cx="2857500" cy="4445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Modelers are no longer an internal customer</a:t>
            </a:r>
            <a:endParaRPr lang="en-US" sz="1200" dirty="0"/>
          </a:p>
        </p:txBody>
      </p:sp>
      <p:pic>
        <p:nvPicPr>
          <p:cNvPr id="12" name="Image 2" descr="preencoded.png">    </p:cNvPr>
          <p:cNvPicPr>
            <a:picLocks noChangeAspect="1"/>
          </p:cNvPicPr>
          <p:nvPr/>
        </p:nvPicPr>
        <p:blipFill>
          <a:blip r:embed="rId3"/>
          <a:stretch>
            <a:fillRect/>
          </a:stretch>
        </p:blipFill>
        <p:spPr>
          <a:xfrm>
            <a:off x="1016000" y="4737100"/>
            <a:ext cx="228600" cy="228600"/>
          </a:xfrm>
          <a:prstGeom prst="rect">
            <a:avLst/>
          </a:prstGeom>
        </p:spPr>
      </p:pic>
      <p:sp>
        <p:nvSpPr>
          <p:cNvPr id="13" name="Text 8"/>
          <p:cNvSpPr txBox="1"/>
          <p:nvPr/>
        </p:nvSpPr>
        <p:spPr>
          <a:xfrm>
            <a:off x="1371600" y="47244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03800"/>
            <a:ext cx="2857500" cy="4445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Focus on critical work; leaner and nimbler</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12800"/>
          </a:xfrm>
          <a:prstGeom prst="roundRect">
            <a:avLst>
              <a:gd name="adj" fmla="val 11250"/>
            </a:avLst>
          </a:prstGeom>
          <a:solidFill>
            <a:srgbClr val="FDFCF9"/>
          </a:solidFill>
          <a:ln w="19050">
            <a:solidFill>
              <a:srgbClr val="A0521A"/>
            </a:solidFill>
            <a:prstDash val="solid"/>
          </a:ln>
        </p:spPr>
      </p:sp>
      <p:sp>
        <p:nvSpPr>
          <p:cNvPr id="18" name="Text 13"/>
          <p:cNvSpPr txBox="1"/>
          <p:nvPr/>
        </p:nvSpPr>
        <p:spPr>
          <a:xfrm>
            <a:off x="4826000" y="28956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Large new model scope</a:t>
            </a:r>
            <a:endParaRPr lang="en-US" sz="1400" dirty="0"/>
          </a:p>
        </p:txBody>
      </p:sp>
      <p:sp>
        <p:nvSpPr>
          <p:cNvPr id="19" name="Text 14"/>
          <p:cNvSpPr txBox="1"/>
          <p:nvPr/>
        </p:nvSpPr>
        <p:spPr>
          <a:xfrm>
            <a:off x="4826000" y="31877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Dual Risk Rating models</a:t>
            </a:r>
            <a:endParaRPr lang="en-US" sz="1200" dirty="0"/>
          </a:p>
        </p:txBody>
      </p:sp>
      <p:sp>
        <p:nvSpPr>
          <p:cNvPr id="20" name="Shape 15"/>
          <p:cNvSpPr/>
          <p:nvPr/>
        </p:nvSpPr>
        <p:spPr>
          <a:xfrm>
            <a:off x="7493000" y="3073400"/>
            <a:ext cx="406400" cy="203200"/>
          </a:xfrm>
          <a:prstGeom prst="rightArrow">
            <a:avLst/>
          </a:prstGeom>
          <a:solidFill>
            <a:srgbClr val="8A8F98"/>
          </a:solidFill>
          <a:ln/>
        </p:spPr>
      </p:sp>
      <p:sp>
        <p:nvSpPr>
          <p:cNvPr id="21" name="Shape 16"/>
          <p:cNvSpPr/>
          <p:nvPr/>
        </p:nvSpPr>
        <p:spPr>
          <a:xfrm>
            <a:off x="8051800" y="2768600"/>
            <a:ext cx="3327400" cy="812800"/>
          </a:xfrm>
          <a:prstGeom prst="roundRect">
            <a:avLst>
              <a:gd name="adj" fmla="val 11250"/>
            </a:avLst>
          </a:prstGeom>
          <a:solidFill>
            <a:srgbClr val="FDFCF9"/>
          </a:solidFill>
          <a:ln w="19050">
            <a:solidFill>
              <a:srgbClr val="1F6F7E"/>
            </a:solidFill>
            <a:prstDash val="dash"/>
          </a:ln>
        </p:spPr>
      </p:sp>
      <p:sp>
        <p:nvSpPr>
          <p:cNvPr id="22" name="Text 17"/>
          <p:cNvSpPr txBox="1"/>
          <p:nvPr/>
        </p:nvSpPr>
        <p:spPr>
          <a:xfrm>
            <a:off x="8204200" y="28956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[e.g., phased handover; lean on DRR experts in the team]</a:t>
            </a:r>
            <a:endParaRPr lang="en-US" sz="1200" dirty="0"/>
          </a:p>
        </p:txBody>
      </p:sp>
      <p:sp>
        <p:nvSpPr>
          <p:cNvPr id="23" name="Shape 18"/>
          <p:cNvSpPr/>
          <p:nvPr/>
        </p:nvSpPr>
        <p:spPr>
          <a:xfrm>
            <a:off x="4673600" y="3759200"/>
            <a:ext cx="2667000" cy="812800"/>
          </a:xfrm>
          <a:prstGeom prst="roundRect">
            <a:avLst>
              <a:gd name="adj" fmla="val 11250"/>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Leadership gap</a:t>
            </a:r>
            <a:endParaRPr lang="en-US" sz="1400" dirty="0"/>
          </a:p>
        </p:txBody>
      </p:sp>
      <p:sp>
        <p:nvSpPr>
          <p:cNvPr id="25" name="Text 20"/>
          <p:cNvSpPr txBox="1"/>
          <p:nvPr/>
        </p:nvSpPr>
        <p:spPr>
          <a:xfrm>
            <a:off x="4826000" y="41783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Interim leads left the team</a:t>
            </a:r>
            <a:endParaRPr lang="en-US" sz="1200" dirty="0"/>
          </a:p>
        </p:txBody>
      </p:sp>
      <p:sp>
        <p:nvSpPr>
          <p:cNvPr id="26" name="Shape 21"/>
          <p:cNvSpPr/>
          <p:nvPr/>
        </p:nvSpPr>
        <p:spPr>
          <a:xfrm>
            <a:off x="7493000" y="4064000"/>
            <a:ext cx="406400" cy="203200"/>
          </a:xfrm>
          <a:prstGeom prst="rightArrow">
            <a:avLst/>
          </a:prstGeom>
          <a:solidFill>
            <a:srgbClr val="8A8F98"/>
          </a:solidFill>
          <a:ln/>
        </p:spPr>
      </p:sp>
      <p:sp>
        <p:nvSpPr>
          <p:cNvPr id="27" name="Shape 22"/>
          <p:cNvSpPr/>
          <p:nvPr/>
        </p:nvSpPr>
        <p:spPr>
          <a:xfrm>
            <a:off x="8051800" y="3759200"/>
            <a:ext cx="3327400" cy="812800"/>
          </a:xfrm>
          <a:prstGeom prst="roundRect">
            <a:avLst>
              <a:gd name="adj" fmla="val 11250"/>
            </a:avLst>
          </a:prstGeom>
          <a:solidFill>
            <a:srgbClr val="FDFCF9"/>
          </a:solidFill>
          <a:ln w="19050">
            <a:solidFill>
              <a:srgbClr val="1F6F7E"/>
            </a:solidFill>
            <a:prstDash val="dash"/>
          </a:ln>
        </p:spPr>
      </p:sp>
      <p:sp>
        <p:nvSpPr>
          <p:cNvPr id="28" name="Text 23"/>
          <p:cNvSpPr txBox="1"/>
          <p:nvPr/>
        </p:nvSpPr>
        <p:spPr>
          <a:xfrm>
            <a:off x="8204200" y="38862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[e.g., coaching and backup for direct reports in stretch roles]</a:t>
            </a:r>
            <a:endParaRPr lang="en-US" sz="1200" dirty="0"/>
          </a:p>
        </p:txBody>
      </p:sp>
      <p:sp>
        <p:nvSpPr>
          <p:cNvPr id="29" name="Shape 24"/>
          <p:cNvSpPr/>
          <p:nvPr/>
        </p:nvSpPr>
        <p:spPr>
          <a:xfrm>
            <a:off x="4673600" y="4749800"/>
            <a:ext cx="2667000" cy="812800"/>
          </a:xfrm>
          <a:prstGeom prst="roundRect">
            <a:avLst>
              <a:gd name="adj" fmla="val 11250"/>
            </a:avLst>
          </a:prstGeom>
          <a:solidFill>
            <a:srgbClr val="FDFCF9"/>
          </a:solidFill>
          <a:ln w="19050">
            <a:solidFill>
              <a:srgbClr val="A0521A"/>
            </a:solidFill>
            <a:prstDash val="solid"/>
          </a:ln>
        </p:spPr>
      </p:sp>
      <p:sp>
        <p:nvSpPr>
          <p:cNvPr id="30" name="Text 25"/>
          <p:cNvSpPr txBox="1"/>
          <p:nvPr/>
        </p:nvSpPr>
        <p:spPr>
          <a:xfrm>
            <a:off x="4826000" y="48768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Growth and stretch pain</a:t>
            </a:r>
            <a:endParaRPr lang="en-US" sz="1400" dirty="0"/>
          </a:p>
        </p:txBody>
      </p:sp>
      <p:sp>
        <p:nvSpPr>
          <p:cNvPr id="31" name="Text 26"/>
          <p:cNvSpPr txBox="1"/>
          <p:nvPr/>
        </p:nvSpPr>
        <p:spPr>
          <a:xfrm>
            <a:off x="4826000" y="51689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Load rises as we adapt</a:t>
            </a:r>
            <a:endParaRPr lang="en-US" sz="1200" dirty="0"/>
          </a:p>
        </p:txBody>
      </p:sp>
      <p:sp>
        <p:nvSpPr>
          <p:cNvPr id="32" name="Shape 27"/>
          <p:cNvSpPr/>
          <p:nvPr/>
        </p:nvSpPr>
        <p:spPr>
          <a:xfrm>
            <a:off x="7493000" y="5054600"/>
            <a:ext cx="406400" cy="203200"/>
          </a:xfrm>
          <a:prstGeom prst="rightArrow">
            <a:avLst/>
          </a:prstGeom>
          <a:solidFill>
            <a:srgbClr val="8A8F98"/>
          </a:solidFill>
          <a:ln/>
        </p:spPr>
      </p:sp>
      <p:sp>
        <p:nvSpPr>
          <p:cNvPr id="33" name="Shape 28"/>
          <p:cNvSpPr/>
          <p:nvPr/>
        </p:nvSpPr>
        <p:spPr>
          <a:xfrm>
            <a:off x="8051800" y="4749800"/>
            <a:ext cx="3327400" cy="812800"/>
          </a:xfrm>
          <a:prstGeom prst="roundRect">
            <a:avLst>
              <a:gd name="adj" fmla="val 11250"/>
            </a:avLst>
          </a:prstGeom>
          <a:solidFill>
            <a:srgbClr val="FDFCF9"/>
          </a:solidFill>
          <a:ln w="19050">
            <a:solidFill>
              <a:srgbClr val="1F6F7E"/>
            </a:solidFill>
            <a:prstDash val="dash"/>
          </a:ln>
        </p:spPr>
      </p:sp>
      <p:sp>
        <p:nvSpPr>
          <p:cNvPr id="34" name="Text 29"/>
          <p:cNvSpPr txBox="1"/>
          <p:nvPr/>
        </p:nvSpPr>
        <p:spPr>
          <a:xfrm>
            <a:off x="8204200" y="48768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[e.g., sequence priorities; protect BAU capacity]</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boxes are placeholders to fill</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clear career paths show every associate how to grow in the AI era</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794000"/>
          </a:xfrm>
          <a:prstGeom prst="roundRect">
            <a:avLst>
              <a:gd name="adj" fmla="val 1964"/>
            </a:avLst>
          </a:prstGeom>
          <a:solidFill>
            <a:srgbClr val="E1EEF0"/>
          </a:solidFill>
          <a:ln w="19050">
            <a:solidFill>
              <a:srgbClr val="1F6F7E"/>
            </a:solidFill>
            <a:prstDash val="solid"/>
          </a:ln>
        </p:spPr>
      </p:sp>
      <p:sp>
        <p:nvSpPr>
          <p:cNvPr id="11" name="Text 9"/>
          <p:cNvSpPr txBox="1"/>
          <p:nvPr/>
        </p:nvSpPr>
        <p:spPr>
          <a:xfrm>
            <a:off x="10160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a:t>
            </a:r>
            <a:endParaRPr lang="en-US" sz="1200" dirty="0"/>
          </a:p>
        </p:txBody>
      </p:sp>
      <p:sp>
        <p:nvSpPr>
          <p:cNvPr id="12" name="Text 10"/>
          <p:cNvSpPr txBox="1"/>
          <p:nvPr/>
        </p:nvSpPr>
        <p:spPr>
          <a:xfrm>
            <a:off x="10160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Senior individual contributor</a:t>
            </a:r>
            <a:endParaRPr lang="en-US" sz="1600" dirty="0"/>
          </a:p>
        </p:txBody>
      </p:sp>
      <p:sp>
        <p:nvSpPr>
          <p:cNvPr id="13" name="Text 11"/>
          <p:cNvSpPr txBox="1"/>
          <p:nvPr/>
        </p:nvSpPr>
        <p:spPr>
          <a:xfrm>
            <a:off x="10160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4" name="Text 12"/>
          <p:cNvSpPr txBox="1"/>
          <p:nvPr/>
        </p:nvSpPr>
        <p:spPr>
          <a:xfrm>
            <a:off x="10160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5" name="Shape 13"/>
          <p:cNvSpPr/>
          <p:nvPr/>
        </p:nvSpPr>
        <p:spPr>
          <a:xfrm>
            <a:off x="4305300" y="2984500"/>
            <a:ext cx="3238500" cy="2794000"/>
          </a:xfrm>
          <a:prstGeom prst="roundRect">
            <a:avLst>
              <a:gd name="adj" fmla="val 1964"/>
            </a:avLst>
          </a:prstGeom>
          <a:solidFill>
            <a:srgbClr val="F6E6D6"/>
          </a:solidFill>
          <a:ln w="19050">
            <a:solidFill>
              <a:srgbClr val="A0521A"/>
            </a:solidFill>
            <a:prstDash val="solid"/>
          </a:ln>
        </p:spPr>
      </p:sp>
      <p:sp>
        <p:nvSpPr>
          <p:cNvPr id="16" name="Text 14"/>
          <p:cNvSpPr txBox="1"/>
          <p:nvPr/>
        </p:nvSpPr>
        <p:spPr>
          <a:xfrm>
            <a:off x="45085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7" name="Text 15"/>
          <p:cNvSpPr txBox="1"/>
          <p:nvPr/>
        </p:nvSpPr>
        <p:spPr>
          <a:xfrm>
            <a:off x="45085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8" name="Text 16"/>
          <p:cNvSpPr txBox="1"/>
          <p:nvPr/>
        </p:nvSpPr>
        <p:spPr>
          <a:xfrm>
            <a:off x="45085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19" name="Text 17"/>
          <p:cNvSpPr txBox="1"/>
          <p:nvPr/>
        </p:nvSpPr>
        <p:spPr>
          <a:xfrm>
            <a:off x="45085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0" name="Shape 18"/>
          <p:cNvSpPr/>
          <p:nvPr/>
        </p:nvSpPr>
        <p:spPr>
          <a:xfrm>
            <a:off x="7848600" y="2286000"/>
            <a:ext cx="3530600" cy="3492500"/>
          </a:xfrm>
          <a:prstGeom prst="roundRect">
            <a:avLst>
              <a:gd name="adj" fmla="val 1571"/>
            </a:avLst>
          </a:prstGeom>
          <a:solidFill>
            <a:srgbClr val="ECEAE3"/>
          </a:solidFill>
          <a:ln/>
        </p:spPr>
      </p:sp>
      <p:pic>
        <p:nvPicPr>
          <p:cNvPr id="21"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2" name="Text 19"/>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3" name="Text 20"/>
          <p:cNvSpPr txBox="1"/>
          <p:nvPr/>
        </p:nvSpPr>
        <p:spPr>
          <a:xfrm>
            <a:off x="8051800" y="3556000"/>
            <a:ext cx="3124200" cy="12700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As everyone gets more efficient, forcing a distribution pits peers against each other. That hurts sustainable growth and culture.</a:t>
            </a:r>
            <a:endParaRPr lang="en-US" sz="1300" dirty="0"/>
          </a:p>
        </p:txBody>
      </p:sp>
      <p:sp>
        <p:nvSpPr>
          <p:cNvPr id="24" name="Text 21"/>
          <p:cNvSpPr txBox="1"/>
          <p:nvPr/>
        </p:nvSpPr>
        <p:spPr>
          <a:xfrm>
            <a:off x="8051800" y="5016500"/>
            <a:ext cx="3124200" cy="571500"/>
          </a:xfrm>
          <a:prstGeom prst="rect">
            <a:avLst/>
          </a:prstGeom>
          <a:noFill/>
          <a:ln/>
        </p:spPr>
        <p:txBody>
          <a:bodyPr wrap="square" lIns="0" tIns="0" rIns="0" bIns="0" rtlCol="0" anchor="t"/>
          <a:lstStyle/>
          <a:p>
            <a:pPr algn="l" indent="0" marL="0">
              <a:lnSpc>
                <a:spcPct val="115000"/>
              </a:lnSpc>
              <a:buNone/>
            </a:pPr>
            <a:r>
              <a:rPr lang="en-US" sz="1300" dirty="0">
                <a:solidFill>
                  <a:srgbClr val="155563"/>
                </a:solidFill>
                <a:latin typeface="Optimist Sans" pitchFamily="34" charset="0"/>
                <a:ea typeface="Optimist Sans" pitchFamily="34" charset="-122"/>
                <a:cs typeface="Optimist Sans" pitchFamily="34" charset="-120"/>
              </a:rPr>
              <a:t>[Proposal, e.g., measure impact against goals]</a:t>
            </a:r>
            <a:endParaRPr lang="en-US" sz="1300" dirty="0"/>
          </a:p>
        </p:txBody>
      </p:sp>
      <p:sp>
        <p:nvSpPr>
          <p:cNvPr id="25" name="Text 22"/>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Text 27"/>
          <p:cNvSpPr txBox="1"/>
          <p:nvPr/>
        </p:nvSpPr>
        <p:spPr>
          <a:xfrm>
            <a:off x="8229600" y="4102100"/>
            <a:ext cx="2946400" cy="762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Open question: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how do juniors build judgment when agents do entry-level work?</a:t>
            </a:r>
            <a:endParaRPr lang="en-US" sz="1300" dirty="0"/>
          </a:p>
        </p:txBody>
      </p:sp>
      <p:sp>
        <p:nvSpPr>
          <p:cNvPr id="30" name="Text 28"/>
          <p:cNvSpPr txBox="1"/>
          <p:nvPr/>
        </p:nvSpPr>
        <p:spPr>
          <a:xfrm>
            <a:off x="8229600" y="5016500"/>
            <a:ext cx="2946400" cy="279400"/>
          </a:xfrm>
          <a:prstGeom prst="rect">
            <a:avLst/>
          </a:prstGeom>
          <a:noFill/>
          <a:ln/>
        </p:spPr>
        <p:txBody>
          <a:bodyPr wrap="square" lIns="0" tIns="0" rIns="0" bIns="0" rtlCol="0" anchor="t"/>
          <a:lstStyle/>
          <a:p>
            <a:pPr algn="l" indent="0" marL="0">
              <a:lnSpc>
                <a:spcPct val="115000"/>
              </a:lnSpc>
              <a:buNone/>
            </a:pPr>
            <a:r>
              <a:rPr lang="en-US" sz="1300" dirty="0">
                <a:solidFill>
                  <a:srgbClr val="A0521A"/>
                </a:solidFill>
                <a:latin typeface="Optimist Sans" pitchFamily="34" charset="0"/>
                <a:ea typeface="Optimist Sans" pitchFamily="34" charset="-122"/>
                <a:cs typeface="Optimist Sans" pitchFamily="34" charset="-120"/>
              </a:rPr>
              <a:t>→ [Junior pipeline approach]</a:t>
            </a:r>
            <a:endParaRPr lang="en-US" sz="1300" dirty="0"/>
          </a:p>
        </p:txBody>
      </p:sp>
      <p:sp>
        <p:nvSpPr>
          <p:cNvPr id="31" name="Text 2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2026-10-22T12:44:21Z</dcterms:created>
  <dcterms:modified xsi:type="dcterms:W3CDTF">2026-10-22T12:44:21Z</dcterms:modified>
</cp:coreProperties>
</file>