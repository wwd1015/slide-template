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8ab3bafe-f1e9-d98e-e1cf-756a3fde9200}">
          <p14:sldIdLst>
            <p14:sldId id="256"/>
            <p14:sldId id="257"/>
          </p14:sldIdLst>
        </p14:section>
        <p14:section name="How we organize" id="{a2ed3e44-986b-d39b-768d-1a3e900c6768}">
          <p14:sldIdLst>
            <p14:sldId id="258"/>
            <p14:sldId id="259"/>
            <p14:sldId id="260"/>
          </p14:sldIdLst>
        </p14:section>
        <p14:section name="What we do and how we grow" id="{72fc09b2-23d5-81fa-a102-ed54b486b482}">
          <p14:sldIdLst>
            <p14:sldId id="261"/>
            <p14:sldId id="262"/>
            <p14:sldId id="263"/>
          </p14:sldIdLst>
        </p14:section>
        <p14:section name="Asks" id="{4a88db08-c148-1b6f-7013-fbcbb5285108}">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today is modest, not a crisis — frame it as removing recurring overhead. The stretch roles are both an opportunity and a risk for the people in them. The point of this slide: every near-term cost has a named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&amp; Automation: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today almost all capacity goes to BAU, and dedicated AI work is near zero. AI and new tooling let BAU shrink,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The fourth is covered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Both paths are equally valued and both lead to senior levels. The IC path is about personal efficiency and leverage with AI; the manager path is about people, strategy and connecting teams. On performance: in a small, highly efficient team, forced ranking rewards out-competing peers rather than team growth — a dangerous culture over the long run.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Calibri" pitchFamily="34" charset="0"/>
                <a:ea typeface="Calibri" pitchFamily="34" charset="-122"/>
                <a:cs typeface="Calibri"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Cambria" pitchFamily="34" charset="0"/>
                <a:ea typeface="Cambria" pitchFamily="34" charset="-122"/>
                <a:cs typeface="Cambria"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Calibri" pitchFamily="34" charset="0"/>
                <a:ea typeface="Calibri" pitchFamily="34" charset="-122"/>
                <a:cs typeface="Calibri"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Calibri" pitchFamily="34" charset="0"/>
                <a:ea typeface="Calibri" pitchFamily="34" charset="-122"/>
                <a:cs typeface="Calibri"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Calibri" pitchFamily="34" charset="0"/>
                <a:ea typeface="Calibri" pitchFamily="34" charset="-122"/>
                <a:cs typeface="Calibri"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Cambria" pitchFamily="34" charset="0"/>
                <a:ea typeface="Cambria" pitchFamily="34" charset="-122"/>
                <a:cs typeface="Cambria"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Calibri" pitchFamily="34" charset="0"/>
                <a:ea typeface="Calibri" pitchFamily="34" charset="-122"/>
                <a:cs typeface="Calibri"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35300"/>
            <a:ext cx="228600" cy="228600"/>
          </a:xfrm>
          <a:prstGeom prst="rect">
            <a:avLst/>
          </a:prstGeom>
        </p:spPr>
      </p:pic>
      <p:sp>
        <p:nvSpPr>
          <p:cNvPr id="7" name="Text 4"/>
          <p:cNvSpPr txBox="1"/>
          <p:nvPr/>
        </p:nvSpPr>
        <p:spPr>
          <a:xfrm>
            <a:off x="1371600" y="30226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Calibri" pitchFamily="34" charset="0"/>
                <a:ea typeface="Calibri" pitchFamily="34" charset="-122"/>
                <a:cs typeface="Calibri" pitchFamily="34" charset="-120"/>
              </a:rPr>
              <a:t>One owner for AI initiatives</a:t>
            </a:r>
            <a:endParaRPr lang="en-US" sz="1400" dirty="0"/>
          </a:p>
        </p:txBody>
      </p:sp>
      <p:sp>
        <p:nvSpPr>
          <p:cNvPr id="8" name="Text 5"/>
          <p:cNvSpPr txBox="1"/>
          <p:nvPr/>
        </p:nvSpPr>
        <p:spPr>
          <a:xfrm>
            <a:off x="1371600" y="3302000"/>
            <a:ext cx="2857500" cy="4445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Calibri" pitchFamily="34" charset="0"/>
                <a:ea typeface="Calibri" pitchFamily="34" charset="-122"/>
                <a:cs typeface="Calibri" pitchFamily="34" charset="-120"/>
              </a:rPr>
              <a:t>Key AI projects in one org, fewer hand-offs</a:t>
            </a:r>
            <a:endParaRPr lang="en-US" sz="1200" dirty="0"/>
          </a:p>
        </p:txBody>
      </p:sp>
      <p:pic>
        <p:nvPicPr>
          <p:cNvPr id="9" name="Image 1" descr="preencoded.png">    </p:cNvPr>
          <p:cNvPicPr>
            <a:picLocks noChangeAspect="1"/>
          </p:cNvPicPr>
          <p:nvPr/>
        </p:nvPicPr>
        <p:blipFill>
          <a:blip r:embed="rId2"/>
          <a:stretch>
            <a:fillRect/>
          </a:stretch>
        </p:blipFill>
        <p:spPr>
          <a:xfrm>
            <a:off x="1016000" y="3886200"/>
            <a:ext cx="228600" cy="228600"/>
          </a:xfrm>
          <a:prstGeom prst="rect">
            <a:avLst/>
          </a:prstGeom>
        </p:spPr>
      </p:pic>
      <p:sp>
        <p:nvSpPr>
          <p:cNvPr id="10" name="Text 6"/>
          <p:cNvSpPr txBox="1"/>
          <p:nvPr/>
        </p:nvSpPr>
        <p:spPr>
          <a:xfrm>
            <a:off x="1371600" y="38735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Calibri" pitchFamily="34" charset="0"/>
                <a:ea typeface="Calibri" pitchFamily="34" charset="-122"/>
                <a:cs typeface="Calibri" pitchFamily="34" charset="-120"/>
              </a:rPr>
              <a:t>Less friction</a:t>
            </a:r>
            <a:endParaRPr lang="en-US" sz="1400" dirty="0"/>
          </a:p>
        </p:txBody>
      </p:sp>
      <p:sp>
        <p:nvSpPr>
          <p:cNvPr id="11" name="Text 7"/>
          <p:cNvSpPr txBox="1"/>
          <p:nvPr/>
        </p:nvSpPr>
        <p:spPr>
          <a:xfrm>
            <a:off x="1371600" y="4152900"/>
            <a:ext cx="2857500" cy="4445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Calibri" pitchFamily="34" charset="0"/>
                <a:ea typeface="Calibri" pitchFamily="34" charset="-122"/>
                <a:cs typeface="Calibri" pitchFamily="34" charset="-120"/>
              </a:rPr>
              <a:t>Modelers are no longer an internal customer</a:t>
            </a:r>
            <a:endParaRPr lang="en-US" sz="1200" dirty="0"/>
          </a:p>
        </p:txBody>
      </p:sp>
      <p:pic>
        <p:nvPicPr>
          <p:cNvPr id="12" name="Image 2" descr="preencoded.png">    </p:cNvPr>
          <p:cNvPicPr>
            <a:picLocks noChangeAspect="1"/>
          </p:cNvPicPr>
          <p:nvPr/>
        </p:nvPicPr>
        <p:blipFill>
          <a:blip r:embed="rId3"/>
          <a:stretch>
            <a:fillRect/>
          </a:stretch>
        </p:blipFill>
        <p:spPr>
          <a:xfrm>
            <a:off x="1016000" y="4737100"/>
            <a:ext cx="228600" cy="228600"/>
          </a:xfrm>
          <a:prstGeom prst="rect">
            <a:avLst/>
          </a:prstGeom>
        </p:spPr>
      </p:pic>
      <p:sp>
        <p:nvSpPr>
          <p:cNvPr id="13" name="Text 8"/>
          <p:cNvSpPr txBox="1"/>
          <p:nvPr/>
        </p:nvSpPr>
        <p:spPr>
          <a:xfrm>
            <a:off x="1371600" y="47244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Calibri" pitchFamily="34" charset="0"/>
                <a:ea typeface="Calibri" pitchFamily="34" charset="-122"/>
                <a:cs typeface="Calibri" pitchFamily="34" charset="-120"/>
              </a:rPr>
              <a:t>One flexible talent pool</a:t>
            </a:r>
            <a:endParaRPr lang="en-US" sz="1400" dirty="0"/>
          </a:p>
        </p:txBody>
      </p:sp>
      <p:sp>
        <p:nvSpPr>
          <p:cNvPr id="14" name="Text 9"/>
          <p:cNvSpPr txBox="1"/>
          <p:nvPr/>
        </p:nvSpPr>
        <p:spPr>
          <a:xfrm>
            <a:off x="1371600" y="5003800"/>
            <a:ext cx="2857500" cy="4445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Calibri" pitchFamily="34" charset="0"/>
                <a:ea typeface="Calibri" pitchFamily="34" charset="-122"/>
                <a:cs typeface="Calibri" pitchFamily="34" charset="-120"/>
              </a:rPr>
              <a:t>Focus on critical work; leaner and nimbler</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Calibri" pitchFamily="34" charset="0"/>
                <a:ea typeface="Calibri" pitchFamily="34" charset="-122"/>
                <a:cs typeface="Calibri"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Calibri" pitchFamily="34" charset="0"/>
                <a:ea typeface="Calibri" pitchFamily="34" charset="-122"/>
                <a:cs typeface="Calibri" pitchFamily="34" charset="-120"/>
              </a:rPr>
              <a:t>HOW WE ADDRESS IT</a:t>
            </a:r>
            <a:endParaRPr lang="en-US" sz="1200" dirty="0"/>
          </a:p>
        </p:txBody>
      </p:sp>
      <p:sp>
        <p:nvSpPr>
          <p:cNvPr id="17" name="Shape 12"/>
          <p:cNvSpPr/>
          <p:nvPr/>
        </p:nvSpPr>
        <p:spPr>
          <a:xfrm>
            <a:off x="4673600" y="2768600"/>
            <a:ext cx="2667000" cy="812800"/>
          </a:xfrm>
          <a:prstGeom prst="roundRect">
            <a:avLst>
              <a:gd name="adj" fmla="val 11250"/>
            </a:avLst>
          </a:prstGeom>
          <a:solidFill>
            <a:srgbClr val="FDFCF9"/>
          </a:solidFill>
          <a:ln w="19050">
            <a:solidFill>
              <a:srgbClr val="A0521A"/>
            </a:solidFill>
            <a:prstDash val="solid"/>
          </a:ln>
        </p:spPr>
      </p:sp>
      <p:sp>
        <p:nvSpPr>
          <p:cNvPr id="18" name="Text 13"/>
          <p:cNvSpPr txBox="1"/>
          <p:nvPr/>
        </p:nvSpPr>
        <p:spPr>
          <a:xfrm>
            <a:off x="4826000" y="28956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Calibri" pitchFamily="34" charset="0"/>
                <a:ea typeface="Calibri" pitchFamily="34" charset="-122"/>
                <a:cs typeface="Calibri" pitchFamily="34" charset="-120"/>
              </a:rPr>
              <a:t>Large new model scope</a:t>
            </a:r>
            <a:endParaRPr lang="en-US" sz="1400" dirty="0"/>
          </a:p>
        </p:txBody>
      </p:sp>
      <p:sp>
        <p:nvSpPr>
          <p:cNvPr id="19" name="Text 14"/>
          <p:cNvSpPr txBox="1"/>
          <p:nvPr/>
        </p:nvSpPr>
        <p:spPr>
          <a:xfrm>
            <a:off x="4826000" y="3187700"/>
            <a:ext cx="2413000" cy="2540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Calibri" pitchFamily="34" charset="0"/>
                <a:ea typeface="Calibri" pitchFamily="34" charset="-122"/>
                <a:cs typeface="Calibri" pitchFamily="34" charset="-120"/>
              </a:rPr>
              <a:t>Dual Risk Rating models</a:t>
            </a:r>
            <a:endParaRPr lang="en-US" sz="1200" dirty="0"/>
          </a:p>
        </p:txBody>
      </p:sp>
      <p:sp>
        <p:nvSpPr>
          <p:cNvPr id="20" name="Shape 15"/>
          <p:cNvSpPr/>
          <p:nvPr/>
        </p:nvSpPr>
        <p:spPr>
          <a:xfrm>
            <a:off x="7493000" y="3073400"/>
            <a:ext cx="406400" cy="203200"/>
          </a:xfrm>
          <a:prstGeom prst="rightArrow">
            <a:avLst/>
          </a:prstGeom>
          <a:solidFill>
            <a:srgbClr val="8A8F98"/>
          </a:solidFill>
          <a:ln/>
        </p:spPr>
      </p:sp>
      <p:sp>
        <p:nvSpPr>
          <p:cNvPr id="21" name="Shape 16"/>
          <p:cNvSpPr/>
          <p:nvPr/>
        </p:nvSpPr>
        <p:spPr>
          <a:xfrm>
            <a:off x="8051800" y="2768600"/>
            <a:ext cx="3327400" cy="812800"/>
          </a:xfrm>
          <a:prstGeom prst="roundRect">
            <a:avLst>
              <a:gd name="adj" fmla="val 11250"/>
            </a:avLst>
          </a:prstGeom>
          <a:solidFill>
            <a:srgbClr val="FDFCF9"/>
          </a:solidFill>
          <a:ln w="19050">
            <a:solidFill>
              <a:srgbClr val="1F6F7E"/>
            </a:solidFill>
            <a:prstDash val="dash"/>
          </a:ln>
        </p:spPr>
      </p:sp>
      <p:sp>
        <p:nvSpPr>
          <p:cNvPr id="22" name="Text 17"/>
          <p:cNvSpPr txBox="1"/>
          <p:nvPr/>
        </p:nvSpPr>
        <p:spPr>
          <a:xfrm>
            <a:off x="8204200" y="2895600"/>
            <a:ext cx="3022600" cy="5715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Calibri" pitchFamily="34" charset="0"/>
                <a:ea typeface="Calibri" pitchFamily="34" charset="-122"/>
                <a:cs typeface="Calibri" pitchFamily="34" charset="-120"/>
              </a:rPr>
              <a:t>[e.g., phased handover; lean on DRR experts in the team]</a:t>
            </a:r>
            <a:endParaRPr lang="en-US" sz="1200" dirty="0"/>
          </a:p>
        </p:txBody>
      </p:sp>
      <p:sp>
        <p:nvSpPr>
          <p:cNvPr id="23" name="Shape 18"/>
          <p:cNvSpPr/>
          <p:nvPr/>
        </p:nvSpPr>
        <p:spPr>
          <a:xfrm>
            <a:off x="4673600" y="3759200"/>
            <a:ext cx="2667000" cy="812800"/>
          </a:xfrm>
          <a:prstGeom prst="roundRect">
            <a:avLst>
              <a:gd name="adj" fmla="val 11250"/>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Calibri" pitchFamily="34" charset="0"/>
                <a:ea typeface="Calibri" pitchFamily="34" charset="-122"/>
                <a:cs typeface="Calibri" pitchFamily="34" charset="-120"/>
              </a:rPr>
              <a:t>Leadership gap</a:t>
            </a:r>
            <a:endParaRPr lang="en-US" sz="1400" dirty="0"/>
          </a:p>
        </p:txBody>
      </p:sp>
      <p:sp>
        <p:nvSpPr>
          <p:cNvPr id="25" name="Text 20"/>
          <p:cNvSpPr txBox="1"/>
          <p:nvPr/>
        </p:nvSpPr>
        <p:spPr>
          <a:xfrm>
            <a:off x="4826000" y="4178300"/>
            <a:ext cx="2413000" cy="2540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Calibri" pitchFamily="34" charset="0"/>
                <a:ea typeface="Calibri" pitchFamily="34" charset="-122"/>
                <a:cs typeface="Calibri" pitchFamily="34" charset="-120"/>
              </a:rPr>
              <a:t>Interim leads left the team</a:t>
            </a:r>
            <a:endParaRPr lang="en-US" sz="1200" dirty="0"/>
          </a:p>
        </p:txBody>
      </p:sp>
      <p:sp>
        <p:nvSpPr>
          <p:cNvPr id="26" name="Shape 21"/>
          <p:cNvSpPr/>
          <p:nvPr/>
        </p:nvSpPr>
        <p:spPr>
          <a:xfrm>
            <a:off x="7493000" y="4064000"/>
            <a:ext cx="406400" cy="203200"/>
          </a:xfrm>
          <a:prstGeom prst="rightArrow">
            <a:avLst/>
          </a:prstGeom>
          <a:solidFill>
            <a:srgbClr val="8A8F98"/>
          </a:solidFill>
          <a:ln/>
        </p:spPr>
      </p:sp>
      <p:sp>
        <p:nvSpPr>
          <p:cNvPr id="27" name="Shape 22"/>
          <p:cNvSpPr/>
          <p:nvPr/>
        </p:nvSpPr>
        <p:spPr>
          <a:xfrm>
            <a:off x="8051800" y="3759200"/>
            <a:ext cx="3327400" cy="812800"/>
          </a:xfrm>
          <a:prstGeom prst="roundRect">
            <a:avLst>
              <a:gd name="adj" fmla="val 11250"/>
            </a:avLst>
          </a:prstGeom>
          <a:solidFill>
            <a:srgbClr val="FDFCF9"/>
          </a:solidFill>
          <a:ln w="19050">
            <a:solidFill>
              <a:srgbClr val="1F6F7E"/>
            </a:solidFill>
            <a:prstDash val="dash"/>
          </a:ln>
        </p:spPr>
      </p:sp>
      <p:sp>
        <p:nvSpPr>
          <p:cNvPr id="28" name="Text 23"/>
          <p:cNvSpPr txBox="1"/>
          <p:nvPr/>
        </p:nvSpPr>
        <p:spPr>
          <a:xfrm>
            <a:off x="8204200" y="3886200"/>
            <a:ext cx="3022600" cy="5715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Calibri" pitchFamily="34" charset="0"/>
                <a:ea typeface="Calibri" pitchFamily="34" charset="-122"/>
                <a:cs typeface="Calibri" pitchFamily="34" charset="-120"/>
              </a:rPr>
              <a:t>[e.g., coaching and backup for direct reports in stretch roles]</a:t>
            </a:r>
            <a:endParaRPr lang="en-US" sz="1200" dirty="0"/>
          </a:p>
        </p:txBody>
      </p:sp>
      <p:sp>
        <p:nvSpPr>
          <p:cNvPr id="29" name="Shape 24"/>
          <p:cNvSpPr/>
          <p:nvPr/>
        </p:nvSpPr>
        <p:spPr>
          <a:xfrm>
            <a:off x="4673600" y="4749800"/>
            <a:ext cx="2667000" cy="812800"/>
          </a:xfrm>
          <a:prstGeom prst="roundRect">
            <a:avLst>
              <a:gd name="adj" fmla="val 11250"/>
            </a:avLst>
          </a:prstGeom>
          <a:solidFill>
            <a:srgbClr val="FDFCF9"/>
          </a:solidFill>
          <a:ln w="19050">
            <a:solidFill>
              <a:srgbClr val="A0521A"/>
            </a:solidFill>
            <a:prstDash val="solid"/>
          </a:ln>
        </p:spPr>
      </p:sp>
      <p:sp>
        <p:nvSpPr>
          <p:cNvPr id="30" name="Text 25"/>
          <p:cNvSpPr txBox="1"/>
          <p:nvPr/>
        </p:nvSpPr>
        <p:spPr>
          <a:xfrm>
            <a:off x="4826000" y="48768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Calibri" pitchFamily="34" charset="0"/>
                <a:ea typeface="Calibri" pitchFamily="34" charset="-122"/>
                <a:cs typeface="Calibri" pitchFamily="34" charset="-120"/>
              </a:rPr>
              <a:t>Growth and stretch pain</a:t>
            </a:r>
            <a:endParaRPr lang="en-US" sz="1400" dirty="0"/>
          </a:p>
        </p:txBody>
      </p:sp>
      <p:sp>
        <p:nvSpPr>
          <p:cNvPr id="31" name="Text 26"/>
          <p:cNvSpPr txBox="1"/>
          <p:nvPr/>
        </p:nvSpPr>
        <p:spPr>
          <a:xfrm>
            <a:off x="4826000" y="5168900"/>
            <a:ext cx="2413000" cy="2540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Calibri" pitchFamily="34" charset="0"/>
                <a:ea typeface="Calibri" pitchFamily="34" charset="-122"/>
                <a:cs typeface="Calibri" pitchFamily="34" charset="-120"/>
              </a:rPr>
              <a:t>Load rises as we adapt</a:t>
            </a:r>
            <a:endParaRPr lang="en-US" sz="1200" dirty="0"/>
          </a:p>
        </p:txBody>
      </p:sp>
      <p:sp>
        <p:nvSpPr>
          <p:cNvPr id="32" name="Shape 27"/>
          <p:cNvSpPr/>
          <p:nvPr/>
        </p:nvSpPr>
        <p:spPr>
          <a:xfrm>
            <a:off x="7493000" y="5054600"/>
            <a:ext cx="406400" cy="203200"/>
          </a:xfrm>
          <a:prstGeom prst="rightArrow">
            <a:avLst/>
          </a:prstGeom>
          <a:solidFill>
            <a:srgbClr val="8A8F98"/>
          </a:solidFill>
          <a:ln/>
        </p:spPr>
      </p:sp>
      <p:sp>
        <p:nvSpPr>
          <p:cNvPr id="33" name="Shape 28"/>
          <p:cNvSpPr/>
          <p:nvPr/>
        </p:nvSpPr>
        <p:spPr>
          <a:xfrm>
            <a:off x="8051800" y="4749800"/>
            <a:ext cx="3327400" cy="812800"/>
          </a:xfrm>
          <a:prstGeom prst="roundRect">
            <a:avLst>
              <a:gd name="adj" fmla="val 11250"/>
            </a:avLst>
          </a:prstGeom>
          <a:solidFill>
            <a:srgbClr val="FDFCF9"/>
          </a:solidFill>
          <a:ln w="19050">
            <a:solidFill>
              <a:srgbClr val="1F6F7E"/>
            </a:solidFill>
            <a:prstDash val="dash"/>
          </a:ln>
        </p:spPr>
      </p:sp>
      <p:sp>
        <p:nvSpPr>
          <p:cNvPr id="34" name="Text 29"/>
          <p:cNvSpPr txBox="1"/>
          <p:nvPr/>
        </p:nvSpPr>
        <p:spPr>
          <a:xfrm>
            <a:off x="8204200" y="4876800"/>
            <a:ext cx="3022600" cy="5715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Calibri" pitchFamily="34" charset="0"/>
                <a:ea typeface="Calibri" pitchFamily="34" charset="-122"/>
                <a:cs typeface="Calibri" pitchFamily="34" charset="-120"/>
              </a:rPr>
              <a:t>[e.g., sequence priorities; protect BAU capacity]</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Draft for discussion · Dashed boxes are placeholders to fill</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Calibri" pitchFamily="34" charset="0"/>
                <a:ea typeface="Calibri" pitchFamily="34" charset="-122"/>
                <a:cs typeface="Calibri"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Cambria" pitchFamily="34" charset="0"/>
                <a:ea typeface="Cambria" pitchFamily="34" charset="-122"/>
                <a:cs typeface="Cambria"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Calibri" pitchFamily="34" charset="0"/>
                <a:ea typeface="Calibri" pitchFamily="34" charset="-122"/>
                <a:cs typeface="Calibri"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Calibri" pitchFamily="34" charset="0"/>
                <a:ea typeface="Calibri" pitchFamily="34" charset="-122"/>
                <a:cs typeface="Calibri" pitchFamily="34" charset="-120"/>
              </a:rPr>
              <a:t>Modeling &amp; Automation</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Calibri" pitchFamily="34" charset="0"/>
                <a:ea typeface="Calibri" pitchFamily="34" charset="-122"/>
                <a:cs typeface="Calibri"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Calibri" pitchFamily="34" charset="0"/>
                <a:ea typeface="Calibri" pitchFamily="34" charset="-122"/>
                <a:cs typeface="Calibri"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Calibri" pitchFamily="34" charset="0"/>
                <a:ea typeface="Calibri" pitchFamily="34" charset="-122"/>
                <a:cs typeface="Calibri"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Calibri" pitchFamily="34" charset="0"/>
                <a:ea typeface="Calibri" pitchFamily="34" charset="-122"/>
                <a:cs typeface="Calibri"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Calibri" pitchFamily="34" charset="0"/>
                <a:ea typeface="Calibri" pitchFamily="34" charset="-122"/>
                <a:cs typeface="Calibri"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Calibri" pitchFamily="34" charset="0"/>
                <a:ea typeface="Calibri" pitchFamily="34" charset="-122"/>
                <a:cs typeface="Calibri"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Calibri" pitchFamily="34" charset="0"/>
                <a:ea typeface="Calibri" pitchFamily="34" charset="-122"/>
                <a:cs typeface="Calibri"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Calibri" pitchFamily="34" charset="0"/>
                <a:ea typeface="Calibri" pitchFamily="34" charset="-122"/>
                <a:cs typeface="Calibri"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Calibri" pitchFamily="34" charset="0"/>
                <a:ea typeface="Calibri" pitchFamily="34" charset="-122"/>
                <a:cs typeface="Calibri"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Calibri" pitchFamily="34" charset="0"/>
                <a:ea typeface="Calibri" pitchFamily="34" charset="-122"/>
                <a:cs typeface="Calibri"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Calibri" pitchFamily="34" charset="0"/>
                <a:ea typeface="Calibri" pitchFamily="34" charset="-122"/>
                <a:cs typeface="Calibri"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Calibri" pitchFamily="34" charset="0"/>
                <a:ea typeface="Calibri" pitchFamily="34" charset="-122"/>
                <a:cs typeface="Calibri"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Calibri" pitchFamily="34" charset="0"/>
                <a:ea typeface="Calibri" pitchFamily="34" charset="-122"/>
                <a:cs typeface="Calibri"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Calibri" pitchFamily="34" charset="0"/>
                <a:ea typeface="Calibri" pitchFamily="34" charset="-122"/>
                <a:cs typeface="Calibri"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Calibri" pitchFamily="34" charset="0"/>
                <a:ea typeface="Calibri" pitchFamily="34" charset="-122"/>
                <a:cs typeface="Calibri"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Calibri" pitchFamily="34" charset="0"/>
                <a:ea typeface="Calibri" pitchFamily="34" charset="-122"/>
                <a:cs typeface="Calibri"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Calibri" pitchFamily="34" charset="0"/>
                <a:ea typeface="Calibri" pitchFamily="34" charset="-122"/>
                <a:cs typeface="Calibri"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Cambria" pitchFamily="34" charset="0"/>
                <a:ea typeface="Cambria" pitchFamily="34" charset="-122"/>
                <a:cs typeface="Cambria"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Today</a:t>
            </a:r>
            <a:endParaRPr lang="en-US" sz="1600" dirty="0"/>
          </a:p>
        </p:txBody>
      </p:sp>
      <p:sp>
        <p:nvSpPr>
          <p:cNvPr id="5" name="Text 3"/>
          <p:cNvSpPr txBox="1"/>
          <p:nvPr/>
        </p:nvSpPr>
        <p:spPr>
          <a:xfrm>
            <a:off x="812800" y="26797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~[30] associates</a:t>
            </a:r>
            <a:endParaRPr lang="en-US" sz="1200" dirty="0"/>
          </a:p>
        </p:txBody>
      </p:sp>
      <p:sp>
        <p:nvSpPr>
          <p:cNvPr id="6" name="Shape 4"/>
          <p:cNvSpPr/>
          <p:nvPr/>
        </p:nvSpPr>
        <p:spPr>
          <a:xfrm>
            <a:off x="2921000" y="2413000"/>
            <a:ext cx="7366000" cy="508000"/>
          </a:xfrm>
          <a:prstGeom prst="rect">
            <a:avLst/>
          </a:prstGeom>
          <a:solidFill>
            <a:srgbClr val="1F6F7E"/>
          </a:solidFill>
          <a:ln/>
        </p:spPr>
      </p:sp>
      <p:sp>
        <p:nvSpPr>
          <p:cNvPr id="7" name="Text 5"/>
          <p:cNvSpPr txBox="1"/>
          <p:nvPr/>
        </p:nvSpPr>
        <p:spPr>
          <a:xfrm>
            <a:off x="3073400" y="2413000"/>
            <a:ext cx="6985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Calibri" pitchFamily="34" charset="0"/>
                <a:ea typeface="Calibri" pitchFamily="34" charset="-122"/>
                <a:cs typeface="Calibri" pitchFamily="34" charset="-120"/>
              </a:rPr>
              <a:t>BAU / run the business · ~100%</a:t>
            </a:r>
            <a:endParaRPr lang="en-US" sz="1200" dirty="0"/>
          </a:p>
        </p:txBody>
      </p:sp>
      <p:sp>
        <p:nvSpPr>
          <p:cNvPr id="8" name="Shape 6"/>
          <p:cNvSpPr/>
          <p:nvPr/>
        </p:nvSpPr>
        <p:spPr>
          <a:xfrm>
            <a:off x="10287000" y="2413000"/>
            <a:ext cx="127000" cy="508000"/>
          </a:xfrm>
          <a:prstGeom prst="rect">
            <a:avLst/>
          </a:prstGeom>
          <a:solidFill>
            <a:srgbClr val="E3A86B"/>
          </a:solidFill>
          <a:ln/>
        </p:spPr>
      </p:sp>
      <p:sp>
        <p:nvSpPr>
          <p:cNvPr id="9" name="Text 7"/>
          <p:cNvSpPr txBox="1"/>
          <p:nvPr/>
        </p:nvSpPr>
        <p:spPr>
          <a:xfrm>
            <a:off x="10515600" y="2413000"/>
            <a:ext cx="863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Calibri" pitchFamily="34" charset="0"/>
                <a:ea typeface="Calibri" pitchFamily="34" charset="-122"/>
                <a:cs typeface="Calibri" pitchFamily="34" charset="-120"/>
              </a:rPr>
              <a:t>AI ≈ 0</a:t>
            </a:r>
            <a:endParaRPr lang="en-US" sz="1200" dirty="0"/>
          </a:p>
        </p:txBody>
      </p:sp>
      <p:sp>
        <p:nvSpPr>
          <p:cNvPr id="10" name="Text 8"/>
          <p:cNvSpPr txBox="1"/>
          <p:nvPr/>
        </p:nvSpPr>
        <p:spPr>
          <a:xfrm>
            <a:off x="812800" y="31369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Target</a:t>
            </a:r>
            <a:endParaRPr lang="en-US" sz="1600" dirty="0"/>
          </a:p>
        </p:txBody>
      </p:sp>
      <p:sp>
        <p:nvSpPr>
          <p:cNvPr id="11" name="Text 9"/>
          <p:cNvSpPr txBox="1"/>
          <p:nvPr/>
        </p:nvSpPr>
        <p:spPr>
          <a:xfrm>
            <a:off x="812800" y="34163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~[__] associates</a:t>
            </a:r>
            <a:endParaRPr lang="en-US" sz="1200" dirty="0"/>
          </a:p>
        </p:txBody>
      </p:sp>
      <p:sp>
        <p:nvSpPr>
          <p:cNvPr id="12" name="Shape 10"/>
          <p:cNvSpPr/>
          <p:nvPr/>
        </p:nvSpPr>
        <p:spPr>
          <a:xfrm>
            <a:off x="2921000" y="3149600"/>
            <a:ext cx="3556000" cy="508000"/>
          </a:xfrm>
          <a:prstGeom prst="rect">
            <a:avLst/>
          </a:prstGeom>
          <a:solidFill>
            <a:srgbClr val="1F6F7E"/>
          </a:solidFill>
          <a:ln/>
        </p:spPr>
      </p:sp>
      <p:sp>
        <p:nvSpPr>
          <p:cNvPr id="13" name="Text 11"/>
          <p:cNvSpPr txBox="1"/>
          <p:nvPr/>
        </p:nvSpPr>
        <p:spPr>
          <a:xfrm>
            <a:off x="4953000" y="3149600"/>
            <a:ext cx="1371600" cy="5080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Calibri" pitchFamily="34" charset="0"/>
                <a:ea typeface="Calibri" pitchFamily="34" charset="-122"/>
                <a:cs typeface="Calibri" pitchFamily="34" charset="-120"/>
              </a:rPr>
              <a:t>BAU · [__]%</a:t>
            </a:r>
            <a:endParaRPr lang="en-US" sz="1200" dirty="0"/>
          </a:p>
        </p:txBody>
      </p:sp>
      <p:sp>
        <p:nvSpPr>
          <p:cNvPr id="14" name="Shape 12"/>
          <p:cNvSpPr/>
          <p:nvPr/>
        </p:nvSpPr>
        <p:spPr>
          <a:xfrm>
            <a:off x="6477000" y="3149600"/>
            <a:ext cx="3048000" cy="508000"/>
          </a:xfrm>
          <a:prstGeom prst="rect">
            <a:avLst/>
          </a:prstGeom>
          <a:solidFill>
            <a:srgbClr val="E3A86B"/>
          </a:solidFill>
          <a:ln/>
        </p:spPr>
      </p:sp>
      <p:sp>
        <p:nvSpPr>
          <p:cNvPr id="15" name="Text 13"/>
          <p:cNvSpPr txBox="1"/>
          <p:nvPr/>
        </p:nvSpPr>
        <p:spPr>
          <a:xfrm>
            <a:off x="6629400" y="3149600"/>
            <a:ext cx="2794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Calibri" pitchFamily="34" charset="0"/>
                <a:ea typeface="Calibri" pitchFamily="34" charset="-122"/>
                <a:cs typeface="Calibri" pitchFamily="34" charset="-120"/>
              </a:rPr>
              <a:t>AI &amp; change · [__]%</a:t>
            </a:r>
            <a:endParaRPr lang="en-US" sz="1200" dirty="0"/>
          </a:p>
        </p:txBody>
      </p:sp>
      <p:sp>
        <p:nvSpPr>
          <p:cNvPr id="16" name="Shape 14"/>
          <p:cNvSpPr/>
          <p:nvPr/>
        </p:nvSpPr>
        <p:spPr>
          <a:xfrm>
            <a:off x="9525000" y="3149600"/>
            <a:ext cx="889000" cy="508000"/>
          </a:xfrm>
          <a:prstGeom prst="rect">
            <a:avLst/>
          </a:prstGeom>
          <a:solidFill>
            <a:srgbClr val="F7F6F2"/>
          </a:solidFill>
          <a:ln w="19050">
            <a:solidFill>
              <a:srgbClr val="8A8F98"/>
            </a:solidFill>
            <a:prstDash val="dash"/>
          </a:ln>
        </p:spPr>
      </p:sp>
      <p:sp>
        <p:nvSpPr>
          <p:cNvPr id="17" name="Text 15"/>
          <p:cNvSpPr txBox="1"/>
          <p:nvPr/>
        </p:nvSpPr>
        <p:spPr>
          <a:xfrm>
            <a:off x="9525000" y="3149600"/>
            <a:ext cx="889000" cy="5080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Calibri" pitchFamily="34" charset="0"/>
                <a:ea typeface="Calibri" pitchFamily="34" charset="-122"/>
                <a:cs typeface="Calibri" pitchFamily="34" charset="-120"/>
              </a:rPr>
              <a:t>Net −?</a:t>
            </a:r>
            <a:endParaRPr lang="en-US" sz="1200" dirty="0"/>
          </a:p>
        </p:txBody>
      </p:sp>
      <p:sp>
        <p:nvSpPr>
          <p:cNvPr id="18" name="BAU floor marker"/>
          <p:cNvSpPr/>
          <p:nvPr/>
        </p:nvSpPr>
        <p:spPr>
          <a:xfrm>
            <a:off x="4806950" y="3060700"/>
            <a:ext cx="38100" cy="685800"/>
          </a:xfrm>
          <a:prstGeom prst="rect">
            <a:avLst/>
          </a:prstGeom>
          <a:solidFill>
            <a:srgbClr val="A0521A"/>
          </a:solidFill>
          <a:ln/>
        </p:spPr>
      </p:sp>
      <p:sp>
        <p:nvSpPr>
          <p:cNvPr id="19" name="Text 17"/>
          <p:cNvSpPr txBox="1"/>
          <p:nvPr/>
        </p:nvSpPr>
        <p:spPr>
          <a:xfrm>
            <a:off x="4064000" y="37973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Calibri" pitchFamily="34" charset="0"/>
                <a:ea typeface="Calibri" pitchFamily="34" charset="-122"/>
                <a:cs typeface="Calibri" pitchFamily="34" charset="-120"/>
              </a:rPr>
              <a:t>↑ BAU floor: key-person / op risk</a:t>
            </a:r>
            <a:endParaRPr lang="en-US" sz="1200" dirty="0"/>
          </a:p>
        </p:txBody>
      </p:sp>
      <p:sp>
        <p:nvSpPr>
          <p:cNvPr id="20" name="Text 18"/>
          <p:cNvSpPr txBox="1"/>
          <p:nvPr/>
        </p:nvSpPr>
        <p:spPr>
          <a:xfrm>
            <a:off x="2921000" y="4102100"/>
            <a:ext cx="8458200" cy="2286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Illustrative mix; fill with actual shares. BAU can shrink to the floor, never below it.</a:t>
            </a:r>
            <a:endParaRPr lang="en-US" sz="1200" dirty="0"/>
          </a:p>
        </p:txBody>
      </p:sp>
      <p:sp>
        <p:nvSpPr>
          <p:cNvPr id="21" name="Shape 19"/>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2"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23" name="Text 20"/>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Calibri" pitchFamily="34" charset="0"/>
                <a:ea typeface="Calibri" pitchFamily="34" charset="-122"/>
                <a:cs typeface="Calibri" pitchFamily="34" charset="-120"/>
              </a:rPr>
              <a:t>AI shrinks BAU effort</a:t>
            </a:r>
            <a:endParaRPr lang="en-US" sz="1400" dirty="0"/>
          </a:p>
        </p:txBody>
      </p:sp>
      <p:sp>
        <p:nvSpPr>
          <p:cNvPr id="24" name="Text 21"/>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Calibri" pitchFamily="34" charset="0"/>
                <a:ea typeface="Calibri" pitchFamily="34" charset="-122"/>
                <a:cs typeface="Calibri" pitchFamily="34" charset="-120"/>
              </a:rPr>
              <a:t>Automation and new tools cut the people needed to run today’s work.</a:t>
            </a:r>
            <a:endParaRPr lang="en-US" sz="1200" dirty="0"/>
          </a:p>
        </p:txBody>
      </p:sp>
      <p:sp>
        <p:nvSpPr>
          <p:cNvPr id="25" name="Shape 22"/>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26"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27" name="Text 23"/>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Calibri" pitchFamily="34" charset="0"/>
                <a:ea typeface="Calibri" pitchFamily="34" charset="-122"/>
                <a:cs typeface="Calibri" pitchFamily="34" charset="-120"/>
              </a:rPr>
              <a:t>…but BAU has a firm floor</a:t>
            </a:r>
            <a:endParaRPr lang="en-US" sz="1400" dirty="0"/>
          </a:p>
        </p:txBody>
      </p:sp>
      <p:sp>
        <p:nvSpPr>
          <p:cNvPr id="28" name="Text 24"/>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Calibri" pitchFamily="34" charset="0"/>
                <a:ea typeface="Calibri" pitchFamily="34" charset="-122"/>
                <a:cs typeface="Calibri" pitchFamily="34" charset="-120"/>
              </a:rPr>
              <a:t>Set by operational risk: no critical function (e.g., deployment) rests on one person.</a:t>
            </a:r>
            <a:endParaRPr lang="en-US" sz="1200" dirty="0"/>
          </a:p>
        </p:txBody>
      </p:sp>
      <p:sp>
        <p:nvSpPr>
          <p:cNvPr id="29" name="Shape 25"/>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0"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1" name="Text 26"/>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Calibri" pitchFamily="34" charset="0"/>
                <a:ea typeface="Calibri" pitchFamily="34" charset="-122"/>
                <a:cs typeface="Calibri" pitchFamily="34" charset="-120"/>
              </a:rPr>
              <a:t>Freed capacity builds AI</a:t>
            </a:r>
            <a:endParaRPr lang="en-US" sz="1400" dirty="0"/>
          </a:p>
        </p:txBody>
      </p:sp>
      <p:sp>
        <p:nvSpPr>
          <p:cNvPr id="32" name="Text 27"/>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Calibri" pitchFamily="34" charset="0"/>
                <a:ea typeface="Calibri" pitchFamily="34" charset="-122"/>
                <a:cs typeface="Calibri" pitchFamily="34" charset="-120"/>
              </a:rPr>
              <a:t>From near zero today to AI Enablement and Platform (previous slide).</a:t>
            </a:r>
            <a:endParaRPr lang="en-US" sz="1200" dirty="0"/>
          </a:p>
        </p:txBody>
      </p:sp>
      <p:sp>
        <p:nvSpPr>
          <p:cNvPr id="33" name="Text 2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Calibri" pitchFamily="34" charset="0"/>
                <a:ea typeface="Calibri" pitchFamily="34" charset="-122"/>
                <a:cs typeface="Calibri"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Cambria" pitchFamily="34" charset="0"/>
                <a:ea typeface="Cambria" pitchFamily="34" charset="-122"/>
                <a:cs typeface="Cambria"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Calibri" pitchFamily="34" charset="0"/>
                <a:ea typeface="Calibri" pitchFamily="34" charset="-122"/>
                <a:cs typeface="Calibri"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Calibri" pitchFamily="34" charset="0"/>
                <a:ea typeface="Calibri" pitchFamily="34" charset="-122"/>
                <a:cs typeface="Calibri"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Calibri" pitchFamily="34" charset="0"/>
                <a:ea typeface="Calibri" pitchFamily="34" charset="-122"/>
                <a:cs typeface="Calibri" pitchFamily="34" charset="-120"/>
              </a:rPr>
              <a:t>Modeling &amp; Automation</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Calibri" pitchFamily="34" charset="0"/>
                <a:ea typeface="Calibri" pitchFamily="34" charset="-122"/>
                <a:cs typeface="Calibri" pitchFamily="34" charset="-120"/>
              </a:rPr>
              <a:t>Why: </a:t>
            </a:r>
            <a:pPr algn="l" indent="0" marL="0">
              <a:lnSpc>
                <a:spcPct val="125000"/>
              </a:lnSpc>
              <a:buNone/>
            </a:pPr>
            <a:r>
              <a:rPr lang="en-US" sz="1300" dirty="0">
                <a:solidFill>
                  <a:srgbClr val="14213D"/>
                </a:solidFill>
                <a:latin typeface="Calibri" pitchFamily="34" charset="0"/>
                <a:ea typeface="Calibri" pitchFamily="34" charset="-122"/>
                <a:cs typeface="Calibri"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Calibri" pitchFamily="34" charset="0"/>
                <a:ea typeface="Calibri" pitchFamily="34" charset="-122"/>
                <a:cs typeface="Calibri"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Calibri" pitchFamily="34" charset="0"/>
                <a:ea typeface="Calibri" pitchFamily="34" charset="-122"/>
                <a:cs typeface="Calibri"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Calibri" pitchFamily="34" charset="0"/>
                <a:ea typeface="Calibri" pitchFamily="34" charset="-122"/>
                <a:cs typeface="Calibri"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Calibri" pitchFamily="34" charset="0"/>
                <a:ea typeface="Calibri" pitchFamily="34" charset="-122"/>
                <a:cs typeface="Calibri"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Calibri" pitchFamily="34" charset="0"/>
                <a:ea typeface="Calibri" pitchFamily="34" charset="-122"/>
                <a:cs typeface="Calibri"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Calibri" pitchFamily="34" charset="0"/>
                <a:ea typeface="Calibri" pitchFamily="34" charset="-122"/>
                <a:cs typeface="Calibri" pitchFamily="34" charset="-120"/>
              </a:rPr>
              <a:t>Why: </a:t>
            </a:r>
            <a:pPr algn="l" indent="0" marL="0">
              <a:lnSpc>
                <a:spcPct val="125000"/>
              </a:lnSpc>
              <a:buNone/>
            </a:pPr>
            <a:r>
              <a:rPr lang="en-US" sz="1300" dirty="0">
                <a:solidFill>
                  <a:srgbClr val="14213D"/>
                </a:solidFill>
                <a:latin typeface="Calibri" pitchFamily="34" charset="0"/>
                <a:ea typeface="Calibri" pitchFamily="34" charset="-122"/>
                <a:cs typeface="Calibri"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Calibri" pitchFamily="34" charset="0"/>
                <a:ea typeface="Calibri" pitchFamily="34" charset="-122"/>
                <a:cs typeface="Calibri"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Calibri" pitchFamily="34" charset="0"/>
                <a:ea typeface="Calibri" pitchFamily="34" charset="-122"/>
                <a:cs typeface="Calibri"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Calibri" pitchFamily="34" charset="0"/>
                <a:ea typeface="Calibri" pitchFamily="34" charset="-122"/>
                <a:cs typeface="Calibri"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Cambria" pitchFamily="34" charset="0"/>
                <a:ea typeface="Cambria" pitchFamily="34" charset="-122"/>
                <a:cs typeface="Cambria"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Calibri" pitchFamily="34" charset="0"/>
                <a:ea typeface="Calibri" pitchFamily="34" charset="-122"/>
                <a:cs typeface="Calibri"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Calibri" pitchFamily="34" charset="0"/>
                <a:ea typeface="Calibri" pitchFamily="34" charset="-122"/>
                <a:cs typeface="Calibri"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Calibri" pitchFamily="34" charset="0"/>
                <a:ea typeface="Calibri" pitchFamily="34" charset="-122"/>
                <a:cs typeface="Calibri" pitchFamily="34" charset="-120"/>
              </a:rPr>
              <a:t>Enable the team</a:t>
            </a:r>
            <a:endParaRPr lang="en-US" sz="1200" dirty="0"/>
          </a:p>
        </p:txBody>
      </p:sp>
      <p:sp>
        <p:nvSpPr>
          <p:cNvPr id="10" name="Shape 8"/>
          <p:cNvSpPr/>
          <p:nvPr/>
        </p:nvSpPr>
        <p:spPr>
          <a:xfrm>
            <a:off x="812800" y="2717800"/>
            <a:ext cx="2489200" cy="31750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921000"/>
            <a:ext cx="304800" cy="304800"/>
          </a:xfrm>
          <a:prstGeom prst="rect">
            <a:avLst/>
          </a:prstGeom>
        </p:spPr>
      </p:pic>
      <p:sp>
        <p:nvSpPr>
          <p:cNvPr id="12" name="Text 9"/>
          <p:cNvSpPr txBox="1"/>
          <p:nvPr/>
        </p:nvSpPr>
        <p:spPr>
          <a:xfrm>
            <a:off x="10160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Sharpen model strategy</a:t>
            </a:r>
            <a:endParaRPr lang="en-US" sz="1600" dirty="0"/>
          </a:p>
        </p:txBody>
      </p:sp>
      <p:sp>
        <p:nvSpPr>
          <p:cNvPr id="13" name="Text 10"/>
          <p:cNvSpPr txBox="1"/>
          <p:nvPr/>
        </p:nvSpPr>
        <p:spPr>
          <a:xfrm>
            <a:off x="10160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Calibri" pitchFamily="34" charset="0"/>
                <a:ea typeface="Calibri" pitchFamily="34" charset="-122"/>
                <a:cs typeface="Calibri" pitchFamily="34" charset="-120"/>
              </a:rPr>
              <a:t>Build on today’s defined strategy.</a:t>
            </a:r>
            <a:endParaRPr lang="en-US" sz="1300" dirty="0"/>
          </a:p>
        </p:txBody>
      </p:sp>
      <p:sp>
        <p:nvSpPr>
          <p:cNvPr id="14" name="Text 11"/>
          <p:cNvSpPr txBox="1"/>
          <p:nvPr/>
        </p:nvSpPr>
        <p:spPr>
          <a:xfrm>
            <a:off x="10160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Calibri" pitchFamily="34" charset="0"/>
                <a:ea typeface="Calibri" pitchFamily="34" charset="-122"/>
                <a:cs typeface="Calibri"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Calibri" pitchFamily="34" charset="0"/>
                <a:ea typeface="Calibri" pitchFamily="34" charset="-122"/>
                <a:cs typeface="Calibri"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Calibri" pitchFamily="34" charset="0"/>
                <a:ea typeface="Calibri" pitchFamily="34" charset="-122"/>
                <a:cs typeface="Calibri" pitchFamily="34" charset="-120"/>
              </a:rPr>
              <a:t>[Further optimization]</a:t>
            </a:r>
            <a:endParaRPr lang="en-US" sz="1200" dirty="0"/>
          </a:p>
        </p:txBody>
      </p:sp>
      <p:sp>
        <p:nvSpPr>
          <p:cNvPr id="15" name="Shape 12"/>
          <p:cNvSpPr/>
          <p:nvPr/>
        </p:nvSpPr>
        <p:spPr>
          <a:xfrm>
            <a:off x="3505200" y="2717800"/>
            <a:ext cx="2489200" cy="31750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921000"/>
            <a:ext cx="304800" cy="304800"/>
          </a:xfrm>
          <a:prstGeom prst="rect">
            <a:avLst/>
          </a:prstGeom>
        </p:spPr>
      </p:pic>
      <p:sp>
        <p:nvSpPr>
          <p:cNvPr id="17" name="Text 13"/>
          <p:cNvSpPr txBox="1"/>
          <p:nvPr/>
        </p:nvSpPr>
        <p:spPr>
          <a:xfrm>
            <a:off x="37084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Clean our house</a:t>
            </a:r>
            <a:endParaRPr lang="en-US" sz="1600" dirty="0"/>
          </a:p>
        </p:txBody>
      </p:sp>
      <p:sp>
        <p:nvSpPr>
          <p:cNvPr id="18" name="Text 14"/>
          <p:cNvSpPr txBox="1"/>
          <p:nvPr/>
        </p:nvSpPr>
        <p:spPr>
          <a:xfrm>
            <a:off x="37084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Calibri" pitchFamily="34" charset="0"/>
                <a:ea typeface="Calibri" pitchFamily="34" charset="-122"/>
                <a:cs typeface="Calibri" pitchFamily="34" charset="-120"/>
              </a:rPr>
              <a:t>Standardize and streamline current work.</a:t>
            </a:r>
            <a:endParaRPr lang="en-US" sz="1300" dirty="0"/>
          </a:p>
        </p:txBody>
      </p:sp>
      <p:sp>
        <p:nvSpPr>
          <p:cNvPr id="19" name="Text 15"/>
          <p:cNvSpPr txBox="1"/>
          <p:nvPr/>
        </p:nvSpPr>
        <p:spPr>
          <a:xfrm>
            <a:off x="37084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Calibri" pitchFamily="34" charset="0"/>
                <a:ea typeface="Calibri" pitchFamily="34" charset="-122"/>
                <a:cs typeface="Calibri"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Calibri" pitchFamily="34" charset="0"/>
                <a:ea typeface="Calibri" pitchFamily="34" charset="-122"/>
                <a:cs typeface="Calibri"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Calibri" pitchFamily="34" charset="0"/>
                <a:ea typeface="Calibri" pitchFamily="34" charset="-122"/>
                <a:cs typeface="Calibri" pitchFamily="34" charset="-120"/>
              </a:rPr>
              <a:t>[Item]</a:t>
            </a:r>
            <a:endParaRPr lang="en-US" sz="1200" dirty="0"/>
          </a:p>
        </p:txBody>
      </p:sp>
      <p:sp>
        <p:nvSpPr>
          <p:cNvPr id="20" name="Shape 16"/>
          <p:cNvSpPr/>
          <p:nvPr/>
        </p:nvSpPr>
        <p:spPr>
          <a:xfrm>
            <a:off x="6197600" y="2717800"/>
            <a:ext cx="2489200" cy="31750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921000"/>
            <a:ext cx="304800" cy="304800"/>
          </a:xfrm>
          <a:prstGeom prst="rect">
            <a:avLst/>
          </a:prstGeom>
        </p:spPr>
      </p:pic>
      <p:sp>
        <p:nvSpPr>
          <p:cNvPr id="22" name="Text 17"/>
          <p:cNvSpPr txBox="1"/>
          <p:nvPr/>
        </p:nvSpPr>
        <p:spPr>
          <a:xfrm>
            <a:off x="64008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Rethink with AI</a:t>
            </a:r>
            <a:endParaRPr lang="en-US" sz="1600" dirty="0"/>
          </a:p>
        </p:txBody>
      </p:sp>
      <p:sp>
        <p:nvSpPr>
          <p:cNvPr id="23" name="Text 18"/>
          <p:cNvSpPr txBox="1"/>
          <p:nvPr/>
        </p:nvSpPr>
        <p:spPr>
          <a:xfrm>
            <a:off x="64008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Calibri" pitchFamily="34" charset="0"/>
                <a:ea typeface="Calibri" pitchFamily="34" charset="-122"/>
                <a:cs typeface="Calibri" pitchFamily="34" charset="-120"/>
              </a:rPr>
              <a:t>If we built the team today, what would differ?</a:t>
            </a:r>
            <a:endParaRPr lang="en-US" sz="1300" dirty="0"/>
          </a:p>
        </p:txBody>
      </p:sp>
      <p:sp>
        <p:nvSpPr>
          <p:cNvPr id="24" name="Text 19"/>
          <p:cNvSpPr txBox="1"/>
          <p:nvPr/>
        </p:nvSpPr>
        <p:spPr>
          <a:xfrm>
            <a:off x="64008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Calibri" pitchFamily="34" charset="0"/>
                <a:ea typeface="Calibri" pitchFamily="34" charset="-122"/>
                <a:cs typeface="Calibri" pitchFamily="34" charset="-120"/>
              </a:rPr>
              <a:t>[Opportunity 1]</a:t>
            </a:r>
            <a:endParaRPr lang="en-US" sz="1200" dirty="0"/>
          </a:p>
          <a:p>
            <a:pPr marL="342900" indent="-342900">
              <a:spcAft>
                <a:spcPts val="600"/>
              </a:spcAft>
              <a:buSzPct val="100000"/>
              <a:buChar char="•"/>
            </a:pPr>
            <a:r>
              <a:rPr lang="en-US" sz="1200" dirty="0">
                <a:solidFill>
                  <a:srgbClr val="4A5568"/>
                </a:solidFill>
                <a:latin typeface="Calibri" pitchFamily="34" charset="0"/>
                <a:ea typeface="Calibri" pitchFamily="34" charset="-122"/>
                <a:cs typeface="Calibri" pitchFamily="34" charset="-120"/>
              </a:rPr>
              <a:t>[Opportunity 2]</a:t>
            </a:r>
            <a:endParaRPr lang="en-US" sz="1200" dirty="0"/>
          </a:p>
          <a:p>
            <a:pPr marL="342900" indent="-342900">
              <a:spcAft>
                <a:spcPts val="600"/>
              </a:spcAft>
              <a:buSzPct val="100000"/>
              <a:buChar char="•"/>
            </a:pPr>
            <a:r>
              <a:rPr lang="en-US" sz="1200" dirty="0">
                <a:solidFill>
                  <a:srgbClr val="4A5568"/>
                </a:solidFill>
                <a:latin typeface="Calibri" pitchFamily="34" charset="0"/>
                <a:ea typeface="Calibri" pitchFamily="34" charset="-122"/>
                <a:cs typeface="Calibri" pitchFamily="34" charset="-120"/>
              </a:rPr>
              <a:t>[Opportunity 3]</a:t>
            </a:r>
            <a:endParaRPr lang="en-US" sz="1200" dirty="0"/>
          </a:p>
        </p:txBody>
      </p:sp>
      <p:sp>
        <p:nvSpPr>
          <p:cNvPr id="25" name="Shape 20"/>
          <p:cNvSpPr/>
          <p:nvPr/>
        </p:nvSpPr>
        <p:spPr>
          <a:xfrm>
            <a:off x="8890000" y="2717800"/>
            <a:ext cx="2489200" cy="31750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921000"/>
            <a:ext cx="304800" cy="304800"/>
          </a:xfrm>
          <a:prstGeom prst="rect">
            <a:avLst/>
          </a:prstGeom>
        </p:spPr>
      </p:pic>
      <p:sp>
        <p:nvSpPr>
          <p:cNvPr id="27" name="Text 21"/>
          <p:cNvSpPr txBox="1"/>
          <p:nvPr/>
        </p:nvSpPr>
        <p:spPr>
          <a:xfrm>
            <a:off x="90932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Build an AI-era team</a:t>
            </a:r>
            <a:endParaRPr lang="en-US" sz="1600" dirty="0"/>
          </a:p>
        </p:txBody>
      </p:sp>
      <p:sp>
        <p:nvSpPr>
          <p:cNvPr id="28" name="Text 22"/>
          <p:cNvSpPr txBox="1"/>
          <p:nvPr/>
        </p:nvSpPr>
        <p:spPr>
          <a:xfrm>
            <a:off x="90932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Calibri" pitchFamily="34" charset="0"/>
                <a:ea typeface="Calibri" pitchFamily="34" charset="-122"/>
                <a:cs typeface="Calibri" pitchFamily="34" charset="-120"/>
              </a:rPr>
              <a:t>Structure and talent for ~30 associates.</a:t>
            </a:r>
            <a:endParaRPr lang="en-US" sz="1300" dirty="0"/>
          </a:p>
        </p:txBody>
      </p:sp>
      <p:sp>
        <p:nvSpPr>
          <p:cNvPr id="29" name="Text 23"/>
          <p:cNvSpPr txBox="1"/>
          <p:nvPr/>
        </p:nvSpPr>
        <p:spPr>
          <a:xfrm>
            <a:off x="90932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Calibri" pitchFamily="34" charset="0"/>
                <a:ea typeface="Calibri" pitchFamily="34" charset="-122"/>
                <a:cs typeface="Calibri" pitchFamily="34" charset="-120"/>
              </a:rPr>
              <a:t>Flatter structure</a:t>
            </a:r>
            <a:endParaRPr lang="en-US" sz="1200" dirty="0"/>
          </a:p>
          <a:p>
            <a:pPr marL="342900" indent="-342900">
              <a:spcAft>
                <a:spcPts val="600"/>
              </a:spcAft>
              <a:buSzPct val="100000"/>
              <a:buChar char="•"/>
            </a:pPr>
            <a:r>
              <a:rPr lang="en-US" sz="1200" dirty="0">
                <a:solidFill>
                  <a:srgbClr val="4A5568"/>
                </a:solidFill>
                <a:latin typeface="Calibri" pitchFamily="34" charset="0"/>
                <a:ea typeface="Calibri" pitchFamily="34" charset="-122"/>
                <a:cs typeface="Calibri" pitchFamily="34" charset="-120"/>
              </a:rPr>
              <a:t>Next-gen leader pipeline</a:t>
            </a:r>
            <a:endParaRPr lang="en-US" sz="1200" dirty="0"/>
          </a:p>
          <a:p>
            <a:pPr marL="342900" indent="-342900">
              <a:spcAft>
                <a:spcPts val="600"/>
              </a:spcAft>
              <a:buSzPct val="100000"/>
              <a:buChar char="•"/>
            </a:pPr>
            <a:r>
              <a:rPr lang="en-US" sz="1200" dirty="0">
                <a:solidFill>
                  <a:srgbClr val="4A5568"/>
                </a:solidFill>
                <a:latin typeface="Calibri" pitchFamily="34" charset="0"/>
                <a:ea typeface="Calibri" pitchFamily="34" charset="-122"/>
                <a:cs typeface="Calibri" pitchFamily="34" charset="-120"/>
              </a:rPr>
              <a:t>[Item]</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Calibri" pitchFamily="34" charset="0"/>
                <a:ea typeface="Calibri" pitchFamily="34" charset="-122"/>
                <a:cs typeface="Calibri"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Cambria" pitchFamily="34" charset="0"/>
                <a:ea typeface="Cambria" pitchFamily="34" charset="-122"/>
                <a:cs typeface="Cambria" pitchFamily="34" charset="-120"/>
              </a:rPr>
              <a:t>Two clear career paths show every associate how to grow in the AI era</a:t>
            </a:r>
            <a:endParaRPr lang="en-US" sz="3200" dirty="0"/>
          </a:p>
        </p:txBody>
      </p:sp>
      <p:sp>
        <p:nvSpPr>
          <p:cNvPr id="4" name="Shape 2"/>
          <p:cNvSpPr/>
          <p:nvPr/>
        </p:nvSpPr>
        <p:spPr>
          <a:xfrm>
            <a:off x="3225800" y="2286000"/>
            <a:ext cx="1905000" cy="355600"/>
          </a:xfrm>
          <a:prstGeom prst="roundRect">
            <a:avLst>
              <a:gd name="adj" fmla="val 38571"/>
            </a:avLst>
          </a:prstGeom>
          <a:solidFill>
            <a:srgbClr val="14213D"/>
          </a:solidFill>
          <a:ln/>
        </p:spPr>
      </p:sp>
      <p:sp>
        <p:nvSpPr>
          <p:cNvPr id="5" name="Text 3"/>
          <p:cNvSpPr txBox="1"/>
          <p:nvPr/>
        </p:nvSpPr>
        <p:spPr>
          <a:xfrm>
            <a:off x="3225800" y="2286000"/>
            <a:ext cx="1905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Calibri" pitchFamily="34" charset="0"/>
                <a:ea typeface="Calibri" pitchFamily="34" charset="-122"/>
                <a:cs typeface="Calibri" pitchFamily="34" charset="-120"/>
              </a:rPr>
              <a:t>Associate</a:t>
            </a:r>
            <a:endParaRPr lang="en-US" sz="1300" dirty="0"/>
          </a:p>
        </p:txBody>
      </p:sp>
      <p:sp>
        <p:nvSpPr>
          <p:cNvPr id="6" name="Shape 4"/>
          <p:cNvSpPr/>
          <p:nvPr/>
        </p:nvSpPr>
        <p:spPr>
          <a:xfrm>
            <a:off x="4178300" y="2641600"/>
            <a:ext cx="914" cy="152400"/>
          </a:xfrm>
          <a:prstGeom prst="line">
            <a:avLst/>
          </a:prstGeom>
          <a:noFill/>
          <a:ln w="25400">
            <a:solidFill>
              <a:srgbClr val="6B7280"/>
            </a:solidFill>
            <a:prstDash val="solid"/>
          </a:ln>
        </p:spPr>
      </p:sp>
      <p:sp>
        <p:nvSpPr>
          <p:cNvPr id="7" name="Shape 5"/>
          <p:cNvSpPr/>
          <p:nvPr/>
        </p:nvSpPr>
        <p:spPr>
          <a:xfrm>
            <a:off x="2432050" y="2794000"/>
            <a:ext cx="3492500" cy="914"/>
          </a:xfrm>
          <a:prstGeom prst="line">
            <a:avLst/>
          </a:prstGeom>
          <a:noFill/>
          <a:ln w="25400">
            <a:solidFill>
              <a:srgbClr val="6B7280"/>
            </a:solidFill>
            <a:prstDash val="solid"/>
          </a:ln>
        </p:spPr>
      </p:sp>
      <p:sp>
        <p:nvSpPr>
          <p:cNvPr id="8" name="Shape 6"/>
          <p:cNvSpPr/>
          <p:nvPr/>
        </p:nvSpPr>
        <p:spPr>
          <a:xfrm>
            <a:off x="2432050" y="2794000"/>
            <a:ext cx="914" cy="190500"/>
          </a:xfrm>
          <a:prstGeom prst="line">
            <a:avLst/>
          </a:prstGeom>
          <a:noFill/>
          <a:ln w="25400">
            <a:solidFill>
              <a:srgbClr val="6B7280"/>
            </a:solidFill>
            <a:prstDash val="solid"/>
            <a:tailEnd type="triangle"/>
          </a:ln>
        </p:spPr>
      </p:sp>
      <p:sp>
        <p:nvSpPr>
          <p:cNvPr id="9" name="Shape 7"/>
          <p:cNvSpPr/>
          <p:nvPr/>
        </p:nvSpPr>
        <p:spPr>
          <a:xfrm>
            <a:off x="5924550" y="2794000"/>
            <a:ext cx="914" cy="190500"/>
          </a:xfrm>
          <a:prstGeom prst="line">
            <a:avLst/>
          </a:prstGeom>
          <a:noFill/>
          <a:ln w="25400">
            <a:solidFill>
              <a:srgbClr val="6B7280"/>
            </a:solidFill>
            <a:prstDash val="solid"/>
            <a:tailEnd type="triangle"/>
          </a:ln>
        </p:spPr>
      </p:sp>
      <p:sp>
        <p:nvSpPr>
          <p:cNvPr id="10" name="Shape 8"/>
          <p:cNvSpPr/>
          <p:nvPr/>
        </p:nvSpPr>
        <p:spPr>
          <a:xfrm>
            <a:off x="812800" y="2984500"/>
            <a:ext cx="3238500" cy="2794000"/>
          </a:xfrm>
          <a:prstGeom prst="roundRect">
            <a:avLst>
              <a:gd name="adj" fmla="val 1964"/>
            </a:avLst>
          </a:prstGeom>
          <a:solidFill>
            <a:srgbClr val="E1EEF0"/>
          </a:solidFill>
          <a:ln w="19050">
            <a:solidFill>
              <a:srgbClr val="1F6F7E"/>
            </a:solidFill>
            <a:prstDash val="solid"/>
          </a:ln>
        </p:spPr>
      </p:sp>
      <p:sp>
        <p:nvSpPr>
          <p:cNvPr id="11" name="Text 9"/>
          <p:cNvSpPr txBox="1"/>
          <p:nvPr/>
        </p:nvSpPr>
        <p:spPr>
          <a:xfrm>
            <a:off x="1016000" y="31877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Calibri" pitchFamily="34" charset="0"/>
                <a:ea typeface="Calibri" pitchFamily="34" charset="-122"/>
                <a:cs typeface="Calibri" pitchFamily="34" charset="-120"/>
              </a:rPr>
              <a:t>PATH 1</a:t>
            </a:r>
            <a:endParaRPr lang="en-US" sz="1200" dirty="0"/>
          </a:p>
        </p:txBody>
      </p:sp>
      <p:sp>
        <p:nvSpPr>
          <p:cNvPr id="12" name="Text 10"/>
          <p:cNvSpPr txBox="1"/>
          <p:nvPr/>
        </p:nvSpPr>
        <p:spPr>
          <a:xfrm>
            <a:off x="1016000" y="3467100"/>
            <a:ext cx="28321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Senior individual contributor</a:t>
            </a:r>
            <a:endParaRPr lang="en-US" sz="1600" dirty="0"/>
          </a:p>
        </p:txBody>
      </p:sp>
      <p:sp>
        <p:nvSpPr>
          <p:cNvPr id="13" name="Text 11"/>
          <p:cNvSpPr txBox="1"/>
          <p:nvPr/>
        </p:nvSpPr>
        <p:spPr>
          <a:xfrm>
            <a:off x="1016000" y="4127500"/>
            <a:ext cx="28321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Calibri" pitchFamily="34" charset="0"/>
                <a:ea typeface="Calibri" pitchFamily="34" charset="-122"/>
                <a:cs typeface="Calibri" pitchFamily="34" charset="-120"/>
              </a:rPr>
              <a:t>Focus: </a:t>
            </a:r>
            <a:pPr algn="l" indent="0" marL="0">
              <a:lnSpc>
                <a:spcPct val="125000"/>
              </a:lnSpc>
              <a:buNone/>
            </a:pPr>
            <a:r>
              <a:rPr lang="en-US" sz="1300" dirty="0">
                <a:solidFill>
                  <a:srgbClr val="14213D"/>
                </a:solidFill>
                <a:latin typeface="Calibri" pitchFamily="34" charset="0"/>
                <a:ea typeface="Calibri" pitchFamily="34" charset="-122"/>
                <a:cs typeface="Calibri" pitchFamily="34" charset="-120"/>
              </a:rPr>
              <a:t>personal leverage, using AI to deliver more and go deeper.</a:t>
            </a:r>
            <a:endParaRPr lang="en-US" sz="1300" dirty="0"/>
          </a:p>
        </p:txBody>
      </p:sp>
      <p:sp>
        <p:nvSpPr>
          <p:cNvPr id="14" name="Text 12"/>
          <p:cNvSpPr txBox="1"/>
          <p:nvPr/>
        </p:nvSpPr>
        <p:spPr>
          <a:xfrm>
            <a:off x="1016000" y="5016500"/>
            <a:ext cx="2832100" cy="635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Calibri" pitchFamily="34" charset="0"/>
                <a:ea typeface="Calibri" pitchFamily="34" charset="-122"/>
                <a:cs typeface="Calibri" pitchFamily="34" charset="-120"/>
              </a:rPr>
              <a:t>Grows by: </a:t>
            </a:r>
            <a:pPr algn="l" indent="0" marL="0">
              <a:lnSpc>
                <a:spcPct val="125000"/>
              </a:lnSpc>
              <a:buNone/>
            </a:pPr>
            <a:r>
              <a:rPr lang="en-US" sz="1300" dirty="0">
                <a:solidFill>
                  <a:srgbClr val="4A5568"/>
                </a:solidFill>
                <a:latin typeface="Calibri" pitchFamily="34" charset="0"/>
                <a:ea typeface="Calibri" pitchFamily="34" charset="-122"/>
                <a:cs typeface="Calibri" pitchFamily="34" charset="-120"/>
              </a:rPr>
              <a:t>[scope, complexity, technical influence]</a:t>
            </a:r>
            <a:endParaRPr lang="en-US" sz="1300" dirty="0"/>
          </a:p>
        </p:txBody>
      </p:sp>
      <p:sp>
        <p:nvSpPr>
          <p:cNvPr id="15" name="Shape 13"/>
          <p:cNvSpPr/>
          <p:nvPr/>
        </p:nvSpPr>
        <p:spPr>
          <a:xfrm>
            <a:off x="4305300" y="2984500"/>
            <a:ext cx="3238500" cy="2794000"/>
          </a:xfrm>
          <a:prstGeom prst="roundRect">
            <a:avLst>
              <a:gd name="adj" fmla="val 1964"/>
            </a:avLst>
          </a:prstGeom>
          <a:solidFill>
            <a:srgbClr val="F6E6D6"/>
          </a:solidFill>
          <a:ln w="19050">
            <a:solidFill>
              <a:srgbClr val="A0521A"/>
            </a:solidFill>
            <a:prstDash val="solid"/>
          </a:ln>
        </p:spPr>
      </p:sp>
      <p:sp>
        <p:nvSpPr>
          <p:cNvPr id="16" name="Text 14"/>
          <p:cNvSpPr txBox="1"/>
          <p:nvPr/>
        </p:nvSpPr>
        <p:spPr>
          <a:xfrm>
            <a:off x="4508500" y="31877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Calibri" pitchFamily="34" charset="0"/>
                <a:ea typeface="Calibri" pitchFamily="34" charset="-122"/>
                <a:cs typeface="Calibri" pitchFamily="34" charset="-120"/>
              </a:rPr>
              <a:t>PATH 2</a:t>
            </a:r>
            <a:endParaRPr lang="en-US" sz="1200" dirty="0"/>
          </a:p>
        </p:txBody>
      </p:sp>
      <p:sp>
        <p:nvSpPr>
          <p:cNvPr id="17" name="Text 15"/>
          <p:cNvSpPr txBox="1"/>
          <p:nvPr/>
        </p:nvSpPr>
        <p:spPr>
          <a:xfrm>
            <a:off x="4508500" y="3467100"/>
            <a:ext cx="28321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People manager</a:t>
            </a:r>
            <a:endParaRPr lang="en-US" sz="1600" dirty="0"/>
          </a:p>
        </p:txBody>
      </p:sp>
      <p:sp>
        <p:nvSpPr>
          <p:cNvPr id="18" name="Text 16"/>
          <p:cNvSpPr txBox="1"/>
          <p:nvPr/>
        </p:nvSpPr>
        <p:spPr>
          <a:xfrm>
            <a:off x="4508500" y="4127500"/>
            <a:ext cx="28321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Calibri" pitchFamily="34" charset="0"/>
                <a:ea typeface="Calibri" pitchFamily="34" charset="-122"/>
                <a:cs typeface="Calibri" pitchFamily="34" charset="-120"/>
              </a:rPr>
              <a:t>Focus: </a:t>
            </a:r>
            <a:pPr algn="l" indent="0" marL="0">
              <a:lnSpc>
                <a:spcPct val="125000"/>
              </a:lnSpc>
              <a:buNone/>
            </a:pPr>
            <a:r>
              <a:rPr lang="en-US" sz="1300" dirty="0">
                <a:solidFill>
                  <a:srgbClr val="14213D"/>
                </a:solidFill>
                <a:latin typeface="Calibri" pitchFamily="34" charset="0"/>
                <a:ea typeface="Calibri" pitchFamily="34" charset="-122"/>
                <a:cs typeface="Calibri" pitchFamily="34" charset="-120"/>
              </a:rPr>
              <a:t>people, strategy and connecting teams; less on technical efficiency.</a:t>
            </a:r>
            <a:endParaRPr lang="en-US" sz="1300" dirty="0"/>
          </a:p>
        </p:txBody>
      </p:sp>
      <p:sp>
        <p:nvSpPr>
          <p:cNvPr id="19" name="Text 17"/>
          <p:cNvSpPr txBox="1"/>
          <p:nvPr/>
        </p:nvSpPr>
        <p:spPr>
          <a:xfrm>
            <a:off x="4508500" y="5016500"/>
            <a:ext cx="2832100" cy="635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Calibri" pitchFamily="34" charset="0"/>
                <a:ea typeface="Calibri" pitchFamily="34" charset="-122"/>
                <a:cs typeface="Calibri" pitchFamily="34" charset="-120"/>
              </a:rPr>
              <a:t>Grows by: </a:t>
            </a:r>
            <a:pPr algn="l" indent="0" marL="0">
              <a:lnSpc>
                <a:spcPct val="125000"/>
              </a:lnSpc>
              <a:buNone/>
            </a:pPr>
            <a:r>
              <a:rPr lang="en-US" sz="1300" dirty="0">
                <a:solidFill>
                  <a:srgbClr val="4A5568"/>
                </a:solidFill>
                <a:latin typeface="Calibri" pitchFamily="34" charset="0"/>
                <a:ea typeface="Calibri" pitchFamily="34" charset="-122"/>
                <a:cs typeface="Calibri" pitchFamily="34" charset="-120"/>
              </a:rPr>
              <a:t>[team scope, span, strategic impact]</a:t>
            </a:r>
            <a:endParaRPr lang="en-US" sz="1300" dirty="0"/>
          </a:p>
        </p:txBody>
      </p:sp>
      <p:sp>
        <p:nvSpPr>
          <p:cNvPr id="20" name="Shape 18"/>
          <p:cNvSpPr/>
          <p:nvPr/>
        </p:nvSpPr>
        <p:spPr>
          <a:xfrm>
            <a:off x="7848600" y="2286000"/>
            <a:ext cx="3530600" cy="3492500"/>
          </a:xfrm>
          <a:prstGeom prst="roundRect">
            <a:avLst>
              <a:gd name="adj" fmla="val 1571"/>
            </a:avLst>
          </a:prstGeom>
          <a:solidFill>
            <a:srgbClr val="ECEAE3"/>
          </a:solidFill>
          <a:ln/>
        </p:spPr>
      </p:sp>
      <p:pic>
        <p:nvPicPr>
          <p:cNvPr id="21"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2" name="Text 19"/>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Rethink performance management</a:t>
            </a:r>
            <a:endParaRPr lang="en-US" sz="1600" dirty="0"/>
          </a:p>
        </p:txBody>
      </p:sp>
      <p:sp>
        <p:nvSpPr>
          <p:cNvPr id="23" name="Text 20"/>
          <p:cNvSpPr txBox="1"/>
          <p:nvPr/>
        </p:nvSpPr>
        <p:spPr>
          <a:xfrm>
            <a:off x="8051800" y="3556000"/>
            <a:ext cx="3124200" cy="127000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latin typeface="Calibri" pitchFamily="34" charset="0"/>
                <a:ea typeface="Calibri" pitchFamily="34" charset="-122"/>
                <a:cs typeface="Calibri" pitchFamily="34" charset="-120"/>
              </a:rPr>
              <a:t>As everyone gets more efficient, forcing a distribution pits peers against each other. That hurts sustainable growth and culture.</a:t>
            </a:r>
            <a:endParaRPr lang="en-US" sz="1300" dirty="0"/>
          </a:p>
        </p:txBody>
      </p:sp>
      <p:sp>
        <p:nvSpPr>
          <p:cNvPr id="24" name="Text 21"/>
          <p:cNvSpPr txBox="1"/>
          <p:nvPr/>
        </p:nvSpPr>
        <p:spPr>
          <a:xfrm>
            <a:off x="8051800" y="5016500"/>
            <a:ext cx="3124200" cy="571500"/>
          </a:xfrm>
          <a:prstGeom prst="rect">
            <a:avLst/>
          </a:prstGeom>
          <a:noFill/>
          <a:ln/>
        </p:spPr>
        <p:txBody>
          <a:bodyPr wrap="square" lIns="0" tIns="0" rIns="0" bIns="0" rtlCol="0" anchor="t"/>
          <a:lstStyle/>
          <a:p>
            <a:pPr algn="l" indent="0" marL="0">
              <a:lnSpc>
                <a:spcPct val="115000"/>
              </a:lnSpc>
              <a:buNone/>
            </a:pPr>
            <a:r>
              <a:rPr lang="en-US" sz="1300" dirty="0">
                <a:solidFill>
                  <a:srgbClr val="155563"/>
                </a:solidFill>
                <a:latin typeface="Calibri" pitchFamily="34" charset="0"/>
                <a:ea typeface="Calibri" pitchFamily="34" charset="-122"/>
                <a:cs typeface="Calibri" pitchFamily="34" charset="-120"/>
              </a:rPr>
              <a:t>[Proposal, e.g., measure impact against goals]</a:t>
            </a:r>
            <a:endParaRPr lang="en-US" sz="1300" dirty="0"/>
          </a:p>
        </p:txBody>
      </p:sp>
      <p:sp>
        <p:nvSpPr>
          <p:cNvPr id="25" name="Text 22"/>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Calibri" pitchFamily="34" charset="0"/>
                <a:ea typeface="Calibri" pitchFamily="34" charset="-122"/>
                <a:cs typeface="Calibri"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Cambria" pitchFamily="34" charset="0"/>
                <a:ea typeface="Cambria" pitchFamily="34" charset="-122"/>
                <a:cs typeface="Cambria"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Calibri" pitchFamily="34" charset="0"/>
                <a:ea typeface="Calibri" pitchFamily="34" charset="-122"/>
                <a:cs typeface="Calibri"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Calibri" pitchFamily="34" charset="0"/>
                <a:ea typeface="Calibri" pitchFamily="34" charset="-122"/>
                <a:cs typeface="Calibri"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Calibri" pitchFamily="34" charset="0"/>
                <a:ea typeface="Calibri" pitchFamily="34" charset="-122"/>
                <a:cs typeface="Calibri"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Calibri" pitchFamily="34" charset="0"/>
                <a:ea typeface="Calibri" pitchFamily="34" charset="-122"/>
                <a:cs typeface="Calibri"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Calibri" pitchFamily="34" charset="0"/>
                <a:ea typeface="Calibri" pitchFamily="34" charset="-122"/>
                <a:cs typeface="Calibri"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Calibri" pitchFamily="34" charset="0"/>
                <a:ea typeface="Calibri" pitchFamily="34" charset="-122"/>
                <a:cs typeface="Calibri"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Calibri" pitchFamily="34" charset="0"/>
                <a:ea typeface="Calibri" pitchFamily="34" charset="-122"/>
                <a:cs typeface="Calibri"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Calibri" pitchFamily="34" charset="0"/>
                <a:ea typeface="Calibri" pitchFamily="34" charset="-122"/>
                <a:cs typeface="Calibri"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Calibri" pitchFamily="34" charset="0"/>
                <a:ea typeface="Calibri" pitchFamily="34" charset="-122"/>
                <a:cs typeface="Calibri"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Calibri" pitchFamily="34" charset="0"/>
                <a:ea typeface="Calibri" pitchFamily="34" charset="-122"/>
                <a:cs typeface="Calibri"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Calibri" pitchFamily="34" charset="0"/>
                <a:ea typeface="Calibri" pitchFamily="34" charset="-122"/>
                <a:cs typeface="Calibri"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Calibri" pitchFamily="34" charset="0"/>
                <a:ea typeface="Calibri" pitchFamily="34" charset="-122"/>
                <a:cs typeface="Calibri"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Calibri" pitchFamily="34" charset="0"/>
                <a:ea typeface="Calibri" pitchFamily="34" charset="-122"/>
                <a:cs typeface="Calibri" pitchFamily="34" charset="-120"/>
              </a:rPr>
              <a:t>Manager path </a:t>
            </a:r>
            <a:pPr algn="l" indent="0" marL="0">
              <a:lnSpc>
                <a:spcPct val="125000"/>
              </a:lnSpc>
              <a:buNone/>
            </a:pPr>
            <a:r>
              <a:rPr lang="en-US" sz="1300" dirty="0">
                <a:solidFill>
                  <a:srgbClr val="4A5568"/>
                </a:solidFill>
                <a:latin typeface="Calibri" pitchFamily="34" charset="0"/>
                <a:ea typeface="Calibri" pitchFamily="34" charset="-122"/>
                <a:cs typeface="Calibri"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Calibri" pitchFamily="34" charset="0"/>
                <a:ea typeface="Calibri" pitchFamily="34" charset="-122"/>
                <a:cs typeface="Calibri" pitchFamily="34" charset="-120"/>
              </a:rPr>
              <a:t>IC path </a:t>
            </a:r>
            <a:pPr algn="l" indent="0" marL="0">
              <a:lnSpc>
                <a:spcPct val="125000"/>
              </a:lnSpc>
              <a:buNone/>
            </a:pPr>
            <a:r>
              <a:rPr lang="en-US" sz="1300" dirty="0">
                <a:solidFill>
                  <a:srgbClr val="4A5568"/>
                </a:solidFill>
                <a:latin typeface="Calibri" pitchFamily="34" charset="0"/>
                <a:ea typeface="Calibri" pitchFamily="34" charset="-122"/>
                <a:cs typeface="Calibri" pitchFamily="34" charset="-120"/>
              </a:rPr>
              <a:t>becomes the core: seniors directing agents</a:t>
            </a:r>
            <a:endParaRPr lang="en-US" sz="1300" dirty="0"/>
          </a:p>
        </p:txBody>
      </p:sp>
      <p:sp>
        <p:nvSpPr>
          <p:cNvPr id="29" name="Text 27"/>
          <p:cNvSpPr txBox="1"/>
          <p:nvPr/>
        </p:nvSpPr>
        <p:spPr>
          <a:xfrm>
            <a:off x="8229600" y="4102100"/>
            <a:ext cx="2946400" cy="762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Calibri" pitchFamily="34" charset="0"/>
                <a:ea typeface="Calibri" pitchFamily="34" charset="-122"/>
                <a:cs typeface="Calibri" pitchFamily="34" charset="-120"/>
              </a:rPr>
              <a:t>Open question: </a:t>
            </a:r>
            <a:pPr algn="l" indent="0" marL="0">
              <a:lnSpc>
                <a:spcPct val="125000"/>
              </a:lnSpc>
              <a:buNone/>
            </a:pPr>
            <a:r>
              <a:rPr lang="en-US" sz="1300" dirty="0">
                <a:solidFill>
                  <a:srgbClr val="4A5568"/>
                </a:solidFill>
                <a:latin typeface="Calibri" pitchFamily="34" charset="0"/>
                <a:ea typeface="Calibri" pitchFamily="34" charset="-122"/>
                <a:cs typeface="Calibri" pitchFamily="34" charset="-120"/>
              </a:rPr>
              <a:t>how do juniors build judgment when agents do entry-level work?</a:t>
            </a:r>
            <a:endParaRPr lang="en-US" sz="1300" dirty="0"/>
          </a:p>
        </p:txBody>
      </p:sp>
      <p:sp>
        <p:nvSpPr>
          <p:cNvPr id="30" name="Text 28"/>
          <p:cNvSpPr txBox="1"/>
          <p:nvPr/>
        </p:nvSpPr>
        <p:spPr>
          <a:xfrm>
            <a:off x="8229600" y="5016500"/>
            <a:ext cx="2946400" cy="279400"/>
          </a:xfrm>
          <a:prstGeom prst="rect">
            <a:avLst/>
          </a:prstGeom>
          <a:noFill/>
          <a:ln/>
        </p:spPr>
        <p:txBody>
          <a:bodyPr wrap="square" lIns="0" tIns="0" rIns="0" bIns="0" rtlCol="0" anchor="t"/>
          <a:lstStyle/>
          <a:p>
            <a:pPr algn="l" indent="0" marL="0">
              <a:lnSpc>
                <a:spcPct val="115000"/>
              </a:lnSpc>
              <a:buNone/>
            </a:pPr>
            <a:r>
              <a:rPr lang="en-US" sz="1300" dirty="0">
                <a:solidFill>
                  <a:srgbClr val="A0521A"/>
                </a:solidFill>
                <a:latin typeface="Calibri" pitchFamily="34" charset="0"/>
                <a:ea typeface="Calibri" pitchFamily="34" charset="-122"/>
                <a:cs typeface="Calibri" pitchFamily="34" charset="-120"/>
              </a:rPr>
              <a:t>→ [Junior pipeline approach]</a:t>
            </a:r>
            <a:endParaRPr lang="en-US" sz="1300" dirty="0"/>
          </a:p>
        </p:txBody>
      </p:sp>
      <p:sp>
        <p:nvSpPr>
          <p:cNvPr id="31" name="Text 2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Calibri" pitchFamily="34" charset="0"/>
                <a:ea typeface="Calibri" pitchFamily="34" charset="-122"/>
                <a:cs typeface="Calibri"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Cambria" pitchFamily="34" charset="0"/>
                <a:ea typeface="Cambria" pitchFamily="34" charset="-122"/>
                <a:cs typeface="Cambria"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Calibri" pitchFamily="34" charset="0"/>
                <a:ea typeface="Calibri" pitchFamily="34" charset="-122"/>
                <a:cs typeface="Calibri" pitchFamily="34" charset="-120"/>
              </a:rPr>
              <a:t>Modeling &amp; Automation,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Cambria" pitchFamily="34" charset="0"/>
                <a:ea typeface="Cambria" pitchFamily="34" charset="-122"/>
                <a:cs typeface="Cambria"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Calibri" pitchFamily="34" charset="0"/>
                <a:ea typeface="Calibri" pitchFamily="34" charset="-122"/>
                <a:cs typeface="Calibri"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Cambria" pitchFamily="34" charset="0"/>
                <a:ea typeface="Cambria" pitchFamily="34" charset="-122"/>
                <a:cs typeface="Cambria"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Calibri" pitchFamily="34" charset="0"/>
                <a:ea typeface="Calibri" pitchFamily="34" charset="-122"/>
                <a:cs typeface="Calibri"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Cambria" pitchFamily="34" charset="0"/>
                <a:ea typeface="Cambria" pitchFamily="34" charset="-122"/>
                <a:cs typeface="Cambria"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Calibri" pitchFamily="34" charset="0"/>
                <a:ea typeface="Calibri" pitchFamily="34" charset="-122"/>
                <a:cs typeface="Calibri"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Calibri" pitchFamily="34" charset="0"/>
                <a:ea typeface="Calibri" pitchFamily="34" charset="-122"/>
                <a:cs typeface="Calibri"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Calibri" pitchFamily="34" charset="0"/>
                <a:ea typeface="Calibri" pitchFamily="34" charset="-122"/>
                <a:cs typeface="Calibri"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2026-10-22T12:42:16Z</dcterms:created>
  <dcterms:modified xsi:type="dcterms:W3CDTF">2026-10-22T12:42:16Z</dcterms:modified>
</cp:coreProperties>
</file>