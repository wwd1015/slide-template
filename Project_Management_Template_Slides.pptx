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portfolio view: this is the whole programme on one canvas. The goal of this session is a holistic read on what's happening over the next few quarters, where the projects connect, and the few decisions that unblock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card per project — the whole portfolio in a single read. Scan the status dots first, then drop into the two ambers and the red. Each card carries the owner, progress, and the single next milestone that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holistic view. Each lane is a project; diamonds are milestones; the dashed lines are the dependencies between projects. Trace the connections: SSO GA feeds Payments and Partner API; Platform GA feeds Analytics; Payments launch gates Mobile GA. The red line is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roadmap's external face: the handoffs we don't control. Two are blocked and need a decision this month — the model validation slot and the partner contract. Walk the flagged rows; each one names the call and who owns it. Greens are tracking and need no action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master view: every project on its own lane, running in parallel, with the external-team dependencies flagged right where each one lands on the timeline. Filled flags are decisions due — Partner contract, model validation, data classification. Read down the Q4 column: three external calls converge in the same six weeks, which is the crunch.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delivery to outcome. The metric is analyst hours per week on manual data prep. A year of Data Platform work took it from 14 hours to 6.2 — more than halved. The right column lists exactly what shipped to drive that down. Use this pattern for any project: pick the one metric the work moves, then show the trajectory.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forward look. Same metric, projected to 3.0 hours by Q2 next year. The right column is the plan: each enhancement with its estimated effort in engineering-weeks and the time it's expected to save. The bottom line ties it together — 20 eng-weeks of investment buys another halving of analyst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impact story on one slide: solid bars are delivered, dashed bars are projected, the line splits past from forecast. A year of work halved the metric to 6.2; another 20 engineering-weeks is forecast to halve it again to 3.0. Use this single-slide version when you want the whole arc in one view instead of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one-pager template for introducing a single piece of work in depth. Use it when a project or enhancement needs its own moment: the background and why-now on the left, the facts and the benefit case on the right. Here it profiles Smart anomaly checks — owner, effort, timeline, and the estimated hours returned.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connections into decisions. SSO GA is the long pole — three projects sit behind it, so protecting that date is the single highest-leverage call. Then two sequencing decisions follow. Confirm all three before we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12395A">
                  <a:alpha val="100000"/>
                </a:srgbClr>
              </a:gs>
              <a:gs pos="46000">
                <a:srgbClr val="0C2C4A">
                  <a:alpha val="100000"/>
                </a:srgbClr>
              </a:gs>
              <a:gs pos="100000">
                <a:srgbClr val="082138">
                  <a:alpha val="100000"/>
                </a:srgbClr>
              </a:gs>
            </a:gsLst>
            <a:path path="circle">
              <a:fillToRect l="82000" t="0" r="18000" b="10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2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7334310"/>
            <a:ext cx="18288001" cy="19049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838140"/>
            <a:ext cx="257919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4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267569" y="909578"/>
            <a:ext cx="28575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724769" y="838140"/>
            <a:ext cx="5014957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64" kern="0" dirty="0">
                <a:solidFill>
                  <a:srgbClr val="3D9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REVIEW · PROGRAMME BOARD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3586252"/>
            <a:ext cx="13735020" cy="1575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portfolio, </a:t>
            </a:r>
            <a:pPr algn="l" indent="0" marL="0">
              <a:lnSpc>
                <a:spcPct val="105000"/>
              </a:lnSpc>
              <a:buNone/>
            </a:pPr>
            <a:r>
              <a:rPr lang="en-US" sz="5700" i="1" spc="-114" kern="0" dirty="0">
                <a:solidFill>
                  <a:srgbClr val="3D93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one canvas.</a:t>
            </a:r>
            <a:endParaRPr lang="en-US" sz="5700" dirty="0"/>
          </a:p>
        </p:txBody>
      </p:sp>
      <p:sp>
        <p:nvSpPr>
          <p:cNvPr id="8" name="Text 5"/>
          <p:cNvSpPr/>
          <p:nvPr/>
        </p:nvSpPr>
        <p:spPr>
          <a:xfrm>
            <a:off x="914400" y="5428357"/>
            <a:ext cx="10203150" cy="780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A9B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initiatives over the next four quarters — how they're tracking, where they connect, and the few decisions that keep the whole programme moving.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914400" y="8766810"/>
            <a:ext cx="1645920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9058276"/>
            <a:ext cx="1795680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95" kern="0" dirty="0">
                <a:solidFill>
                  <a:srgbClr val="3D9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914400" y="9239280"/>
            <a:ext cx="1795680" cy="24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2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active projects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2984927" y="9058276"/>
            <a:ext cx="2249388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95" kern="0" dirty="0">
                <a:solidFill>
                  <a:srgbClr val="3D9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2984927" y="9239280"/>
            <a:ext cx="2249388" cy="24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2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→ Q2 2027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467916" y="9058276"/>
            <a:ext cx="1587832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95" kern="0" dirty="0">
                <a:solidFill>
                  <a:srgbClr val="3D9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LEAD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467916" y="9239280"/>
            <a:ext cx="1587832" cy="247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2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Okafor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4637187" y="9205883"/>
            <a:ext cx="95190" cy="95190"/>
          </a:xfrm>
          <a:prstGeom prst="ellipse">
            <a:avLst/>
          </a:prstGeom>
          <a:solidFill>
            <a:srgbClr val="4ABE8C"/>
          </a:solidFill>
          <a:ln/>
        </p:spPr>
      </p:sp>
      <p:sp>
        <p:nvSpPr>
          <p:cNvPr id="17" name="Text 14"/>
          <p:cNvSpPr/>
          <p:nvPr/>
        </p:nvSpPr>
        <p:spPr>
          <a:xfrm>
            <a:off x="14818102" y="9154448"/>
            <a:ext cx="804416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CE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on track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5717769" y="9205883"/>
            <a:ext cx="95190" cy="95190"/>
          </a:xfrm>
          <a:prstGeom prst="ellipse">
            <a:avLst/>
          </a:prstGeom>
          <a:solidFill>
            <a:srgbClr val="C98A1E"/>
          </a:solidFill>
          <a:ln/>
        </p:spPr>
      </p:sp>
      <p:sp>
        <p:nvSpPr>
          <p:cNvPr id="19" name="Text 16"/>
          <p:cNvSpPr/>
          <p:nvPr/>
        </p:nvSpPr>
        <p:spPr>
          <a:xfrm>
            <a:off x="15898684" y="9154448"/>
            <a:ext cx="642342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B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watch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6636276" y="9205883"/>
            <a:ext cx="95190" cy="95190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1" name="Text 18"/>
          <p:cNvSpPr/>
          <p:nvPr/>
        </p:nvSpPr>
        <p:spPr>
          <a:xfrm>
            <a:off x="16817192" y="9154448"/>
            <a:ext cx="632609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9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at risk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52390"/>
            <a:ext cx="4841489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809565"/>
            <a:ext cx="4841489" cy="5333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56" kern="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at a glance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14912847" y="1123801"/>
            <a:ext cx="104745" cy="104745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5" name="Text 3"/>
          <p:cNvSpPr/>
          <p:nvPr/>
        </p:nvSpPr>
        <p:spPr>
          <a:xfrm>
            <a:off x="15103316" y="1087636"/>
            <a:ext cx="6597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15896362" y="1123801"/>
            <a:ext cx="104745" cy="104745"/>
          </a:xfrm>
          <a:prstGeom prst="ellipse">
            <a:avLst/>
          </a:prstGeom>
          <a:solidFill>
            <a:srgbClr val="C98A1E"/>
          </a:solidFill>
          <a:ln/>
        </p:spPr>
      </p:sp>
      <p:sp>
        <p:nvSpPr>
          <p:cNvPr id="7" name="Text 5"/>
          <p:cNvSpPr/>
          <p:nvPr/>
        </p:nvSpPr>
        <p:spPr>
          <a:xfrm>
            <a:off x="16086833" y="1087636"/>
            <a:ext cx="5182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6738342" y="1123801"/>
            <a:ext cx="104745" cy="104745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9" name="Text 7"/>
          <p:cNvSpPr/>
          <p:nvPr/>
        </p:nvSpPr>
        <p:spPr>
          <a:xfrm>
            <a:off x="16928813" y="1087636"/>
            <a:ext cx="520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914400" y="1571447"/>
            <a:ext cx="5333970" cy="3797707"/>
          </a:xfrm>
          <a:prstGeom prst="roundRect">
            <a:avLst>
              <a:gd name="adj" fmla="val 25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5363438"/>
            <a:ext cx="533397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571447"/>
            <a:ext cx="5333970" cy="3429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1571447"/>
            <a:ext cx="9525" cy="3797707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2655" y="1571447"/>
            <a:ext cx="9525" cy="3797707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5" name="Text 13"/>
          <p:cNvSpPr/>
          <p:nvPr/>
        </p:nvSpPr>
        <p:spPr>
          <a:xfrm>
            <a:off x="1186756" y="1853357"/>
            <a:ext cx="1770927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5852250" y="1910507"/>
            <a:ext cx="123765" cy="123765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7" name="Text 15"/>
          <p:cNvSpPr/>
          <p:nvPr/>
        </p:nvSpPr>
        <p:spPr>
          <a:xfrm>
            <a:off x="1186756" y="2192328"/>
            <a:ext cx="5268185" cy="23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L. Park · Foundational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6756" y="4121498"/>
            <a:ext cx="738872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37044" y="4121498"/>
            <a:ext cx="415171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86756" y="4359652"/>
            <a:ext cx="4789259" cy="95190"/>
          </a:xfrm>
          <a:prstGeom prst="roundRect">
            <a:avLst>
              <a:gd name="adj" fmla="val 50000"/>
            </a:avLst>
          </a:prstGeom>
          <a:solidFill>
            <a:srgbClr val="F6F9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6756" y="4359652"/>
            <a:ext cx="3735556" cy="95190"/>
          </a:xfrm>
          <a:prstGeom prst="roundRect">
            <a:avLst>
              <a:gd name="adj" fmla="val 50000"/>
            </a:avLst>
          </a:prstGeom>
          <a:solidFill>
            <a:srgbClr val="1F8A5B"/>
          </a:solidFill>
          <a:ln/>
        </p:spPr>
      </p:sp>
      <p:sp>
        <p:nvSpPr>
          <p:cNvPr id="22" name="Shape 20"/>
          <p:cNvSpPr/>
          <p:nvPr/>
        </p:nvSpPr>
        <p:spPr>
          <a:xfrm>
            <a:off x="1186756" y="4626293"/>
            <a:ext cx="4789259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23" name="Text 21"/>
          <p:cNvSpPr/>
          <p:nvPr/>
        </p:nvSpPr>
        <p:spPr>
          <a:xfrm>
            <a:off x="1186756" y="4784348"/>
            <a:ext cx="133293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86756" y="4927223"/>
            <a:ext cx="1332935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GA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55593" y="4864358"/>
            <a:ext cx="59662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7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Dec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76970" y="1571447"/>
            <a:ext cx="5333970" cy="3797707"/>
          </a:xfrm>
          <a:prstGeom prst="roundRect">
            <a:avLst>
              <a:gd name="adj" fmla="val 25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76970" y="5363438"/>
            <a:ext cx="533397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28" name="Shape 26"/>
          <p:cNvSpPr/>
          <p:nvPr/>
        </p:nvSpPr>
        <p:spPr>
          <a:xfrm>
            <a:off x="6476970" y="1571447"/>
            <a:ext cx="5333970" cy="3429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76970" y="1571447"/>
            <a:ext cx="9525" cy="3797707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805226" y="1571447"/>
            <a:ext cx="9525" cy="3797707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31" name="Text 29"/>
          <p:cNvSpPr/>
          <p:nvPr/>
        </p:nvSpPr>
        <p:spPr>
          <a:xfrm>
            <a:off x="6749326" y="1853357"/>
            <a:ext cx="189184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SSO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414820" y="1910507"/>
            <a:ext cx="123765" cy="123765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33" name="Text 31"/>
          <p:cNvSpPr/>
          <p:nvPr/>
        </p:nvSpPr>
        <p:spPr>
          <a:xfrm>
            <a:off x="6749326" y="2192328"/>
            <a:ext cx="5268185" cy="23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M. Díaz · Enabler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49326" y="4121498"/>
            <a:ext cx="738872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189524" y="4121498"/>
            <a:ext cx="425262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49326" y="4359652"/>
            <a:ext cx="4789259" cy="95190"/>
          </a:xfrm>
          <a:prstGeom prst="roundRect">
            <a:avLst>
              <a:gd name="adj" fmla="val 50000"/>
            </a:avLst>
          </a:prstGeom>
          <a:solidFill>
            <a:srgbClr val="F6F9FC"/>
          </a:solidFill>
          <a:ln/>
        </p:spPr>
      </p:sp>
      <p:sp>
        <p:nvSpPr>
          <p:cNvPr id="37" name="Shape 35"/>
          <p:cNvSpPr/>
          <p:nvPr/>
        </p:nvSpPr>
        <p:spPr>
          <a:xfrm>
            <a:off x="6749326" y="4359652"/>
            <a:ext cx="4214545" cy="95190"/>
          </a:xfrm>
          <a:prstGeom prst="roundRect">
            <a:avLst>
              <a:gd name="adj" fmla="val 50000"/>
            </a:avLst>
          </a:prstGeom>
          <a:solidFill>
            <a:srgbClr val="1F8A5B"/>
          </a:solidFill>
          <a:ln/>
        </p:spPr>
      </p:sp>
      <p:sp>
        <p:nvSpPr>
          <p:cNvPr id="38" name="Shape 36"/>
          <p:cNvSpPr/>
          <p:nvPr/>
        </p:nvSpPr>
        <p:spPr>
          <a:xfrm>
            <a:off x="6749326" y="4626293"/>
            <a:ext cx="4789259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39" name="Text 37"/>
          <p:cNvSpPr/>
          <p:nvPr/>
        </p:nvSpPr>
        <p:spPr>
          <a:xfrm>
            <a:off x="6749326" y="4784348"/>
            <a:ext cx="133293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49326" y="4927223"/>
            <a:ext cx="1332935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GA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1007001" y="4864358"/>
            <a:ext cx="6077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7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Nov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2039541" y="1571447"/>
            <a:ext cx="5333970" cy="3797707"/>
          </a:xfrm>
          <a:prstGeom prst="roundRect">
            <a:avLst>
              <a:gd name="adj" fmla="val 25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2039541" y="5363438"/>
            <a:ext cx="533397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44" name="Shape 42"/>
          <p:cNvSpPr/>
          <p:nvPr/>
        </p:nvSpPr>
        <p:spPr>
          <a:xfrm>
            <a:off x="12039541" y="1571447"/>
            <a:ext cx="5333970" cy="34290"/>
          </a:xfrm>
          <a:prstGeom prst="rect">
            <a:avLst/>
          </a:prstGeom>
          <a:solidFill>
            <a:srgbClr val="C98A1E"/>
          </a:solidFill>
          <a:ln/>
        </p:spPr>
      </p:sp>
      <p:sp>
        <p:nvSpPr>
          <p:cNvPr id="45" name="Shape 43"/>
          <p:cNvSpPr/>
          <p:nvPr/>
        </p:nvSpPr>
        <p:spPr>
          <a:xfrm>
            <a:off x="12039541" y="1571447"/>
            <a:ext cx="9525" cy="3797707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46" name="Shape 44"/>
          <p:cNvSpPr/>
          <p:nvPr/>
        </p:nvSpPr>
        <p:spPr>
          <a:xfrm>
            <a:off x="17367796" y="1571447"/>
            <a:ext cx="9525" cy="3797707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47" name="Text 45"/>
          <p:cNvSpPr/>
          <p:nvPr/>
        </p:nvSpPr>
        <p:spPr>
          <a:xfrm>
            <a:off x="12311896" y="1853357"/>
            <a:ext cx="2422365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Revamp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6977390" y="1910507"/>
            <a:ext cx="123765" cy="123765"/>
          </a:xfrm>
          <a:prstGeom prst="ellipse">
            <a:avLst/>
          </a:prstGeom>
          <a:solidFill>
            <a:srgbClr val="C98A1E"/>
          </a:solidFill>
          <a:ln/>
        </p:spPr>
      </p:sp>
      <p:sp>
        <p:nvSpPr>
          <p:cNvPr id="49" name="Text 47"/>
          <p:cNvSpPr/>
          <p:nvPr/>
        </p:nvSpPr>
        <p:spPr>
          <a:xfrm>
            <a:off x="12311896" y="2192328"/>
            <a:ext cx="5268185" cy="23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S. Haddad · Revenue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311896" y="4121498"/>
            <a:ext cx="738872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6753969" y="4121498"/>
            <a:ext cx="423386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2311896" y="4359652"/>
            <a:ext cx="4789259" cy="95190"/>
          </a:xfrm>
          <a:prstGeom prst="roundRect">
            <a:avLst>
              <a:gd name="adj" fmla="val 50000"/>
            </a:avLst>
          </a:prstGeom>
          <a:solidFill>
            <a:srgbClr val="F6F9FC"/>
          </a:solidFill>
          <a:ln/>
        </p:spPr>
      </p:sp>
      <p:sp>
        <p:nvSpPr>
          <p:cNvPr id="53" name="Shape 51"/>
          <p:cNvSpPr/>
          <p:nvPr/>
        </p:nvSpPr>
        <p:spPr>
          <a:xfrm>
            <a:off x="12311896" y="4359652"/>
            <a:ext cx="2155091" cy="95190"/>
          </a:xfrm>
          <a:prstGeom prst="roundRect">
            <a:avLst>
              <a:gd name="adj" fmla="val 50000"/>
            </a:avLst>
          </a:prstGeom>
          <a:solidFill>
            <a:srgbClr val="C98A1E"/>
          </a:solidFill>
          <a:ln/>
        </p:spPr>
      </p:sp>
      <p:sp>
        <p:nvSpPr>
          <p:cNvPr id="54" name="Shape 52"/>
          <p:cNvSpPr/>
          <p:nvPr/>
        </p:nvSpPr>
        <p:spPr>
          <a:xfrm>
            <a:off x="12311896" y="4626293"/>
            <a:ext cx="4789259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55" name="Text 53"/>
          <p:cNvSpPr/>
          <p:nvPr/>
        </p:nvSpPr>
        <p:spPr>
          <a:xfrm>
            <a:off x="12311896" y="4784348"/>
            <a:ext cx="133293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2311896" y="4927223"/>
            <a:ext cx="1332935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16560374" y="4864358"/>
            <a:ext cx="6169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7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 Mar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914400" y="5597754"/>
            <a:ext cx="5333970" cy="3797796"/>
          </a:xfrm>
          <a:prstGeom prst="roundRect">
            <a:avLst>
              <a:gd name="adj" fmla="val 25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14400" y="9389835"/>
            <a:ext cx="533397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60" name="Shape 58"/>
          <p:cNvSpPr/>
          <p:nvPr/>
        </p:nvSpPr>
        <p:spPr>
          <a:xfrm>
            <a:off x="914400" y="5597754"/>
            <a:ext cx="5333970" cy="3429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" y="5597754"/>
            <a:ext cx="9525" cy="3797796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62" name="Shape 60"/>
          <p:cNvSpPr/>
          <p:nvPr/>
        </p:nvSpPr>
        <p:spPr>
          <a:xfrm>
            <a:off x="6242655" y="5597754"/>
            <a:ext cx="9525" cy="3797796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63" name="Text 61"/>
          <p:cNvSpPr/>
          <p:nvPr/>
        </p:nvSpPr>
        <p:spPr>
          <a:xfrm>
            <a:off x="1186756" y="5879664"/>
            <a:ext cx="1911882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2.0</a:t>
            </a:r>
            <a:endParaRPr lang="en-US" sz="1950" dirty="0"/>
          </a:p>
        </p:txBody>
      </p:sp>
      <p:sp>
        <p:nvSpPr>
          <p:cNvPr id="64" name="Shape 62"/>
          <p:cNvSpPr/>
          <p:nvPr/>
        </p:nvSpPr>
        <p:spPr>
          <a:xfrm>
            <a:off x="5852250" y="5936814"/>
            <a:ext cx="123765" cy="123765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65" name="Text 63"/>
          <p:cNvSpPr/>
          <p:nvPr/>
        </p:nvSpPr>
        <p:spPr>
          <a:xfrm>
            <a:off x="1186756" y="6218634"/>
            <a:ext cx="5268185" cy="23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T. Bauer · Growth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186756" y="8147894"/>
            <a:ext cx="738872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642223" y="8147894"/>
            <a:ext cx="409992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186756" y="8386049"/>
            <a:ext cx="4789259" cy="95190"/>
          </a:xfrm>
          <a:prstGeom prst="roundRect">
            <a:avLst>
              <a:gd name="adj" fmla="val 50000"/>
            </a:avLst>
          </a:prstGeom>
          <a:solidFill>
            <a:srgbClr val="F6F9FC"/>
          </a:solidFill>
          <a:ln/>
        </p:spPr>
      </p:sp>
      <p:sp>
        <p:nvSpPr>
          <p:cNvPr id="69" name="Shape 67"/>
          <p:cNvSpPr/>
          <p:nvPr/>
        </p:nvSpPr>
        <p:spPr>
          <a:xfrm>
            <a:off x="1186756" y="8386049"/>
            <a:ext cx="1053614" cy="95190"/>
          </a:xfrm>
          <a:prstGeom prst="roundRect">
            <a:avLst>
              <a:gd name="adj" fmla="val 50000"/>
            </a:avLst>
          </a:prstGeom>
          <a:solidFill>
            <a:srgbClr val="1F8A5B"/>
          </a:solidFill>
          <a:ln/>
        </p:spPr>
      </p:sp>
      <p:sp>
        <p:nvSpPr>
          <p:cNvPr id="70" name="Shape 68"/>
          <p:cNvSpPr/>
          <p:nvPr/>
        </p:nvSpPr>
        <p:spPr>
          <a:xfrm>
            <a:off x="1186756" y="8652689"/>
            <a:ext cx="4789259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71" name="Text 69"/>
          <p:cNvSpPr/>
          <p:nvPr/>
        </p:nvSpPr>
        <p:spPr>
          <a:xfrm>
            <a:off x="1186756" y="8810744"/>
            <a:ext cx="133293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186756" y="8953619"/>
            <a:ext cx="1332935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5471934" y="8890754"/>
            <a:ext cx="58028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7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Feb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6476970" y="5597754"/>
            <a:ext cx="5333970" cy="3797796"/>
          </a:xfrm>
          <a:prstGeom prst="roundRect">
            <a:avLst>
              <a:gd name="adj" fmla="val 25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476970" y="9389835"/>
            <a:ext cx="533397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76" name="Shape 74"/>
          <p:cNvSpPr/>
          <p:nvPr/>
        </p:nvSpPr>
        <p:spPr>
          <a:xfrm>
            <a:off x="6476970" y="5597754"/>
            <a:ext cx="5333970" cy="34290"/>
          </a:xfrm>
          <a:prstGeom prst="rect">
            <a:avLst/>
          </a:prstGeom>
          <a:solidFill>
            <a:srgbClr val="C98A1E"/>
          </a:solidFill>
          <a:ln/>
        </p:spPr>
      </p:sp>
      <p:sp>
        <p:nvSpPr>
          <p:cNvPr id="77" name="Shape 75"/>
          <p:cNvSpPr/>
          <p:nvPr/>
        </p:nvSpPr>
        <p:spPr>
          <a:xfrm>
            <a:off x="6476970" y="5597754"/>
            <a:ext cx="9525" cy="3797796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78" name="Shape 76"/>
          <p:cNvSpPr/>
          <p:nvPr/>
        </p:nvSpPr>
        <p:spPr>
          <a:xfrm>
            <a:off x="11805226" y="5597754"/>
            <a:ext cx="9525" cy="3797796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79" name="Text 77"/>
          <p:cNvSpPr/>
          <p:nvPr/>
        </p:nvSpPr>
        <p:spPr>
          <a:xfrm>
            <a:off x="6749326" y="5879664"/>
            <a:ext cx="195274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Suite</a:t>
            </a:r>
            <a:endParaRPr lang="en-US" sz="1950" dirty="0"/>
          </a:p>
        </p:txBody>
      </p:sp>
      <p:sp>
        <p:nvSpPr>
          <p:cNvPr id="80" name="Shape 78"/>
          <p:cNvSpPr/>
          <p:nvPr/>
        </p:nvSpPr>
        <p:spPr>
          <a:xfrm>
            <a:off x="11414820" y="5936814"/>
            <a:ext cx="123765" cy="123765"/>
          </a:xfrm>
          <a:prstGeom prst="ellipse">
            <a:avLst/>
          </a:prstGeom>
          <a:solidFill>
            <a:srgbClr val="C98A1E"/>
          </a:solidFill>
          <a:ln/>
        </p:spPr>
      </p:sp>
      <p:sp>
        <p:nvSpPr>
          <p:cNvPr id="81" name="Text 79"/>
          <p:cNvSpPr/>
          <p:nvPr/>
        </p:nvSpPr>
        <p:spPr>
          <a:xfrm>
            <a:off x="6749326" y="6218634"/>
            <a:ext cx="5268185" cy="23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P. Novak · Insight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749326" y="8147894"/>
            <a:ext cx="738872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1225153" y="8147894"/>
            <a:ext cx="389632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749326" y="8386049"/>
            <a:ext cx="4789259" cy="95190"/>
          </a:xfrm>
          <a:prstGeom prst="roundRect">
            <a:avLst>
              <a:gd name="adj" fmla="val 50000"/>
            </a:avLst>
          </a:prstGeom>
          <a:solidFill>
            <a:srgbClr val="F6F9FC"/>
          </a:solidFill>
          <a:ln/>
        </p:spPr>
      </p:sp>
      <p:sp>
        <p:nvSpPr>
          <p:cNvPr id="85" name="Shape 83"/>
          <p:cNvSpPr/>
          <p:nvPr/>
        </p:nvSpPr>
        <p:spPr>
          <a:xfrm>
            <a:off x="6749326" y="8386049"/>
            <a:ext cx="574625" cy="95190"/>
          </a:xfrm>
          <a:prstGeom prst="roundRect">
            <a:avLst>
              <a:gd name="adj" fmla="val 50000"/>
            </a:avLst>
          </a:prstGeom>
          <a:solidFill>
            <a:srgbClr val="C98A1E"/>
          </a:solidFill>
          <a:ln/>
        </p:spPr>
      </p:sp>
      <p:sp>
        <p:nvSpPr>
          <p:cNvPr id="86" name="Shape 84"/>
          <p:cNvSpPr/>
          <p:nvPr/>
        </p:nvSpPr>
        <p:spPr>
          <a:xfrm>
            <a:off x="6749326" y="8652689"/>
            <a:ext cx="4789259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87" name="Text 85"/>
          <p:cNvSpPr/>
          <p:nvPr/>
        </p:nvSpPr>
        <p:spPr>
          <a:xfrm>
            <a:off x="6749326" y="8810744"/>
            <a:ext cx="133293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749326" y="8953619"/>
            <a:ext cx="1332935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GA</a:t>
            </a:r>
            <a:endParaRPr lang="en-US" sz="1350" dirty="0"/>
          </a:p>
        </p:txBody>
      </p:sp>
      <p:sp>
        <p:nvSpPr>
          <p:cNvPr id="89" name="Text 87"/>
          <p:cNvSpPr/>
          <p:nvPr/>
        </p:nvSpPr>
        <p:spPr>
          <a:xfrm>
            <a:off x="10984320" y="8890754"/>
            <a:ext cx="6304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7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May</a:t>
            </a:r>
            <a:endParaRPr lang="en-US" sz="1350" dirty="0"/>
          </a:p>
        </p:txBody>
      </p:sp>
      <p:sp>
        <p:nvSpPr>
          <p:cNvPr id="90" name="Shape 88"/>
          <p:cNvSpPr/>
          <p:nvPr/>
        </p:nvSpPr>
        <p:spPr>
          <a:xfrm>
            <a:off x="12039541" y="5597754"/>
            <a:ext cx="5333970" cy="3797796"/>
          </a:xfrm>
          <a:prstGeom prst="roundRect">
            <a:avLst>
              <a:gd name="adj" fmla="val 25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12039541" y="9389835"/>
            <a:ext cx="533397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92" name="Shape 90"/>
          <p:cNvSpPr/>
          <p:nvPr/>
        </p:nvSpPr>
        <p:spPr>
          <a:xfrm>
            <a:off x="12039541" y="5597754"/>
            <a:ext cx="5333970" cy="34290"/>
          </a:xfrm>
          <a:prstGeom prst="rect">
            <a:avLst/>
          </a:prstGeom>
          <a:solidFill>
            <a:srgbClr val="C0492F"/>
          </a:solidFill>
          <a:ln/>
        </p:spPr>
      </p:sp>
      <p:sp>
        <p:nvSpPr>
          <p:cNvPr id="93" name="Shape 91"/>
          <p:cNvSpPr/>
          <p:nvPr/>
        </p:nvSpPr>
        <p:spPr>
          <a:xfrm>
            <a:off x="12039541" y="5597754"/>
            <a:ext cx="9525" cy="3797796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94" name="Shape 92"/>
          <p:cNvSpPr/>
          <p:nvPr/>
        </p:nvSpPr>
        <p:spPr>
          <a:xfrm>
            <a:off x="17367796" y="5597754"/>
            <a:ext cx="9525" cy="3797796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95" name="Text 93"/>
          <p:cNvSpPr/>
          <p:nvPr/>
        </p:nvSpPr>
        <p:spPr>
          <a:xfrm>
            <a:off x="12311896" y="5879664"/>
            <a:ext cx="147339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API</a:t>
            </a:r>
            <a:endParaRPr lang="en-US" sz="1950" dirty="0"/>
          </a:p>
        </p:txBody>
      </p:sp>
      <p:sp>
        <p:nvSpPr>
          <p:cNvPr id="96" name="Shape 94"/>
          <p:cNvSpPr/>
          <p:nvPr/>
        </p:nvSpPr>
        <p:spPr>
          <a:xfrm>
            <a:off x="16977390" y="5936814"/>
            <a:ext cx="123765" cy="123765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97" name="Text 95"/>
          <p:cNvSpPr/>
          <p:nvPr/>
        </p:nvSpPr>
        <p:spPr>
          <a:xfrm>
            <a:off x="12311896" y="6218634"/>
            <a:ext cx="5268185" cy="23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R. Singh · Ecosystem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2311896" y="8147894"/>
            <a:ext cx="738872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16751648" y="8147894"/>
            <a:ext cx="425708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12311896" y="8386049"/>
            <a:ext cx="4789259" cy="95190"/>
          </a:xfrm>
          <a:prstGeom prst="roundRect">
            <a:avLst>
              <a:gd name="adj" fmla="val 50000"/>
            </a:avLst>
          </a:prstGeom>
          <a:solidFill>
            <a:srgbClr val="F6F9FC"/>
          </a:solidFill>
          <a:ln/>
        </p:spPr>
      </p:sp>
      <p:sp>
        <p:nvSpPr>
          <p:cNvPr id="101" name="Shape 99"/>
          <p:cNvSpPr/>
          <p:nvPr/>
        </p:nvSpPr>
        <p:spPr>
          <a:xfrm>
            <a:off x="12311896" y="8386049"/>
            <a:ext cx="1436697" cy="95190"/>
          </a:xfrm>
          <a:prstGeom prst="roundRect">
            <a:avLst>
              <a:gd name="adj" fmla="val 50000"/>
            </a:avLst>
          </a:prstGeom>
          <a:solidFill>
            <a:srgbClr val="C0492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2311896" y="8652689"/>
            <a:ext cx="4789259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03" name="Text 101"/>
          <p:cNvSpPr/>
          <p:nvPr/>
        </p:nvSpPr>
        <p:spPr>
          <a:xfrm>
            <a:off x="12311896" y="8810744"/>
            <a:ext cx="133293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12311896" y="8953619"/>
            <a:ext cx="1332935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v1</a:t>
            </a:r>
            <a:endParaRPr lang="en-US" sz="1350" dirty="0"/>
          </a:p>
        </p:txBody>
      </p:sp>
      <p:sp>
        <p:nvSpPr>
          <p:cNvPr id="105" name="Text 103"/>
          <p:cNvSpPr/>
          <p:nvPr/>
        </p:nvSpPr>
        <p:spPr>
          <a:xfrm>
            <a:off x="16587342" y="8890754"/>
            <a:ext cx="5900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7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Apr</a:t>
            </a:r>
            <a:endParaRPr lang="en-US" sz="1350" dirty="0"/>
          </a:p>
        </p:txBody>
      </p:sp>
      <p:sp>
        <p:nvSpPr>
          <p:cNvPr id="106" name="Shape 104"/>
          <p:cNvSpPr/>
          <p:nvPr/>
        </p:nvSpPr>
        <p:spPr>
          <a:xfrm>
            <a:off x="914400" y="9605040"/>
            <a:ext cx="16459201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07" name="Text 105"/>
          <p:cNvSpPr/>
          <p:nvPr/>
        </p:nvSpPr>
        <p:spPr>
          <a:xfrm>
            <a:off x="914400" y="9782205"/>
            <a:ext cx="42932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Portfolio · Programme Review | Confidential</a:t>
            </a:r>
            <a:endParaRPr lang="en-US" sz="1125" dirty="0"/>
          </a:p>
        </p:txBody>
      </p:sp>
      <p:sp>
        <p:nvSpPr>
          <p:cNvPr id="108" name="Text 106"/>
          <p:cNvSpPr/>
          <p:nvPr/>
        </p:nvSpPr>
        <p:spPr>
          <a:xfrm>
            <a:off x="16868805" y="9782205"/>
            <a:ext cx="5809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8442475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761970"/>
            <a:ext cx="8442475" cy="5135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54" kern="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roadmap &amp; dependencies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932063" y="1080314"/>
            <a:ext cx="190470" cy="104745"/>
          </a:xfrm>
          <a:prstGeom prst="roundRect">
            <a:avLst>
              <a:gd name="adj" fmla="val 27281"/>
            </a:avLst>
          </a:prstGeom>
          <a:solidFill>
            <a:srgbClr val="CADFF1"/>
          </a:solidFill>
          <a:ln/>
        </p:spPr>
      </p:sp>
      <p:sp>
        <p:nvSpPr>
          <p:cNvPr id="5" name="Shape 3"/>
          <p:cNvSpPr/>
          <p:nvPr/>
        </p:nvSpPr>
        <p:spPr>
          <a:xfrm>
            <a:off x="13084404" y="1080314"/>
            <a:ext cx="190470" cy="104745"/>
          </a:xfrm>
          <a:prstGeom prst="roundRect">
            <a:avLst>
              <a:gd name="adj" fmla="val 27281"/>
            </a:avLst>
          </a:prstGeom>
          <a:solidFill>
            <a:srgbClr val="1E73B8"/>
          </a:solidFill>
          <a:ln/>
        </p:spPr>
      </p:sp>
      <p:sp>
        <p:nvSpPr>
          <p:cNvPr id="6" name="Text 4"/>
          <p:cNvSpPr/>
          <p:nvPr/>
        </p:nvSpPr>
        <p:spPr>
          <a:xfrm>
            <a:off x="13351044" y="1048881"/>
            <a:ext cx="1141155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/ progress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rot="2700000">
            <a:off x="14606439" y="1070729"/>
            <a:ext cx="123825" cy="123825"/>
          </a:xfrm>
          <a:prstGeom prst="rect">
            <a:avLst/>
          </a:prstGeom>
          <a:solidFill>
            <a:srgbClr val="0C2C4A"/>
          </a:solidFill>
          <a:ln/>
        </p:spPr>
      </p:sp>
      <p:sp>
        <p:nvSpPr>
          <p:cNvPr id="8" name="Text 6"/>
          <p:cNvSpPr/>
          <p:nvPr/>
        </p:nvSpPr>
        <p:spPr>
          <a:xfrm>
            <a:off x="14806404" y="1048881"/>
            <a:ext cx="704940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625615" y="1124069"/>
            <a:ext cx="209490" cy="17145"/>
          </a:xfrm>
          <a:prstGeom prst="rect">
            <a:avLst/>
          </a:prstGeom>
          <a:solidFill>
            <a:srgbClr val="3D93D6"/>
          </a:solidFill>
          <a:ln/>
        </p:spPr>
      </p:sp>
      <p:sp>
        <p:nvSpPr>
          <p:cNvPr id="10" name="Text 8"/>
          <p:cNvSpPr/>
          <p:nvPr/>
        </p:nvSpPr>
        <p:spPr>
          <a:xfrm>
            <a:off x="15911275" y="1048881"/>
            <a:ext cx="872728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898273" y="1066026"/>
            <a:ext cx="17145" cy="133320"/>
          </a:xfrm>
          <a:prstGeom prst="rect">
            <a:avLst/>
          </a:prstGeom>
          <a:solidFill>
            <a:srgbClr val="C0492F"/>
          </a:solidFill>
          <a:ln/>
        </p:spPr>
      </p:sp>
      <p:sp>
        <p:nvSpPr>
          <p:cNvPr id="12" name="Text 10"/>
          <p:cNvSpPr/>
          <p:nvPr/>
        </p:nvSpPr>
        <p:spPr>
          <a:xfrm>
            <a:off x="16991588" y="1048881"/>
            <a:ext cx="458213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1446877"/>
            <a:ext cx="16459201" cy="8043952"/>
          </a:xfrm>
          <a:prstGeom prst="roundRect">
            <a:avLst>
              <a:gd name="adj" fmla="val 1184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99113" y="1662083"/>
            <a:ext cx="37163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" b="1" spc="6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777566" y="1662083"/>
            <a:ext cx="37164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" b="1" spc="6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0156113" y="1662083"/>
            <a:ext cx="37164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" b="1" spc="6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534661" y="1662083"/>
            <a:ext cx="37164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" b="1" spc="6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205865" y="1919258"/>
            <a:ext cx="2362170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5865" y="2414498"/>
            <a:ext cx="95190" cy="9519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20" name="Text 18"/>
          <p:cNvSpPr/>
          <p:nvPr/>
        </p:nvSpPr>
        <p:spPr>
          <a:xfrm>
            <a:off x="1396246" y="2357348"/>
            <a:ext cx="1401202" cy="2475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96365" y="2585859"/>
            <a:ext cx="2407887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 Park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205865" y="3151644"/>
            <a:ext cx="2362170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5865" y="3646974"/>
            <a:ext cx="95190" cy="9519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24" name="Text 22"/>
          <p:cNvSpPr/>
          <p:nvPr/>
        </p:nvSpPr>
        <p:spPr>
          <a:xfrm>
            <a:off x="1396246" y="3589824"/>
            <a:ext cx="1471336" cy="2475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SSO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96365" y="3818335"/>
            <a:ext cx="2407887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Díaz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205865" y="4384120"/>
            <a:ext cx="2362170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5865" y="4879360"/>
            <a:ext cx="95190" cy="95190"/>
          </a:xfrm>
          <a:prstGeom prst="ellipse">
            <a:avLst/>
          </a:prstGeom>
          <a:solidFill>
            <a:srgbClr val="C98A1E"/>
          </a:solidFill>
          <a:ln/>
        </p:spPr>
      </p:sp>
      <p:sp>
        <p:nvSpPr>
          <p:cNvPr id="28" name="Text 26"/>
          <p:cNvSpPr/>
          <p:nvPr/>
        </p:nvSpPr>
        <p:spPr>
          <a:xfrm>
            <a:off x="1396246" y="4822210"/>
            <a:ext cx="1860411" cy="2475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Revamp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96365" y="5050721"/>
            <a:ext cx="2407887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Haddad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205865" y="5616506"/>
            <a:ext cx="2362170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5865" y="6111746"/>
            <a:ext cx="95190" cy="9519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32" name="Text 30"/>
          <p:cNvSpPr/>
          <p:nvPr/>
        </p:nvSpPr>
        <p:spPr>
          <a:xfrm>
            <a:off x="1396246" y="6054596"/>
            <a:ext cx="1505617" cy="2475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2.0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96365" y="6283107"/>
            <a:ext cx="2407887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Bauer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205865" y="6848892"/>
            <a:ext cx="2362170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5" name="Shape 33"/>
          <p:cNvSpPr/>
          <p:nvPr/>
        </p:nvSpPr>
        <p:spPr>
          <a:xfrm>
            <a:off x="1205865" y="7344133"/>
            <a:ext cx="95190" cy="95190"/>
          </a:xfrm>
          <a:prstGeom prst="ellipse">
            <a:avLst/>
          </a:prstGeom>
          <a:solidFill>
            <a:srgbClr val="C98A1E"/>
          </a:solidFill>
          <a:ln/>
        </p:spPr>
      </p:sp>
      <p:sp>
        <p:nvSpPr>
          <p:cNvPr id="36" name="Text 34"/>
          <p:cNvSpPr/>
          <p:nvPr/>
        </p:nvSpPr>
        <p:spPr>
          <a:xfrm>
            <a:off x="1396246" y="7286983"/>
            <a:ext cx="1501295" cy="2475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Suite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96365" y="7515493"/>
            <a:ext cx="2407887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Novak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205865" y="8081278"/>
            <a:ext cx="2362170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9" name="Shape 37"/>
          <p:cNvSpPr/>
          <p:nvPr/>
        </p:nvSpPr>
        <p:spPr>
          <a:xfrm>
            <a:off x="1205865" y="8576519"/>
            <a:ext cx="95190" cy="95190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40" name="Text 38"/>
          <p:cNvSpPr/>
          <p:nvPr/>
        </p:nvSpPr>
        <p:spPr>
          <a:xfrm>
            <a:off x="1396246" y="8519369"/>
            <a:ext cx="1149727" cy="2475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API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396365" y="8747879"/>
            <a:ext cx="2407887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Singh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946493" y="1919258"/>
            <a:ext cx="9525" cy="7394407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25041" y="1919258"/>
            <a:ext cx="9525" cy="7394407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44" name="Shape 42"/>
          <p:cNvSpPr/>
          <p:nvPr/>
        </p:nvSpPr>
        <p:spPr>
          <a:xfrm>
            <a:off x="13703588" y="1919258"/>
            <a:ext cx="9525" cy="7394407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45" name="Shape 43"/>
          <p:cNvSpPr/>
          <p:nvPr/>
        </p:nvSpPr>
        <p:spPr>
          <a:xfrm>
            <a:off x="6811387" y="1919258"/>
            <a:ext cx="17145" cy="7394407"/>
          </a:xfrm>
          <a:prstGeom prst="rect">
            <a:avLst/>
          </a:prstGeom>
          <a:solidFill>
            <a:srgbClr val="C0492F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531441" y="1900238"/>
            <a:ext cx="559891" cy="180826"/>
          </a:xfrm>
          <a:prstGeom prst="roundRect">
            <a:avLst>
              <a:gd name="adj" fmla="val 21070"/>
            </a:avLst>
          </a:prstGeom>
          <a:solidFill>
            <a:srgbClr val="C0492F"/>
          </a:solidFill>
          <a:ln/>
        </p:spPr>
      </p:sp>
      <p:sp>
        <p:nvSpPr>
          <p:cNvPr id="47" name="Text 45"/>
          <p:cNvSpPr/>
          <p:nvPr/>
        </p:nvSpPr>
        <p:spPr>
          <a:xfrm>
            <a:off x="6607641" y="1938338"/>
            <a:ext cx="483691" cy="142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8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825" dirty="0"/>
          </a:p>
        </p:txBody>
      </p:sp>
      <p:sp>
        <p:nvSpPr>
          <p:cNvPr id="48" name="Shape 46"/>
          <p:cNvSpPr/>
          <p:nvPr/>
        </p:nvSpPr>
        <p:spPr>
          <a:xfrm>
            <a:off x="3568035" y="3151108"/>
            <a:ext cx="13514101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9" name="Shape 47"/>
          <p:cNvSpPr/>
          <p:nvPr/>
        </p:nvSpPr>
        <p:spPr>
          <a:xfrm>
            <a:off x="3568035" y="4383762"/>
            <a:ext cx="13514101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50" name="Shape 48"/>
          <p:cNvSpPr/>
          <p:nvPr/>
        </p:nvSpPr>
        <p:spPr>
          <a:xfrm>
            <a:off x="3568035" y="5616416"/>
            <a:ext cx="13514101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51" name="Shape 49"/>
          <p:cNvSpPr/>
          <p:nvPr/>
        </p:nvSpPr>
        <p:spPr>
          <a:xfrm>
            <a:off x="3568035" y="6848356"/>
            <a:ext cx="13514101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52" name="Shape 50"/>
          <p:cNvSpPr/>
          <p:nvPr/>
        </p:nvSpPr>
        <p:spPr>
          <a:xfrm>
            <a:off x="3568035" y="8081010"/>
            <a:ext cx="13514101" cy="9525"/>
          </a:xfrm>
          <a:prstGeom prst="rect">
            <a:avLst/>
          </a:prstGeom>
          <a:solidFill>
            <a:srgbClr val="F6F9FC"/>
          </a:solidFill>
          <a:ln/>
        </p:spPr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68035" y="1919258"/>
            <a:ext cx="13514101" cy="7394407"/>
          </a:xfrm>
          <a:prstGeom prst="rect">
            <a:avLst/>
          </a:prstGeom>
        </p:spPr>
      </p:pic>
      <p:sp>
        <p:nvSpPr>
          <p:cNvPr id="54" name="Shape 51"/>
          <p:cNvSpPr/>
          <p:nvPr/>
        </p:nvSpPr>
        <p:spPr>
          <a:xfrm>
            <a:off x="3568035" y="2392263"/>
            <a:ext cx="6486704" cy="285750"/>
          </a:xfrm>
          <a:prstGeom prst="roundRect">
            <a:avLst>
              <a:gd name="adj" fmla="val 20000"/>
            </a:avLst>
          </a:prstGeom>
          <a:solidFill>
            <a:srgbClr val="CADFF1"/>
          </a:solidFill>
          <a:ln/>
        </p:spPr>
      </p:sp>
      <p:sp>
        <p:nvSpPr>
          <p:cNvPr id="55" name="Shape 52"/>
          <p:cNvSpPr/>
          <p:nvPr/>
        </p:nvSpPr>
        <p:spPr>
          <a:xfrm>
            <a:off x="3568035" y="2392263"/>
            <a:ext cx="5578555" cy="285750"/>
          </a:xfrm>
          <a:prstGeom prst="roundRect">
            <a:avLst>
              <a:gd name="adj" fmla="val 20000"/>
            </a:avLst>
          </a:prstGeom>
          <a:solidFill>
            <a:srgbClr val="1E73B8"/>
          </a:solidFill>
          <a:ln/>
        </p:spPr>
      </p:sp>
      <p:sp>
        <p:nvSpPr>
          <p:cNvPr id="56" name="Shape 53"/>
          <p:cNvSpPr/>
          <p:nvPr/>
        </p:nvSpPr>
        <p:spPr>
          <a:xfrm rot="2700000">
            <a:off x="9978539" y="2458938"/>
            <a:ext cx="152400" cy="152400"/>
          </a:xfrm>
          <a:prstGeom prst="rect">
            <a:avLst/>
          </a:prstGeom>
          <a:solidFill>
            <a:srgbClr val="0C2C4A"/>
          </a:solidFill>
          <a:ln w="17145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9525" dir="5400000">
              <a:srgbClr val="0C2C4A">
                <a:alpha val="30000"/>
              </a:srgbClr>
            </a:outerShdw>
          </a:effectLst>
        </p:spPr>
      </p:sp>
      <p:sp>
        <p:nvSpPr>
          <p:cNvPr id="57" name="Text 54"/>
          <p:cNvSpPr/>
          <p:nvPr/>
        </p:nvSpPr>
        <p:spPr>
          <a:xfrm>
            <a:off x="9687595" y="2287488"/>
            <a:ext cx="810488" cy="1619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GA</a:t>
            </a:r>
            <a:endParaRPr lang="en-US" sz="975" dirty="0"/>
          </a:p>
        </p:txBody>
      </p:sp>
      <p:sp>
        <p:nvSpPr>
          <p:cNvPr id="58" name="Shape 55"/>
          <p:cNvSpPr/>
          <p:nvPr/>
        </p:nvSpPr>
        <p:spPr>
          <a:xfrm>
            <a:off x="4108550" y="3624917"/>
            <a:ext cx="4865073" cy="285750"/>
          </a:xfrm>
          <a:prstGeom prst="roundRect">
            <a:avLst>
              <a:gd name="adj" fmla="val 20000"/>
            </a:avLst>
          </a:prstGeom>
          <a:solidFill>
            <a:srgbClr val="CADFF1"/>
          </a:solidFill>
          <a:ln/>
        </p:spPr>
      </p:sp>
      <p:sp>
        <p:nvSpPr>
          <p:cNvPr id="59" name="Shape 56"/>
          <p:cNvSpPr/>
          <p:nvPr/>
        </p:nvSpPr>
        <p:spPr>
          <a:xfrm>
            <a:off x="4108550" y="3624917"/>
            <a:ext cx="4378494" cy="285750"/>
          </a:xfrm>
          <a:prstGeom prst="roundRect">
            <a:avLst>
              <a:gd name="adj" fmla="val 20000"/>
            </a:avLst>
          </a:prstGeom>
          <a:solidFill>
            <a:srgbClr val="1E73B8"/>
          </a:solidFill>
          <a:ln/>
        </p:spPr>
      </p:sp>
      <p:sp>
        <p:nvSpPr>
          <p:cNvPr id="60" name="Shape 57"/>
          <p:cNvSpPr/>
          <p:nvPr/>
        </p:nvSpPr>
        <p:spPr>
          <a:xfrm rot="2700000">
            <a:off x="8887897" y="3682067"/>
            <a:ext cx="171450" cy="171450"/>
          </a:xfrm>
          <a:prstGeom prst="rect">
            <a:avLst/>
          </a:prstGeom>
          <a:solidFill>
            <a:srgbClr val="1E73B8"/>
          </a:solidFill>
          <a:ln w="1714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9525" dir="5400000">
              <a:srgbClr val="1E73B8">
                <a:alpha val="40000"/>
              </a:srgbClr>
            </a:outerShdw>
          </a:effectLst>
        </p:spPr>
      </p:sp>
      <p:sp>
        <p:nvSpPr>
          <p:cNvPr id="61" name="Text 58"/>
          <p:cNvSpPr/>
          <p:nvPr/>
        </p:nvSpPr>
        <p:spPr>
          <a:xfrm>
            <a:off x="8732877" y="3520142"/>
            <a:ext cx="557689" cy="1619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GA</a:t>
            </a:r>
            <a:endParaRPr lang="en-US" sz="975" dirty="0"/>
          </a:p>
        </p:txBody>
      </p:sp>
      <p:sp>
        <p:nvSpPr>
          <p:cNvPr id="62" name="Shape 59"/>
          <p:cNvSpPr/>
          <p:nvPr/>
        </p:nvSpPr>
        <p:spPr>
          <a:xfrm>
            <a:off x="5459968" y="4856857"/>
            <a:ext cx="7838123" cy="285750"/>
          </a:xfrm>
          <a:prstGeom prst="roundRect">
            <a:avLst>
              <a:gd name="adj" fmla="val 20000"/>
            </a:avLst>
          </a:prstGeom>
          <a:solidFill>
            <a:srgbClr val="CADFF1"/>
          </a:solidFill>
          <a:ln/>
        </p:spPr>
      </p:sp>
      <p:sp>
        <p:nvSpPr>
          <p:cNvPr id="63" name="Shape 60"/>
          <p:cNvSpPr/>
          <p:nvPr/>
        </p:nvSpPr>
        <p:spPr>
          <a:xfrm>
            <a:off x="5459968" y="4856857"/>
            <a:ext cx="3527137" cy="285750"/>
          </a:xfrm>
          <a:prstGeom prst="roundRect">
            <a:avLst>
              <a:gd name="adj" fmla="val 20000"/>
            </a:avLst>
          </a:prstGeom>
          <a:solidFill>
            <a:srgbClr val="1E73B8"/>
          </a:solidFill>
          <a:ln/>
        </p:spPr>
      </p:sp>
      <p:sp>
        <p:nvSpPr>
          <p:cNvPr id="64" name="Shape 61"/>
          <p:cNvSpPr/>
          <p:nvPr/>
        </p:nvSpPr>
        <p:spPr>
          <a:xfrm rot="2700000">
            <a:off x="13221980" y="4923532"/>
            <a:ext cx="152400" cy="152400"/>
          </a:xfrm>
          <a:prstGeom prst="rect">
            <a:avLst/>
          </a:prstGeom>
          <a:solidFill>
            <a:srgbClr val="0C2C4A"/>
          </a:solidFill>
          <a:ln w="17145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9525" dir="5400000">
              <a:srgbClr val="0C2C4A">
                <a:alpha val="30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13081769" y="4752082"/>
            <a:ext cx="509022" cy="1619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975" dirty="0"/>
          </a:p>
        </p:txBody>
      </p:sp>
      <p:sp>
        <p:nvSpPr>
          <p:cNvPr id="66" name="Shape 63"/>
          <p:cNvSpPr/>
          <p:nvPr/>
        </p:nvSpPr>
        <p:spPr>
          <a:xfrm>
            <a:off x="8973622" y="6089511"/>
            <a:ext cx="7567821" cy="285750"/>
          </a:xfrm>
          <a:prstGeom prst="roundRect">
            <a:avLst>
              <a:gd name="adj" fmla="val 20000"/>
            </a:avLst>
          </a:prstGeom>
          <a:solidFill>
            <a:srgbClr val="CADFF1"/>
          </a:solidFill>
          <a:ln/>
        </p:spPr>
      </p:sp>
      <p:sp>
        <p:nvSpPr>
          <p:cNvPr id="67" name="Shape 64"/>
          <p:cNvSpPr/>
          <p:nvPr/>
        </p:nvSpPr>
        <p:spPr>
          <a:xfrm>
            <a:off x="8973622" y="6089511"/>
            <a:ext cx="1059418" cy="285750"/>
          </a:xfrm>
          <a:prstGeom prst="roundRect">
            <a:avLst>
              <a:gd name="adj" fmla="val 20000"/>
            </a:avLst>
          </a:prstGeom>
          <a:solidFill>
            <a:srgbClr val="1E73B8"/>
          </a:solidFill>
          <a:ln/>
        </p:spPr>
      </p:sp>
      <p:sp>
        <p:nvSpPr>
          <p:cNvPr id="68" name="Shape 65"/>
          <p:cNvSpPr/>
          <p:nvPr/>
        </p:nvSpPr>
        <p:spPr>
          <a:xfrm rot="2700000">
            <a:off x="12411076" y="6156186"/>
            <a:ext cx="152400" cy="152400"/>
          </a:xfrm>
          <a:prstGeom prst="rect">
            <a:avLst/>
          </a:prstGeom>
          <a:solidFill>
            <a:srgbClr val="0C2C4A"/>
          </a:solidFill>
          <a:ln w="17145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9525" dir="5400000">
              <a:srgbClr val="0C2C4A">
                <a:alpha val="30000"/>
              </a:srgbClr>
            </a:outerShdw>
          </a:effectLst>
        </p:spPr>
      </p:sp>
      <p:sp>
        <p:nvSpPr>
          <p:cNvPr id="69" name="Text 66"/>
          <p:cNvSpPr/>
          <p:nvPr/>
        </p:nvSpPr>
        <p:spPr>
          <a:xfrm>
            <a:off x="12347347" y="5984737"/>
            <a:ext cx="356056" cy="1619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975" dirty="0"/>
          </a:p>
        </p:txBody>
      </p:sp>
      <p:sp>
        <p:nvSpPr>
          <p:cNvPr id="70" name="Shape 67"/>
          <p:cNvSpPr/>
          <p:nvPr/>
        </p:nvSpPr>
        <p:spPr>
          <a:xfrm rot="2700000">
            <a:off x="16465332" y="6156186"/>
            <a:ext cx="152400" cy="152400"/>
          </a:xfrm>
          <a:prstGeom prst="rect">
            <a:avLst/>
          </a:prstGeom>
          <a:solidFill>
            <a:srgbClr val="0C2C4A"/>
          </a:solidFill>
          <a:ln w="17145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9525" dir="5400000">
              <a:srgbClr val="0C2C4A">
                <a:alpha val="30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16448486" y="5984737"/>
            <a:ext cx="262295" cy="1619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</a:t>
            </a:r>
            <a:endParaRPr lang="en-US" sz="975" dirty="0"/>
          </a:p>
        </p:txBody>
      </p:sp>
      <p:sp>
        <p:nvSpPr>
          <p:cNvPr id="72" name="Shape 69"/>
          <p:cNvSpPr/>
          <p:nvPr/>
        </p:nvSpPr>
        <p:spPr>
          <a:xfrm>
            <a:off x="10325041" y="7322165"/>
            <a:ext cx="5405586" cy="285750"/>
          </a:xfrm>
          <a:prstGeom prst="roundRect">
            <a:avLst>
              <a:gd name="adj" fmla="val 20000"/>
            </a:avLst>
          </a:prstGeom>
          <a:solidFill>
            <a:srgbClr val="CADFF1"/>
          </a:solidFill>
          <a:ln/>
        </p:spPr>
      </p:sp>
      <p:sp>
        <p:nvSpPr>
          <p:cNvPr id="73" name="Shape 70"/>
          <p:cNvSpPr/>
          <p:nvPr/>
        </p:nvSpPr>
        <p:spPr>
          <a:xfrm>
            <a:off x="10325041" y="7322165"/>
            <a:ext cx="324326" cy="285750"/>
          </a:xfrm>
          <a:prstGeom prst="roundRect">
            <a:avLst>
              <a:gd name="adj" fmla="val 20000"/>
            </a:avLst>
          </a:prstGeom>
          <a:solidFill>
            <a:srgbClr val="1E73B8"/>
          </a:solidFill>
          <a:ln/>
        </p:spPr>
      </p:sp>
      <p:sp>
        <p:nvSpPr>
          <p:cNvPr id="74" name="Shape 71"/>
          <p:cNvSpPr/>
          <p:nvPr/>
        </p:nvSpPr>
        <p:spPr>
          <a:xfrm rot="2700000">
            <a:off x="15654517" y="7388840"/>
            <a:ext cx="152400" cy="152400"/>
          </a:xfrm>
          <a:prstGeom prst="rect">
            <a:avLst/>
          </a:prstGeom>
          <a:solidFill>
            <a:srgbClr val="0C2C4A"/>
          </a:solidFill>
          <a:ln w="17145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9525" dir="5400000">
              <a:srgbClr val="0C2C4A">
                <a:alpha val="30000"/>
              </a:srgbClr>
            </a:outerShdw>
          </a:effectLst>
        </p:spPr>
      </p:sp>
      <p:sp>
        <p:nvSpPr>
          <p:cNvPr id="75" name="Text 72"/>
          <p:cNvSpPr/>
          <p:nvPr/>
        </p:nvSpPr>
        <p:spPr>
          <a:xfrm>
            <a:off x="15348615" y="7217391"/>
            <a:ext cx="840403" cy="1619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GA</a:t>
            </a:r>
            <a:endParaRPr lang="en-US" sz="975" dirty="0"/>
          </a:p>
        </p:txBody>
      </p:sp>
      <p:sp>
        <p:nvSpPr>
          <p:cNvPr id="76" name="Shape 73"/>
          <p:cNvSpPr/>
          <p:nvPr/>
        </p:nvSpPr>
        <p:spPr>
          <a:xfrm>
            <a:off x="9784438" y="8554016"/>
            <a:ext cx="5405586" cy="285750"/>
          </a:xfrm>
          <a:prstGeom prst="roundRect">
            <a:avLst>
              <a:gd name="adj" fmla="val 20000"/>
            </a:avLst>
          </a:prstGeom>
          <a:solidFill>
            <a:srgbClr val="CADFF1"/>
          </a:solidFill>
          <a:ln/>
        </p:spPr>
      </p:sp>
      <p:sp>
        <p:nvSpPr>
          <p:cNvPr id="77" name="Shape 74"/>
          <p:cNvSpPr/>
          <p:nvPr/>
        </p:nvSpPr>
        <p:spPr>
          <a:xfrm>
            <a:off x="9784438" y="8554016"/>
            <a:ext cx="1297305" cy="285750"/>
          </a:xfrm>
          <a:prstGeom prst="roundRect">
            <a:avLst>
              <a:gd name="adj" fmla="val 20000"/>
            </a:avLst>
          </a:prstGeom>
          <a:solidFill>
            <a:srgbClr val="C0492F"/>
          </a:solidFill>
          <a:ln/>
        </p:spPr>
      </p:sp>
      <p:sp>
        <p:nvSpPr>
          <p:cNvPr id="78" name="Shape 75"/>
          <p:cNvSpPr/>
          <p:nvPr/>
        </p:nvSpPr>
        <p:spPr>
          <a:xfrm rot="2700000">
            <a:off x="15113914" y="8620691"/>
            <a:ext cx="152400" cy="152400"/>
          </a:xfrm>
          <a:prstGeom prst="rect">
            <a:avLst/>
          </a:prstGeom>
          <a:solidFill>
            <a:srgbClr val="0C2C4A"/>
          </a:solidFill>
          <a:ln w="17145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9525" dir="5400000">
              <a:srgbClr val="0C2C4A">
                <a:alpha val="30000"/>
              </a:srgbClr>
            </a:outerShdw>
          </a:effectLst>
        </p:spPr>
      </p:sp>
      <p:sp>
        <p:nvSpPr>
          <p:cNvPr id="79" name="Text 76"/>
          <p:cNvSpPr/>
          <p:nvPr/>
        </p:nvSpPr>
        <p:spPr>
          <a:xfrm>
            <a:off x="15002277" y="8449241"/>
            <a:ext cx="451872" cy="1619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v1</a:t>
            </a:r>
            <a:endParaRPr lang="en-US" sz="975" dirty="0"/>
          </a:p>
        </p:txBody>
      </p:sp>
      <p:sp>
        <p:nvSpPr>
          <p:cNvPr id="80" name="Shape 77"/>
          <p:cNvSpPr/>
          <p:nvPr/>
        </p:nvSpPr>
        <p:spPr>
          <a:xfrm>
            <a:off x="914400" y="9662279"/>
            <a:ext cx="16459201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81" name="Text 78"/>
          <p:cNvSpPr/>
          <p:nvPr/>
        </p:nvSpPr>
        <p:spPr>
          <a:xfrm>
            <a:off x="914400" y="9820335"/>
            <a:ext cx="42932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Portfolio · Programme Review | Confidential</a:t>
            </a:r>
            <a:endParaRPr lang="en-US" sz="1125" dirty="0"/>
          </a:p>
        </p:txBody>
      </p:sp>
      <p:sp>
        <p:nvSpPr>
          <p:cNvPr id="82" name="Text 79"/>
          <p:cNvSpPr/>
          <p:nvPr/>
        </p:nvSpPr>
        <p:spPr>
          <a:xfrm>
            <a:off x="16863626" y="9820335"/>
            <a:ext cx="5861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52390"/>
            <a:ext cx="8118131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·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809565"/>
            <a:ext cx="8118131" cy="5333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56" kern="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depend on other teams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13171289" y="607665"/>
            <a:ext cx="1440984" cy="659100"/>
          </a:xfrm>
          <a:prstGeom prst="roundRect">
            <a:avLst>
              <a:gd name="adj" fmla="val 13006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25121" y="727680"/>
            <a:ext cx="209520" cy="30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67475" y="1032450"/>
            <a:ext cx="112481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90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764614" y="607665"/>
            <a:ext cx="1029504" cy="659100"/>
          </a:xfrm>
          <a:prstGeom prst="roundRect">
            <a:avLst>
              <a:gd name="adj" fmla="val 13006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12705" y="727680"/>
            <a:ext cx="209520" cy="30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C04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4960800" y="1032450"/>
            <a:ext cx="71333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90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946458" y="607665"/>
            <a:ext cx="1427143" cy="659100"/>
          </a:xfrm>
          <a:prstGeom prst="roundRect">
            <a:avLst>
              <a:gd name="adj" fmla="val 13006"/>
            </a:avLst>
          </a:prstGeom>
          <a:solidFill>
            <a:srgbClr val="0C2C4A"/>
          </a:solidFill>
          <a:ln/>
        </p:spPr>
      </p:sp>
      <p:sp>
        <p:nvSpPr>
          <p:cNvPr id="11" name="Text 9"/>
          <p:cNvSpPr/>
          <p:nvPr/>
        </p:nvSpPr>
        <p:spPr>
          <a:xfrm>
            <a:off x="16593324" y="721965"/>
            <a:ext cx="209520" cy="30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136928" y="1026736"/>
            <a:ext cx="11224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90" kern="0" dirty="0">
                <a:solidFill>
                  <a:srgbClr val="3D9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DUE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1533406"/>
            <a:ext cx="16459201" cy="7862144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0115" y="2024896"/>
            <a:ext cx="16447770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5" name="Shape 13"/>
          <p:cNvSpPr/>
          <p:nvPr/>
        </p:nvSpPr>
        <p:spPr>
          <a:xfrm>
            <a:off x="1301055" y="1729591"/>
            <a:ext cx="104745" cy="104745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6" name="Text 14"/>
          <p:cNvSpPr/>
          <p:nvPr/>
        </p:nvSpPr>
        <p:spPr>
          <a:xfrm>
            <a:off x="1491526" y="1693426"/>
            <a:ext cx="6280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2271981" y="1729591"/>
            <a:ext cx="104745" cy="104745"/>
          </a:xfrm>
          <a:prstGeom prst="ellipse">
            <a:avLst/>
          </a:prstGeom>
          <a:solidFill>
            <a:srgbClr val="C98A1E"/>
          </a:solidFill>
          <a:ln/>
        </p:spPr>
      </p:sp>
      <p:sp>
        <p:nvSpPr>
          <p:cNvPr id="18" name="Text 16"/>
          <p:cNvSpPr/>
          <p:nvPr/>
        </p:nvSpPr>
        <p:spPr>
          <a:xfrm>
            <a:off x="2462451" y="1693426"/>
            <a:ext cx="6355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3250406" y="1729591"/>
            <a:ext cx="104745" cy="104745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20" name="Text 18"/>
          <p:cNvSpPr/>
          <p:nvPr/>
        </p:nvSpPr>
        <p:spPr>
          <a:xfrm>
            <a:off x="3440877" y="1693426"/>
            <a:ext cx="6597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25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55856" y="1710571"/>
            <a:ext cx="133320" cy="14287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84366" y="1693426"/>
            <a:ext cx="43286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= decision due · dates show when each handoff is needed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1339185" y="5667316"/>
            <a:ext cx="15609630" cy="28575"/>
          </a:xfrm>
          <a:prstGeom prst="roundRect">
            <a:avLst>
              <a:gd name="adj" fmla="val 50000"/>
            </a:avLst>
          </a:prstGeom>
          <a:solidFill>
            <a:srgbClr val="E5EBF1"/>
          </a:solidFill>
          <a:ln/>
        </p:spPr>
      </p:sp>
      <p:sp>
        <p:nvSpPr>
          <p:cNvPr id="24" name="Shape 21"/>
          <p:cNvSpPr/>
          <p:nvPr/>
        </p:nvSpPr>
        <p:spPr>
          <a:xfrm>
            <a:off x="2630865" y="5401747"/>
            <a:ext cx="17145" cy="279856"/>
          </a:xfrm>
          <a:prstGeom prst="rect">
            <a:avLst/>
          </a:prstGeom>
          <a:solidFill>
            <a:srgbClr val="C0492F"/>
          </a:solidFill>
          <a:ln/>
        </p:spPr>
      </p:sp>
      <p:sp>
        <p:nvSpPr>
          <p:cNvPr id="25" name="Shape 22"/>
          <p:cNvSpPr/>
          <p:nvPr/>
        </p:nvSpPr>
        <p:spPr>
          <a:xfrm>
            <a:off x="1448842" y="3636972"/>
            <a:ext cx="2381191" cy="1764863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10284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448842" y="5396121"/>
            <a:ext cx="2381191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27" name="Shape 24"/>
          <p:cNvSpPr/>
          <p:nvPr/>
        </p:nvSpPr>
        <p:spPr>
          <a:xfrm>
            <a:off x="1448842" y="3636972"/>
            <a:ext cx="2381191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28" name="Shape 25"/>
          <p:cNvSpPr/>
          <p:nvPr/>
        </p:nvSpPr>
        <p:spPr>
          <a:xfrm>
            <a:off x="1448842" y="3636972"/>
            <a:ext cx="34290" cy="1764863"/>
          </a:xfrm>
          <a:prstGeom prst="rect">
            <a:avLst/>
          </a:prstGeom>
          <a:solidFill>
            <a:srgbClr val="C0492F"/>
          </a:solidFill>
          <a:ln/>
        </p:spPr>
      </p:sp>
      <p:sp>
        <p:nvSpPr>
          <p:cNvPr id="29" name="Shape 26"/>
          <p:cNvSpPr/>
          <p:nvPr/>
        </p:nvSpPr>
        <p:spPr>
          <a:xfrm>
            <a:off x="3824317" y="3636972"/>
            <a:ext cx="9525" cy="1764863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30" name="Text 27"/>
          <p:cNvSpPr/>
          <p:nvPr/>
        </p:nvSpPr>
        <p:spPr>
          <a:xfrm>
            <a:off x="1654582" y="3785563"/>
            <a:ext cx="2198114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4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Nov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654582" y="4047024"/>
            <a:ext cx="95190" cy="95190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32" name="Text 29"/>
          <p:cNvSpPr/>
          <p:nvPr/>
        </p:nvSpPr>
        <p:spPr>
          <a:xfrm>
            <a:off x="1835497" y="3995142"/>
            <a:ext cx="1248936" cy="2371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Team</a:t>
            </a:r>
            <a:endParaRPr lang="en-US" sz="1425" dirty="0"/>
          </a:p>
        </p:txBody>
      </p:sp>
      <p:sp>
        <p:nvSpPr>
          <p:cNvPr id="33" name="Text 30"/>
          <p:cNvSpPr/>
          <p:nvPr/>
        </p:nvSpPr>
        <p:spPr>
          <a:xfrm>
            <a:off x="1654582" y="4279910"/>
            <a:ext cx="20744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API contract · Partner API</a:t>
            </a:r>
            <a:endParaRPr lang="en-US" sz="1125" dirty="0"/>
          </a:p>
        </p:txBody>
      </p:sp>
      <p:sp>
        <p:nvSpPr>
          <p:cNvPr id="34" name="Shape 31"/>
          <p:cNvSpPr/>
          <p:nvPr/>
        </p:nvSpPr>
        <p:spPr>
          <a:xfrm>
            <a:off x="1654582" y="4737110"/>
            <a:ext cx="1998286" cy="516136"/>
          </a:xfrm>
          <a:prstGeom prst="roundRect">
            <a:avLst>
              <a:gd name="adj" fmla="val 12918"/>
            </a:avLst>
          </a:prstGeom>
          <a:solidFill>
            <a:srgbClr val="FBEAE6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8882" y="4928474"/>
            <a:ext cx="85457" cy="133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940064" y="4822835"/>
            <a:ext cx="1674703" cy="382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commercial terms </a:t>
            </a:r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R. Singh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2496562" y="5538728"/>
            <a:ext cx="285750" cy="285750"/>
          </a:xfrm>
          <a:prstGeom prst="ellipse">
            <a:avLst/>
          </a:prstGeom>
          <a:solidFill>
            <a:srgbClr val="C0492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FBEAE6">
                <a:alpha val="100000"/>
              </a:srgbClr>
            </a:outerShdw>
          </a:effectLst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82287" y="5619720"/>
            <a:ext cx="114300" cy="123765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5232976" y="5681603"/>
            <a:ext cx="17145" cy="279856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40" name="Shape 35"/>
          <p:cNvSpPr/>
          <p:nvPr/>
        </p:nvSpPr>
        <p:spPr>
          <a:xfrm>
            <a:off x="4050953" y="5961459"/>
            <a:ext cx="2381191" cy="1382048"/>
          </a:xfrm>
          <a:prstGeom prst="roundRect">
            <a:avLst>
              <a:gd name="adj" fmla="val 6203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95250" dist="28575" dir="5400000">
              <a:srgbClr val="102840">
                <a:alpha val="7000"/>
              </a:srgbClr>
            </a:outerShdw>
          </a:effectLst>
        </p:spPr>
      </p:sp>
      <p:sp>
        <p:nvSpPr>
          <p:cNvPr id="41" name="Text 36"/>
          <p:cNvSpPr/>
          <p:nvPr/>
        </p:nvSpPr>
        <p:spPr>
          <a:xfrm>
            <a:off x="4228118" y="6110050"/>
            <a:ext cx="2229547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Nov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4228118" y="6371511"/>
            <a:ext cx="95190" cy="9519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43" name="Text 38"/>
          <p:cNvSpPr/>
          <p:nvPr/>
        </p:nvSpPr>
        <p:spPr>
          <a:xfrm>
            <a:off x="4409033" y="6319629"/>
            <a:ext cx="804059" cy="2371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25" dirty="0"/>
          </a:p>
        </p:txBody>
      </p:sp>
      <p:sp>
        <p:nvSpPr>
          <p:cNvPr id="44" name="Text 39"/>
          <p:cNvSpPr/>
          <p:nvPr/>
        </p:nvSpPr>
        <p:spPr>
          <a:xfrm>
            <a:off x="4228118" y="6604397"/>
            <a:ext cx="21030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Pen-test clearance · Identity &amp; SSO</a:t>
            </a:r>
            <a:endParaRPr lang="en-US" sz="1125" dirty="0"/>
          </a:p>
        </p:txBody>
      </p:sp>
      <p:sp>
        <p:nvSpPr>
          <p:cNvPr id="45" name="Text 40"/>
          <p:cNvSpPr/>
          <p:nvPr/>
        </p:nvSpPr>
        <p:spPr>
          <a:xfrm>
            <a:off x="4228118" y="7061597"/>
            <a:ext cx="2229547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 — no action needed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 rot="2700000">
            <a:off x="5155823" y="5595878"/>
            <a:ext cx="171450" cy="171450"/>
          </a:xfrm>
          <a:prstGeom prst="rect">
            <a:avLst/>
          </a:prstGeom>
          <a:solidFill>
            <a:srgbClr val="1F8A5B"/>
          </a:solidFill>
          <a:ln w="1714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9525" dir="5400000">
              <a:srgbClr val="102840">
                <a:alpha val="28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7833569" y="5401747"/>
            <a:ext cx="17145" cy="279856"/>
          </a:xfrm>
          <a:prstGeom prst="rect">
            <a:avLst/>
          </a:prstGeom>
          <a:solidFill>
            <a:srgbClr val="C98A1E"/>
          </a:solidFill>
          <a:ln/>
        </p:spPr>
      </p:sp>
      <p:sp>
        <p:nvSpPr>
          <p:cNvPr id="48" name="Shape 43"/>
          <p:cNvSpPr/>
          <p:nvPr/>
        </p:nvSpPr>
        <p:spPr>
          <a:xfrm>
            <a:off x="6651546" y="4019788"/>
            <a:ext cx="2381191" cy="1382048"/>
          </a:xfrm>
          <a:prstGeom prst="roundRect">
            <a:avLst>
              <a:gd name="adj" fmla="val 6203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95250" dist="28575" dir="5400000">
              <a:srgbClr val="102840">
                <a:alpha val="7000"/>
              </a:srgbClr>
            </a:outerShdw>
          </a:effectLst>
        </p:spPr>
      </p:sp>
      <p:sp>
        <p:nvSpPr>
          <p:cNvPr id="49" name="Text 44"/>
          <p:cNvSpPr/>
          <p:nvPr/>
        </p:nvSpPr>
        <p:spPr>
          <a:xfrm>
            <a:off x="6828711" y="4168378"/>
            <a:ext cx="2229547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Nov</a:t>
            </a:r>
            <a:endParaRPr lang="en-US" sz="1200" dirty="0"/>
          </a:p>
        </p:txBody>
      </p:sp>
      <p:sp>
        <p:nvSpPr>
          <p:cNvPr id="50" name="Shape 45"/>
          <p:cNvSpPr/>
          <p:nvPr/>
        </p:nvSpPr>
        <p:spPr>
          <a:xfrm>
            <a:off x="6828711" y="4429839"/>
            <a:ext cx="95190" cy="95190"/>
          </a:xfrm>
          <a:prstGeom prst="ellipse">
            <a:avLst/>
          </a:prstGeom>
          <a:solidFill>
            <a:srgbClr val="C98A1E"/>
          </a:solidFill>
          <a:ln/>
        </p:spPr>
      </p:sp>
      <p:sp>
        <p:nvSpPr>
          <p:cNvPr id="51" name="Text 46"/>
          <p:cNvSpPr/>
          <p:nvPr/>
        </p:nvSpPr>
        <p:spPr>
          <a:xfrm>
            <a:off x="7009626" y="4377958"/>
            <a:ext cx="546616" cy="2371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425" dirty="0"/>
          </a:p>
        </p:txBody>
      </p:sp>
      <p:sp>
        <p:nvSpPr>
          <p:cNvPr id="52" name="Text 47"/>
          <p:cNvSpPr/>
          <p:nvPr/>
        </p:nvSpPr>
        <p:spPr>
          <a:xfrm>
            <a:off x="6828711" y="4662726"/>
            <a:ext cx="21030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DPA executed · Partner API</a:t>
            </a:r>
            <a:endParaRPr lang="en-US" sz="1125" dirty="0"/>
          </a:p>
        </p:txBody>
      </p:sp>
      <p:sp>
        <p:nvSpPr>
          <p:cNvPr id="53" name="Text 48"/>
          <p:cNvSpPr/>
          <p:nvPr/>
        </p:nvSpPr>
        <p:spPr>
          <a:xfrm>
            <a:off x="6828711" y="5119926"/>
            <a:ext cx="2229547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review with Legal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 rot="2700000">
            <a:off x="7756416" y="5595878"/>
            <a:ext cx="171450" cy="171450"/>
          </a:xfrm>
          <a:prstGeom prst="rect">
            <a:avLst/>
          </a:prstGeom>
          <a:solidFill>
            <a:srgbClr val="C98A1E"/>
          </a:solidFill>
          <a:ln w="1714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9525" dir="5400000">
              <a:srgbClr val="102840">
                <a:alpha val="28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10435679" y="5681603"/>
            <a:ext cx="17145" cy="279856"/>
          </a:xfrm>
          <a:prstGeom prst="rect">
            <a:avLst/>
          </a:prstGeom>
          <a:solidFill>
            <a:srgbClr val="C0492F"/>
          </a:solidFill>
          <a:ln/>
        </p:spPr>
      </p:sp>
      <p:sp>
        <p:nvSpPr>
          <p:cNvPr id="56" name="Shape 51"/>
          <p:cNvSpPr/>
          <p:nvPr/>
        </p:nvSpPr>
        <p:spPr>
          <a:xfrm>
            <a:off x="9253657" y="5961459"/>
            <a:ext cx="2381191" cy="1759148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102840">
                <a:alpha val="9000"/>
              </a:srgbClr>
            </a:outerShdw>
          </a:effectLst>
        </p:spPr>
      </p:sp>
      <p:sp>
        <p:nvSpPr>
          <p:cNvPr id="57" name="Shape 52"/>
          <p:cNvSpPr/>
          <p:nvPr/>
        </p:nvSpPr>
        <p:spPr>
          <a:xfrm>
            <a:off x="9253657" y="7714893"/>
            <a:ext cx="2381191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58" name="Shape 53"/>
          <p:cNvSpPr/>
          <p:nvPr/>
        </p:nvSpPr>
        <p:spPr>
          <a:xfrm>
            <a:off x="9253657" y="5961459"/>
            <a:ext cx="2381191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59" name="Shape 54"/>
          <p:cNvSpPr/>
          <p:nvPr/>
        </p:nvSpPr>
        <p:spPr>
          <a:xfrm>
            <a:off x="9253657" y="5961459"/>
            <a:ext cx="34290" cy="1759148"/>
          </a:xfrm>
          <a:prstGeom prst="rect">
            <a:avLst/>
          </a:prstGeom>
          <a:solidFill>
            <a:srgbClr val="C0492F"/>
          </a:solidFill>
          <a:ln/>
        </p:spPr>
      </p:sp>
      <p:sp>
        <p:nvSpPr>
          <p:cNvPr id="60" name="Shape 55"/>
          <p:cNvSpPr/>
          <p:nvPr/>
        </p:nvSpPr>
        <p:spPr>
          <a:xfrm>
            <a:off x="11629132" y="5961459"/>
            <a:ext cx="9525" cy="1759148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61" name="Text 56"/>
          <p:cNvSpPr/>
          <p:nvPr/>
        </p:nvSpPr>
        <p:spPr>
          <a:xfrm>
            <a:off x="9459397" y="6110050"/>
            <a:ext cx="2198114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4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Dec</a:t>
            </a:r>
            <a:endParaRPr lang="en-US" sz="1200" dirty="0"/>
          </a:p>
        </p:txBody>
      </p:sp>
      <p:sp>
        <p:nvSpPr>
          <p:cNvPr id="62" name="Shape 57"/>
          <p:cNvSpPr/>
          <p:nvPr/>
        </p:nvSpPr>
        <p:spPr>
          <a:xfrm>
            <a:off x="9459397" y="6371511"/>
            <a:ext cx="95190" cy="95190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63" name="Text 58"/>
          <p:cNvSpPr/>
          <p:nvPr/>
        </p:nvSpPr>
        <p:spPr>
          <a:xfrm>
            <a:off x="9640312" y="6319629"/>
            <a:ext cx="1578108" cy="2371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Validation</a:t>
            </a:r>
            <a:endParaRPr lang="en-US" sz="1425" dirty="0"/>
          </a:p>
        </p:txBody>
      </p:sp>
      <p:sp>
        <p:nvSpPr>
          <p:cNvPr id="64" name="Text 59"/>
          <p:cNvSpPr/>
          <p:nvPr/>
        </p:nvSpPr>
        <p:spPr>
          <a:xfrm>
            <a:off x="9459397" y="6604397"/>
            <a:ext cx="20744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model sign-off · Risk Model v2</a:t>
            </a:r>
            <a:endParaRPr lang="en-US" sz="1125" dirty="0"/>
          </a:p>
        </p:txBody>
      </p:sp>
      <p:sp>
        <p:nvSpPr>
          <p:cNvPr id="65" name="Shape 60"/>
          <p:cNvSpPr/>
          <p:nvPr/>
        </p:nvSpPr>
        <p:spPr>
          <a:xfrm>
            <a:off x="9459397" y="7061597"/>
            <a:ext cx="1998286" cy="510421"/>
          </a:xfrm>
          <a:prstGeom prst="roundRect">
            <a:avLst>
              <a:gd name="adj" fmla="val 13063"/>
            </a:avLst>
          </a:prstGeom>
          <a:solidFill>
            <a:srgbClr val="FBEAE6"/>
          </a:solidFill>
          <a:ln/>
        </p:spPr>
      </p:sp>
      <p:pic>
        <p:nvPicPr>
          <p:cNvPr id="6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73697" y="7250103"/>
            <a:ext cx="100905" cy="133320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9760327" y="7147322"/>
            <a:ext cx="1659255" cy="377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validation slot </a:t>
            </a:r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A. Okafor</a:t>
            </a:r>
            <a:endParaRPr lang="en-US" sz="1050" dirty="0"/>
          </a:p>
        </p:txBody>
      </p:sp>
      <p:sp>
        <p:nvSpPr>
          <p:cNvPr id="68" name="Shape 62"/>
          <p:cNvSpPr/>
          <p:nvPr/>
        </p:nvSpPr>
        <p:spPr>
          <a:xfrm>
            <a:off x="10301377" y="5538728"/>
            <a:ext cx="285750" cy="285750"/>
          </a:xfrm>
          <a:prstGeom prst="ellipse">
            <a:avLst/>
          </a:prstGeom>
          <a:solidFill>
            <a:srgbClr val="C0492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FBEAE6">
                <a:alpha val="100000"/>
              </a:srgbClr>
            </a:outerShdw>
          </a:effectLst>
        </p:spPr>
      </p:sp>
      <p:pic>
        <p:nvPicPr>
          <p:cNvPr id="6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87102" y="5619720"/>
            <a:ext cx="114300" cy="123765"/>
          </a:xfrm>
          <a:prstGeom prst="rect">
            <a:avLst/>
          </a:prstGeom>
        </p:spPr>
      </p:pic>
      <p:sp>
        <p:nvSpPr>
          <p:cNvPr id="70" name="Shape 63"/>
          <p:cNvSpPr/>
          <p:nvPr/>
        </p:nvSpPr>
        <p:spPr>
          <a:xfrm>
            <a:off x="13037790" y="5401747"/>
            <a:ext cx="17145" cy="279856"/>
          </a:xfrm>
          <a:prstGeom prst="rect">
            <a:avLst/>
          </a:prstGeom>
          <a:solidFill>
            <a:srgbClr val="C98A1E"/>
          </a:solidFill>
          <a:ln/>
        </p:spPr>
      </p:sp>
      <p:sp>
        <p:nvSpPr>
          <p:cNvPr id="71" name="Shape 64"/>
          <p:cNvSpPr/>
          <p:nvPr/>
        </p:nvSpPr>
        <p:spPr>
          <a:xfrm>
            <a:off x="11855768" y="3636972"/>
            <a:ext cx="2381191" cy="1764863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102840">
                <a:alpha val="9000"/>
              </a:srgbClr>
            </a:outerShdw>
          </a:effectLst>
        </p:spPr>
      </p:sp>
      <p:sp>
        <p:nvSpPr>
          <p:cNvPr id="72" name="Shape 65"/>
          <p:cNvSpPr/>
          <p:nvPr/>
        </p:nvSpPr>
        <p:spPr>
          <a:xfrm>
            <a:off x="11855768" y="5396121"/>
            <a:ext cx="2381191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73" name="Shape 66"/>
          <p:cNvSpPr/>
          <p:nvPr/>
        </p:nvSpPr>
        <p:spPr>
          <a:xfrm>
            <a:off x="11855768" y="3636972"/>
            <a:ext cx="2381191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74" name="Shape 67"/>
          <p:cNvSpPr/>
          <p:nvPr/>
        </p:nvSpPr>
        <p:spPr>
          <a:xfrm>
            <a:off x="11855768" y="3636972"/>
            <a:ext cx="34290" cy="1764863"/>
          </a:xfrm>
          <a:prstGeom prst="rect">
            <a:avLst/>
          </a:prstGeom>
          <a:solidFill>
            <a:srgbClr val="C98A1E"/>
          </a:solidFill>
          <a:ln/>
        </p:spPr>
      </p:sp>
      <p:sp>
        <p:nvSpPr>
          <p:cNvPr id="75" name="Shape 68"/>
          <p:cNvSpPr/>
          <p:nvPr/>
        </p:nvSpPr>
        <p:spPr>
          <a:xfrm>
            <a:off x="14231244" y="3636972"/>
            <a:ext cx="9525" cy="1764863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76" name="Text 69"/>
          <p:cNvSpPr/>
          <p:nvPr/>
        </p:nvSpPr>
        <p:spPr>
          <a:xfrm>
            <a:off x="12061508" y="3785563"/>
            <a:ext cx="2198114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8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Jan</a:t>
            </a:r>
            <a:endParaRPr lang="en-US" sz="1200" dirty="0"/>
          </a:p>
        </p:txBody>
      </p:sp>
      <p:sp>
        <p:nvSpPr>
          <p:cNvPr id="77" name="Shape 70"/>
          <p:cNvSpPr/>
          <p:nvPr/>
        </p:nvSpPr>
        <p:spPr>
          <a:xfrm>
            <a:off x="12061508" y="4047024"/>
            <a:ext cx="95190" cy="95190"/>
          </a:xfrm>
          <a:prstGeom prst="ellipse">
            <a:avLst/>
          </a:prstGeom>
          <a:solidFill>
            <a:srgbClr val="C98A1E"/>
          </a:solidFill>
          <a:ln/>
        </p:spPr>
      </p:sp>
      <p:sp>
        <p:nvSpPr>
          <p:cNvPr id="78" name="Text 71"/>
          <p:cNvSpPr/>
          <p:nvPr/>
        </p:nvSpPr>
        <p:spPr>
          <a:xfrm>
            <a:off x="12242424" y="3995142"/>
            <a:ext cx="1627811" cy="2371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endParaRPr lang="en-US" sz="1425" dirty="0"/>
          </a:p>
        </p:txBody>
      </p:sp>
      <p:sp>
        <p:nvSpPr>
          <p:cNvPr id="79" name="Text 72"/>
          <p:cNvSpPr/>
          <p:nvPr/>
        </p:nvSpPr>
        <p:spPr>
          <a:xfrm>
            <a:off x="12061508" y="4279910"/>
            <a:ext cx="20744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handling approval · Analytics Suite</a:t>
            </a:r>
            <a:endParaRPr lang="en-US" sz="1125" dirty="0"/>
          </a:p>
        </p:txBody>
      </p:sp>
      <p:sp>
        <p:nvSpPr>
          <p:cNvPr id="80" name="Shape 73"/>
          <p:cNvSpPr/>
          <p:nvPr/>
        </p:nvSpPr>
        <p:spPr>
          <a:xfrm>
            <a:off x="12061508" y="4737110"/>
            <a:ext cx="1998286" cy="516136"/>
          </a:xfrm>
          <a:prstGeom prst="roundRect">
            <a:avLst>
              <a:gd name="adj" fmla="val 12918"/>
            </a:avLst>
          </a:prstGeom>
          <a:solidFill>
            <a:srgbClr val="FBF2DF"/>
          </a:solidFill>
          <a:ln/>
        </p:spPr>
      </p:sp>
      <p:pic>
        <p:nvPicPr>
          <p:cNvPr id="8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175808" y="4928474"/>
            <a:ext cx="85189" cy="133320"/>
          </a:xfrm>
          <a:prstGeom prst="rect">
            <a:avLst/>
          </a:prstGeom>
        </p:spPr>
      </p:pic>
      <p:sp>
        <p:nvSpPr>
          <p:cNvPr id="82" name="Text 74"/>
          <p:cNvSpPr/>
          <p:nvPr/>
        </p:nvSpPr>
        <p:spPr>
          <a:xfrm>
            <a:off x="12346722" y="4822835"/>
            <a:ext cx="1674971" cy="382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data classification </a:t>
            </a:r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P. Novak</a:t>
            </a:r>
            <a:endParaRPr lang="en-US" sz="1050" dirty="0"/>
          </a:p>
        </p:txBody>
      </p:sp>
      <p:sp>
        <p:nvSpPr>
          <p:cNvPr id="83" name="Shape 75"/>
          <p:cNvSpPr/>
          <p:nvPr/>
        </p:nvSpPr>
        <p:spPr>
          <a:xfrm>
            <a:off x="12903488" y="5538728"/>
            <a:ext cx="285750" cy="285750"/>
          </a:xfrm>
          <a:prstGeom prst="ellipse">
            <a:avLst/>
          </a:prstGeom>
          <a:solidFill>
            <a:srgbClr val="C98A1E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FBF2DF">
                <a:alpha val="100000"/>
              </a:srgbClr>
            </a:outerShdw>
          </a:effectLst>
        </p:spPr>
      </p:sp>
      <p:pic>
        <p:nvPicPr>
          <p:cNvPr id="8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989213" y="5619720"/>
            <a:ext cx="114300" cy="123765"/>
          </a:xfrm>
          <a:prstGeom prst="rect">
            <a:avLst/>
          </a:prstGeom>
        </p:spPr>
      </p:pic>
      <p:sp>
        <p:nvSpPr>
          <p:cNvPr id="85" name="Shape 76"/>
          <p:cNvSpPr/>
          <p:nvPr/>
        </p:nvSpPr>
        <p:spPr>
          <a:xfrm>
            <a:off x="15638384" y="5681603"/>
            <a:ext cx="17145" cy="279856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86" name="Shape 77"/>
          <p:cNvSpPr/>
          <p:nvPr/>
        </p:nvSpPr>
        <p:spPr>
          <a:xfrm>
            <a:off x="14456361" y="5961459"/>
            <a:ext cx="2381191" cy="1382048"/>
          </a:xfrm>
          <a:prstGeom prst="roundRect">
            <a:avLst>
              <a:gd name="adj" fmla="val 6203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95250" dist="28575" dir="5400000">
              <a:srgbClr val="102840">
                <a:alpha val="7000"/>
              </a:srgbClr>
            </a:outerShdw>
          </a:effectLst>
        </p:spPr>
      </p:sp>
      <p:sp>
        <p:nvSpPr>
          <p:cNvPr id="87" name="Text 78"/>
          <p:cNvSpPr/>
          <p:nvPr/>
        </p:nvSpPr>
        <p:spPr>
          <a:xfrm>
            <a:off x="14633527" y="6110050"/>
            <a:ext cx="2229547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Feb</a:t>
            </a:r>
            <a:endParaRPr lang="en-US" sz="1200" dirty="0"/>
          </a:p>
        </p:txBody>
      </p:sp>
      <p:sp>
        <p:nvSpPr>
          <p:cNvPr id="88" name="Shape 79"/>
          <p:cNvSpPr/>
          <p:nvPr/>
        </p:nvSpPr>
        <p:spPr>
          <a:xfrm>
            <a:off x="14633527" y="6371511"/>
            <a:ext cx="95190" cy="9519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89" name="Text 80"/>
          <p:cNvSpPr/>
          <p:nvPr/>
        </p:nvSpPr>
        <p:spPr>
          <a:xfrm>
            <a:off x="14814441" y="6319629"/>
            <a:ext cx="1221165" cy="23714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25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Ops</a:t>
            </a:r>
            <a:endParaRPr lang="en-US" sz="1425" dirty="0"/>
          </a:p>
        </p:txBody>
      </p:sp>
      <p:sp>
        <p:nvSpPr>
          <p:cNvPr id="90" name="Text 81"/>
          <p:cNvSpPr/>
          <p:nvPr/>
        </p:nvSpPr>
        <p:spPr>
          <a:xfrm>
            <a:off x="14633527" y="6604397"/>
            <a:ext cx="21030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 environment ready · Mobile App 2.0</a:t>
            </a:r>
            <a:endParaRPr lang="en-US" sz="1125" dirty="0"/>
          </a:p>
        </p:txBody>
      </p:sp>
      <p:sp>
        <p:nvSpPr>
          <p:cNvPr id="91" name="Text 82"/>
          <p:cNvSpPr/>
          <p:nvPr/>
        </p:nvSpPr>
        <p:spPr>
          <a:xfrm>
            <a:off x="14633527" y="7061597"/>
            <a:ext cx="2229547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 — no action needed</a:t>
            </a:r>
            <a:endParaRPr lang="en-US" sz="1050" dirty="0"/>
          </a:p>
        </p:txBody>
      </p:sp>
      <p:sp>
        <p:nvSpPr>
          <p:cNvPr id="92" name="Shape 83"/>
          <p:cNvSpPr/>
          <p:nvPr/>
        </p:nvSpPr>
        <p:spPr>
          <a:xfrm rot="2700000">
            <a:off x="15561231" y="5595878"/>
            <a:ext cx="171450" cy="171450"/>
          </a:xfrm>
          <a:prstGeom prst="rect">
            <a:avLst/>
          </a:prstGeom>
          <a:solidFill>
            <a:srgbClr val="1F8A5B"/>
          </a:solidFill>
          <a:ln w="1714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9525" dir="5400000">
              <a:srgbClr val="102840">
                <a:alpha val="28000"/>
              </a:srgbClr>
            </a:outerShdw>
          </a:effectLst>
        </p:spPr>
      </p:sp>
      <p:sp>
        <p:nvSpPr>
          <p:cNvPr id="93" name="Shape 84"/>
          <p:cNvSpPr/>
          <p:nvPr/>
        </p:nvSpPr>
        <p:spPr>
          <a:xfrm>
            <a:off x="914400" y="9605040"/>
            <a:ext cx="16459201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94" name="Text 85"/>
          <p:cNvSpPr/>
          <p:nvPr/>
        </p:nvSpPr>
        <p:spPr>
          <a:xfrm>
            <a:off x="914400" y="9782205"/>
            <a:ext cx="42932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Portfolio · Programme Review | Confidential</a:t>
            </a:r>
            <a:endParaRPr lang="en-US" sz="1125" dirty="0"/>
          </a:p>
        </p:txBody>
      </p:sp>
      <p:sp>
        <p:nvSpPr>
          <p:cNvPr id="95" name="Text 86"/>
          <p:cNvSpPr/>
          <p:nvPr/>
        </p:nvSpPr>
        <p:spPr>
          <a:xfrm>
            <a:off x="16861930" y="9782205"/>
            <a:ext cx="5878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9716769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TIMELINE ·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761970"/>
            <a:ext cx="9716769" cy="5135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54" kern="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in parallel, dependencies flagged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373065" y="1080314"/>
            <a:ext cx="190470" cy="104745"/>
          </a:xfrm>
          <a:prstGeom prst="roundRect">
            <a:avLst>
              <a:gd name="adj" fmla="val 27281"/>
            </a:avLst>
          </a:prstGeom>
          <a:solidFill>
            <a:srgbClr val="CADFF1"/>
          </a:solidFill>
          <a:ln/>
        </p:spPr>
      </p:sp>
      <p:sp>
        <p:nvSpPr>
          <p:cNvPr id="5" name="Shape 3"/>
          <p:cNvSpPr/>
          <p:nvPr/>
        </p:nvSpPr>
        <p:spPr>
          <a:xfrm>
            <a:off x="12525405" y="1080314"/>
            <a:ext cx="190470" cy="104745"/>
          </a:xfrm>
          <a:prstGeom prst="roundRect">
            <a:avLst>
              <a:gd name="adj" fmla="val 27281"/>
            </a:avLst>
          </a:prstGeom>
          <a:solidFill>
            <a:srgbClr val="1E73B8"/>
          </a:solidFill>
          <a:ln/>
        </p:spPr>
      </p:sp>
      <p:sp>
        <p:nvSpPr>
          <p:cNvPr id="6" name="Text 4"/>
          <p:cNvSpPr/>
          <p:nvPr/>
        </p:nvSpPr>
        <p:spPr>
          <a:xfrm>
            <a:off x="12792046" y="1048881"/>
            <a:ext cx="1141155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/ progress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rot="2700000">
            <a:off x="14028420" y="1070729"/>
            <a:ext cx="123825" cy="123825"/>
          </a:xfrm>
          <a:prstGeom prst="rect">
            <a:avLst/>
          </a:prstGeom>
          <a:solidFill>
            <a:srgbClr val="0C2C4A"/>
          </a:solidFill>
          <a:ln/>
        </p:spPr>
      </p:sp>
      <p:sp>
        <p:nvSpPr>
          <p:cNvPr id="8" name="Text 6"/>
          <p:cNvSpPr/>
          <p:nvPr/>
        </p:nvSpPr>
        <p:spPr>
          <a:xfrm>
            <a:off x="14228386" y="1048881"/>
            <a:ext cx="704940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28576" y="1066026"/>
            <a:ext cx="123765" cy="133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228511" y="1048881"/>
            <a:ext cx="2221290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(filled = decision due)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14400" y="1427857"/>
            <a:ext cx="16459201" cy="8082082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83384" y="1624042"/>
            <a:ext cx="3747736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63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90412" y="1624042"/>
            <a:ext cx="3747834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63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097535" y="1624042"/>
            <a:ext cx="3747834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63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3504657" y="1624042"/>
            <a:ext cx="3747834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63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205865" y="1852553"/>
            <a:ext cx="2247870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17" name="Shape 14"/>
          <p:cNvSpPr/>
          <p:nvPr/>
        </p:nvSpPr>
        <p:spPr>
          <a:xfrm>
            <a:off x="1205865" y="2491026"/>
            <a:ext cx="85725" cy="85725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18" name="Text 15"/>
          <p:cNvSpPr/>
          <p:nvPr/>
        </p:nvSpPr>
        <p:spPr>
          <a:xfrm>
            <a:off x="1377315" y="2439591"/>
            <a:ext cx="1324389" cy="2266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SSO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377315" y="2647206"/>
            <a:ext cx="2301207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Díaz</a:t>
            </a:r>
            <a:endParaRPr lang="en-US" sz="975" dirty="0"/>
          </a:p>
        </p:txBody>
      </p:sp>
      <p:sp>
        <p:nvSpPr>
          <p:cNvPr id="20" name="Shape 17"/>
          <p:cNvSpPr/>
          <p:nvPr/>
        </p:nvSpPr>
        <p:spPr>
          <a:xfrm>
            <a:off x="1205865" y="3352383"/>
            <a:ext cx="2247870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21" name="Shape 18"/>
          <p:cNvSpPr/>
          <p:nvPr/>
        </p:nvSpPr>
        <p:spPr>
          <a:xfrm>
            <a:off x="1205865" y="3990856"/>
            <a:ext cx="85725" cy="85725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2" name="Text 19"/>
          <p:cNvSpPr/>
          <p:nvPr/>
        </p:nvSpPr>
        <p:spPr>
          <a:xfrm>
            <a:off x="1377315" y="3939421"/>
            <a:ext cx="1042571" cy="2266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API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377315" y="4147036"/>
            <a:ext cx="2301207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Singh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1205865" y="4852303"/>
            <a:ext cx="2247870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25" name="Shape 22"/>
          <p:cNvSpPr/>
          <p:nvPr/>
        </p:nvSpPr>
        <p:spPr>
          <a:xfrm>
            <a:off x="1205865" y="5490776"/>
            <a:ext cx="85725" cy="85725"/>
          </a:xfrm>
          <a:prstGeom prst="ellipse">
            <a:avLst/>
          </a:prstGeom>
          <a:solidFill>
            <a:srgbClr val="C98A1E"/>
          </a:solidFill>
          <a:ln/>
        </p:spPr>
      </p:sp>
      <p:sp>
        <p:nvSpPr>
          <p:cNvPr id="26" name="Text 23"/>
          <p:cNvSpPr/>
          <p:nvPr/>
        </p:nvSpPr>
        <p:spPr>
          <a:xfrm>
            <a:off x="1377315" y="5439341"/>
            <a:ext cx="1220361" cy="2266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Model v2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377315" y="5646956"/>
            <a:ext cx="2301207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Haddad</a:t>
            </a:r>
            <a:endParaRPr lang="en-US" sz="975" dirty="0"/>
          </a:p>
        </p:txBody>
      </p:sp>
      <p:sp>
        <p:nvSpPr>
          <p:cNvPr id="28" name="Shape 25"/>
          <p:cNvSpPr/>
          <p:nvPr/>
        </p:nvSpPr>
        <p:spPr>
          <a:xfrm>
            <a:off x="1205865" y="6352133"/>
            <a:ext cx="2247870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29" name="Shape 26"/>
          <p:cNvSpPr/>
          <p:nvPr/>
        </p:nvSpPr>
        <p:spPr>
          <a:xfrm>
            <a:off x="1205865" y="6990606"/>
            <a:ext cx="85725" cy="85725"/>
          </a:xfrm>
          <a:prstGeom prst="ellipse">
            <a:avLst/>
          </a:prstGeom>
          <a:solidFill>
            <a:srgbClr val="C98A1E"/>
          </a:solidFill>
          <a:ln/>
        </p:spPr>
      </p:sp>
      <p:sp>
        <p:nvSpPr>
          <p:cNvPr id="30" name="Text 27"/>
          <p:cNvSpPr/>
          <p:nvPr/>
        </p:nvSpPr>
        <p:spPr>
          <a:xfrm>
            <a:off x="1377315" y="6939171"/>
            <a:ext cx="1351401" cy="2266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Suite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377315" y="7146786"/>
            <a:ext cx="2301207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Novak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1205865" y="7852053"/>
            <a:ext cx="2247870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3" name="Shape 30"/>
          <p:cNvSpPr/>
          <p:nvPr/>
        </p:nvSpPr>
        <p:spPr>
          <a:xfrm>
            <a:off x="1205865" y="8490526"/>
            <a:ext cx="85725" cy="85725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34" name="Text 31"/>
          <p:cNvSpPr/>
          <p:nvPr/>
        </p:nvSpPr>
        <p:spPr>
          <a:xfrm>
            <a:off x="1377315" y="8439091"/>
            <a:ext cx="1355330" cy="2266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2.0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1377315" y="8646706"/>
            <a:ext cx="2301207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Bauer</a:t>
            </a:r>
            <a:endParaRPr lang="en-US" sz="975" dirty="0"/>
          </a:p>
        </p:txBody>
      </p:sp>
      <p:sp>
        <p:nvSpPr>
          <p:cNvPr id="36" name="Shape 33"/>
          <p:cNvSpPr/>
          <p:nvPr/>
        </p:nvSpPr>
        <p:spPr>
          <a:xfrm>
            <a:off x="6860768" y="1852553"/>
            <a:ext cx="9525" cy="7499331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37" name="Shape 34"/>
          <p:cNvSpPr/>
          <p:nvPr/>
        </p:nvSpPr>
        <p:spPr>
          <a:xfrm>
            <a:off x="10267891" y="1852553"/>
            <a:ext cx="9525" cy="7499331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38" name="Shape 35"/>
          <p:cNvSpPr/>
          <p:nvPr/>
        </p:nvSpPr>
        <p:spPr>
          <a:xfrm>
            <a:off x="13675013" y="1852553"/>
            <a:ext cx="9525" cy="7499331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39" name="Shape 36"/>
          <p:cNvSpPr/>
          <p:nvPr/>
        </p:nvSpPr>
        <p:spPr>
          <a:xfrm>
            <a:off x="3453735" y="3352383"/>
            <a:ext cx="13628401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0" name="Shape 37"/>
          <p:cNvSpPr/>
          <p:nvPr/>
        </p:nvSpPr>
        <p:spPr>
          <a:xfrm>
            <a:off x="3453735" y="4852214"/>
            <a:ext cx="13628401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1" name="Shape 38"/>
          <p:cNvSpPr/>
          <p:nvPr/>
        </p:nvSpPr>
        <p:spPr>
          <a:xfrm>
            <a:off x="3453735" y="6352133"/>
            <a:ext cx="13628401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2" name="Shape 39"/>
          <p:cNvSpPr/>
          <p:nvPr/>
        </p:nvSpPr>
        <p:spPr>
          <a:xfrm>
            <a:off x="3453735" y="7851964"/>
            <a:ext cx="13628401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3" name="Shape 40"/>
          <p:cNvSpPr/>
          <p:nvPr/>
        </p:nvSpPr>
        <p:spPr>
          <a:xfrm>
            <a:off x="6724501" y="1852553"/>
            <a:ext cx="17145" cy="7499331"/>
          </a:xfrm>
          <a:prstGeom prst="rect">
            <a:avLst/>
          </a:prstGeom>
          <a:solidFill>
            <a:srgbClr val="C0492F">
              <a:alpha val="80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444555" y="1833533"/>
            <a:ext cx="559891" cy="180826"/>
          </a:xfrm>
          <a:prstGeom prst="roundRect">
            <a:avLst>
              <a:gd name="adj" fmla="val 21070"/>
            </a:avLst>
          </a:prstGeom>
          <a:solidFill>
            <a:srgbClr val="C0492F"/>
          </a:solidFill>
          <a:ln/>
        </p:spPr>
      </p:sp>
      <p:sp>
        <p:nvSpPr>
          <p:cNvPr id="45" name="Text 42"/>
          <p:cNvSpPr/>
          <p:nvPr/>
        </p:nvSpPr>
        <p:spPr>
          <a:xfrm>
            <a:off x="6520755" y="1871633"/>
            <a:ext cx="483691" cy="142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8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825" dirty="0"/>
          </a:p>
        </p:txBody>
      </p:sp>
      <p:sp>
        <p:nvSpPr>
          <p:cNvPr id="46" name="Shape 43"/>
          <p:cNvSpPr/>
          <p:nvPr/>
        </p:nvSpPr>
        <p:spPr>
          <a:xfrm>
            <a:off x="3998804" y="2478658"/>
            <a:ext cx="5178772" cy="247620"/>
          </a:xfrm>
          <a:prstGeom prst="roundRect">
            <a:avLst>
              <a:gd name="adj" fmla="val 23080"/>
            </a:avLst>
          </a:prstGeom>
          <a:solidFill>
            <a:srgbClr val="CADFF1"/>
          </a:solidFill>
          <a:ln/>
        </p:spPr>
      </p:sp>
      <p:sp>
        <p:nvSpPr>
          <p:cNvPr id="47" name="Shape 44"/>
          <p:cNvSpPr/>
          <p:nvPr/>
        </p:nvSpPr>
        <p:spPr>
          <a:xfrm>
            <a:off x="3998804" y="2478658"/>
            <a:ext cx="4660851" cy="247620"/>
          </a:xfrm>
          <a:prstGeom prst="roundRect">
            <a:avLst>
              <a:gd name="adj" fmla="val 23080"/>
            </a:avLst>
          </a:prstGeom>
          <a:solidFill>
            <a:srgbClr val="1E73B8"/>
          </a:solidFill>
          <a:ln/>
        </p:spPr>
      </p:sp>
      <p:sp>
        <p:nvSpPr>
          <p:cNvPr id="48" name="Shape 45"/>
          <p:cNvSpPr/>
          <p:nvPr/>
        </p:nvSpPr>
        <p:spPr>
          <a:xfrm rot="2700000">
            <a:off x="9110901" y="2535793"/>
            <a:ext cx="133350" cy="133350"/>
          </a:xfrm>
          <a:prstGeom prst="rect">
            <a:avLst/>
          </a:prstGeom>
          <a:solidFill>
            <a:srgbClr val="0C2C4A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537272" y="2507233"/>
            <a:ext cx="190470" cy="190470"/>
          </a:xfrm>
          <a:prstGeom prst="ellipse">
            <a:avLst/>
          </a:prstGeom>
          <a:solidFill>
            <a:srgbClr val="1F8A5B"/>
          </a:solidFill>
          <a:ln w="2286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9525" dir="5400000">
              <a:srgbClr val="102840">
                <a:alpha val="30000"/>
              </a:srgbClr>
            </a:outerShdw>
          </a:effectLst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89601" y="2554828"/>
            <a:ext cx="85725" cy="95190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8368844" y="3202365"/>
            <a:ext cx="527328" cy="175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8368844" y="3339525"/>
            <a:ext cx="527328" cy="1637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Nov</a:t>
            </a:r>
            <a:endParaRPr lang="en-US" sz="825" dirty="0"/>
          </a:p>
        </p:txBody>
      </p:sp>
      <p:sp>
        <p:nvSpPr>
          <p:cNvPr id="53" name="Shape 49"/>
          <p:cNvSpPr/>
          <p:nvPr/>
        </p:nvSpPr>
        <p:spPr>
          <a:xfrm>
            <a:off x="8632508" y="3978489"/>
            <a:ext cx="6541622" cy="247620"/>
          </a:xfrm>
          <a:prstGeom prst="roundRect">
            <a:avLst>
              <a:gd name="adj" fmla="val 23080"/>
            </a:avLst>
          </a:prstGeom>
          <a:solidFill>
            <a:srgbClr val="CADFF1"/>
          </a:solidFill>
          <a:ln/>
        </p:spPr>
      </p:sp>
      <p:sp>
        <p:nvSpPr>
          <p:cNvPr id="54" name="Shape 50"/>
          <p:cNvSpPr/>
          <p:nvPr/>
        </p:nvSpPr>
        <p:spPr>
          <a:xfrm>
            <a:off x="8632508" y="3978489"/>
            <a:ext cx="1635383" cy="247620"/>
          </a:xfrm>
          <a:prstGeom prst="roundRect">
            <a:avLst>
              <a:gd name="adj" fmla="val 23080"/>
            </a:avLst>
          </a:prstGeom>
          <a:solidFill>
            <a:srgbClr val="C0492F"/>
          </a:solidFill>
          <a:ln/>
        </p:spPr>
      </p:sp>
      <p:sp>
        <p:nvSpPr>
          <p:cNvPr id="55" name="Shape 51"/>
          <p:cNvSpPr/>
          <p:nvPr/>
        </p:nvSpPr>
        <p:spPr>
          <a:xfrm rot="2700000">
            <a:off x="15107454" y="4035624"/>
            <a:ext cx="133350" cy="133350"/>
          </a:xfrm>
          <a:prstGeom prst="rect">
            <a:avLst/>
          </a:prstGeom>
          <a:solidFill>
            <a:srgbClr val="0C2C4A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977367" y="3464540"/>
            <a:ext cx="901303" cy="175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Team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7977367" y="3601700"/>
            <a:ext cx="901303" cy="1637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Nov · decision</a:t>
            </a:r>
            <a:endParaRPr lang="en-US" sz="825" dirty="0"/>
          </a:p>
        </p:txBody>
      </p:sp>
      <p:sp>
        <p:nvSpPr>
          <p:cNvPr id="58" name="Shape 54"/>
          <p:cNvSpPr/>
          <p:nvPr/>
        </p:nvSpPr>
        <p:spPr>
          <a:xfrm>
            <a:off x="8313718" y="3987999"/>
            <a:ext cx="228600" cy="228600"/>
          </a:xfrm>
          <a:prstGeom prst="ellipse">
            <a:avLst/>
          </a:prstGeom>
          <a:solidFill>
            <a:srgbClr val="C0492F"/>
          </a:solidFill>
          <a:ln w="2286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FBEAE6">
                <a:alpha val="100000"/>
              </a:srgbClr>
            </a:outerShdw>
          </a:effectLst>
        </p:spPr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0423" y="4049881"/>
            <a:ext cx="95190" cy="104745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9218697" y="4007064"/>
            <a:ext cx="190470" cy="190470"/>
          </a:xfrm>
          <a:prstGeom prst="ellipse">
            <a:avLst/>
          </a:prstGeom>
          <a:solidFill>
            <a:srgbClr val="C98A1E"/>
          </a:solidFill>
          <a:ln w="2286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9525" dir="5400000">
              <a:srgbClr val="102840">
                <a:alpha val="30000"/>
              </a:srgbClr>
            </a:outerShdw>
          </a:effectLst>
        </p:spPr>
      </p:sp>
      <p:pic>
        <p:nvPicPr>
          <p:cNvPr id="6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1025" y="4054659"/>
            <a:ext cx="85725" cy="95190"/>
          </a:xfrm>
          <a:prstGeom prst="rect">
            <a:avLst/>
          </a:prstGeom>
        </p:spPr>
      </p:pic>
      <p:sp>
        <p:nvSpPr>
          <p:cNvPr id="62" name="Text 56"/>
          <p:cNvSpPr/>
          <p:nvPr/>
        </p:nvSpPr>
        <p:spPr>
          <a:xfrm>
            <a:off x="9094738" y="4702284"/>
            <a:ext cx="438388" cy="175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900" dirty="0"/>
          </a:p>
        </p:txBody>
      </p:sp>
      <p:sp>
        <p:nvSpPr>
          <p:cNvPr id="63" name="Text 57"/>
          <p:cNvSpPr/>
          <p:nvPr/>
        </p:nvSpPr>
        <p:spPr>
          <a:xfrm>
            <a:off x="9094738" y="4839444"/>
            <a:ext cx="438388" cy="1637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Nov</a:t>
            </a:r>
            <a:endParaRPr lang="en-US" sz="825" dirty="0"/>
          </a:p>
        </p:txBody>
      </p:sp>
      <p:sp>
        <p:nvSpPr>
          <p:cNvPr id="64" name="Shape 58"/>
          <p:cNvSpPr/>
          <p:nvPr/>
        </p:nvSpPr>
        <p:spPr>
          <a:xfrm>
            <a:off x="5361652" y="5478408"/>
            <a:ext cx="7904470" cy="247620"/>
          </a:xfrm>
          <a:prstGeom prst="roundRect">
            <a:avLst>
              <a:gd name="adj" fmla="val 23080"/>
            </a:avLst>
          </a:prstGeom>
          <a:solidFill>
            <a:srgbClr val="CADFF1"/>
          </a:solidFill>
          <a:ln/>
        </p:spPr>
      </p:sp>
      <p:sp>
        <p:nvSpPr>
          <p:cNvPr id="65" name="Shape 59"/>
          <p:cNvSpPr/>
          <p:nvPr/>
        </p:nvSpPr>
        <p:spPr>
          <a:xfrm>
            <a:off x="5361652" y="5478408"/>
            <a:ext cx="3556963" cy="247620"/>
          </a:xfrm>
          <a:prstGeom prst="roundRect">
            <a:avLst>
              <a:gd name="adj" fmla="val 23080"/>
            </a:avLst>
          </a:prstGeom>
          <a:solidFill>
            <a:srgbClr val="1E73B8"/>
          </a:solidFill>
          <a:ln/>
        </p:spPr>
      </p:sp>
      <p:sp>
        <p:nvSpPr>
          <p:cNvPr id="66" name="Shape 60"/>
          <p:cNvSpPr/>
          <p:nvPr/>
        </p:nvSpPr>
        <p:spPr>
          <a:xfrm rot="2700000">
            <a:off x="13199448" y="5535543"/>
            <a:ext cx="133350" cy="133350"/>
          </a:xfrm>
          <a:prstGeom prst="rect">
            <a:avLst/>
          </a:prstGeom>
          <a:solidFill>
            <a:srgbClr val="0C2C4A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9063276" y="5487919"/>
            <a:ext cx="228600" cy="228600"/>
          </a:xfrm>
          <a:prstGeom prst="ellipse">
            <a:avLst/>
          </a:prstGeom>
          <a:solidFill>
            <a:srgbClr val="C0492F"/>
          </a:solidFill>
          <a:ln w="2286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FBEAE6">
                <a:alpha val="100000"/>
              </a:srgbClr>
            </a:outerShdw>
          </a:effectLst>
        </p:spPr>
      </p:sp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29981" y="5549801"/>
            <a:ext cx="95190" cy="104745"/>
          </a:xfrm>
          <a:prstGeom prst="rect">
            <a:avLst/>
          </a:prstGeom>
        </p:spPr>
      </p:pic>
      <p:sp>
        <p:nvSpPr>
          <p:cNvPr id="69" name="Text 62"/>
          <p:cNvSpPr/>
          <p:nvPr/>
        </p:nvSpPr>
        <p:spPr>
          <a:xfrm>
            <a:off x="8688571" y="6202114"/>
            <a:ext cx="978009" cy="175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Validation</a:t>
            </a:r>
            <a:endParaRPr lang="en-US" sz="900" dirty="0"/>
          </a:p>
        </p:txBody>
      </p:sp>
      <p:sp>
        <p:nvSpPr>
          <p:cNvPr id="70" name="Text 63"/>
          <p:cNvSpPr/>
          <p:nvPr/>
        </p:nvSpPr>
        <p:spPr>
          <a:xfrm>
            <a:off x="8688571" y="6339275"/>
            <a:ext cx="978009" cy="1637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Dec · decision</a:t>
            </a:r>
            <a:endParaRPr lang="en-US" sz="825" dirty="0"/>
          </a:p>
        </p:txBody>
      </p:sp>
      <p:sp>
        <p:nvSpPr>
          <p:cNvPr id="71" name="Shape 64"/>
          <p:cNvSpPr/>
          <p:nvPr/>
        </p:nvSpPr>
        <p:spPr>
          <a:xfrm>
            <a:off x="10267891" y="6978239"/>
            <a:ext cx="5451307" cy="247620"/>
          </a:xfrm>
          <a:prstGeom prst="roundRect">
            <a:avLst>
              <a:gd name="adj" fmla="val 23080"/>
            </a:avLst>
          </a:prstGeom>
          <a:solidFill>
            <a:srgbClr val="CADFF1"/>
          </a:solidFill>
          <a:ln/>
        </p:spPr>
      </p:sp>
      <p:sp>
        <p:nvSpPr>
          <p:cNvPr id="72" name="Shape 65"/>
          <p:cNvSpPr/>
          <p:nvPr/>
        </p:nvSpPr>
        <p:spPr>
          <a:xfrm>
            <a:off x="10267891" y="6978239"/>
            <a:ext cx="327005" cy="247620"/>
          </a:xfrm>
          <a:prstGeom prst="roundRect">
            <a:avLst>
              <a:gd name="adj" fmla="val 23080"/>
            </a:avLst>
          </a:prstGeom>
          <a:solidFill>
            <a:srgbClr val="1E73B8"/>
          </a:solidFill>
          <a:ln/>
        </p:spPr>
      </p:sp>
      <p:sp>
        <p:nvSpPr>
          <p:cNvPr id="73" name="Shape 66"/>
          <p:cNvSpPr/>
          <p:nvPr/>
        </p:nvSpPr>
        <p:spPr>
          <a:xfrm rot="2700000">
            <a:off x="15652612" y="7035374"/>
            <a:ext cx="133350" cy="133350"/>
          </a:xfrm>
          <a:prstGeom prst="rect">
            <a:avLst/>
          </a:prstGeom>
          <a:solidFill>
            <a:srgbClr val="0C2C4A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74" name="Text 67"/>
          <p:cNvSpPr/>
          <p:nvPr/>
        </p:nvSpPr>
        <p:spPr>
          <a:xfrm>
            <a:off x="10168578" y="6464290"/>
            <a:ext cx="1016407" cy="175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9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endParaRPr lang="en-US" sz="900" dirty="0"/>
          </a:p>
        </p:txBody>
      </p:sp>
      <p:sp>
        <p:nvSpPr>
          <p:cNvPr id="75" name="Text 68"/>
          <p:cNvSpPr/>
          <p:nvPr/>
        </p:nvSpPr>
        <p:spPr>
          <a:xfrm>
            <a:off x="10168578" y="6601451"/>
            <a:ext cx="1016407" cy="1637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Jan · decision</a:t>
            </a:r>
            <a:endParaRPr lang="en-US" sz="825" dirty="0"/>
          </a:p>
        </p:txBody>
      </p:sp>
      <p:sp>
        <p:nvSpPr>
          <p:cNvPr id="76" name="Shape 69"/>
          <p:cNvSpPr/>
          <p:nvPr/>
        </p:nvSpPr>
        <p:spPr>
          <a:xfrm>
            <a:off x="10562481" y="6987748"/>
            <a:ext cx="228600" cy="228600"/>
          </a:xfrm>
          <a:prstGeom prst="ellipse">
            <a:avLst/>
          </a:prstGeom>
          <a:solidFill>
            <a:srgbClr val="C98A1E"/>
          </a:solidFill>
          <a:ln w="2286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FBF2DF">
                <a:alpha val="100000"/>
              </a:srgbClr>
            </a:outerShdw>
          </a:effectLst>
        </p:spPr>
      </p:sp>
      <p:pic>
        <p:nvPicPr>
          <p:cNvPr id="7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29186" y="7049631"/>
            <a:ext cx="95190" cy="104745"/>
          </a:xfrm>
          <a:prstGeom prst="rect">
            <a:avLst/>
          </a:prstGeom>
        </p:spPr>
      </p:pic>
      <p:sp>
        <p:nvSpPr>
          <p:cNvPr id="78" name="Shape 70"/>
          <p:cNvSpPr/>
          <p:nvPr/>
        </p:nvSpPr>
        <p:spPr>
          <a:xfrm>
            <a:off x="8905042" y="8478069"/>
            <a:ext cx="7631847" cy="247620"/>
          </a:xfrm>
          <a:prstGeom prst="roundRect">
            <a:avLst>
              <a:gd name="adj" fmla="val 23080"/>
            </a:avLst>
          </a:prstGeom>
          <a:solidFill>
            <a:srgbClr val="CADFF1"/>
          </a:solidFill>
          <a:ln/>
        </p:spPr>
      </p:sp>
      <p:sp>
        <p:nvSpPr>
          <p:cNvPr id="79" name="Shape 71"/>
          <p:cNvSpPr/>
          <p:nvPr/>
        </p:nvSpPr>
        <p:spPr>
          <a:xfrm>
            <a:off x="8905042" y="8478069"/>
            <a:ext cx="1068437" cy="247620"/>
          </a:xfrm>
          <a:prstGeom prst="roundRect">
            <a:avLst>
              <a:gd name="adj" fmla="val 23080"/>
            </a:avLst>
          </a:prstGeom>
          <a:solidFill>
            <a:srgbClr val="1E73B8"/>
          </a:solidFill>
          <a:ln/>
        </p:spPr>
      </p:sp>
      <p:sp>
        <p:nvSpPr>
          <p:cNvPr id="80" name="Shape 72"/>
          <p:cNvSpPr/>
          <p:nvPr/>
        </p:nvSpPr>
        <p:spPr>
          <a:xfrm rot="2700000">
            <a:off x="16470303" y="8535204"/>
            <a:ext cx="133350" cy="133350"/>
          </a:xfrm>
          <a:prstGeom prst="rect">
            <a:avLst/>
          </a:prstGeom>
          <a:solidFill>
            <a:srgbClr val="0C2C4A"/>
          </a:solidFill>
          <a:ln w="17145">
            <a:solidFill>
              <a:srgbClr val="FFFFFF"/>
            </a:solidFill>
            <a:prstDash val="solid"/>
          </a:ln>
        </p:spPr>
      </p:sp>
      <p:sp>
        <p:nvSpPr>
          <p:cNvPr id="81" name="Text 73"/>
          <p:cNvSpPr/>
          <p:nvPr/>
        </p:nvSpPr>
        <p:spPr>
          <a:xfrm>
            <a:off x="11233800" y="7964121"/>
            <a:ext cx="793879" cy="175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Ops</a:t>
            </a:r>
            <a:endParaRPr lang="en-US" sz="900" dirty="0"/>
          </a:p>
        </p:txBody>
      </p:sp>
      <p:sp>
        <p:nvSpPr>
          <p:cNvPr id="82" name="Text 74"/>
          <p:cNvSpPr/>
          <p:nvPr/>
        </p:nvSpPr>
        <p:spPr>
          <a:xfrm>
            <a:off x="11233800" y="8101281"/>
            <a:ext cx="793879" cy="1637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25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Feb</a:t>
            </a:r>
            <a:endParaRPr lang="en-US" sz="825" dirty="0"/>
          </a:p>
        </p:txBody>
      </p:sp>
      <p:sp>
        <p:nvSpPr>
          <p:cNvPr id="83" name="Shape 75"/>
          <p:cNvSpPr/>
          <p:nvPr/>
        </p:nvSpPr>
        <p:spPr>
          <a:xfrm>
            <a:off x="11535505" y="8506644"/>
            <a:ext cx="190470" cy="190470"/>
          </a:xfrm>
          <a:prstGeom prst="ellipse">
            <a:avLst/>
          </a:prstGeom>
          <a:solidFill>
            <a:srgbClr val="1F8A5B"/>
          </a:solidFill>
          <a:ln w="2286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9525" dir="5400000">
              <a:srgbClr val="102840">
                <a:alpha val="30000"/>
              </a:srgbClr>
            </a:outerShdw>
          </a:effectLst>
        </p:spPr>
      </p:sp>
      <p:pic>
        <p:nvPicPr>
          <p:cNvPr id="8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7832" y="8554239"/>
            <a:ext cx="85725" cy="95190"/>
          </a:xfrm>
          <a:prstGeom prst="rect">
            <a:avLst/>
          </a:prstGeom>
        </p:spPr>
      </p:pic>
      <p:sp>
        <p:nvSpPr>
          <p:cNvPr id="85" name="Shape 76"/>
          <p:cNvSpPr/>
          <p:nvPr/>
        </p:nvSpPr>
        <p:spPr>
          <a:xfrm>
            <a:off x="914400" y="9662279"/>
            <a:ext cx="16459201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86" name="Text 77"/>
          <p:cNvSpPr/>
          <p:nvPr/>
        </p:nvSpPr>
        <p:spPr>
          <a:xfrm>
            <a:off x="914400" y="9820335"/>
            <a:ext cx="42932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Portfolio · Programme Review | Confidential</a:t>
            </a:r>
            <a:endParaRPr lang="en-US" sz="1125" dirty="0"/>
          </a:p>
        </p:txBody>
      </p:sp>
      <p:sp>
        <p:nvSpPr>
          <p:cNvPr id="87" name="Text 78"/>
          <p:cNvSpPr/>
          <p:nvPr/>
        </p:nvSpPr>
        <p:spPr>
          <a:xfrm>
            <a:off x="16861930" y="9820335"/>
            <a:ext cx="5878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52390"/>
            <a:ext cx="18105121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809565"/>
            <a:ext cx="18105121" cy="5333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56" kern="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 of progress, measured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14400" y="1409551"/>
            <a:ext cx="117729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Data Platform delivered over the last year — and the outcome it moved: analyst time on manual data prep.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316272"/>
            <a:ext cx="10089386" cy="7079278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43905" y="2647652"/>
            <a:ext cx="392778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158" kern="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HRS / WEEK ON MANUAL PREP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9572626" y="2569607"/>
            <a:ext cx="1101656" cy="285661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/>
        </p:spPr>
      </p:sp>
      <p:sp>
        <p:nvSpPr>
          <p:cNvPr id="8" name="Text 6"/>
          <p:cNvSpPr/>
          <p:nvPr/>
        </p:nvSpPr>
        <p:spPr>
          <a:xfrm>
            <a:off x="9696451" y="2636282"/>
            <a:ext cx="930206" cy="190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56% YoY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43905" y="8940403"/>
            <a:ext cx="9430376" cy="11430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0" name="Text 8"/>
          <p:cNvSpPr/>
          <p:nvPr/>
        </p:nvSpPr>
        <p:spPr>
          <a:xfrm>
            <a:off x="2085886" y="3351490"/>
            <a:ext cx="4000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952566" y="3618131"/>
            <a:ext cx="590520" cy="5322273"/>
          </a:xfrm>
          <a:prstGeom prst="roundRect">
            <a:avLst>
              <a:gd name="adj" fmla="val 9678"/>
            </a:avLst>
          </a:prstGeom>
          <a:solidFill>
            <a:srgbClr val="CADFF1"/>
          </a:solidFill>
          <a:ln/>
        </p:spPr>
      </p:sp>
      <p:sp>
        <p:nvSpPr>
          <p:cNvPr id="12" name="Text 10"/>
          <p:cNvSpPr/>
          <p:nvPr/>
        </p:nvSpPr>
        <p:spPr>
          <a:xfrm>
            <a:off x="3941564" y="4297680"/>
            <a:ext cx="4000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11.5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808244" y="4564321"/>
            <a:ext cx="590520" cy="4376083"/>
          </a:xfrm>
          <a:prstGeom prst="roundRect">
            <a:avLst>
              <a:gd name="adj" fmla="val 9678"/>
            </a:avLst>
          </a:prstGeom>
          <a:solidFill>
            <a:srgbClr val="CADFF1"/>
          </a:solidFill>
          <a:ln/>
        </p:spPr>
      </p:sp>
      <p:sp>
        <p:nvSpPr>
          <p:cNvPr id="14" name="Text 12"/>
          <p:cNvSpPr/>
          <p:nvPr/>
        </p:nvSpPr>
        <p:spPr>
          <a:xfrm>
            <a:off x="5842516" y="5243870"/>
            <a:ext cx="3094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9.0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3833" y="5510510"/>
            <a:ext cx="590520" cy="3429893"/>
          </a:xfrm>
          <a:prstGeom prst="roundRect">
            <a:avLst>
              <a:gd name="adj" fmla="val 9678"/>
            </a:avLst>
          </a:prstGeom>
          <a:solidFill>
            <a:srgbClr val="1E73B8"/>
          </a:solidFill>
          <a:ln/>
        </p:spPr>
      </p:sp>
      <p:sp>
        <p:nvSpPr>
          <p:cNvPr id="16" name="Text 14"/>
          <p:cNvSpPr/>
          <p:nvPr/>
        </p:nvSpPr>
        <p:spPr>
          <a:xfrm>
            <a:off x="7698105" y="5894398"/>
            <a:ext cx="3094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7.4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519422" y="6161038"/>
            <a:ext cx="590520" cy="2779365"/>
          </a:xfrm>
          <a:prstGeom prst="roundRect">
            <a:avLst>
              <a:gd name="adj" fmla="val 9678"/>
            </a:avLst>
          </a:prstGeom>
          <a:solidFill>
            <a:srgbClr val="1E73B8"/>
          </a:solidFill>
          <a:ln/>
        </p:spPr>
      </p:sp>
      <p:sp>
        <p:nvSpPr>
          <p:cNvPr id="18" name="Text 16"/>
          <p:cNvSpPr/>
          <p:nvPr/>
        </p:nvSpPr>
        <p:spPr>
          <a:xfrm>
            <a:off x="9551194" y="6348472"/>
            <a:ext cx="314355" cy="22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C2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375011" y="6634133"/>
            <a:ext cx="590520" cy="2306270"/>
          </a:xfrm>
          <a:prstGeom prst="roundRect">
            <a:avLst>
              <a:gd name="adj" fmla="val 9678"/>
            </a:avLst>
          </a:prstGeom>
          <a:solidFill>
            <a:srgbClr val="0C2C4A"/>
          </a:solidFill>
          <a:ln/>
        </p:spPr>
      </p:sp>
      <p:sp>
        <p:nvSpPr>
          <p:cNvPr id="20" name="Shape 18"/>
          <p:cNvSpPr/>
          <p:nvPr/>
        </p:nvSpPr>
        <p:spPr>
          <a:xfrm>
            <a:off x="9453458" y="6119783"/>
            <a:ext cx="433536" cy="180826"/>
          </a:xfrm>
          <a:prstGeom prst="roundRect">
            <a:avLst>
              <a:gd name="adj" fmla="val 21070"/>
            </a:avLst>
          </a:prstGeom>
          <a:solidFill>
            <a:srgbClr val="0C2C4A"/>
          </a:solidFill>
          <a:ln/>
        </p:spPr>
      </p:sp>
      <p:sp>
        <p:nvSpPr>
          <p:cNvPr id="21" name="Text 19"/>
          <p:cNvSpPr/>
          <p:nvPr/>
        </p:nvSpPr>
        <p:spPr>
          <a:xfrm>
            <a:off x="9529658" y="6157883"/>
            <a:ext cx="357336" cy="142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227296" y="9047024"/>
            <a:ext cx="2041148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'25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82881" y="9047024"/>
            <a:ext cx="2041246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'25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8564" y="9047024"/>
            <a:ext cx="2041148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'26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94153" y="9047024"/>
            <a:ext cx="2041148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'26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49742" y="9047024"/>
            <a:ext cx="2041148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'26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1289536" y="2316272"/>
            <a:ext cx="2961977" cy="935296"/>
          </a:xfrm>
          <a:prstGeom prst="roundRect">
            <a:avLst>
              <a:gd name="adj" fmla="val 10184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1504742" y="2512457"/>
            <a:ext cx="2784723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17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 AGO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1504742" y="2693462"/>
            <a:ext cx="2784723" cy="40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14.0</a:t>
            </a:r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94A2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h/wk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14422964" y="2316272"/>
            <a:ext cx="2950637" cy="935296"/>
          </a:xfrm>
          <a:prstGeom prst="roundRect">
            <a:avLst>
              <a:gd name="adj" fmla="val 10184"/>
            </a:avLst>
          </a:prstGeom>
          <a:solidFill>
            <a:srgbClr val="0C2C4A"/>
          </a:solidFill>
          <a:ln/>
          <a:effectLst>
            <a:outerShdw sx="100000" sy="100000" kx="0" ky="0" algn="bl" rotWithShape="0" blurRad="28575" dist="9525" dir="5400000">
              <a:srgbClr val="10284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4632455" y="2506742"/>
            <a:ext cx="2784822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17" kern="0" dirty="0">
                <a:solidFill>
                  <a:srgbClr val="3D9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14632455" y="2687747"/>
            <a:ext cx="2784822" cy="40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</a:t>
            </a:r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A9BE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h/wk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11289536" y="3423017"/>
            <a:ext cx="6084064" cy="5972533"/>
          </a:xfrm>
          <a:prstGeom prst="roundRect">
            <a:avLst>
              <a:gd name="adj" fmla="val 1595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1542872" y="3638223"/>
            <a:ext cx="6135133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7" kern="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DROVE IT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1542872" y="3904863"/>
            <a:ext cx="590520" cy="238155"/>
          </a:xfrm>
          <a:prstGeom prst="roundRect">
            <a:avLst>
              <a:gd name="adj" fmla="val 19997"/>
            </a:avLst>
          </a:prstGeom>
          <a:solidFill>
            <a:srgbClr val="EAF3FB"/>
          </a:solidFill>
          <a:ln/>
        </p:spPr>
      </p:sp>
      <p:sp>
        <p:nvSpPr>
          <p:cNvPr id="36" name="Text 34"/>
          <p:cNvSpPr/>
          <p:nvPr/>
        </p:nvSpPr>
        <p:spPr>
          <a:xfrm>
            <a:off x="11590497" y="3962013"/>
            <a:ext cx="495270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'25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2266712" y="3915311"/>
            <a:ext cx="2744745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25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ingestion pipeline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1542872" y="5476667"/>
            <a:ext cx="5577394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9" name="Shape 37"/>
          <p:cNvSpPr/>
          <p:nvPr/>
        </p:nvSpPr>
        <p:spPr>
          <a:xfrm>
            <a:off x="11542872" y="5558552"/>
            <a:ext cx="590520" cy="238155"/>
          </a:xfrm>
          <a:prstGeom prst="roundRect">
            <a:avLst>
              <a:gd name="adj" fmla="val 19997"/>
            </a:avLst>
          </a:prstGeom>
          <a:solidFill>
            <a:srgbClr val="EAF3FB"/>
          </a:solidFill>
          <a:ln/>
        </p:spPr>
      </p:sp>
      <p:sp>
        <p:nvSpPr>
          <p:cNvPr id="40" name="Text 38"/>
          <p:cNvSpPr/>
          <p:nvPr/>
        </p:nvSpPr>
        <p:spPr>
          <a:xfrm>
            <a:off x="11590497" y="5615702"/>
            <a:ext cx="495270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'26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2266712" y="5569000"/>
            <a:ext cx="2458022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25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dataset catalog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11542872" y="7130445"/>
            <a:ext cx="5577394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3" name="Shape 41"/>
          <p:cNvSpPr/>
          <p:nvPr/>
        </p:nvSpPr>
        <p:spPr>
          <a:xfrm>
            <a:off x="11542872" y="7212330"/>
            <a:ext cx="590520" cy="238155"/>
          </a:xfrm>
          <a:prstGeom prst="roundRect">
            <a:avLst>
              <a:gd name="adj" fmla="val 19997"/>
            </a:avLst>
          </a:prstGeom>
          <a:solidFill>
            <a:srgbClr val="EAF3FB"/>
          </a:solidFill>
          <a:ln/>
        </p:spPr>
      </p:sp>
      <p:sp>
        <p:nvSpPr>
          <p:cNvPr id="44" name="Text 42"/>
          <p:cNvSpPr/>
          <p:nvPr/>
        </p:nvSpPr>
        <p:spPr>
          <a:xfrm>
            <a:off x="11590497" y="7269480"/>
            <a:ext cx="495270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'26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2266712" y="7222778"/>
            <a:ext cx="2323549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25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prep templates</a:t>
            </a:r>
            <a:endParaRPr lang="en-US" sz="1425" dirty="0"/>
          </a:p>
        </p:txBody>
      </p:sp>
      <p:sp>
        <p:nvSpPr>
          <p:cNvPr id="46" name="Shape 44"/>
          <p:cNvSpPr/>
          <p:nvPr/>
        </p:nvSpPr>
        <p:spPr>
          <a:xfrm>
            <a:off x="11542872" y="8784134"/>
            <a:ext cx="5577394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7" name="Shape 45"/>
          <p:cNvSpPr/>
          <p:nvPr/>
        </p:nvSpPr>
        <p:spPr>
          <a:xfrm>
            <a:off x="11542872" y="8866019"/>
            <a:ext cx="590520" cy="238155"/>
          </a:xfrm>
          <a:prstGeom prst="roundRect">
            <a:avLst>
              <a:gd name="adj" fmla="val 19997"/>
            </a:avLst>
          </a:prstGeom>
          <a:solidFill>
            <a:srgbClr val="EAF3FB"/>
          </a:solidFill>
          <a:ln/>
        </p:spPr>
      </p:sp>
      <p:sp>
        <p:nvSpPr>
          <p:cNvPr id="48" name="Text 46"/>
          <p:cNvSpPr/>
          <p:nvPr/>
        </p:nvSpPr>
        <p:spPr>
          <a:xfrm>
            <a:off x="11590497" y="8923169"/>
            <a:ext cx="495270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'26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12266712" y="8876467"/>
            <a:ext cx="2582671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25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validation autochecks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914400" y="9605040"/>
            <a:ext cx="16459201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9782205"/>
            <a:ext cx="42932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Portfolio · Programme Review | Confidential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16860769" y="9782205"/>
            <a:ext cx="5890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52390"/>
            <a:ext cx="18105121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809565"/>
            <a:ext cx="18105121" cy="5333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56" kern="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enhancements &amp; estimated effort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14400" y="1409551"/>
            <a:ext cx="125730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next four quarters take the same metric — and what each step is estimated to cost.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996232"/>
            <a:ext cx="8866466" cy="7399318"/>
          </a:xfrm>
          <a:prstGeom prst="roundRect">
            <a:avLst>
              <a:gd name="adj" fmla="val 1287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43905" y="2254300"/>
            <a:ext cx="235144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158" kern="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HRS / WEEK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8600986" y="2263854"/>
            <a:ext cx="152340" cy="104745"/>
          </a:xfrm>
          <a:prstGeom prst="roundRect">
            <a:avLst>
              <a:gd name="adj" fmla="val 27281"/>
            </a:avLst>
          </a:prstGeom>
          <a:solidFill>
            <a:srgbClr val="CADFF1"/>
          </a:solidFill>
          <a:ln w="11430">
            <a:solidFill>
              <a:srgbClr val="1E73B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829497" y="2232422"/>
            <a:ext cx="698064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43905" y="8940403"/>
            <a:ext cx="8207455" cy="11430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0" name="Text 8"/>
          <p:cNvSpPr/>
          <p:nvPr/>
        </p:nvSpPr>
        <p:spPr>
          <a:xfrm>
            <a:off x="2207865" y="6169789"/>
            <a:ext cx="314355" cy="22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C2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041148" y="6455450"/>
            <a:ext cx="571500" cy="2484954"/>
          </a:xfrm>
          <a:prstGeom prst="roundRect">
            <a:avLst>
              <a:gd name="adj" fmla="val 10000"/>
            </a:avLst>
          </a:prstGeom>
          <a:solidFill>
            <a:srgbClr val="0C2C4A"/>
          </a:solidFill>
          <a:ln/>
        </p:spPr>
      </p:sp>
      <p:sp>
        <p:nvSpPr>
          <p:cNvPr id="12" name="Shape 10"/>
          <p:cNvSpPr/>
          <p:nvPr/>
        </p:nvSpPr>
        <p:spPr>
          <a:xfrm>
            <a:off x="2110130" y="5941100"/>
            <a:ext cx="433536" cy="180826"/>
          </a:xfrm>
          <a:prstGeom prst="roundRect">
            <a:avLst>
              <a:gd name="adj" fmla="val 21070"/>
            </a:avLst>
          </a:prstGeom>
          <a:solidFill>
            <a:srgbClr val="0C2C4A"/>
          </a:solidFill>
          <a:ln/>
        </p:spPr>
      </p:sp>
      <p:sp>
        <p:nvSpPr>
          <p:cNvPr id="13" name="Text 11"/>
          <p:cNvSpPr/>
          <p:nvPr/>
        </p:nvSpPr>
        <p:spPr>
          <a:xfrm>
            <a:off x="2186330" y="5979200"/>
            <a:ext cx="357336" cy="142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224099" y="6571090"/>
            <a:ext cx="3094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7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054971" y="6837730"/>
            <a:ext cx="571500" cy="2102674"/>
          </a:xfrm>
          <a:prstGeom prst="roundRect">
            <a:avLst>
              <a:gd name="adj" fmla="val 10000"/>
            </a:avLst>
          </a:prstGeom>
          <a:solidFill>
            <a:srgbClr val="CADFF1"/>
          </a:solidFill>
          <a:ln/>
        </p:spPr>
      </p:sp>
      <p:sp>
        <p:nvSpPr>
          <p:cNvPr id="16" name="Shape 14"/>
          <p:cNvSpPr/>
          <p:nvPr/>
        </p:nvSpPr>
        <p:spPr>
          <a:xfrm>
            <a:off x="4054971" y="6837730"/>
            <a:ext cx="571500" cy="11430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17" name="Shape 15"/>
          <p:cNvSpPr/>
          <p:nvPr/>
        </p:nvSpPr>
        <p:spPr>
          <a:xfrm>
            <a:off x="4054971" y="6837730"/>
            <a:ext cx="11430" cy="2102674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4615041" y="6837730"/>
            <a:ext cx="11430" cy="2102674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19" name="Text 17"/>
          <p:cNvSpPr/>
          <p:nvPr/>
        </p:nvSpPr>
        <p:spPr>
          <a:xfrm>
            <a:off x="6237833" y="6953459"/>
            <a:ext cx="3094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7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68705" y="7220099"/>
            <a:ext cx="571500" cy="1720304"/>
          </a:xfrm>
          <a:prstGeom prst="roundRect">
            <a:avLst>
              <a:gd name="adj" fmla="val 10000"/>
            </a:avLst>
          </a:prstGeom>
          <a:solidFill>
            <a:srgbClr val="CADFF1"/>
          </a:solidFill>
          <a:ln/>
        </p:spPr>
      </p:sp>
      <p:sp>
        <p:nvSpPr>
          <p:cNvPr id="21" name="Shape 19"/>
          <p:cNvSpPr/>
          <p:nvPr/>
        </p:nvSpPr>
        <p:spPr>
          <a:xfrm>
            <a:off x="6068705" y="7220099"/>
            <a:ext cx="571500" cy="11430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6068705" y="7220099"/>
            <a:ext cx="11430" cy="1720304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6628775" y="7220099"/>
            <a:ext cx="11430" cy="1720304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24" name="Text 22"/>
          <p:cNvSpPr/>
          <p:nvPr/>
        </p:nvSpPr>
        <p:spPr>
          <a:xfrm>
            <a:off x="8249156" y="7380387"/>
            <a:ext cx="314355" cy="22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7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82528" y="7666048"/>
            <a:ext cx="571500" cy="1274356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/>
        </p:spPr>
      </p:sp>
      <p:sp>
        <p:nvSpPr>
          <p:cNvPr id="26" name="Shape 24"/>
          <p:cNvSpPr/>
          <p:nvPr/>
        </p:nvSpPr>
        <p:spPr>
          <a:xfrm>
            <a:off x="8082528" y="7666048"/>
            <a:ext cx="571500" cy="11430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8082528" y="7666048"/>
            <a:ext cx="11430" cy="1274356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8642598" y="7666048"/>
            <a:ext cx="11430" cy="1274356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29" name="Shape 27"/>
          <p:cNvSpPr/>
          <p:nvPr/>
        </p:nvSpPr>
        <p:spPr>
          <a:xfrm>
            <a:off x="8055516" y="7163128"/>
            <a:ext cx="625525" cy="180826"/>
          </a:xfrm>
          <a:prstGeom prst="roundRect">
            <a:avLst>
              <a:gd name="adj" fmla="val 21070"/>
            </a:avLst>
          </a:prstGeom>
          <a:solidFill>
            <a:srgbClr val="1E73B8"/>
          </a:solidFill>
          <a:ln/>
        </p:spPr>
      </p:sp>
      <p:sp>
        <p:nvSpPr>
          <p:cNvPr id="30" name="Text 28"/>
          <p:cNvSpPr/>
          <p:nvPr/>
        </p:nvSpPr>
        <p:spPr>
          <a:xfrm>
            <a:off x="8131716" y="7201228"/>
            <a:ext cx="549325" cy="142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219389" y="9047024"/>
            <a:ext cx="2215107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'26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33118" y="9047024"/>
            <a:ext cx="2215205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'26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46946" y="9047024"/>
            <a:ext cx="2215107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'27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60676" y="9047024"/>
            <a:ext cx="2215205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'27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066616" y="1996232"/>
            <a:ext cx="7306985" cy="7399318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072331" y="2001947"/>
            <a:ext cx="7295555" cy="428536"/>
          </a:xfrm>
          <a:prstGeom prst="rect">
            <a:avLst/>
          </a:prstGeom>
          <a:solidFill>
            <a:srgbClr val="0C2C4A"/>
          </a:solidFill>
          <a:ln/>
        </p:spPr>
      </p:sp>
      <p:sp>
        <p:nvSpPr>
          <p:cNvPr id="37" name="Text 35"/>
          <p:cNvSpPr/>
          <p:nvPr/>
        </p:nvSpPr>
        <p:spPr>
          <a:xfrm>
            <a:off x="10338971" y="2154287"/>
            <a:ext cx="3896353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17" kern="0" dirty="0">
                <a:solidFill>
                  <a:srgbClr val="A9B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13800610" y="2154287"/>
            <a:ext cx="1771025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spc="117" kern="0" dirty="0">
                <a:solidFill>
                  <a:srgbClr val="A9B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EFFORT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5330122" y="2154287"/>
            <a:ext cx="1771123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75" b="1" spc="117" kern="0" dirty="0">
                <a:solidFill>
                  <a:srgbClr val="A9B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10072331" y="4561642"/>
            <a:ext cx="7295555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41" name="Text 39"/>
          <p:cNvSpPr/>
          <p:nvPr/>
        </p:nvSpPr>
        <p:spPr>
          <a:xfrm>
            <a:off x="10338971" y="3290590"/>
            <a:ext cx="3896353" cy="268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anomaly checks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10338971" y="3558659"/>
            <a:ext cx="3896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'26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3800610" y="3405515"/>
            <a:ext cx="1771025" cy="21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25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4A2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eng-wks</a:t>
            </a:r>
            <a:endParaRPr lang="en-US" sz="1425" dirty="0"/>
          </a:p>
        </p:txBody>
      </p:sp>
      <p:sp>
        <p:nvSpPr>
          <p:cNvPr id="44" name="Text 42"/>
          <p:cNvSpPr/>
          <p:nvPr/>
        </p:nvSpPr>
        <p:spPr>
          <a:xfrm>
            <a:off x="15330122" y="3405515"/>
            <a:ext cx="1771123" cy="21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25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−1.2 h/wk</a:t>
            </a:r>
            <a:endParaRPr lang="en-US" sz="1425" dirty="0"/>
          </a:p>
        </p:txBody>
      </p:sp>
      <p:sp>
        <p:nvSpPr>
          <p:cNvPr id="45" name="Shape 43"/>
          <p:cNvSpPr/>
          <p:nvPr/>
        </p:nvSpPr>
        <p:spPr>
          <a:xfrm>
            <a:off x="10072331" y="6698605"/>
            <a:ext cx="7295555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46" name="Text 44"/>
          <p:cNvSpPr/>
          <p:nvPr/>
        </p:nvSpPr>
        <p:spPr>
          <a:xfrm>
            <a:off x="10338971" y="5427464"/>
            <a:ext cx="3896353" cy="268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Auto-reconciliation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10338971" y="5695534"/>
            <a:ext cx="3896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'27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13800610" y="5542479"/>
            <a:ext cx="1771025" cy="21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25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4A2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eng-wks</a:t>
            </a:r>
            <a:endParaRPr lang="en-US" sz="1425" dirty="0"/>
          </a:p>
        </p:txBody>
      </p:sp>
      <p:sp>
        <p:nvSpPr>
          <p:cNvPr id="49" name="Text 47"/>
          <p:cNvSpPr/>
          <p:nvPr/>
        </p:nvSpPr>
        <p:spPr>
          <a:xfrm>
            <a:off x="15330122" y="5542479"/>
            <a:ext cx="1771123" cy="21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25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−1.0 h/wk</a:t>
            </a:r>
            <a:endParaRPr lang="en-US" sz="1425" dirty="0"/>
          </a:p>
        </p:txBody>
      </p:sp>
      <p:sp>
        <p:nvSpPr>
          <p:cNvPr id="50" name="Text 48"/>
          <p:cNvSpPr/>
          <p:nvPr/>
        </p:nvSpPr>
        <p:spPr>
          <a:xfrm>
            <a:off x="10338971" y="7564428"/>
            <a:ext cx="3896353" cy="268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75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reporting</a:t>
            </a:r>
            <a:endParaRPr lang="en-US" sz="1575" dirty="0"/>
          </a:p>
        </p:txBody>
      </p:sp>
      <p:sp>
        <p:nvSpPr>
          <p:cNvPr id="51" name="Text 49"/>
          <p:cNvSpPr/>
          <p:nvPr/>
        </p:nvSpPr>
        <p:spPr>
          <a:xfrm>
            <a:off x="10338971" y="7832497"/>
            <a:ext cx="3896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'27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13800610" y="7679353"/>
            <a:ext cx="1771025" cy="21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25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4A2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eng-wks</a:t>
            </a:r>
            <a:endParaRPr lang="en-US" sz="1425" dirty="0"/>
          </a:p>
        </p:txBody>
      </p:sp>
      <p:sp>
        <p:nvSpPr>
          <p:cNvPr id="53" name="Text 51"/>
          <p:cNvSpPr/>
          <p:nvPr/>
        </p:nvSpPr>
        <p:spPr>
          <a:xfrm>
            <a:off x="15330122" y="7679353"/>
            <a:ext cx="1771123" cy="21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25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−1.0 h/wk</a:t>
            </a:r>
            <a:endParaRPr lang="en-US" sz="1425" dirty="0"/>
          </a:p>
        </p:txBody>
      </p:sp>
      <p:sp>
        <p:nvSpPr>
          <p:cNvPr id="54" name="Shape 52"/>
          <p:cNvSpPr/>
          <p:nvPr/>
        </p:nvSpPr>
        <p:spPr>
          <a:xfrm>
            <a:off x="10072331" y="8835480"/>
            <a:ext cx="7295555" cy="55435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55" name="Shape 53"/>
          <p:cNvSpPr/>
          <p:nvPr/>
        </p:nvSpPr>
        <p:spPr>
          <a:xfrm>
            <a:off x="10072331" y="8835480"/>
            <a:ext cx="7295555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56" name="Text 54"/>
          <p:cNvSpPr/>
          <p:nvPr/>
        </p:nvSpPr>
        <p:spPr>
          <a:xfrm>
            <a:off x="10338971" y="9012645"/>
            <a:ext cx="207542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eng-weeks invested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14372065" y="9012645"/>
            <a:ext cx="300209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target </a:t>
            </a:r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7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 h/wk 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(−52% from today)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914400" y="9605040"/>
            <a:ext cx="16459201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59" name="Text 57"/>
          <p:cNvSpPr/>
          <p:nvPr/>
        </p:nvSpPr>
        <p:spPr>
          <a:xfrm>
            <a:off x="914400" y="9782205"/>
            <a:ext cx="42932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Portfolio · Programme Review | Confidential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16869788" y="9782205"/>
            <a:ext cx="5800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52390"/>
            <a:ext cx="18105121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809565"/>
            <a:ext cx="18105121" cy="5333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56" kern="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over time — one view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14400" y="1409551"/>
            <a:ext cx="125730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hours / week on manual prep: a year delivered, a year planned, and the effort between.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977211"/>
            <a:ext cx="10531852" cy="7418338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43905" y="2225814"/>
            <a:ext cx="171450" cy="104745"/>
          </a:xfrm>
          <a:prstGeom prst="roundRect">
            <a:avLst>
              <a:gd name="adj" fmla="val 27281"/>
            </a:avLst>
          </a:prstGeom>
          <a:solidFill>
            <a:srgbClr val="1E73B8"/>
          </a:solidFill>
          <a:ln/>
        </p:spPr>
      </p:sp>
      <p:sp>
        <p:nvSpPr>
          <p:cNvPr id="7" name="Text 5"/>
          <p:cNvSpPr/>
          <p:nvPr/>
        </p:nvSpPr>
        <p:spPr>
          <a:xfrm>
            <a:off x="1491526" y="2194381"/>
            <a:ext cx="681543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06360" y="2225814"/>
            <a:ext cx="171450" cy="104745"/>
          </a:xfrm>
          <a:prstGeom prst="roundRect">
            <a:avLst>
              <a:gd name="adj" fmla="val 27281"/>
            </a:avLst>
          </a:prstGeom>
          <a:solidFill>
            <a:srgbClr val="CADFF1"/>
          </a:solidFill>
          <a:ln w="11430">
            <a:solidFill>
              <a:srgbClr val="1E73B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553980" y="2194381"/>
            <a:ext cx="698063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43905" y="8978355"/>
            <a:ext cx="9872842" cy="11430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1" name="Shape 9"/>
          <p:cNvSpPr/>
          <p:nvPr/>
        </p:nvSpPr>
        <p:spPr>
          <a:xfrm>
            <a:off x="7414409" y="2344847"/>
            <a:ext cx="11430" cy="6633508"/>
          </a:xfrm>
          <a:prstGeom prst="rect">
            <a:avLst/>
          </a:prstGeom>
          <a:solidFill>
            <a:srgbClr val="94A2AE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756738" y="2827407"/>
            <a:ext cx="384631" cy="199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14.0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1672798" y="3075027"/>
            <a:ext cx="476220" cy="5903327"/>
          </a:xfrm>
          <a:prstGeom prst="roundRect">
            <a:avLst>
              <a:gd name="adj" fmla="val 10001"/>
            </a:avLst>
          </a:prstGeom>
          <a:solidFill>
            <a:srgbClr val="1E73B8"/>
          </a:solidFill>
          <a:ln/>
        </p:spPr>
      </p:sp>
      <p:sp>
        <p:nvSpPr>
          <p:cNvPr id="14" name="Text 12"/>
          <p:cNvSpPr/>
          <p:nvPr/>
        </p:nvSpPr>
        <p:spPr>
          <a:xfrm>
            <a:off x="2976533" y="3842981"/>
            <a:ext cx="384631" cy="199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11.5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2892683" y="4090601"/>
            <a:ext cx="476220" cy="4887754"/>
          </a:xfrm>
          <a:prstGeom prst="roundRect">
            <a:avLst>
              <a:gd name="adj" fmla="val 10001"/>
            </a:avLst>
          </a:prstGeom>
          <a:solidFill>
            <a:srgbClr val="1E73B8"/>
          </a:solidFill>
          <a:ln/>
        </p:spPr>
      </p:sp>
      <p:sp>
        <p:nvSpPr>
          <p:cNvPr id="16" name="Text 14"/>
          <p:cNvSpPr/>
          <p:nvPr/>
        </p:nvSpPr>
        <p:spPr>
          <a:xfrm>
            <a:off x="4239637" y="4922133"/>
            <a:ext cx="298192" cy="199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9.0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4112478" y="5169754"/>
            <a:ext cx="476220" cy="3808601"/>
          </a:xfrm>
          <a:prstGeom prst="roundRect">
            <a:avLst>
              <a:gd name="adj" fmla="val 10001"/>
            </a:avLst>
          </a:prstGeom>
          <a:solidFill>
            <a:srgbClr val="1E73B8"/>
          </a:solidFill>
          <a:ln/>
        </p:spPr>
      </p:sp>
      <p:sp>
        <p:nvSpPr>
          <p:cNvPr id="18" name="Text 16"/>
          <p:cNvSpPr/>
          <p:nvPr/>
        </p:nvSpPr>
        <p:spPr>
          <a:xfrm>
            <a:off x="5459432" y="5620345"/>
            <a:ext cx="298192" cy="199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7.4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5332363" y="5867966"/>
            <a:ext cx="476220" cy="3110389"/>
          </a:xfrm>
          <a:prstGeom prst="roundRect">
            <a:avLst>
              <a:gd name="adj" fmla="val 10001"/>
            </a:avLst>
          </a:prstGeom>
          <a:solidFill>
            <a:srgbClr val="1E73B8"/>
          </a:solidFill>
          <a:ln/>
        </p:spPr>
      </p:sp>
      <p:sp>
        <p:nvSpPr>
          <p:cNvPr id="20" name="Text 18"/>
          <p:cNvSpPr/>
          <p:nvPr/>
        </p:nvSpPr>
        <p:spPr>
          <a:xfrm>
            <a:off x="6677174" y="6109067"/>
            <a:ext cx="302389" cy="21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5" b="1" dirty="0">
                <a:solidFill>
                  <a:srgbClr val="0C2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6552158" y="6375797"/>
            <a:ext cx="476220" cy="2602557"/>
          </a:xfrm>
          <a:prstGeom prst="roundRect">
            <a:avLst>
              <a:gd name="adj" fmla="val 10001"/>
            </a:avLst>
          </a:prstGeom>
          <a:solidFill>
            <a:srgbClr val="0C2C4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73456" y="5880557"/>
            <a:ext cx="433536" cy="180826"/>
          </a:xfrm>
          <a:prstGeom prst="roundRect">
            <a:avLst>
              <a:gd name="adj" fmla="val 21070"/>
            </a:avLst>
          </a:prstGeom>
          <a:solidFill>
            <a:srgbClr val="0C2C4A"/>
          </a:solidFill>
          <a:ln/>
        </p:spPr>
      </p:sp>
      <p:sp>
        <p:nvSpPr>
          <p:cNvPr id="23" name="Text 21"/>
          <p:cNvSpPr/>
          <p:nvPr/>
        </p:nvSpPr>
        <p:spPr>
          <a:xfrm>
            <a:off x="6649656" y="5918657"/>
            <a:ext cx="357336" cy="142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7899113" y="6636008"/>
            <a:ext cx="298192" cy="199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E7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7771954" y="6883629"/>
            <a:ext cx="476220" cy="2094726"/>
          </a:xfrm>
          <a:prstGeom prst="roundRect">
            <a:avLst>
              <a:gd name="adj" fmla="val 10001"/>
            </a:avLst>
          </a:prstGeom>
          <a:solidFill>
            <a:srgbClr val="CADFF1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1954" y="6883629"/>
            <a:ext cx="476220" cy="11430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1954" y="6883629"/>
            <a:ext cx="11430" cy="2094726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8236744" y="6883629"/>
            <a:ext cx="11430" cy="2094726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29" name="Text 27"/>
          <p:cNvSpPr/>
          <p:nvPr/>
        </p:nvSpPr>
        <p:spPr>
          <a:xfrm>
            <a:off x="9118908" y="7016859"/>
            <a:ext cx="298192" cy="199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E7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8991749" y="7264480"/>
            <a:ext cx="476220" cy="1713875"/>
          </a:xfrm>
          <a:prstGeom prst="roundRect">
            <a:avLst>
              <a:gd name="adj" fmla="val 10001"/>
            </a:avLst>
          </a:prstGeom>
          <a:solidFill>
            <a:srgbClr val="CADFF1"/>
          </a:solidFill>
          <a:ln/>
        </p:spPr>
      </p:sp>
      <p:sp>
        <p:nvSpPr>
          <p:cNvPr id="31" name="Shape 29"/>
          <p:cNvSpPr/>
          <p:nvPr/>
        </p:nvSpPr>
        <p:spPr>
          <a:xfrm>
            <a:off x="8991749" y="7264480"/>
            <a:ext cx="476220" cy="11430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32" name="Shape 30"/>
          <p:cNvSpPr/>
          <p:nvPr/>
        </p:nvSpPr>
        <p:spPr>
          <a:xfrm>
            <a:off x="8991749" y="7264480"/>
            <a:ext cx="11430" cy="1713875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9456540" y="7264480"/>
            <a:ext cx="11430" cy="1713875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34" name="Text 32"/>
          <p:cNvSpPr/>
          <p:nvPr/>
        </p:nvSpPr>
        <p:spPr>
          <a:xfrm>
            <a:off x="10336560" y="7442091"/>
            <a:ext cx="302389" cy="21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5" b="1" dirty="0">
                <a:solidFill>
                  <a:srgbClr val="1E7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10211544" y="7708821"/>
            <a:ext cx="476220" cy="1269534"/>
          </a:xfrm>
          <a:prstGeom prst="roundRect">
            <a:avLst>
              <a:gd name="adj" fmla="val 10001"/>
            </a:avLst>
          </a:prstGeom>
          <a:solidFill>
            <a:srgbClr val="EAF3F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211544" y="7708821"/>
            <a:ext cx="476220" cy="11430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37" name="Shape 35"/>
          <p:cNvSpPr/>
          <p:nvPr/>
        </p:nvSpPr>
        <p:spPr>
          <a:xfrm>
            <a:off x="10211544" y="7708821"/>
            <a:ext cx="11430" cy="1269534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38" name="Shape 36"/>
          <p:cNvSpPr/>
          <p:nvPr/>
        </p:nvSpPr>
        <p:spPr>
          <a:xfrm>
            <a:off x="10676334" y="7708821"/>
            <a:ext cx="11430" cy="1269534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39" name="Shape 37"/>
          <p:cNvSpPr/>
          <p:nvPr/>
        </p:nvSpPr>
        <p:spPr>
          <a:xfrm>
            <a:off x="10136848" y="7225010"/>
            <a:ext cx="625525" cy="180826"/>
          </a:xfrm>
          <a:prstGeom prst="roundRect">
            <a:avLst>
              <a:gd name="adj" fmla="val 21070"/>
            </a:avLst>
          </a:prstGeom>
          <a:solidFill>
            <a:srgbClr val="1E73B8"/>
          </a:solidFill>
          <a:ln/>
        </p:spPr>
      </p:sp>
      <p:sp>
        <p:nvSpPr>
          <p:cNvPr id="40" name="Text 38"/>
          <p:cNvSpPr/>
          <p:nvPr/>
        </p:nvSpPr>
        <p:spPr>
          <a:xfrm>
            <a:off x="10213048" y="7263110"/>
            <a:ext cx="549325" cy="1427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1240066" y="9075509"/>
            <a:ext cx="1341775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'25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2459857" y="9075509"/>
            <a:ext cx="1341873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'25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3679746" y="9075509"/>
            <a:ext cx="1341775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'26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4899537" y="9075509"/>
            <a:ext cx="1341873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'26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6119426" y="9075509"/>
            <a:ext cx="1341775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'26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7339221" y="9075509"/>
            <a:ext cx="1341775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'26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8559017" y="9075509"/>
            <a:ext cx="1341775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'27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9778812" y="9075509"/>
            <a:ext cx="1341775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'27</a:t>
            </a:r>
            <a:endParaRPr lang="en-US" sz="975" dirty="0"/>
          </a:p>
        </p:txBody>
      </p:sp>
      <p:sp>
        <p:nvSpPr>
          <p:cNvPr id="49" name="Shape 47"/>
          <p:cNvSpPr/>
          <p:nvPr/>
        </p:nvSpPr>
        <p:spPr>
          <a:xfrm>
            <a:off x="11732002" y="1977211"/>
            <a:ext cx="1808083" cy="636955"/>
          </a:xfrm>
          <a:prstGeom prst="roundRect">
            <a:avLst>
              <a:gd name="adj" fmla="val 13459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890058" y="2106692"/>
            <a:ext cx="1641170" cy="142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83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 AGO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11890058" y="2249478"/>
            <a:ext cx="1641170" cy="27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50" b="1" dirty="0">
                <a:solidFill>
                  <a:srgbClr val="56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14.0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3654385" y="1977211"/>
            <a:ext cx="1796743" cy="636955"/>
          </a:xfrm>
          <a:prstGeom prst="roundRect">
            <a:avLst>
              <a:gd name="adj" fmla="val 13459"/>
            </a:avLst>
          </a:prstGeom>
          <a:solidFill>
            <a:srgbClr val="0C2C4A"/>
          </a:solidFill>
          <a:ln/>
        </p:spPr>
      </p:sp>
      <p:sp>
        <p:nvSpPr>
          <p:cNvPr id="53" name="Text 51"/>
          <p:cNvSpPr/>
          <p:nvPr/>
        </p:nvSpPr>
        <p:spPr>
          <a:xfrm>
            <a:off x="13806726" y="2100977"/>
            <a:ext cx="1641268" cy="142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83" kern="0" dirty="0">
                <a:solidFill>
                  <a:srgbClr val="3D9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13806726" y="2243763"/>
            <a:ext cx="1641268" cy="27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15565428" y="1977211"/>
            <a:ext cx="1808172" cy="636955"/>
          </a:xfrm>
          <a:prstGeom prst="roundRect">
            <a:avLst>
              <a:gd name="adj" fmla="val 13459"/>
            </a:avLst>
          </a:prstGeom>
          <a:solidFill>
            <a:srgbClr val="FFFFFF"/>
          </a:solidFill>
          <a:ln w="5715">
            <a:solidFill>
              <a:srgbClr val="CADF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723483" y="2106692"/>
            <a:ext cx="1641268" cy="142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83" kern="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'27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15723483" y="2249478"/>
            <a:ext cx="1641268" cy="27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50" b="1" dirty="0">
                <a:solidFill>
                  <a:srgbClr val="1E7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11732002" y="2737932"/>
            <a:ext cx="5641598" cy="3266926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1732002" y="5999143"/>
            <a:ext cx="5641598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60" name="Shape 58"/>
          <p:cNvSpPr/>
          <p:nvPr/>
        </p:nvSpPr>
        <p:spPr>
          <a:xfrm>
            <a:off x="11732002" y="2737932"/>
            <a:ext cx="5641598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61" name="Shape 59"/>
          <p:cNvSpPr/>
          <p:nvPr/>
        </p:nvSpPr>
        <p:spPr>
          <a:xfrm>
            <a:off x="11732002" y="2737932"/>
            <a:ext cx="34290" cy="3266926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62" name="Shape 60"/>
          <p:cNvSpPr/>
          <p:nvPr/>
        </p:nvSpPr>
        <p:spPr>
          <a:xfrm>
            <a:off x="17367886" y="2737932"/>
            <a:ext cx="9525" cy="3266926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63" name="Shape 61"/>
          <p:cNvSpPr/>
          <p:nvPr/>
        </p:nvSpPr>
        <p:spPr>
          <a:xfrm>
            <a:off x="11975783" y="3143696"/>
            <a:ext cx="5182612" cy="9525"/>
          </a:xfrm>
          <a:prstGeom prst="rect">
            <a:avLst/>
          </a:prstGeom>
          <a:solidFill>
            <a:srgbClr val="E5EBF1"/>
          </a:solidFill>
          <a:ln/>
        </p:spPr>
      </p:sp>
      <p:pic>
        <p:nvPicPr>
          <p:cNvPr id="6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75783" y="2891254"/>
            <a:ext cx="133320" cy="142875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12194828" y="2895987"/>
            <a:ext cx="990689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26" kern="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16476702" y="2886521"/>
            <a:ext cx="757892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−7.8 h/wk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11975783" y="3235047"/>
            <a:ext cx="552390" cy="209490"/>
          </a:xfrm>
          <a:prstGeom prst="roundRect">
            <a:avLst>
              <a:gd name="adj" fmla="val 22734"/>
            </a:avLst>
          </a:prstGeom>
          <a:solidFill>
            <a:srgbClr val="1E73B8"/>
          </a:solidFill>
          <a:ln/>
        </p:spPr>
      </p:sp>
      <p:sp>
        <p:nvSpPr>
          <p:cNvPr id="68" name="Text 65"/>
          <p:cNvSpPr/>
          <p:nvPr/>
        </p:nvSpPr>
        <p:spPr>
          <a:xfrm>
            <a:off x="12013883" y="3282672"/>
            <a:ext cx="476190" cy="152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'25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12651939" y="3252103"/>
            <a:ext cx="2311271" cy="21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ingestion pipeline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11975783" y="3969782"/>
            <a:ext cx="5182612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71" name="Shape 68"/>
          <p:cNvSpPr/>
          <p:nvPr/>
        </p:nvSpPr>
        <p:spPr>
          <a:xfrm>
            <a:off x="11975783" y="4023092"/>
            <a:ext cx="552390" cy="209490"/>
          </a:xfrm>
          <a:prstGeom prst="roundRect">
            <a:avLst>
              <a:gd name="adj" fmla="val 22734"/>
            </a:avLst>
          </a:prstGeom>
          <a:solidFill>
            <a:srgbClr val="1E73B8"/>
          </a:solidFill>
          <a:ln/>
        </p:spPr>
      </p:sp>
      <p:sp>
        <p:nvSpPr>
          <p:cNvPr id="72" name="Text 69"/>
          <p:cNvSpPr/>
          <p:nvPr/>
        </p:nvSpPr>
        <p:spPr>
          <a:xfrm>
            <a:off x="12013883" y="4070717"/>
            <a:ext cx="476190" cy="152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'26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12651939" y="4040148"/>
            <a:ext cx="2069732" cy="21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dataset catalog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11975783" y="4757827"/>
            <a:ext cx="5182612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75" name="Shape 72"/>
          <p:cNvSpPr/>
          <p:nvPr/>
        </p:nvSpPr>
        <p:spPr>
          <a:xfrm>
            <a:off x="11975783" y="4811137"/>
            <a:ext cx="552390" cy="209490"/>
          </a:xfrm>
          <a:prstGeom prst="roundRect">
            <a:avLst>
              <a:gd name="adj" fmla="val 22734"/>
            </a:avLst>
          </a:prstGeom>
          <a:solidFill>
            <a:srgbClr val="1E73B8"/>
          </a:solidFill>
          <a:ln/>
        </p:spPr>
      </p:sp>
      <p:sp>
        <p:nvSpPr>
          <p:cNvPr id="76" name="Text 73"/>
          <p:cNvSpPr/>
          <p:nvPr/>
        </p:nvSpPr>
        <p:spPr>
          <a:xfrm>
            <a:off x="12013883" y="4858762"/>
            <a:ext cx="476190" cy="152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'26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12651939" y="4828193"/>
            <a:ext cx="1956575" cy="21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prep templates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11975783" y="5545872"/>
            <a:ext cx="5182612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79" name="Shape 76"/>
          <p:cNvSpPr/>
          <p:nvPr/>
        </p:nvSpPr>
        <p:spPr>
          <a:xfrm>
            <a:off x="11975783" y="5599182"/>
            <a:ext cx="552390" cy="209490"/>
          </a:xfrm>
          <a:prstGeom prst="roundRect">
            <a:avLst>
              <a:gd name="adj" fmla="val 22734"/>
            </a:avLst>
          </a:prstGeom>
          <a:solidFill>
            <a:srgbClr val="1E73B8"/>
          </a:solidFill>
          <a:ln/>
        </p:spPr>
      </p:sp>
      <p:sp>
        <p:nvSpPr>
          <p:cNvPr id="80" name="Text 77"/>
          <p:cNvSpPr/>
          <p:nvPr/>
        </p:nvSpPr>
        <p:spPr>
          <a:xfrm>
            <a:off x="12013883" y="5646807"/>
            <a:ext cx="476190" cy="152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'26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12651939" y="5616238"/>
            <a:ext cx="2174736" cy="21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validation autochecks</a:t>
            </a:r>
            <a:endParaRPr lang="en-US" sz="1200" dirty="0"/>
          </a:p>
        </p:txBody>
      </p:sp>
      <p:sp>
        <p:nvSpPr>
          <p:cNvPr id="82" name="Shape 79"/>
          <p:cNvSpPr/>
          <p:nvPr/>
        </p:nvSpPr>
        <p:spPr>
          <a:xfrm>
            <a:off x="11732002" y="6128624"/>
            <a:ext cx="5641598" cy="3266926"/>
          </a:xfrm>
          <a:prstGeom prst="roundRect">
            <a:avLst>
              <a:gd name="adj" fmla="val 2916"/>
            </a:avLst>
          </a:prstGeom>
          <a:solidFill>
            <a:srgbClr val="EAF3FB"/>
          </a:solidFill>
          <a:ln/>
        </p:spPr>
      </p:sp>
      <p:sp>
        <p:nvSpPr>
          <p:cNvPr id="83" name="Shape 80"/>
          <p:cNvSpPr/>
          <p:nvPr/>
        </p:nvSpPr>
        <p:spPr>
          <a:xfrm>
            <a:off x="11732002" y="9389835"/>
            <a:ext cx="5641598" cy="9525"/>
          </a:xfrm>
          <a:prstGeom prst="rect">
            <a:avLst/>
          </a:prstGeom>
          <a:solidFill>
            <a:srgbClr val="CADFF1"/>
          </a:solidFill>
          <a:ln/>
        </p:spPr>
      </p:sp>
      <p:sp>
        <p:nvSpPr>
          <p:cNvPr id="84" name="Shape 81"/>
          <p:cNvSpPr/>
          <p:nvPr/>
        </p:nvSpPr>
        <p:spPr>
          <a:xfrm>
            <a:off x="11732002" y="6128624"/>
            <a:ext cx="5641598" cy="9525"/>
          </a:xfrm>
          <a:prstGeom prst="rect">
            <a:avLst/>
          </a:prstGeom>
          <a:solidFill>
            <a:srgbClr val="CADFF1"/>
          </a:solidFill>
          <a:ln/>
        </p:spPr>
      </p:sp>
      <p:sp>
        <p:nvSpPr>
          <p:cNvPr id="85" name="Shape 82"/>
          <p:cNvSpPr/>
          <p:nvPr/>
        </p:nvSpPr>
        <p:spPr>
          <a:xfrm>
            <a:off x="11732002" y="6128624"/>
            <a:ext cx="34290" cy="3266926"/>
          </a:xfrm>
          <a:prstGeom prst="rect">
            <a:avLst/>
          </a:prstGeom>
          <a:solidFill>
            <a:srgbClr val="CADFF1"/>
          </a:solidFill>
          <a:ln/>
        </p:spPr>
      </p:sp>
      <p:sp>
        <p:nvSpPr>
          <p:cNvPr id="86" name="Shape 83"/>
          <p:cNvSpPr/>
          <p:nvPr/>
        </p:nvSpPr>
        <p:spPr>
          <a:xfrm>
            <a:off x="17367886" y="6128624"/>
            <a:ext cx="9525" cy="3266926"/>
          </a:xfrm>
          <a:prstGeom prst="rect">
            <a:avLst/>
          </a:prstGeom>
          <a:solidFill>
            <a:srgbClr val="CADFF1"/>
          </a:solidFill>
          <a:ln/>
        </p:spPr>
      </p:sp>
      <p:sp>
        <p:nvSpPr>
          <p:cNvPr id="87" name="Shape 84"/>
          <p:cNvSpPr/>
          <p:nvPr/>
        </p:nvSpPr>
        <p:spPr>
          <a:xfrm>
            <a:off x="11975783" y="6534388"/>
            <a:ext cx="5182612" cy="9525"/>
          </a:xfrm>
          <a:prstGeom prst="rect">
            <a:avLst/>
          </a:prstGeom>
          <a:solidFill>
            <a:srgbClr val="CADFF1"/>
          </a:solidFill>
          <a:ln/>
        </p:spPr>
      </p:sp>
      <p:pic>
        <p:nvPicPr>
          <p:cNvPr id="8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75783" y="6281946"/>
            <a:ext cx="133320" cy="142875"/>
          </a:xfrm>
          <a:prstGeom prst="rect">
            <a:avLst/>
          </a:prstGeom>
        </p:spPr>
      </p:pic>
      <p:sp>
        <p:nvSpPr>
          <p:cNvPr id="89" name="Text 85"/>
          <p:cNvSpPr/>
          <p:nvPr/>
        </p:nvSpPr>
        <p:spPr>
          <a:xfrm>
            <a:off x="12194828" y="6286679"/>
            <a:ext cx="1375958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26" kern="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NEXT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16167647" y="6277213"/>
            <a:ext cx="1066949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eng-weeks</a:t>
            </a:r>
            <a:endParaRPr lang="en-US" sz="1200" dirty="0"/>
          </a:p>
        </p:txBody>
      </p:sp>
      <p:sp>
        <p:nvSpPr>
          <p:cNvPr id="91" name="Text 87"/>
          <p:cNvSpPr/>
          <p:nvPr/>
        </p:nvSpPr>
        <p:spPr>
          <a:xfrm>
            <a:off x="11975783" y="6625739"/>
            <a:ext cx="1917186" cy="216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anomaly checks</a:t>
            </a:r>
            <a:endParaRPr lang="en-US" sz="1275" dirty="0"/>
          </a:p>
        </p:txBody>
      </p:sp>
      <p:sp>
        <p:nvSpPr>
          <p:cNvPr id="92" name="Text 88"/>
          <p:cNvSpPr/>
          <p:nvPr/>
        </p:nvSpPr>
        <p:spPr>
          <a:xfrm>
            <a:off x="11975783" y="6822817"/>
            <a:ext cx="1917186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'26 · 6 eng-wks</a:t>
            </a:r>
            <a:endParaRPr lang="en-US" sz="975" dirty="0"/>
          </a:p>
        </p:txBody>
      </p:sp>
      <p:sp>
        <p:nvSpPr>
          <p:cNvPr id="93" name="Text 89"/>
          <p:cNvSpPr/>
          <p:nvPr/>
        </p:nvSpPr>
        <p:spPr>
          <a:xfrm>
            <a:off x="16838713" y="6705213"/>
            <a:ext cx="395883" cy="199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−1.2</a:t>
            </a:r>
            <a:endParaRPr lang="en-US" sz="1275" dirty="0"/>
          </a:p>
        </p:txBody>
      </p:sp>
      <p:sp>
        <p:nvSpPr>
          <p:cNvPr id="94" name="Shape 90"/>
          <p:cNvSpPr/>
          <p:nvPr/>
        </p:nvSpPr>
        <p:spPr>
          <a:xfrm>
            <a:off x="11975783" y="7698820"/>
            <a:ext cx="5182612" cy="9525"/>
          </a:xfrm>
          <a:prstGeom prst="rect">
            <a:avLst/>
          </a:prstGeom>
          <a:solidFill>
            <a:srgbClr val="CADFF1"/>
          </a:solidFill>
          <a:ln/>
        </p:spPr>
      </p:sp>
      <p:sp>
        <p:nvSpPr>
          <p:cNvPr id="95" name="Text 91"/>
          <p:cNvSpPr/>
          <p:nvPr/>
        </p:nvSpPr>
        <p:spPr>
          <a:xfrm>
            <a:off x="11975783" y="7752130"/>
            <a:ext cx="1631642" cy="216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Auto-reconciliation</a:t>
            </a:r>
            <a:endParaRPr lang="en-US" sz="1275" dirty="0"/>
          </a:p>
        </p:txBody>
      </p:sp>
      <p:sp>
        <p:nvSpPr>
          <p:cNvPr id="96" name="Text 92"/>
          <p:cNvSpPr/>
          <p:nvPr/>
        </p:nvSpPr>
        <p:spPr>
          <a:xfrm>
            <a:off x="11975783" y="7949208"/>
            <a:ext cx="1631642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'27 · 9 eng-wks</a:t>
            </a:r>
            <a:endParaRPr lang="en-US" sz="975" dirty="0"/>
          </a:p>
        </p:txBody>
      </p:sp>
      <p:sp>
        <p:nvSpPr>
          <p:cNvPr id="97" name="Text 93"/>
          <p:cNvSpPr/>
          <p:nvPr/>
        </p:nvSpPr>
        <p:spPr>
          <a:xfrm>
            <a:off x="16838713" y="7831604"/>
            <a:ext cx="395883" cy="199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−1.0</a:t>
            </a:r>
            <a:endParaRPr lang="en-US" sz="1275" dirty="0"/>
          </a:p>
        </p:txBody>
      </p:sp>
      <p:sp>
        <p:nvSpPr>
          <p:cNvPr id="98" name="Shape 94"/>
          <p:cNvSpPr/>
          <p:nvPr/>
        </p:nvSpPr>
        <p:spPr>
          <a:xfrm>
            <a:off x="11975783" y="8825121"/>
            <a:ext cx="5182612" cy="9525"/>
          </a:xfrm>
          <a:prstGeom prst="rect">
            <a:avLst/>
          </a:prstGeom>
          <a:solidFill>
            <a:srgbClr val="CADFF1"/>
          </a:solidFill>
          <a:ln/>
        </p:spPr>
      </p:sp>
      <p:sp>
        <p:nvSpPr>
          <p:cNvPr id="99" name="Text 95"/>
          <p:cNvSpPr/>
          <p:nvPr/>
        </p:nvSpPr>
        <p:spPr>
          <a:xfrm>
            <a:off x="11975783" y="8878431"/>
            <a:ext cx="1641170" cy="216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reporting</a:t>
            </a:r>
            <a:endParaRPr lang="en-US" sz="1275" dirty="0"/>
          </a:p>
        </p:txBody>
      </p:sp>
      <p:sp>
        <p:nvSpPr>
          <p:cNvPr id="100" name="Text 96"/>
          <p:cNvSpPr/>
          <p:nvPr/>
        </p:nvSpPr>
        <p:spPr>
          <a:xfrm>
            <a:off x="11975783" y="9075509"/>
            <a:ext cx="1641170" cy="16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'27 · 5 eng-wks</a:t>
            </a:r>
            <a:endParaRPr lang="en-US" sz="975" dirty="0"/>
          </a:p>
        </p:txBody>
      </p:sp>
      <p:sp>
        <p:nvSpPr>
          <p:cNvPr id="101" name="Text 97"/>
          <p:cNvSpPr/>
          <p:nvPr/>
        </p:nvSpPr>
        <p:spPr>
          <a:xfrm>
            <a:off x="16838713" y="8957906"/>
            <a:ext cx="395883" cy="199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−1.0</a:t>
            </a:r>
            <a:endParaRPr lang="en-US" sz="1275" dirty="0"/>
          </a:p>
        </p:txBody>
      </p:sp>
      <p:sp>
        <p:nvSpPr>
          <p:cNvPr id="102" name="Shape 98"/>
          <p:cNvSpPr/>
          <p:nvPr/>
        </p:nvSpPr>
        <p:spPr>
          <a:xfrm>
            <a:off x="914400" y="9605040"/>
            <a:ext cx="16459201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103" name="Text 99"/>
          <p:cNvSpPr/>
          <p:nvPr/>
        </p:nvSpPr>
        <p:spPr>
          <a:xfrm>
            <a:off x="914400" y="9782205"/>
            <a:ext cx="42932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Portfolio · Programme Review | Confidential</a:t>
            </a:r>
            <a:endParaRPr lang="en-US" sz="1125" dirty="0"/>
          </a:p>
        </p:txBody>
      </p:sp>
      <p:sp>
        <p:nvSpPr>
          <p:cNvPr id="104" name="Text 100"/>
          <p:cNvSpPr/>
          <p:nvPr/>
        </p:nvSpPr>
        <p:spPr>
          <a:xfrm>
            <a:off x="16860232" y="9782205"/>
            <a:ext cx="5895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370"/>
            <a:ext cx="10267917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40" kern="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·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790545"/>
            <a:ext cx="10267917" cy="5333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56" kern="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anomaly checks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14400" y="1390531"/>
            <a:ext cx="9614504" cy="65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Auto-flag statistical anomalies in prepped data before analysis — the next manual step to remove.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15369957" y="1621006"/>
            <a:ext cx="2003643" cy="382816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5715">
            <a:solidFill>
              <a:srgbClr val="CADF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66143" y="1769507"/>
            <a:ext cx="85725" cy="85725"/>
          </a:xfrm>
          <a:prstGeom prst="ellipse">
            <a:avLst/>
          </a:prstGeom>
          <a:solidFill>
            <a:srgbClr val="1E73B8"/>
          </a:solidFill>
          <a:ln/>
        </p:spPr>
      </p:sp>
      <p:sp>
        <p:nvSpPr>
          <p:cNvPr id="7" name="Text 5"/>
          <p:cNvSpPr/>
          <p:nvPr/>
        </p:nvSpPr>
        <p:spPr>
          <a:xfrm>
            <a:off x="15747059" y="1714322"/>
            <a:ext cx="1506557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· Q4 2026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914400" y="2289572"/>
            <a:ext cx="9807834" cy="1597253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05865" y="2523887"/>
            <a:ext cx="10147394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68" kern="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05865" y="2752398"/>
            <a:ext cx="9501650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still eyeball each dataset for outliers before sign-off — slow, ad-hoc, and inconsistent between people. Now that data prep is automated, manual anomaly hunting is the largest remaining hand step in the workflow.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914400" y="4096316"/>
            <a:ext cx="9807834" cy="1203722"/>
          </a:xfrm>
          <a:prstGeom prst="roundRect">
            <a:avLst>
              <a:gd name="adj" fmla="val 7913"/>
            </a:avLst>
          </a:prstGeom>
          <a:solidFill>
            <a:srgbClr val="0C2C4A"/>
          </a:solidFill>
          <a:ln/>
          <a:effectLst>
            <a:outerShdw sx="100000" sy="100000" kx="0" ky="0" algn="bl" rotWithShape="0" blurRad="28575" dist="9525" dir="5400000">
              <a:srgbClr val="10284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00150" y="4286786"/>
            <a:ext cx="10159967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68" kern="0" dirty="0">
                <a:solidFill>
                  <a:srgbClr val="3D9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00150" y="4496276"/>
            <a:ext cx="9513423" cy="65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the anomalies automatically, with an explainable reason for each — so the analyst reviews and decides, instead of searching.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914400" y="5509528"/>
            <a:ext cx="9807834" cy="390504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05865" y="7011502"/>
            <a:ext cx="10147394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68" kern="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05865" y="7316272"/>
            <a:ext cx="179784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14195" y="7327702"/>
            <a:ext cx="260544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baselines per dataset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05865" y="7681050"/>
            <a:ext cx="179784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14195" y="7692480"/>
            <a:ext cx="271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severity flags in the catalog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42082" y="7316272"/>
            <a:ext cx="179784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50412" y="7327702"/>
            <a:ext cx="3081649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accept / dismiss + audit trail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942082" y="7681050"/>
            <a:ext cx="179784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50412" y="7692480"/>
            <a:ext cx="2419975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scope: auto-correction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046023" y="2289572"/>
            <a:ext cx="6327577" cy="4953655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5715">
            <a:solidFill>
              <a:srgbClr val="E5EBF1"/>
            </a:solidFill>
            <a:prstDash val="solid"/>
          </a:ln>
          <a:effectLst>
            <a:outerShdw sx="100000" sy="100000" kx="0" ky="0" algn="bl" rotWithShape="0" blurRad="28575" dist="9525" dir="5400000">
              <a:srgbClr val="10284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318379" y="4050149"/>
            <a:ext cx="5782866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26" name="Text 24"/>
          <p:cNvSpPr/>
          <p:nvPr/>
        </p:nvSpPr>
        <p:spPr>
          <a:xfrm>
            <a:off x="11318379" y="3740557"/>
            <a:ext cx="67797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6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6332488" y="3716804"/>
            <a:ext cx="844957" cy="22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Novak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1318379" y="4532085"/>
            <a:ext cx="5782866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11318379" y="4222492"/>
            <a:ext cx="5397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6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6091476" y="4198739"/>
            <a:ext cx="1085969" cy="22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DS · 1 Eng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1318379" y="5014020"/>
            <a:ext cx="5782866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2" name="Text 30"/>
          <p:cNvSpPr/>
          <p:nvPr/>
        </p:nvSpPr>
        <p:spPr>
          <a:xfrm>
            <a:off x="11318379" y="4704427"/>
            <a:ext cx="84236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6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5592663" y="4680674"/>
            <a:ext cx="1659440" cy="22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Oct → 28 Nov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1318379" y="5495955"/>
            <a:ext cx="5782866" cy="9525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5" name="Text 33"/>
          <p:cNvSpPr/>
          <p:nvPr/>
        </p:nvSpPr>
        <p:spPr>
          <a:xfrm>
            <a:off x="11318379" y="5186363"/>
            <a:ext cx="6972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6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5940386" y="5162610"/>
            <a:ext cx="1237059" cy="228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2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eng-weeks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318379" y="5658832"/>
            <a:ext cx="11074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68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15667941" y="5644545"/>
            <a:ext cx="15766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 templates ✓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1046023" y="7452718"/>
            <a:ext cx="6327577" cy="1961852"/>
          </a:xfrm>
          <a:prstGeom prst="roundRect">
            <a:avLst>
              <a:gd name="adj" fmla="val 4855"/>
            </a:avLst>
          </a:prstGeom>
          <a:solidFill>
            <a:srgbClr val="EAF3FB"/>
          </a:solidFill>
          <a:ln/>
        </p:spPr>
      </p:sp>
      <p:sp>
        <p:nvSpPr>
          <p:cNvPr id="40" name="Shape 38"/>
          <p:cNvSpPr/>
          <p:nvPr/>
        </p:nvSpPr>
        <p:spPr>
          <a:xfrm>
            <a:off x="11046023" y="9408855"/>
            <a:ext cx="6327577" cy="9525"/>
          </a:xfrm>
          <a:prstGeom prst="rect">
            <a:avLst/>
          </a:prstGeom>
          <a:solidFill>
            <a:srgbClr val="CADFF1"/>
          </a:solidFill>
          <a:ln/>
        </p:spPr>
      </p:sp>
      <p:sp>
        <p:nvSpPr>
          <p:cNvPr id="41" name="Shape 39"/>
          <p:cNvSpPr/>
          <p:nvPr/>
        </p:nvSpPr>
        <p:spPr>
          <a:xfrm>
            <a:off x="11046023" y="7452718"/>
            <a:ext cx="6327577" cy="9525"/>
          </a:xfrm>
          <a:prstGeom prst="rect">
            <a:avLst/>
          </a:prstGeom>
          <a:solidFill>
            <a:srgbClr val="CADFF1"/>
          </a:solidFill>
          <a:ln/>
        </p:spPr>
      </p:sp>
      <p:sp>
        <p:nvSpPr>
          <p:cNvPr id="42" name="Shape 40"/>
          <p:cNvSpPr/>
          <p:nvPr/>
        </p:nvSpPr>
        <p:spPr>
          <a:xfrm>
            <a:off x="11046023" y="7452718"/>
            <a:ext cx="34290" cy="1961852"/>
          </a:xfrm>
          <a:prstGeom prst="rect">
            <a:avLst/>
          </a:prstGeom>
          <a:solidFill>
            <a:srgbClr val="1E73B8"/>
          </a:solidFill>
          <a:ln/>
        </p:spPr>
      </p:sp>
      <p:sp>
        <p:nvSpPr>
          <p:cNvPr id="43" name="Shape 41"/>
          <p:cNvSpPr/>
          <p:nvPr/>
        </p:nvSpPr>
        <p:spPr>
          <a:xfrm>
            <a:off x="17367885" y="7452718"/>
            <a:ext cx="9525" cy="1961852"/>
          </a:xfrm>
          <a:prstGeom prst="rect">
            <a:avLst/>
          </a:prstGeom>
          <a:solidFill>
            <a:srgbClr val="CADFF1"/>
          </a:solidFill>
          <a:ln/>
        </p:spPr>
      </p:sp>
      <p:sp>
        <p:nvSpPr>
          <p:cNvPr id="44" name="Text 42"/>
          <p:cNvSpPr/>
          <p:nvPr/>
        </p:nvSpPr>
        <p:spPr>
          <a:xfrm>
            <a:off x="11346954" y="7667923"/>
            <a:ext cx="6329720" cy="17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68" kern="0" dirty="0">
                <a:solidFill>
                  <a:srgbClr val="1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BENEFIT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346954" y="7934563"/>
            <a:ext cx="977473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0C2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−1.2</a:t>
            </a:r>
            <a:endParaRPr lang="en-US" sz="3900" dirty="0"/>
          </a:p>
        </p:txBody>
      </p:sp>
      <p:sp>
        <p:nvSpPr>
          <p:cNvPr id="46" name="Text 44"/>
          <p:cNvSpPr/>
          <p:nvPr/>
        </p:nvSpPr>
        <p:spPr>
          <a:xfrm>
            <a:off x="12400569" y="8151733"/>
            <a:ext cx="160790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25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hrs / week per person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11346954" y="8719394"/>
            <a:ext cx="5754291" cy="9525"/>
          </a:xfrm>
          <a:prstGeom prst="rect">
            <a:avLst/>
          </a:prstGeom>
          <a:solidFill>
            <a:srgbClr val="CADFF1"/>
          </a:solidFill>
          <a:ln/>
        </p:spPr>
      </p:sp>
      <p:sp>
        <p:nvSpPr>
          <p:cNvPr id="48" name="Text 46"/>
          <p:cNvSpPr/>
          <p:nvPr/>
        </p:nvSpPr>
        <p:spPr>
          <a:xfrm>
            <a:off x="11346954" y="8782259"/>
            <a:ext cx="12262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~1,500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346954" y="9039434"/>
            <a:ext cx="1226255" cy="19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hrs / year returned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2725609" y="8782259"/>
            <a:ext cx="9990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2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 qtr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2725609" y="9039434"/>
            <a:ext cx="999083" cy="19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payback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14400" y="9605040"/>
            <a:ext cx="16459201" cy="9525"/>
          </a:xfrm>
          <a:prstGeom prst="rect">
            <a:avLst/>
          </a:prstGeom>
          <a:solidFill>
            <a:srgbClr val="E5EBF1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9782205"/>
            <a:ext cx="42932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Portfolio · Programme Review | Confidential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16861215" y="9782205"/>
            <a:ext cx="5885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spc="45" kern="0" dirty="0">
                <a:solidFill>
                  <a:srgbClr val="94A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12395A">
                  <a:alpha val="100000"/>
                </a:srgbClr>
              </a:gs>
              <a:gs pos="46000">
                <a:srgbClr val="0C2C4A">
                  <a:alpha val="100000"/>
                </a:srgbClr>
              </a:gs>
              <a:gs pos="100000">
                <a:srgbClr val="082138">
                  <a:alpha val="100000"/>
                </a:srgbClr>
              </a:gs>
            </a:gsLst>
            <a:path path="circle">
              <a:fillToRect l="82000" t="0" r="1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800100"/>
            <a:ext cx="3874940" cy="19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64" kern="0" dirty="0">
                <a:solidFill>
                  <a:srgbClr val="3D9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&amp; DECISIONS ·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3286661"/>
            <a:ext cx="8555731" cy="434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50" b="1" spc="-4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GA is the </a:t>
            </a:r>
            <a:pPr algn="l" indent="0" marL="0">
              <a:lnSpc>
                <a:spcPct val="108000"/>
              </a:lnSpc>
              <a:buNone/>
            </a:pPr>
            <a:r>
              <a:rPr lang="en-US" sz="2850" i="1" spc="-43" kern="0" dirty="0">
                <a:solidFill>
                  <a:srgbClr val="3D93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pole.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3892719"/>
            <a:ext cx="5101529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A9B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initiatives gate on it. Slip the 28 Nov date and the whole right-hand side of the roadmap moves with it.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914400" y="5065723"/>
            <a:ext cx="1219200" cy="216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GA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2209741" y="5040452"/>
            <a:ext cx="2666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D9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52551" y="5046166"/>
            <a:ext cx="4519011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25" dirty="0">
                <a:solidFill>
                  <a:srgbClr val="E2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Revamp · Partner API · Mobile App 2.0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914400" y="5427643"/>
            <a:ext cx="1219200" cy="216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GA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2209741" y="5402372"/>
            <a:ext cx="2666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D9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52551" y="5408087"/>
            <a:ext cx="1401595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25" dirty="0">
                <a:solidFill>
                  <a:srgbClr val="E2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Suite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14400" y="5764292"/>
            <a:ext cx="1219200" cy="394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Launch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2209741" y="5828050"/>
            <a:ext cx="2666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D9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52551" y="5833765"/>
            <a:ext cx="1749120" cy="255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25" dirty="0">
                <a:solidFill>
                  <a:srgbClr val="E2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2.0 GA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206687" y="3303806"/>
            <a:ext cx="2745040" cy="20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10" kern="0" dirty="0">
                <a:solidFill>
                  <a:srgbClr val="3D9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WE NEED TODAY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06687" y="3646706"/>
            <a:ext cx="8166914" cy="897612"/>
          </a:xfrm>
          <a:prstGeom prst="roundRect">
            <a:avLst>
              <a:gd name="adj" fmla="val 9550"/>
            </a:avLst>
          </a:prstGeom>
          <a:solidFill>
            <a:srgbClr val="FFFFFF">
              <a:alpha val="5000"/>
            </a:srgbClr>
          </a:solidFill>
          <a:ln w="571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41002" y="3842891"/>
            <a:ext cx="323790" cy="323790"/>
          </a:xfrm>
          <a:prstGeom prst="ellipse">
            <a:avLst/>
          </a:prstGeom>
          <a:solidFill>
            <a:srgbClr val="1E73B8"/>
          </a:solidFill>
          <a:ln/>
        </p:spPr>
      </p:sp>
      <p:sp>
        <p:nvSpPr>
          <p:cNvPr id="18" name="Text 16"/>
          <p:cNvSpPr/>
          <p:nvPr/>
        </p:nvSpPr>
        <p:spPr>
          <a:xfrm>
            <a:off x="9402902" y="3842891"/>
            <a:ext cx="399990" cy="361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9936242" y="3842891"/>
            <a:ext cx="5103067" cy="311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SSO GA date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9936242" y="4116675"/>
            <a:ext cx="5103067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9B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scope on Identity; add one engineer from Analytics.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206687" y="4677638"/>
            <a:ext cx="8166914" cy="897612"/>
          </a:xfrm>
          <a:prstGeom prst="roundRect">
            <a:avLst>
              <a:gd name="adj" fmla="val 9550"/>
            </a:avLst>
          </a:prstGeom>
          <a:solidFill>
            <a:srgbClr val="FFFFFF">
              <a:alpha val="5000"/>
            </a:srgbClr>
          </a:solidFill>
          <a:ln w="571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41002" y="4873824"/>
            <a:ext cx="323790" cy="323790"/>
          </a:xfrm>
          <a:prstGeom prst="ellipse">
            <a:avLst/>
          </a:prstGeom>
          <a:solidFill>
            <a:srgbClr val="1E73B8"/>
          </a:solidFill>
          <a:ln/>
        </p:spPr>
      </p:sp>
      <p:sp>
        <p:nvSpPr>
          <p:cNvPr id="23" name="Text 21"/>
          <p:cNvSpPr/>
          <p:nvPr/>
        </p:nvSpPr>
        <p:spPr>
          <a:xfrm>
            <a:off x="9402902" y="4873824"/>
            <a:ext cx="399990" cy="361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9936242" y="4873824"/>
            <a:ext cx="4201543" cy="311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Resequence Partner API behind SSO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9936242" y="5147608"/>
            <a:ext cx="4201543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9B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API v1 to early Q2 to clear the red status.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206687" y="5708571"/>
            <a:ext cx="8166914" cy="897612"/>
          </a:xfrm>
          <a:prstGeom prst="roundRect">
            <a:avLst>
              <a:gd name="adj" fmla="val 9550"/>
            </a:avLst>
          </a:prstGeom>
          <a:solidFill>
            <a:srgbClr val="FFFFFF">
              <a:alpha val="5000"/>
            </a:srgbClr>
          </a:solidFill>
          <a:ln w="571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41002" y="5904756"/>
            <a:ext cx="323790" cy="323790"/>
          </a:xfrm>
          <a:prstGeom prst="ellipse">
            <a:avLst/>
          </a:prstGeom>
          <a:solidFill>
            <a:srgbClr val="1E73B8"/>
          </a:solidFill>
          <a:ln/>
        </p:spPr>
      </p:sp>
      <p:sp>
        <p:nvSpPr>
          <p:cNvPr id="28" name="Text 26"/>
          <p:cNvSpPr/>
          <p:nvPr/>
        </p:nvSpPr>
        <p:spPr>
          <a:xfrm>
            <a:off x="9402902" y="5904756"/>
            <a:ext cx="399990" cy="361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9936242" y="5904756"/>
            <a:ext cx="5196578" cy="311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Analytics start gated on Platform GA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9936242" y="6178540"/>
            <a:ext cx="5196578" cy="26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9BE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kickoff to 12 Dec; no early ramp.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914400" y="8940225"/>
            <a:ext cx="16459201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9193560"/>
            <a:ext cx="558477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E2EC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portfolio review: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E2EC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Board · 18 Dec 2026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5449788" y="9268748"/>
            <a:ext cx="21161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45" kern="0" dirty="0">
                <a:solidFill>
                  <a:srgbClr val="3D9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Portfolio · 10 / 10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2026-06-24T02:20:03Z</dcterms:created>
  <dcterms:modified xsi:type="dcterms:W3CDTF">2026-06-24T02:20:03Z</dcterms:modified>
</cp:coreProperties>
</file>