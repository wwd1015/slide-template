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02920"/>
            <a:ext cx="1828800" cy="365760"/>
          </a:xfrm>
          <a:prstGeom prst="rect">
            <a:avLst/>
          </a:prstGeom>
          <a:noFill/>
        </p:spPr>
        <p:txBody>
          <a:bodyPr wrap="square" anchor="t" lIns="0" rIns="0" tIns="0" bIns="0">
            <a:spAutoFit/>
          </a:bodyPr>
          <a:lstStyle/>
          <a:p>
            <a:pPr algn="l">
              <a:lnSpc>
                <a:spcPct val="100000"/>
              </a:lnSpc>
              <a:spcBef>
                <a:spcPts val="0"/>
              </a:spcBef>
              <a:spcAft>
                <a:spcPts val="0"/>
              </a:spcAft>
            </a:pPr>
            <a:r>
              <a:rPr sz="1100" b="1" i="0">
                <a:solidFill>
                  <a:srgbClr val="6B6B6B"/>
                </a:solidFill>
                <a:latin typeface="Optimist Sans"/>
              </a:rPr>
              <a:t>02</a:t>
            </a:r>
          </a:p>
        </p:txBody>
      </p:sp>
      <p:sp>
        <p:nvSpPr>
          <p:cNvPr id="5" name="TextBox 4"/>
          <p:cNvSpPr txBox="1"/>
          <p:nvPr/>
        </p:nvSpPr>
        <p:spPr>
          <a:xfrm>
            <a:off x="1005840" y="822960"/>
            <a:ext cx="10058400" cy="365760"/>
          </a:xfrm>
          <a:prstGeom prst="rect">
            <a:avLst/>
          </a:prstGeom>
          <a:noFill/>
        </p:spPr>
        <p:txBody>
          <a:bodyPr wrap="square" anchor="t" lIns="0" rIns="0" tIns="0" bIns="0">
            <a:spAutoFit/>
          </a:bodyPr>
          <a:lstStyle/>
          <a:p>
            <a:pPr algn="l">
              <a:lnSpc>
                <a:spcPct val="100000"/>
              </a:lnSpc>
              <a:spcBef>
                <a:spcPts val="0"/>
              </a:spcBef>
              <a:spcAft>
                <a:spcPts val="0"/>
              </a:spcAft>
            </a:pPr>
            <a:r>
              <a:rPr sz="1100" b="1" i="0">
                <a:solidFill>
                  <a:srgbClr val="6B6B6B"/>
                </a:solidFill>
                <a:latin typeface="Optimist Sans"/>
              </a:rPr>
              <a:t>INTERNAL SHARE   ·   PRACTITIONER'S GUIDE</a:t>
            </a:r>
          </a:p>
        </p:txBody>
      </p:sp>
      <p:sp>
        <p:nvSpPr>
          <p:cNvPr id="6" name="TextBox 5"/>
          <p:cNvSpPr txBox="1"/>
          <p:nvPr/>
        </p:nvSpPr>
        <p:spPr>
          <a:xfrm>
            <a:off x="1005840" y="1463040"/>
            <a:ext cx="10607040" cy="3017520"/>
          </a:xfrm>
          <a:prstGeom prst="rect">
            <a:avLst/>
          </a:prstGeom>
          <a:noFill/>
        </p:spPr>
        <p:txBody>
          <a:bodyPr wrap="square" anchor="t" lIns="0" rIns="0" tIns="0" bIns="0">
            <a:spAutoFit/>
          </a:bodyPr>
          <a:lstStyle/>
          <a:p>
            <a:pPr algn="l">
              <a:lnSpc>
                <a:spcPct val="102000"/>
              </a:lnSpc>
              <a:spcBef>
                <a:spcPts val="0"/>
              </a:spcBef>
              <a:spcAft>
                <a:spcPts val="0"/>
              </a:spcAft>
            </a:pPr>
            <a:r>
              <a:rPr sz="5400" b="0" i="0">
                <a:solidFill>
                  <a:srgbClr val="181818"/>
                </a:solidFill>
                <a:latin typeface="Optimist Display"/>
              </a:rPr>
              <a:t>The model isn't the agent.</a:t>
            </a:r>
          </a:p>
          <a:p>
            <a:pPr algn="l">
              <a:lnSpc>
                <a:spcPct val="102000"/>
              </a:lnSpc>
              <a:spcBef>
                <a:spcPts val="0"/>
              </a:spcBef>
              <a:spcAft>
                <a:spcPts val="0"/>
              </a:spcAft>
            </a:pPr>
            <a:r>
              <a:rPr sz="5400" b="0" i="0">
                <a:solidFill>
                  <a:srgbClr val="CC785C"/>
                </a:solidFill>
                <a:latin typeface="Optimist Display"/>
              </a:rPr>
              <a:t>The harness is.</a:t>
            </a:r>
          </a:p>
        </p:txBody>
      </p:sp>
      <p:sp>
        <p:nvSpPr>
          <p:cNvPr id="7" name="TextBox 6"/>
          <p:cNvSpPr txBox="1"/>
          <p:nvPr/>
        </p:nvSpPr>
        <p:spPr>
          <a:xfrm>
            <a:off x="1005840" y="3429000"/>
            <a:ext cx="7223760" cy="1417320"/>
          </a:xfrm>
          <a:prstGeom prst="rect">
            <a:avLst/>
          </a:prstGeom>
          <a:noFill/>
        </p:spPr>
        <p:txBody>
          <a:bodyPr wrap="square" anchor="t" lIns="0" rIns="0" tIns="0" bIns="0">
            <a:spAutoFit/>
          </a:bodyPr>
          <a:lstStyle/>
          <a:p>
            <a:pPr algn="l">
              <a:lnSpc>
                <a:spcPct val="112000"/>
              </a:lnSpc>
              <a:spcBef>
                <a:spcPts val="0"/>
              </a:spcBef>
              <a:spcAft>
                <a:spcPts val="0"/>
              </a:spcAft>
            </a:pPr>
            <a:r>
              <a:rPr sz="1450" b="0" i="0">
                <a:solidFill>
                  <a:srgbClr val="6B6B6B"/>
                </a:solidFill>
                <a:latin typeface="Optimist Sans"/>
              </a:rPr>
              <a:t>Harness engineering — the scaffolding that turns a capable model into a reliable agent. Prompt, context, and harness are three widening layers; this deck spends most of its time on the outermost one, where the leverage now lives.</a:t>
            </a:r>
          </a:p>
        </p:txBody>
      </p:sp>
      <p:sp>
        <p:nvSpPr>
          <p:cNvPr id="8" name="Rectangle 7"/>
          <p:cNvSpPr/>
          <p:nvPr/>
        </p:nvSpPr>
        <p:spPr>
          <a:xfrm>
            <a:off x="8549640" y="3337560"/>
            <a:ext cx="2926080" cy="1554480"/>
          </a:xfrm>
          <a:prstGeom prst="rect">
            <a:avLst/>
          </a:prstGeom>
          <a:solidFill>
            <a:srgbClr val="EE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50808" y="3483864"/>
            <a:ext cx="2523744" cy="1261872"/>
          </a:xfrm>
          <a:prstGeom prst="rect">
            <a:avLst/>
          </a:prstGeom>
          <a:noFill/>
        </p:spPr>
        <p:txBody>
          <a:bodyPr wrap="square" anchor="ctr" lIns="0" rIns="0" tIns="0" bIns="0">
            <a:spAutoFit/>
          </a:bodyPr>
          <a:lstStyle/>
          <a:p>
            <a:pPr algn="l">
              <a:lnSpc>
                <a:spcPct val="108000"/>
              </a:lnSpc>
              <a:spcBef>
                <a:spcPts val="0"/>
              </a:spcBef>
              <a:spcAft>
                <a:spcPts val="500"/>
              </a:spcAft>
            </a:pPr>
            <a:r>
              <a:rPr sz="1200" b="0" i="0">
                <a:solidFill>
                  <a:srgbClr val="181818"/>
                </a:solidFill>
                <a:latin typeface="Optimist Sans"/>
              </a:rPr>
              <a:t>Distilled from Anthropic's engineering writing — Effective harnesses for long-running agents, Effective context engineering, and Writing tools for agents. Claude Code / Agent SDK examples.</a:t>
            </a:r>
          </a:p>
        </p:txBody>
      </p:sp>
      <p:sp>
        <p:nvSpPr>
          <p:cNvPr id="10" name="TextBox 9"/>
          <p:cNvSpPr txBox="1"/>
          <p:nvPr/>
        </p:nvSpPr>
        <p:spPr>
          <a:xfrm>
            <a:off x="1005840" y="5257800"/>
            <a:ext cx="10058400" cy="54864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CC785C"/>
                </a:solidFill>
                <a:latin typeface="Optimist Mono"/>
              </a:rPr>
              <a:t>Prompt engineering  →  Context engineering  →  Harness engineering</a:t>
            </a:r>
          </a:p>
        </p:txBody>
      </p:sp>
      <p:sp>
        <p:nvSpPr>
          <p:cNvPr id="11" name="TextBox 10"/>
          <p:cNvSpPr txBox="1"/>
          <p:nvPr/>
        </p:nvSpPr>
        <p:spPr>
          <a:xfrm>
            <a:off x="1005840" y="6355080"/>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6B6B6B"/>
                </a:solidFill>
                <a:latin typeface="Optimist Sans"/>
              </a:rPr>
              <a:t>Second in the practitioner series. Adapted for English enterprise share.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PREMISE  ·  02</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Reliability lives in the system, not the weights.</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The frontier of applied AI has moved outward — from finding the right words, to curating what the model sees, to engineering the whole system it runs inside. The model is one component of that system.</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2 / 17</a:t>
            </a:r>
          </a:p>
        </p:txBody>
      </p:sp>
      <p:sp>
        <p:nvSpPr>
          <p:cNvPr id="9" name="Rectangle 8"/>
          <p:cNvSpPr/>
          <p:nvPr/>
        </p:nvSpPr>
        <p:spPr>
          <a:xfrm>
            <a:off x="457200" y="2532888"/>
            <a:ext cx="50292" cy="17830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01</a:t>
            </a:r>
          </a:p>
        </p:txBody>
      </p:sp>
      <p:sp>
        <p:nvSpPr>
          <p:cNvPr id="11" name="TextBox 10"/>
          <p:cNvSpPr txBox="1"/>
          <p:nvPr/>
        </p:nvSpPr>
        <p:spPr>
          <a:xfrm>
            <a:off x="1115568" y="2505456"/>
            <a:ext cx="2953512"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The model is necessary, not sufficient</a:t>
            </a:r>
          </a:p>
        </p:txBody>
      </p:sp>
      <p:sp>
        <p:nvSpPr>
          <p:cNvPr id="12" name="TextBox 11"/>
          <p:cNvSpPr txBox="1"/>
          <p:nvPr/>
        </p:nvSpPr>
        <p:spPr>
          <a:xfrm>
            <a:off x="1115568" y="3026664"/>
            <a:ext cx="2953512" cy="130759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Even a frontier model, dropped into a loop with a one-line prompt, fails at real long-running work. Capability alone doesn't make an agent.</a:t>
            </a:r>
          </a:p>
        </p:txBody>
      </p:sp>
      <p:sp>
        <p:nvSpPr>
          <p:cNvPr id="13" name="Rectangle 12"/>
          <p:cNvSpPr/>
          <p:nvPr/>
        </p:nvSpPr>
        <p:spPr>
          <a:xfrm>
            <a:off x="4251960" y="2532888"/>
            <a:ext cx="50292" cy="17830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02</a:t>
            </a:r>
          </a:p>
        </p:txBody>
      </p:sp>
      <p:sp>
        <p:nvSpPr>
          <p:cNvPr id="15" name="TextBox 14"/>
          <p:cNvSpPr txBox="1"/>
          <p:nvPr/>
        </p:nvSpPr>
        <p:spPr>
          <a:xfrm>
            <a:off x="4910328" y="2505456"/>
            <a:ext cx="2953512"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The harness carries the reliability</a:t>
            </a:r>
          </a:p>
        </p:txBody>
      </p:sp>
      <p:sp>
        <p:nvSpPr>
          <p:cNvPr id="16" name="TextBox 15"/>
          <p:cNvSpPr txBox="1"/>
          <p:nvPr/>
        </p:nvSpPr>
        <p:spPr>
          <a:xfrm>
            <a:off x="4910328" y="3026664"/>
            <a:ext cx="2953512" cy="130759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A well-built harness can make a weaker model outperform a stronger one in a poorly scaffolded system. Reliability is a property of model + harness + environment.</a:t>
            </a:r>
          </a:p>
        </p:txBody>
      </p:sp>
      <p:sp>
        <p:nvSpPr>
          <p:cNvPr id="17" name="Rectangle 16"/>
          <p:cNvSpPr/>
          <p:nvPr/>
        </p:nvSpPr>
        <p:spPr>
          <a:xfrm>
            <a:off x="8046720" y="2532888"/>
            <a:ext cx="50292" cy="17830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03</a:t>
            </a:r>
          </a:p>
        </p:txBody>
      </p:sp>
      <p:sp>
        <p:nvSpPr>
          <p:cNvPr id="19" name="TextBox 18"/>
          <p:cNvSpPr txBox="1"/>
          <p:nvPr/>
        </p:nvSpPr>
        <p:spPr>
          <a:xfrm>
            <a:off x="8705088" y="2505456"/>
            <a:ext cx="2953512"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So this is where the work is</a:t>
            </a:r>
          </a:p>
        </p:txBody>
      </p:sp>
      <p:sp>
        <p:nvSpPr>
          <p:cNvPr id="20" name="TextBox 19"/>
          <p:cNvSpPr txBox="1"/>
          <p:nvPr/>
        </p:nvSpPr>
        <p:spPr>
          <a:xfrm>
            <a:off x="8705088" y="3026664"/>
            <a:ext cx="2953512" cy="130759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As models improve, prompts get shorter and the harness does more. Engineering effort is migrating from the prompt to the system around it.</a:t>
            </a:r>
          </a:p>
        </p:txBody>
      </p:sp>
      <p:sp>
        <p:nvSpPr>
          <p:cNvPr id="21" name="Rectangle 20"/>
          <p:cNvSpPr/>
          <p:nvPr/>
        </p:nvSpPr>
        <p:spPr>
          <a:xfrm>
            <a:off x="457200" y="4709160"/>
            <a:ext cx="11064240" cy="1280160"/>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4855464"/>
            <a:ext cx="10661904" cy="987551"/>
          </a:xfrm>
          <a:prstGeom prst="rect">
            <a:avLst/>
          </a:prstGeom>
          <a:noFill/>
        </p:spPr>
        <p:txBody>
          <a:bodyPr wrap="square" anchor="ctr" lIns="0" rIns="0" tIns="0" bIns="0">
            <a:spAutoFit/>
          </a:bodyPr>
          <a:lstStyle/>
          <a:p>
            <a:pPr algn="l">
              <a:lnSpc>
                <a:spcPct val="108000"/>
              </a:lnSpc>
              <a:spcBef>
                <a:spcPts val="0"/>
              </a:spcBef>
              <a:spcAft>
                <a:spcPts val="500"/>
              </a:spcAft>
            </a:pPr>
            <a:r>
              <a:rPr sz="1350" b="1" i="0">
                <a:solidFill>
                  <a:srgbClr val="181818"/>
                </a:solidFill>
                <a:latin typeface="Optimist Display"/>
              </a:rPr>
              <a:t>The through-line of this deck</a:t>
            </a:r>
          </a:p>
          <a:p>
            <a:pPr algn="l">
              <a:lnSpc>
                <a:spcPct val="108000"/>
              </a:lnSpc>
              <a:spcBef>
                <a:spcPts val="0"/>
              </a:spcBef>
              <a:spcAft>
                <a:spcPts val="500"/>
              </a:spcAft>
            </a:pPr>
            <a:r>
              <a:rPr sz="1200" b="0" i="0">
                <a:solidFill>
                  <a:srgbClr val="181818"/>
                </a:solidFill>
                <a:latin typeface="Optimist Sans"/>
              </a:rPr>
              <a:t>Three concentric layers — prompt (the words), context (what the model sees), harness (the system it lives in). Each contains the last. We cover the inner two at an advanced level, fast, then spend the rest on the harness.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THE MAP  ·  03</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Three widening layers of engineering</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One mental model for the whole deck. Each layer wraps the one before it and takes on a broader question.</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3 / 17</a:t>
            </a:r>
          </a:p>
        </p:txBody>
      </p:sp>
      <p:sp>
        <p:nvSpPr>
          <p:cNvPr id="9" name="Rectangle 8"/>
          <p:cNvSpPr/>
          <p:nvPr/>
        </p:nvSpPr>
        <p:spPr>
          <a:xfrm>
            <a:off x="457200" y="2468880"/>
            <a:ext cx="11064240" cy="932688"/>
          </a:xfrm>
          <a:prstGeom prst="rect">
            <a:avLst/>
          </a:prstGeom>
          <a:solidFill>
            <a:srgbClr val="F5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633472"/>
            <a:ext cx="2834640" cy="3657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181818"/>
                </a:solidFill>
                <a:latin typeface="Optimist Display"/>
              </a:rPr>
              <a:t>PROMPT</a:t>
            </a:r>
          </a:p>
        </p:txBody>
      </p:sp>
      <p:sp>
        <p:nvSpPr>
          <p:cNvPr id="11" name="TextBox 10"/>
          <p:cNvSpPr txBox="1"/>
          <p:nvPr/>
        </p:nvSpPr>
        <p:spPr>
          <a:xfrm>
            <a:off x="658368" y="3035808"/>
            <a:ext cx="283464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1" i="1">
                <a:solidFill>
                  <a:srgbClr val="CC785C"/>
                </a:solidFill>
                <a:latin typeface="Optimist Sans"/>
              </a:rPr>
              <a:t>the words</a:t>
            </a:r>
          </a:p>
        </p:txBody>
      </p:sp>
      <p:sp>
        <p:nvSpPr>
          <p:cNvPr id="12" name="TextBox 11"/>
          <p:cNvSpPr txBox="1"/>
          <p:nvPr/>
        </p:nvSpPr>
        <p:spPr>
          <a:xfrm>
            <a:off x="3657600" y="2615184"/>
            <a:ext cx="7680960" cy="685800"/>
          </a:xfrm>
          <a:prstGeom prst="rect">
            <a:avLst/>
          </a:prstGeom>
          <a:noFill/>
        </p:spPr>
        <p:txBody>
          <a:bodyPr wrap="square" anchor="ctr" lIns="0" rIns="0" tIns="0" bIns="0">
            <a:spAutoFit/>
          </a:bodyPr>
          <a:lstStyle/>
          <a:p>
            <a:pPr algn="l">
              <a:lnSpc>
                <a:spcPct val="106000"/>
              </a:lnSpc>
              <a:spcBef>
                <a:spcPts val="0"/>
              </a:spcBef>
              <a:spcAft>
                <a:spcPts val="0"/>
              </a:spcAft>
            </a:pPr>
            <a:r>
              <a:rPr sz="1250" b="0" i="0">
                <a:solidFill>
                  <a:srgbClr val="6B6B6B"/>
                </a:solidFill>
                <a:latin typeface="Optimist Sans"/>
              </a:rPr>
              <a:t>Writing and organizing the instructions to the model for a single turn. “What words produce the behavior?”</a:t>
            </a:r>
          </a:p>
        </p:txBody>
      </p:sp>
      <p:sp>
        <p:nvSpPr>
          <p:cNvPr id="13" name="Rectangle 12"/>
          <p:cNvSpPr/>
          <p:nvPr/>
        </p:nvSpPr>
        <p:spPr>
          <a:xfrm>
            <a:off x="457200" y="3493008"/>
            <a:ext cx="11064240" cy="932688"/>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657600"/>
            <a:ext cx="2834640" cy="3657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181818"/>
                </a:solidFill>
                <a:latin typeface="Optimist Display"/>
              </a:rPr>
              <a:t>CONTEXT</a:t>
            </a:r>
          </a:p>
        </p:txBody>
      </p:sp>
      <p:sp>
        <p:nvSpPr>
          <p:cNvPr id="15" name="TextBox 14"/>
          <p:cNvSpPr txBox="1"/>
          <p:nvPr/>
        </p:nvSpPr>
        <p:spPr>
          <a:xfrm>
            <a:off x="658368" y="4059936"/>
            <a:ext cx="283464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1" i="1">
                <a:solidFill>
                  <a:srgbClr val="CC785C"/>
                </a:solidFill>
                <a:latin typeface="Optimist Sans"/>
              </a:rPr>
              <a:t>the window</a:t>
            </a:r>
          </a:p>
        </p:txBody>
      </p:sp>
      <p:sp>
        <p:nvSpPr>
          <p:cNvPr id="16" name="TextBox 15"/>
          <p:cNvSpPr txBox="1"/>
          <p:nvPr/>
        </p:nvSpPr>
        <p:spPr>
          <a:xfrm>
            <a:off x="3657600" y="3639312"/>
            <a:ext cx="7680960" cy="685800"/>
          </a:xfrm>
          <a:prstGeom prst="rect">
            <a:avLst/>
          </a:prstGeom>
          <a:noFill/>
        </p:spPr>
        <p:txBody>
          <a:bodyPr wrap="square" anchor="ctr" lIns="0" rIns="0" tIns="0" bIns="0">
            <a:spAutoFit/>
          </a:bodyPr>
          <a:lstStyle/>
          <a:p>
            <a:pPr algn="l">
              <a:lnSpc>
                <a:spcPct val="106000"/>
              </a:lnSpc>
              <a:spcBef>
                <a:spcPts val="0"/>
              </a:spcBef>
              <a:spcAft>
                <a:spcPts val="0"/>
              </a:spcAft>
            </a:pPr>
            <a:r>
              <a:rPr sz="1250" b="0" i="0">
                <a:solidFill>
                  <a:srgbClr val="6B6B6B"/>
                </a:solidFill>
                <a:latin typeface="Optimist Sans"/>
              </a:rPr>
              <a:t>Curating everything the model sees at inference — system prompt, tools, history, retrieved data. “What configuration of context produces the behavior?”</a:t>
            </a:r>
          </a:p>
        </p:txBody>
      </p:sp>
      <p:sp>
        <p:nvSpPr>
          <p:cNvPr id="17" name="Rectangle 16"/>
          <p:cNvSpPr/>
          <p:nvPr/>
        </p:nvSpPr>
        <p:spPr>
          <a:xfrm>
            <a:off x="457200" y="4517136"/>
            <a:ext cx="11064240" cy="932688"/>
          </a:xfrm>
          <a:prstGeom prst="rect">
            <a:avLst/>
          </a:prstGeom>
          <a:solidFill>
            <a:srgbClr val="1F1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681728"/>
            <a:ext cx="2834640" cy="3657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E8C896"/>
                </a:solidFill>
                <a:latin typeface="Optimist Display"/>
              </a:rPr>
              <a:t>HARNESS</a:t>
            </a:r>
          </a:p>
        </p:txBody>
      </p:sp>
      <p:sp>
        <p:nvSpPr>
          <p:cNvPr id="19" name="TextBox 18"/>
          <p:cNvSpPr txBox="1"/>
          <p:nvPr/>
        </p:nvSpPr>
        <p:spPr>
          <a:xfrm>
            <a:off x="658368" y="5084064"/>
            <a:ext cx="283464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1" i="1">
                <a:solidFill>
                  <a:srgbClr val="E8C896"/>
                </a:solidFill>
                <a:latin typeface="Optimist Sans"/>
              </a:rPr>
              <a:t>the system</a:t>
            </a:r>
          </a:p>
        </p:txBody>
      </p:sp>
      <p:sp>
        <p:nvSpPr>
          <p:cNvPr id="20" name="TextBox 19"/>
          <p:cNvSpPr txBox="1"/>
          <p:nvPr/>
        </p:nvSpPr>
        <p:spPr>
          <a:xfrm>
            <a:off x="3657600" y="4663440"/>
            <a:ext cx="7680960" cy="685800"/>
          </a:xfrm>
          <a:prstGeom prst="rect">
            <a:avLst/>
          </a:prstGeom>
          <a:noFill/>
        </p:spPr>
        <p:txBody>
          <a:bodyPr wrap="square" anchor="ctr" lIns="0" rIns="0" tIns="0" bIns="0">
            <a:spAutoFit/>
          </a:bodyPr>
          <a:lstStyle/>
          <a:p>
            <a:pPr algn="l">
              <a:lnSpc>
                <a:spcPct val="106000"/>
              </a:lnSpc>
              <a:spcBef>
                <a:spcPts val="0"/>
              </a:spcBef>
              <a:spcAft>
                <a:spcPts val="0"/>
              </a:spcAft>
            </a:pPr>
            <a:r>
              <a:rPr sz="1250" b="0" i="0">
                <a:solidFill>
                  <a:srgbClr val="C9BCA6"/>
                </a:solidFill>
                <a:latin typeface="Optimist Sans"/>
              </a:rPr>
              <a:t>The loop, tools, environment, verification, and memory that surround the model across turns and sessions. “What system produces the behavior, reliably, over time?”</a:t>
            </a:r>
          </a:p>
        </p:txBody>
      </p:sp>
      <p:sp>
        <p:nvSpPr>
          <p:cNvPr id="21" name="TextBox 20"/>
          <p:cNvSpPr txBox="1"/>
          <p:nvPr/>
        </p:nvSpPr>
        <p:spPr>
          <a:xfrm>
            <a:off x="658368" y="6053328"/>
            <a:ext cx="10789920"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1">
                <a:solidFill>
                  <a:srgbClr val="6B6B6B"/>
                </a:solidFill>
                <a:latin typeface="Optimist Sans"/>
              </a:rPr>
              <a:t>An agent, defined: an LLM autonomously using tools in a loop. The harness is that loop — and everything it touches.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FOUNDATION · PROMPT  ·  04</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Prompt engineering, at the right altitude</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The innermost layer, done well. Advanced prompting is less about clever wording and more about calibration.</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4 / 17</a:t>
            </a:r>
          </a:p>
        </p:txBody>
      </p:sp>
      <p:sp>
        <p:nvSpPr>
          <p:cNvPr id="9" name="Rectangle 8"/>
          <p:cNvSpPr/>
          <p:nvPr/>
        </p:nvSpPr>
        <p:spPr>
          <a:xfrm>
            <a:off x="457200" y="2532888"/>
            <a:ext cx="50292" cy="196596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01</a:t>
            </a:r>
          </a:p>
        </p:txBody>
      </p:sp>
      <p:sp>
        <p:nvSpPr>
          <p:cNvPr id="11" name="TextBox 10"/>
          <p:cNvSpPr txBox="1"/>
          <p:nvPr/>
        </p:nvSpPr>
        <p:spPr>
          <a:xfrm>
            <a:off x="111556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Find the right altitude</a:t>
            </a:r>
          </a:p>
        </p:txBody>
      </p:sp>
      <p:sp>
        <p:nvSpPr>
          <p:cNvPr id="12" name="TextBox 11"/>
          <p:cNvSpPr txBox="1"/>
          <p:nvPr/>
        </p:nvSpPr>
        <p:spPr>
          <a:xfrm>
            <a:off x="1115568" y="3026664"/>
            <a:ext cx="2907791" cy="149047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The Goldilocks zone between brittle if-else logic hardcoded into the prompt, and vague hand-waving. Specific enough to steer; flexible enough to leave the model strong heuristics.</a:t>
            </a:r>
          </a:p>
        </p:txBody>
      </p:sp>
      <p:sp>
        <p:nvSpPr>
          <p:cNvPr id="13" name="Rectangle 12"/>
          <p:cNvSpPr/>
          <p:nvPr/>
        </p:nvSpPr>
        <p:spPr>
          <a:xfrm>
            <a:off x="4206240" y="2532888"/>
            <a:ext cx="50292" cy="196596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02</a:t>
            </a:r>
          </a:p>
        </p:txBody>
      </p:sp>
      <p:sp>
        <p:nvSpPr>
          <p:cNvPr id="15" name="TextBox 14"/>
          <p:cNvSpPr txBox="1"/>
          <p:nvPr/>
        </p:nvSpPr>
        <p:spPr>
          <a:xfrm>
            <a:off x="4864607"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Structure, then minimize</a:t>
            </a:r>
          </a:p>
        </p:txBody>
      </p:sp>
      <p:sp>
        <p:nvSpPr>
          <p:cNvPr id="16" name="TextBox 15"/>
          <p:cNvSpPr txBox="1"/>
          <p:nvPr/>
        </p:nvSpPr>
        <p:spPr>
          <a:xfrm>
            <a:off x="4864607" y="3026664"/>
            <a:ext cx="2907791" cy="149047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Delineate sections with XML tags or headers — background, instructions, tool guidance, output. Then cut to the minimal set that fully specifies behavior. Minimal doesn't mean short.</a:t>
            </a:r>
          </a:p>
        </p:txBody>
      </p:sp>
      <p:sp>
        <p:nvSpPr>
          <p:cNvPr id="17" name="Rectangle 16"/>
          <p:cNvSpPr/>
          <p:nvPr/>
        </p:nvSpPr>
        <p:spPr>
          <a:xfrm>
            <a:off x="7955279" y="2532888"/>
            <a:ext cx="50292" cy="196596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03</a:t>
            </a:r>
          </a:p>
        </p:txBody>
      </p:sp>
      <p:sp>
        <p:nvSpPr>
          <p:cNvPr id="19" name="TextBox 18"/>
          <p:cNvSpPr txBox="1"/>
          <p:nvPr/>
        </p:nvSpPr>
        <p:spPr>
          <a:xfrm>
            <a:off x="861364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Canonical examples, not rule dumps</a:t>
            </a:r>
          </a:p>
        </p:txBody>
      </p:sp>
      <p:sp>
        <p:nvSpPr>
          <p:cNvPr id="20" name="TextBox 19"/>
          <p:cNvSpPr txBox="1"/>
          <p:nvPr/>
        </p:nvSpPr>
        <p:spPr>
          <a:xfrm>
            <a:off x="8613648" y="3026664"/>
            <a:ext cx="2907791" cy="149047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A few diverse, canonical few-shot examples beat a laundry list of edge-case rules. For a model, examples are the pictures worth a thousand words.</a:t>
            </a:r>
          </a:p>
        </p:txBody>
      </p:sp>
      <p:sp>
        <p:nvSpPr>
          <p:cNvPr id="21" name="Rectangle 20"/>
          <p:cNvSpPr/>
          <p:nvPr/>
        </p:nvSpPr>
        <p:spPr>
          <a:xfrm>
            <a:off x="457200" y="4892040"/>
            <a:ext cx="11064240" cy="1234440"/>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038344"/>
            <a:ext cx="10661904" cy="941832"/>
          </a:xfrm>
          <a:prstGeom prst="rect">
            <a:avLst/>
          </a:prstGeom>
          <a:noFill/>
        </p:spPr>
        <p:txBody>
          <a:bodyPr wrap="square" anchor="ctr" lIns="0" rIns="0" tIns="0" bIns="0">
            <a:spAutoFit/>
          </a:bodyPr>
          <a:lstStyle/>
          <a:p>
            <a:pPr algn="l">
              <a:lnSpc>
                <a:spcPct val="108000"/>
              </a:lnSpc>
              <a:spcBef>
                <a:spcPts val="0"/>
              </a:spcBef>
              <a:spcAft>
                <a:spcPts val="500"/>
              </a:spcAft>
            </a:pPr>
            <a:r>
              <a:rPr sz="1350" b="1" i="0">
                <a:solidFill>
                  <a:srgbClr val="181818"/>
                </a:solidFill>
                <a:latin typeface="Optimist Display"/>
              </a:rPr>
              <a:t>Treat the system prompt as a spec you tune against failures</a:t>
            </a:r>
          </a:p>
          <a:p>
            <a:pPr algn="l">
              <a:lnSpc>
                <a:spcPct val="108000"/>
              </a:lnSpc>
              <a:spcBef>
                <a:spcPts val="0"/>
              </a:spcBef>
              <a:spcAft>
                <a:spcPts val="500"/>
              </a:spcAft>
            </a:pPr>
            <a:r>
              <a:rPr sz="1200" b="0" i="0">
                <a:solidFill>
                  <a:srgbClr val="181818"/>
                </a:solidFill>
                <a:latin typeface="Optimist Sans"/>
              </a:rPr>
              <a:t>Start with a minimal prompt on the best model available, see where it breaks, and add only the instructions and examples that a real failure demands. Prompt bloat is technical debt — every line you add, you later maintain.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FOUNDATION · CONTEXT  ·  05</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From 'what words' to 'what context'</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Context engineering is the natural progression of prompt engineering — and the shift is a change of question, not just of scale.</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5 / 17</a:t>
            </a:r>
          </a:p>
        </p:txBody>
      </p:sp>
      <p:sp>
        <p:nvSpPr>
          <p:cNvPr id="9" name="Rectangle 8"/>
          <p:cNvSpPr/>
          <p:nvPr/>
        </p:nvSpPr>
        <p:spPr>
          <a:xfrm>
            <a:off x="457200" y="2468880"/>
            <a:ext cx="5394960" cy="2743200"/>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651760"/>
            <a:ext cx="5029200" cy="365760"/>
          </a:xfrm>
          <a:prstGeom prst="rect">
            <a:avLst/>
          </a:prstGeom>
          <a:noFill/>
        </p:spPr>
        <p:txBody>
          <a:bodyPr wrap="square" anchor="t" lIns="0" rIns="0" tIns="0" bIns="0">
            <a:spAutoFit/>
          </a:bodyPr>
          <a:lstStyle/>
          <a:p>
            <a:pPr algn="l">
              <a:lnSpc>
                <a:spcPct val="100000"/>
              </a:lnSpc>
              <a:spcBef>
                <a:spcPts val="0"/>
              </a:spcBef>
              <a:spcAft>
                <a:spcPts val="0"/>
              </a:spcAft>
            </a:pPr>
            <a:r>
              <a:rPr sz="1100" b="1" i="0">
                <a:solidFill>
                  <a:srgbClr val="CC785C"/>
                </a:solidFill>
                <a:latin typeface="Optimist Sans"/>
              </a:rPr>
              <a:t>PROMPT ENGINEERING ASKS</a:t>
            </a:r>
          </a:p>
        </p:txBody>
      </p:sp>
      <p:sp>
        <p:nvSpPr>
          <p:cNvPr id="11" name="TextBox 10"/>
          <p:cNvSpPr txBox="1"/>
          <p:nvPr/>
        </p:nvSpPr>
        <p:spPr>
          <a:xfrm>
            <a:off x="658368" y="3063240"/>
            <a:ext cx="5029200" cy="822960"/>
          </a:xfrm>
          <a:prstGeom prst="rect">
            <a:avLst/>
          </a:prstGeom>
          <a:noFill/>
        </p:spPr>
        <p:txBody>
          <a:bodyPr wrap="square" anchor="t" lIns="0" rIns="0" tIns="0" bIns="0">
            <a:spAutoFit/>
          </a:bodyPr>
          <a:lstStyle/>
          <a:p>
            <a:pPr algn="l">
              <a:lnSpc>
                <a:spcPct val="105000"/>
              </a:lnSpc>
              <a:spcBef>
                <a:spcPts val="0"/>
              </a:spcBef>
              <a:spcAft>
                <a:spcPts val="0"/>
              </a:spcAft>
            </a:pPr>
            <a:r>
              <a:rPr sz="1900" b="0" i="0">
                <a:solidFill>
                  <a:srgbClr val="181818"/>
                </a:solidFill>
                <a:latin typeface="Optimist Display"/>
              </a:rPr>
              <a:t>“What words and phrases produce the output I want?”</a:t>
            </a:r>
          </a:p>
        </p:txBody>
      </p:sp>
      <p:sp>
        <p:nvSpPr>
          <p:cNvPr id="12" name="TextBox 11"/>
          <p:cNvSpPr txBox="1"/>
          <p:nvPr/>
        </p:nvSpPr>
        <p:spPr>
          <a:xfrm>
            <a:off x="658368" y="4114800"/>
            <a:ext cx="5029200" cy="1005840"/>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6B6B6B"/>
                </a:solidFill>
                <a:latin typeface="Optimist Sans"/>
              </a:rPr>
              <a:t>A mostly one-shot task: write the instruction once, for a single turn of inference.</a:t>
            </a:r>
          </a:p>
        </p:txBody>
      </p:sp>
      <p:sp>
        <p:nvSpPr>
          <p:cNvPr id="13" name="Rectangle 12"/>
          <p:cNvSpPr/>
          <p:nvPr/>
        </p:nvSpPr>
        <p:spPr>
          <a:xfrm>
            <a:off x="6126480" y="2468880"/>
            <a:ext cx="5394960" cy="2743200"/>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2651760"/>
            <a:ext cx="5029200" cy="365760"/>
          </a:xfrm>
          <a:prstGeom prst="rect">
            <a:avLst/>
          </a:prstGeom>
          <a:noFill/>
        </p:spPr>
        <p:txBody>
          <a:bodyPr wrap="square" anchor="t" lIns="0" rIns="0" tIns="0" bIns="0">
            <a:spAutoFit/>
          </a:bodyPr>
          <a:lstStyle/>
          <a:p>
            <a:pPr algn="l">
              <a:lnSpc>
                <a:spcPct val="100000"/>
              </a:lnSpc>
              <a:spcBef>
                <a:spcPts val="0"/>
              </a:spcBef>
              <a:spcAft>
                <a:spcPts val="0"/>
              </a:spcAft>
            </a:pPr>
            <a:r>
              <a:rPr sz="1100" b="1" i="0">
                <a:solidFill>
                  <a:srgbClr val="CC785C"/>
                </a:solidFill>
                <a:latin typeface="Optimist Sans"/>
              </a:rPr>
              <a:t>CONTEXT ENGINEERING ASKS</a:t>
            </a:r>
          </a:p>
        </p:txBody>
      </p:sp>
      <p:sp>
        <p:nvSpPr>
          <p:cNvPr id="15" name="TextBox 14"/>
          <p:cNvSpPr txBox="1"/>
          <p:nvPr/>
        </p:nvSpPr>
        <p:spPr>
          <a:xfrm>
            <a:off x="6327648" y="3063240"/>
            <a:ext cx="5029200" cy="1005840"/>
          </a:xfrm>
          <a:prstGeom prst="rect">
            <a:avLst/>
          </a:prstGeom>
          <a:noFill/>
        </p:spPr>
        <p:txBody>
          <a:bodyPr wrap="square" anchor="t" lIns="0" rIns="0" tIns="0" bIns="0">
            <a:spAutoFit/>
          </a:bodyPr>
          <a:lstStyle/>
          <a:p>
            <a:pPr algn="l">
              <a:lnSpc>
                <a:spcPct val="105000"/>
              </a:lnSpc>
              <a:spcBef>
                <a:spcPts val="0"/>
              </a:spcBef>
              <a:spcAft>
                <a:spcPts val="0"/>
              </a:spcAft>
            </a:pPr>
            <a:r>
              <a:rPr sz="1900" b="0" i="0">
                <a:solidFill>
                  <a:srgbClr val="181818"/>
                </a:solidFill>
                <a:latin typeface="Optimist Display"/>
              </a:rPr>
              <a:t>“What configuration of the whole context is most likely to produce the behavior?”</a:t>
            </a:r>
          </a:p>
        </p:txBody>
      </p:sp>
      <p:sp>
        <p:nvSpPr>
          <p:cNvPr id="16" name="TextBox 15"/>
          <p:cNvSpPr txBox="1"/>
          <p:nvPr/>
        </p:nvSpPr>
        <p:spPr>
          <a:xfrm>
            <a:off x="6327648" y="4297680"/>
            <a:ext cx="5029200" cy="914400"/>
          </a:xfrm>
          <a:prstGeom prst="rect">
            <a:avLst/>
          </a:prstGeom>
          <a:noFill/>
        </p:spPr>
        <p:txBody>
          <a:bodyPr wrap="square" anchor="t" lIns="0" rIns="0" tIns="0" bIns="0">
            <a:spAutoFit/>
          </a:bodyPr>
          <a:lstStyle/>
          <a:p>
            <a:pPr algn="l">
              <a:lnSpc>
                <a:spcPct val="112000"/>
              </a:lnSpc>
              <a:spcBef>
                <a:spcPts val="0"/>
              </a:spcBef>
              <a:spcAft>
                <a:spcPts val="0"/>
              </a:spcAft>
            </a:pPr>
            <a:r>
              <a:rPr sz="1250" b="0" i="0">
                <a:solidFill>
                  <a:srgbClr val="6B6B6B"/>
                </a:solidFill>
                <a:latin typeface="Optimist Sans"/>
              </a:rPr>
              <a:t>An iterative task: curate the full token state — system prompt, tools, MCP, history, retrieved data — every single turn.</a:t>
            </a:r>
          </a:p>
        </p:txBody>
      </p:sp>
      <p:sp>
        <p:nvSpPr>
          <p:cNvPr id="17" name="Rectangle 16"/>
          <p:cNvSpPr/>
          <p:nvPr/>
        </p:nvSpPr>
        <p:spPr>
          <a:xfrm>
            <a:off x="457200" y="5486400"/>
            <a:ext cx="11064240" cy="658368"/>
          </a:xfrm>
          <a:prstGeom prst="rect">
            <a:avLst/>
          </a:prstGeom>
          <a:solidFill>
            <a:srgbClr val="1F1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632704"/>
            <a:ext cx="10661904" cy="365759"/>
          </a:xfrm>
          <a:prstGeom prst="rect">
            <a:avLst/>
          </a:prstGeom>
          <a:noFill/>
        </p:spPr>
        <p:txBody>
          <a:bodyPr wrap="square" anchor="ctr" lIns="0" rIns="0" tIns="0" bIns="0">
            <a:spAutoFit/>
          </a:bodyPr>
          <a:lstStyle/>
          <a:p>
            <a:pPr algn="l">
              <a:lnSpc>
                <a:spcPct val="108000"/>
              </a:lnSpc>
              <a:spcBef>
                <a:spcPts val="0"/>
              </a:spcBef>
              <a:spcAft>
                <a:spcPts val="500"/>
              </a:spcAft>
            </a:pPr>
            <a:r>
              <a:rPr sz="1200" b="0" i="0">
                <a:solidFill>
                  <a:srgbClr val="E8C896"/>
                </a:solidFill>
                <a:latin typeface="Optimist Sans"/>
              </a:rPr>
              <a:t>Context = every token the model sees when it samples. An agent in a loop generates ever more of it; context engineering is curating that stream, turn after turn.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FOUNDATION · CONTEXT  ·  06</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Context is a finite attention budget</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Why curation matters: more tokens is not more understanding. Past a point, models lose the thread — like people do.</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6 / 17</a:t>
            </a:r>
          </a:p>
        </p:txBody>
      </p:sp>
      <p:sp>
        <p:nvSpPr>
          <p:cNvPr id="9" name="Rectangle 8"/>
          <p:cNvSpPr/>
          <p:nvPr/>
        </p:nvSpPr>
        <p:spPr>
          <a:xfrm>
            <a:off x="457200" y="2532888"/>
            <a:ext cx="50292" cy="196596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01</a:t>
            </a:r>
          </a:p>
        </p:txBody>
      </p:sp>
      <p:sp>
        <p:nvSpPr>
          <p:cNvPr id="11" name="TextBox 10"/>
          <p:cNvSpPr txBox="1"/>
          <p:nvPr/>
        </p:nvSpPr>
        <p:spPr>
          <a:xfrm>
            <a:off x="111556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Context rot is real</a:t>
            </a:r>
          </a:p>
        </p:txBody>
      </p:sp>
      <p:sp>
        <p:nvSpPr>
          <p:cNvPr id="12" name="TextBox 11"/>
          <p:cNvSpPr txBox="1"/>
          <p:nvPr/>
        </p:nvSpPr>
        <p:spPr>
          <a:xfrm>
            <a:off x="1115568" y="3026664"/>
            <a:ext cx="2907791" cy="149047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As tokens grow, recall accuracy falls. It's a gradient, not a cliff — models stay capable but get less precise at retrieval and long-range reasoning.</a:t>
            </a:r>
          </a:p>
        </p:txBody>
      </p:sp>
      <p:sp>
        <p:nvSpPr>
          <p:cNvPr id="13" name="Rectangle 12"/>
          <p:cNvSpPr/>
          <p:nvPr/>
        </p:nvSpPr>
        <p:spPr>
          <a:xfrm>
            <a:off x="4206240" y="2532888"/>
            <a:ext cx="50292" cy="196596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02</a:t>
            </a:r>
          </a:p>
        </p:txBody>
      </p:sp>
      <p:sp>
        <p:nvSpPr>
          <p:cNvPr id="15" name="TextBox 14"/>
          <p:cNvSpPr txBox="1"/>
          <p:nvPr/>
        </p:nvSpPr>
        <p:spPr>
          <a:xfrm>
            <a:off x="4864607"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Why: attention is quadratic</a:t>
            </a:r>
          </a:p>
        </p:txBody>
      </p:sp>
      <p:sp>
        <p:nvSpPr>
          <p:cNvPr id="16" name="TextBox 15"/>
          <p:cNvSpPr txBox="1"/>
          <p:nvPr/>
        </p:nvSpPr>
        <p:spPr>
          <a:xfrm>
            <a:off x="4864607" y="3026664"/>
            <a:ext cx="2907791" cy="149047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Transformers relate every token to every other — n² pairs. Stretched across a huge context, and trained mostly on shorter sequences, attention thins out.</a:t>
            </a:r>
          </a:p>
        </p:txBody>
      </p:sp>
      <p:sp>
        <p:nvSpPr>
          <p:cNvPr id="17" name="Rectangle 16"/>
          <p:cNvSpPr/>
          <p:nvPr/>
        </p:nvSpPr>
        <p:spPr>
          <a:xfrm>
            <a:off x="7955279" y="2532888"/>
            <a:ext cx="50292" cy="196596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03</a:t>
            </a:r>
          </a:p>
        </p:txBody>
      </p:sp>
      <p:sp>
        <p:nvSpPr>
          <p:cNvPr id="19" name="TextBox 18"/>
          <p:cNvSpPr txBox="1"/>
          <p:nvPr/>
        </p:nvSpPr>
        <p:spPr>
          <a:xfrm>
            <a:off x="861364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So spend the budget</a:t>
            </a:r>
          </a:p>
        </p:txBody>
      </p:sp>
      <p:sp>
        <p:nvSpPr>
          <p:cNvPr id="20" name="TextBox 19"/>
          <p:cNvSpPr txBox="1"/>
          <p:nvPr/>
        </p:nvSpPr>
        <p:spPr>
          <a:xfrm>
            <a:off x="8613648" y="3026664"/>
            <a:ext cx="2907791" cy="149047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Every token you add depletes a finite attention budget. Treat context as precious, with diminishing returns on volume.</a:t>
            </a:r>
          </a:p>
        </p:txBody>
      </p:sp>
      <p:sp>
        <p:nvSpPr>
          <p:cNvPr id="21" name="Rectangle 20"/>
          <p:cNvSpPr/>
          <p:nvPr/>
        </p:nvSpPr>
        <p:spPr>
          <a:xfrm>
            <a:off x="457200" y="4892040"/>
            <a:ext cx="11064240" cy="1234440"/>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038344"/>
            <a:ext cx="10661904" cy="941832"/>
          </a:xfrm>
          <a:prstGeom prst="rect">
            <a:avLst/>
          </a:prstGeom>
          <a:noFill/>
        </p:spPr>
        <p:txBody>
          <a:bodyPr wrap="square" anchor="ctr" lIns="0" rIns="0" tIns="0" bIns="0">
            <a:spAutoFit/>
          </a:bodyPr>
          <a:lstStyle/>
          <a:p>
            <a:pPr algn="l">
              <a:lnSpc>
                <a:spcPct val="108000"/>
              </a:lnSpc>
              <a:spcBef>
                <a:spcPts val="0"/>
              </a:spcBef>
              <a:spcAft>
                <a:spcPts val="500"/>
              </a:spcAft>
            </a:pPr>
            <a:r>
              <a:rPr sz="1350" b="1" i="0">
                <a:solidFill>
                  <a:srgbClr val="181818"/>
                </a:solidFill>
                <a:latin typeface="Optimist Display"/>
              </a:rPr>
              <a:t>The one guiding principle</a:t>
            </a:r>
          </a:p>
          <a:p>
            <a:pPr algn="l">
              <a:lnSpc>
                <a:spcPct val="108000"/>
              </a:lnSpc>
              <a:spcBef>
                <a:spcPts val="0"/>
              </a:spcBef>
              <a:spcAft>
                <a:spcPts val="500"/>
              </a:spcAft>
            </a:pPr>
            <a:r>
              <a:rPr sz="1200" b="0" i="0">
                <a:solidFill>
                  <a:srgbClr val="181818"/>
                </a:solidFill>
                <a:latin typeface="Optimist Sans"/>
              </a:rPr>
              <a:t>Find the smallest set of high-signal tokens that maximizes the odds of your desired outcome. Note: minimal is not the same as short — you still give the model everything it genuinely needs. You just stop giving it everything else.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FOUNDATION · CONTEXT  ·  07</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Load context just in time</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The advanced move: stop pre-stuffing everything up front. Let the agent pull what it needs, when it needs it.</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7 / 17</a:t>
            </a:r>
          </a:p>
        </p:txBody>
      </p:sp>
      <p:sp>
        <p:nvSpPr>
          <p:cNvPr id="9" name="Rectangle 8"/>
          <p:cNvSpPr/>
          <p:nvPr/>
        </p:nvSpPr>
        <p:spPr>
          <a:xfrm>
            <a:off x="457200" y="2532888"/>
            <a:ext cx="50292" cy="20116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01</a:t>
            </a:r>
          </a:p>
        </p:txBody>
      </p:sp>
      <p:sp>
        <p:nvSpPr>
          <p:cNvPr id="11" name="TextBox 10"/>
          <p:cNvSpPr txBox="1"/>
          <p:nvPr/>
        </p:nvSpPr>
        <p:spPr>
          <a:xfrm>
            <a:off x="111556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Just-in-time retrieval</a:t>
            </a:r>
          </a:p>
        </p:txBody>
      </p:sp>
      <p:sp>
        <p:nvSpPr>
          <p:cNvPr id="12" name="TextBox 11"/>
          <p:cNvSpPr txBox="1"/>
          <p:nvPr/>
        </p:nvSpPr>
        <p:spPr>
          <a:xfrm>
            <a:off x="1115568" y="3026664"/>
            <a:ext cx="2907791" cy="153619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Hold lightweight identifiers — file paths, saved queries, links — and load the data at runtime with tools. Mirrors how people use file systems and bookmarks instead of memorizing.</a:t>
            </a:r>
          </a:p>
        </p:txBody>
      </p:sp>
      <p:sp>
        <p:nvSpPr>
          <p:cNvPr id="13" name="Rectangle 12"/>
          <p:cNvSpPr/>
          <p:nvPr/>
        </p:nvSpPr>
        <p:spPr>
          <a:xfrm>
            <a:off x="4206240" y="2532888"/>
            <a:ext cx="50292" cy="20116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02</a:t>
            </a:r>
          </a:p>
        </p:txBody>
      </p:sp>
      <p:sp>
        <p:nvSpPr>
          <p:cNvPr id="15" name="TextBox 14"/>
          <p:cNvSpPr txBox="1"/>
          <p:nvPr/>
        </p:nvSpPr>
        <p:spPr>
          <a:xfrm>
            <a:off x="4864607"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Progressive disclosure</a:t>
            </a:r>
          </a:p>
        </p:txBody>
      </p:sp>
      <p:sp>
        <p:nvSpPr>
          <p:cNvPr id="16" name="TextBox 15"/>
          <p:cNvSpPr txBox="1"/>
          <p:nvPr/>
        </p:nvSpPr>
        <p:spPr>
          <a:xfrm>
            <a:off x="4864607" y="3026664"/>
            <a:ext cx="2907791" cy="153619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Let the agent discover context by exploring. Metadata is signal: a file's name, folder, and timestamp tell it what matters before it ever opens the file.</a:t>
            </a:r>
          </a:p>
        </p:txBody>
      </p:sp>
      <p:sp>
        <p:nvSpPr>
          <p:cNvPr id="17" name="Rectangle 16"/>
          <p:cNvSpPr/>
          <p:nvPr/>
        </p:nvSpPr>
        <p:spPr>
          <a:xfrm>
            <a:off x="7955279" y="2532888"/>
            <a:ext cx="50292" cy="20116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03</a:t>
            </a:r>
          </a:p>
        </p:txBody>
      </p:sp>
      <p:sp>
        <p:nvSpPr>
          <p:cNvPr id="19" name="TextBox 18"/>
          <p:cNvSpPr txBox="1"/>
          <p:nvPr/>
        </p:nvSpPr>
        <p:spPr>
          <a:xfrm>
            <a:off x="861364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Hybrid when it helps</a:t>
            </a:r>
          </a:p>
        </p:txBody>
      </p:sp>
      <p:sp>
        <p:nvSpPr>
          <p:cNvPr id="20" name="TextBox 19"/>
          <p:cNvSpPr txBox="1"/>
          <p:nvPr/>
        </p:nvSpPr>
        <p:spPr>
          <a:xfrm>
            <a:off x="8613648" y="3026664"/>
            <a:ext cx="2907791" cy="153619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Drop a little in up front (a CLAUDE.md), then let glob and grep fetch the rest just in time — dodging stale indexes without going fully blind.</a:t>
            </a:r>
          </a:p>
        </p:txBody>
      </p:sp>
      <p:sp>
        <p:nvSpPr>
          <p:cNvPr id="21" name="Rectangle 20"/>
          <p:cNvSpPr/>
          <p:nvPr/>
        </p:nvSpPr>
        <p:spPr>
          <a:xfrm>
            <a:off x="457200" y="4892040"/>
            <a:ext cx="11064240" cy="1234440"/>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038344"/>
            <a:ext cx="10661904" cy="941832"/>
          </a:xfrm>
          <a:prstGeom prst="rect">
            <a:avLst/>
          </a:prstGeom>
          <a:noFill/>
        </p:spPr>
        <p:txBody>
          <a:bodyPr wrap="square" anchor="ctr" lIns="0" rIns="0" tIns="0" bIns="0">
            <a:spAutoFit/>
          </a:bodyPr>
          <a:lstStyle/>
          <a:p>
            <a:pPr algn="l">
              <a:lnSpc>
                <a:spcPct val="108000"/>
              </a:lnSpc>
              <a:spcBef>
                <a:spcPts val="0"/>
              </a:spcBef>
              <a:spcAft>
                <a:spcPts val="500"/>
              </a:spcAft>
            </a:pPr>
            <a:r>
              <a:rPr sz="1350" b="1" i="0">
                <a:solidFill>
                  <a:srgbClr val="181818"/>
                </a:solidFill>
                <a:latin typeface="Optimist Display"/>
              </a:rPr>
              <a:t>Tools are the contract for all of this</a:t>
            </a:r>
          </a:p>
          <a:p>
            <a:pPr algn="l">
              <a:lnSpc>
                <a:spcPct val="108000"/>
              </a:lnSpc>
              <a:spcBef>
                <a:spcPts val="0"/>
              </a:spcBef>
              <a:spcAft>
                <a:spcPts val="500"/>
              </a:spcAft>
            </a:pPr>
            <a:r>
              <a:rPr sz="1200" b="0" i="0">
                <a:solidFill>
                  <a:srgbClr val="181818"/>
                </a:solidFill>
                <a:latin typeface="Optimist Sans"/>
              </a:rPr>
              <a:t>An agent can only retrieve as well as its tools let it. Keep the tool set minimal and non-overlapping: bloated, ambiguous tool sets are a top failure mode. If a human can't say which tool to use, the agent won't either.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FOUNDATION · CONTEXT  ·  08</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Three levers for work that outgrows the window</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When a task's tokens exceed the context window — big migrations, long research — reach for one of these.</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8 / 17</a:t>
            </a:r>
          </a:p>
        </p:txBody>
      </p:sp>
      <p:sp>
        <p:nvSpPr>
          <p:cNvPr id="9" name="Rectangle 8"/>
          <p:cNvSpPr/>
          <p:nvPr/>
        </p:nvSpPr>
        <p:spPr>
          <a:xfrm>
            <a:off x="457200" y="2532888"/>
            <a:ext cx="50292" cy="205740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01</a:t>
            </a:r>
          </a:p>
        </p:txBody>
      </p:sp>
      <p:sp>
        <p:nvSpPr>
          <p:cNvPr id="11" name="TextBox 10"/>
          <p:cNvSpPr txBox="1"/>
          <p:nvPr/>
        </p:nvSpPr>
        <p:spPr>
          <a:xfrm>
            <a:off x="111556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Compaction</a:t>
            </a:r>
          </a:p>
        </p:txBody>
      </p:sp>
      <p:sp>
        <p:nvSpPr>
          <p:cNvPr id="12" name="TextBox 11"/>
          <p:cNvSpPr txBox="1"/>
          <p:nvPr/>
        </p:nvSpPr>
        <p:spPr>
          <a:xfrm>
            <a:off x="1115568" y="2788920"/>
            <a:ext cx="2907791" cy="1819656"/>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Near the limit, summarize the conversation and restart with the digest. Keep architectural decisions and open bugs; drop redundant tool outputs. Tool-result clearing is the lightest touch.</a:t>
            </a:r>
          </a:p>
        </p:txBody>
      </p:sp>
      <p:sp>
        <p:nvSpPr>
          <p:cNvPr id="13" name="Rectangle 12"/>
          <p:cNvSpPr/>
          <p:nvPr/>
        </p:nvSpPr>
        <p:spPr>
          <a:xfrm>
            <a:off x="4206240" y="2532888"/>
            <a:ext cx="50292" cy="205740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02</a:t>
            </a:r>
          </a:p>
        </p:txBody>
      </p:sp>
      <p:sp>
        <p:nvSpPr>
          <p:cNvPr id="15" name="TextBox 14"/>
          <p:cNvSpPr txBox="1"/>
          <p:nvPr/>
        </p:nvSpPr>
        <p:spPr>
          <a:xfrm>
            <a:off x="4864607"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Structured note-taking</a:t>
            </a:r>
          </a:p>
        </p:txBody>
      </p:sp>
      <p:sp>
        <p:nvSpPr>
          <p:cNvPr id="16" name="TextBox 15"/>
          <p:cNvSpPr txBox="1"/>
          <p:nvPr/>
        </p:nvSpPr>
        <p:spPr>
          <a:xfrm>
            <a:off x="4864607" y="2788920"/>
            <a:ext cx="2907791" cy="1819656"/>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Agentic memory: the agent writes notes to a file outside the context (a NOTES.md, a to-do list) and pulls them back later. This is how Claude tracks goals across thousands of steps playing Pokémon.</a:t>
            </a:r>
          </a:p>
        </p:txBody>
      </p:sp>
      <p:sp>
        <p:nvSpPr>
          <p:cNvPr id="17" name="Rectangle 16"/>
          <p:cNvSpPr/>
          <p:nvPr/>
        </p:nvSpPr>
        <p:spPr>
          <a:xfrm>
            <a:off x="7955279" y="2532888"/>
            <a:ext cx="50292" cy="205740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03</a:t>
            </a:r>
          </a:p>
        </p:txBody>
      </p:sp>
      <p:sp>
        <p:nvSpPr>
          <p:cNvPr id="19" name="TextBox 18"/>
          <p:cNvSpPr txBox="1"/>
          <p:nvPr/>
        </p:nvSpPr>
        <p:spPr>
          <a:xfrm>
            <a:off x="861364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Sub-agents</a:t>
            </a:r>
          </a:p>
        </p:txBody>
      </p:sp>
      <p:sp>
        <p:nvSpPr>
          <p:cNvPr id="20" name="TextBox 19"/>
          <p:cNvSpPr txBox="1"/>
          <p:nvPr/>
        </p:nvSpPr>
        <p:spPr>
          <a:xfrm>
            <a:off x="8613648" y="2788920"/>
            <a:ext cx="2907791" cy="1819656"/>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Isolate deep work in a separate context that returns only a 1–2k-token distilled summary. Clean separation of concerns — the topic of the first deck in this series.</a:t>
            </a:r>
          </a:p>
        </p:txBody>
      </p:sp>
      <p:sp>
        <p:nvSpPr>
          <p:cNvPr id="21" name="Rectangle 20"/>
          <p:cNvSpPr/>
          <p:nvPr/>
        </p:nvSpPr>
        <p:spPr>
          <a:xfrm>
            <a:off x="457200" y="4937760"/>
            <a:ext cx="11064240" cy="1188720"/>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084064"/>
            <a:ext cx="10661904" cy="896112"/>
          </a:xfrm>
          <a:prstGeom prst="rect">
            <a:avLst/>
          </a:prstGeom>
          <a:noFill/>
        </p:spPr>
        <p:txBody>
          <a:bodyPr wrap="square" anchor="ctr" lIns="0" rIns="0" tIns="0" bIns="0">
            <a:spAutoFit/>
          </a:bodyPr>
          <a:lstStyle/>
          <a:p>
            <a:pPr algn="l">
              <a:lnSpc>
                <a:spcPct val="108000"/>
              </a:lnSpc>
              <a:spcBef>
                <a:spcPts val="0"/>
              </a:spcBef>
              <a:spcAft>
                <a:spcPts val="500"/>
              </a:spcAft>
            </a:pPr>
            <a:r>
              <a:rPr sz="1350" b="1" i="0">
                <a:solidFill>
                  <a:srgbClr val="181818"/>
                </a:solidFill>
                <a:latin typeface="Optimist Display"/>
              </a:rPr>
              <a:t>Match the lever to the task</a:t>
            </a:r>
          </a:p>
          <a:p>
            <a:pPr algn="l">
              <a:lnSpc>
                <a:spcPct val="108000"/>
              </a:lnSpc>
              <a:spcBef>
                <a:spcPts val="0"/>
              </a:spcBef>
              <a:spcAft>
                <a:spcPts val="500"/>
              </a:spcAft>
            </a:pPr>
            <a:r>
              <a:rPr sz="1200" b="0" i="0">
                <a:solidFill>
                  <a:srgbClr val="181818"/>
                </a:solidFill>
                <a:latin typeface="Optimist Sans"/>
              </a:rPr>
              <a:t>Compaction keeps conversational flow for back-and-forth work. Note-taking excels at iterative work with clear milestones. Sub-agents win when parallel exploration pays off. These are also core harness components — which is where we go next.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HARNESS  ·  09</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What the harness actually is</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Everything around the model that turns 'a model that can use tools' into 'an agent that reliably gets work done.'</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9 / 17</a:t>
            </a:r>
          </a:p>
        </p:txBody>
      </p:sp>
      <p:sp>
        <p:nvSpPr>
          <p:cNvPr id="9" name="Rectangle 8"/>
          <p:cNvSpPr/>
          <p:nvPr/>
        </p:nvSpPr>
        <p:spPr>
          <a:xfrm>
            <a:off x="457200" y="2468880"/>
            <a:ext cx="3749039" cy="3337560"/>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615184"/>
            <a:ext cx="3346703" cy="3044952"/>
          </a:xfrm>
          <a:prstGeom prst="rect">
            <a:avLst/>
          </a:prstGeom>
          <a:noFill/>
        </p:spPr>
        <p:txBody>
          <a:bodyPr wrap="square" anchor="ctr" lIns="0" rIns="0" tIns="0" bIns="0">
            <a:spAutoFit/>
          </a:bodyPr>
          <a:lstStyle/>
          <a:p>
            <a:pPr algn="l">
              <a:lnSpc>
                <a:spcPct val="108000"/>
              </a:lnSpc>
              <a:spcBef>
                <a:spcPts val="0"/>
              </a:spcBef>
              <a:spcAft>
                <a:spcPts val="500"/>
              </a:spcAft>
            </a:pPr>
            <a:r>
              <a:rPr sz="1350" b="1" i="0">
                <a:solidFill>
                  <a:srgbClr val="181818"/>
                </a:solidFill>
                <a:latin typeface="Optimist Display"/>
              </a:rPr>
              <a:t>The harness =</a:t>
            </a:r>
          </a:p>
          <a:p>
            <a:pPr algn="l">
              <a:lnSpc>
                <a:spcPct val="108000"/>
              </a:lnSpc>
              <a:spcBef>
                <a:spcPts val="0"/>
              </a:spcBef>
              <a:spcAft>
                <a:spcPts val="500"/>
              </a:spcAft>
            </a:pPr>
            <a:r>
              <a:rPr sz="1200" b="0" i="0">
                <a:solidFill>
                  <a:srgbClr val="181818"/>
                </a:solidFill>
                <a:latin typeface="Optimist Sans"/>
              </a:rPr>
              <a:t>memory management, tool invocation, context discipline, the environment and sandbox, verification loops, and human-in-the-loop checkpoints — everything except the model weights themselves. The Claude Agent SDK is exactly this: a general-purpose agent harness.</a:t>
            </a:r>
          </a:p>
        </p:txBody>
      </p:sp>
      <p:sp>
        <p:nvSpPr>
          <p:cNvPr id="11" name="TextBox 10"/>
          <p:cNvSpPr txBox="1"/>
          <p:nvPr/>
        </p:nvSpPr>
        <p:spPr>
          <a:xfrm>
            <a:off x="4572000" y="2395728"/>
            <a:ext cx="68580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81818"/>
                </a:solidFill>
                <a:latin typeface="Optimist Display"/>
              </a:rPr>
              <a:t>The backbone: the agent loop</a:t>
            </a:r>
          </a:p>
        </p:txBody>
      </p:sp>
      <p:sp>
        <p:nvSpPr>
          <p:cNvPr id="12" name="Rectangle 11"/>
          <p:cNvSpPr/>
          <p:nvPr/>
        </p:nvSpPr>
        <p:spPr>
          <a:xfrm>
            <a:off x="4572000" y="2880360"/>
            <a:ext cx="6949440" cy="658368"/>
          </a:xfrm>
          <a:prstGeom prst="rect">
            <a:avLst/>
          </a:prstGeom>
          <a:solidFill>
            <a:srgbClr val="F5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2999232"/>
            <a:ext cx="457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1</a:t>
            </a:r>
          </a:p>
        </p:txBody>
      </p:sp>
      <p:sp>
        <p:nvSpPr>
          <p:cNvPr id="14" name="TextBox 13"/>
          <p:cNvSpPr txBox="1"/>
          <p:nvPr/>
        </p:nvSpPr>
        <p:spPr>
          <a:xfrm>
            <a:off x="5257800" y="2962656"/>
            <a:ext cx="612648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181818"/>
                </a:solidFill>
                <a:latin typeface="Optimist Sans"/>
              </a:rPr>
              <a:t>Gather context</a:t>
            </a:r>
          </a:p>
        </p:txBody>
      </p:sp>
      <p:sp>
        <p:nvSpPr>
          <p:cNvPr id="15" name="TextBox 14"/>
          <p:cNvSpPr txBox="1"/>
          <p:nvPr/>
        </p:nvSpPr>
        <p:spPr>
          <a:xfrm>
            <a:off x="5257800" y="3218688"/>
            <a:ext cx="612648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6B6B6B"/>
                </a:solidFill>
                <a:latin typeface="Optimist Sans"/>
              </a:rPr>
              <a:t>Pull in what this step needs — files, tool results, memory, retrieved data.</a:t>
            </a:r>
          </a:p>
        </p:txBody>
      </p:sp>
      <p:sp>
        <p:nvSpPr>
          <p:cNvPr id="16" name="Rectangle 15"/>
          <p:cNvSpPr/>
          <p:nvPr/>
        </p:nvSpPr>
        <p:spPr>
          <a:xfrm>
            <a:off x="4572000" y="3593591"/>
            <a:ext cx="694944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3712463"/>
            <a:ext cx="457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2</a:t>
            </a:r>
          </a:p>
        </p:txBody>
      </p:sp>
      <p:sp>
        <p:nvSpPr>
          <p:cNvPr id="18" name="TextBox 17"/>
          <p:cNvSpPr txBox="1"/>
          <p:nvPr/>
        </p:nvSpPr>
        <p:spPr>
          <a:xfrm>
            <a:off x="5257800" y="3675887"/>
            <a:ext cx="612648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181818"/>
                </a:solidFill>
                <a:latin typeface="Optimist Sans"/>
              </a:rPr>
              <a:t>Take action</a:t>
            </a:r>
          </a:p>
        </p:txBody>
      </p:sp>
      <p:sp>
        <p:nvSpPr>
          <p:cNvPr id="19" name="TextBox 18"/>
          <p:cNvSpPr txBox="1"/>
          <p:nvPr/>
        </p:nvSpPr>
        <p:spPr>
          <a:xfrm>
            <a:off x="5257800" y="3931920"/>
            <a:ext cx="612648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6B6B6B"/>
                </a:solidFill>
                <a:latin typeface="Optimist Sans"/>
              </a:rPr>
              <a:t>Call tools to change the world or produce output.</a:t>
            </a:r>
          </a:p>
        </p:txBody>
      </p:sp>
      <p:sp>
        <p:nvSpPr>
          <p:cNvPr id="20" name="Rectangle 19"/>
          <p:cNvSpPr/>
          <p:nvPr/>
        </p:nvSpPr>
        <p:spPr>
          <a:xfrm>
            <a:off x="4572000" y="4306824"/>
            <a:ext cx="6949440" cy="658368"/>
          </a:xfrm>
          <a:prstGeom prst="rect">
            <a:avLst/>
          </a:prstGeom>
          <a:solidFill>
            <a:srgbClr val="F5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425696"/>
            <a:ext cx="457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3</a:t>
            </a:r>
          </a:p>
        </p:txBody>
      </p:sp>
      <p:sp>
        <p:nvSpPr>
          <p:cNvPr id="22" name="TextBox 21"/>
          <p:cNvSpPr txBox="1"/>
          <p:nvPr/>
        </p:nvSpPr>
        <p:spPr>
          <a:xfrm>
            <a:off x="5257800" y="4389120"/>
            <a:ext cx="612648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181818"/>
                </a:solidFill>
                <a:latin typeface="Optimist Sans"/>
              </a:rPr>
              <a:t>Verify the work</a:t>
            </a:r>
          </a:p>
        </p:txBody>
      </p:sp>
      <p:sp>
        <p:nvSpPr>
          <p:cNvPr id="23" name="TextBox 22"/>
          <p:cNvSpPr txBox="1"/>
          <p:nvPr/>
        </p:nvSpPr>
        <p:spPr>
          <a:xfrm>
            <a:off x="5257800" y="4645152"/>
            <a:ext cx="612648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6B6B6B"/>
                </a:solidFill>
                <a:latin typeface="Optimist Sans"/>
              </a:rPr>
              <a:t>Check the result actually holds — the half everyone skips.</a:t>
            </a:r>
          </a:p>
        </p:txBody>
      </p:sp>
      <p:sp>
        <p:nvSpPr>
          <p:cNvPr id="24" name="Rectangle 23"/>
          <p:cNvSpPr/>
          <p:nvPr/>
        </p:nvSpPr>
        <p:spPr>
          <a:xfrm>
            <a:off x="4572000" y="5020056"/>
            <a:ext cx="694944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5138928"/>
            <a:ext cx="457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4</a:t>
            </a:r>
          </a:p>
        </p:txBody>
      </p:sp>
      <p:sp>
        <p:nvSpPr>
          <p:cNvPr id="26" name="TextBox 25"/>
          <p:cNvSpPr txBox="1"/>
          <p:nvPr/>
        </p:nvSpPr>
        <p:spPr>
          <a:xfrm>
            <a:off x="5257800" y="5102352"/>
            <a:ext cx="6126480" cy="274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181818"/>
                </a:solidFill>
                <a:latin typeface="Optimist Sans"/>
              </a:rPr>
              <a:t>Repeat</a:t>
            </a:r>
          </a:p>
        </p:txBody>
      </p:sp>
      <p:sp>
        <p:nvSpPr>
          <p:cNvPr id="27" name="TextBox 26"/>
          <p:cNvSpPr txBox="1"/>
          <p:nvPr/>
        </p:nvSpPr>
        <p:spPr>
          <a:xfrm>
            <a:off x="5257800" y="5358384"/>
            <a:ext cx="612648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6B6B6B"/>
                </a:solidFill>
                <a:latin typeface="Optimist Sans"/>
              </a:rPr>
              <a:t>Feed the outcome back in and continue, until done.</a:t>
            </a:r>
          </a:p>
        </p:txBody>
      </p:sp>
      <p:sp>
        <p:nvSpPr>
          <p:cNvPr id="28" name="TextBox 27"/>
          <p:cNvSpPr txBox="1"/>
          <p:nvPr/>
        </p:nvSpPr>
        <p:spPr>
          <a:xfrm>
            <a:off x="4572000" y="5815584"/>
            <a:ext cx="6949440" cy="320040"/>
          </a:xfrm>
          <a:prstGeom prst="rect">
            <a:avLst/>
          </a:prstGeom>
          <a:noFill/>
        </p:spPr>
        <p:txBody>
          <a:bodyPr wrap="square" anchor="t" lIns="0" rIns="0" tIns="0" bIns="0">
            <a:spAutoFit/>
          </a:bodyPr>
          <a:lstStyle/>
          <a:p>
            <a:pPr algn="l">
              <a:lnSpc>
                <a:spcPct val="100000"/>
              </a:lnSpc>
              <a:spcBef>
                <a:spcPts val="0"/>
              </a:spcBef>
              <a:spcAft>
                <a:spcPts val="0"/>
              </a:spcAft>
            </a:pPr>
            <a:r>
              <a:rPr sz="1100" b="0" i="1">
                <a:solidFill>
                  <a:srgbClr val="6B6B6B"/>
                </a:solidFill>
                <a:latin typeface="Optimist Sans"/>
              </a:rPr>
              <a:t>The SDK gives you the loop, tools, and compaction; you engineer what happens inside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HARNESS · EXAMPLE  ·  10</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Running example: the long-running build</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Anthropic's own case study, and the example for the rest of the deck: have an agent build a clone of claude.ai across many context windows.</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10 / 17</a:t>
            </a:r>
          </a:p>
        </p:txBody>
      </p:sp>
      <p:sp>
        <p:nvSpPr>
          <p:cNvPr id="9" name="Rectangle 8"/>
          <p:cNvSpPr/>
          <p:nvPr/>
        </p:nvSpPr>
        <p:spPr>
          <a:xfrm>
            <a:off x="457200" y="2432304"/>
            <a:ext cx="11064240" cy="749808"/>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578608"/>
            <a:ext cx="10661904" cy="457199"/>
          </a:xfrm>
          <a:prstGeom prst="rect">
            <a:avLst/>
          </a:prstGeom>
          <a:noFill/>
        </p:spPr>
        <p:txBody>
          <a:bodyPr wrap="square" anchor="ctr" lIns="0" rIns="0" tIns="0" bIns="0">
            <a:spAutoFit/>
          </a:bodyPr>
          <a:lstStyle/>
          <a:p>
            <a:pPr algn="l">
              <a:lnSpc>
                <a:spcPct val="108000"/>
              </a:lnSpc>
              <a:spcBef>
                <a:spcPts val="0"/>
              </a:spcBef>
              <a:spcAft>
                <a:spcPts val="500"/>
              </a:spcAft>
            </a:pPr>
            <a:r>
              <a:rPr sz="1200" b="0" i="0">
                <a:solidFill>
                  <a:srgbClr val="181818"/>
                </a:solidFill>
                <a:latin typeface="Optimist Sans"/>
              </a:rPr>
              <a:t>The setup: even a frontier model, running in a loop on the Agent SDK, fails to build a production-quality app from just “build a clone of claude.ai.” Compaction alone isn't enough. Two failure patterns show up.</a:t>
            </a:r>
          </a:p>
        </p:txBody>
      </p:sp>
      <p:sp>
        <p:nvSpPr>
          <p:cNvPr id="11" name="Rectangle 10"/>
          <p:cNvSpPr/>
          <p:nvPr/>
        </p:nvSpPr>
        <p:spPr>
          <a:xfrm>
            <a:off x="457200" y="3447288"/>
            <a:ext cx="50292" cy="17830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4107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01</a:t>
            </a:r>
          </a:p>
        </p:txBody>
      </p:sp>
      <p:sp>
        <p:nvSpPr>
          <p:cNvPr id="13" name="TextBox 12"/>
          <p:cNvSpPr txBox="1"/>
          <p:nvPr/>
        </p:nvSpPr>
        <p:spPr>
          <a:xfrm>
            <a:off x="1115568" y="3419856"/>
            <a:ext cx="4736592"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It tries to one-shot the app</a:t>
            </a:r>
          </a:p>
        </p:txBody>
      </p:sp>
      <p:sp>
        <p:nvSpPr>
          <p:cNvPr id="14" name="TextBox 13"/>
          <p:cNvSpPr txBox="1"/>
          <p:nvPr/>
        </p:nvSpPr>
        <p:spPr>
          <a:xfrm>
            <a:off x="1115568" y="3703320"/>
            <a:ext cx="4736592" cy="1545336"/>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The agent attempts everything at once, runs out of context mid-implementation, and leaves a feature half-built and undocumented. The next session has to guess what happened and dig itself out.</a:t>
            </a:r>
          </a:p>
        </p:txBody>
      </p:sp>
      <p:sp>
        <p:nvSpPr>
          <p:cNvPr id="15" name="Rectangle 14"/>
          <p:cNvSpPr/>
          <p:nvPr/>
        </p:nvSpPr>
        <p:spPr>
          <a:xfrm>
            <a:off x="6126480" y="3447288"/>
            <a:ext cx="50292" cy="17830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34107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02</a:t>
            </a:r>
          </a:p>
        </p:txBody>
      </p:sp>
      <p:sp>
        <p:nvSpPr>
          <p:cNvPr id="17" name="TextBox 16"/>
          <p:cNvSpPr txBox="1"/>
          <p:nvPr/>
        </p:nvSpPr>
        <p:spPr>
          <a:xfrm>
            <a:off x="6784848" y="3419856"/>
            <a:ext cx="4736592"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It declares victory too early</a:t>
            </a:r>
          </a:p>
        </p:txBody>
      </p:sp>
      <p:sp>
        <p:nvSpPr>
          <p:cNvPr id="18" name="TextBox 17"/>
          <p:cNvSpPr txBox="1"/>
          <p:nvPr/>
        </p:nvSpPr>
        <p:spPr>
          <a:xfrm>
            <a:off x="6784848" y="3703320"/>
            <a:ext cx="4736592" cy="1545336"/>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Later in the project, a fresh agent looks around, sees that real progress exists, and concludes the job is already done — and stops.</a:t>
            </a:r>
          </a:p>
        </p:txBody>
      </p:sp>
      <p:sp>
        <p:nvSpPr>
          <p:cNvPr id="19" name="Rectangle 18"/>
          <p:cNvSpPr/>
          <p:nvPr/>
        </p:nvSpPr>
        <p:spPr>
          <a:xfrm>
            <a:off x="457200" y="5394960"/>
            <a:ext cx="11064240" cy="731520"/>
          </a:xfrm>
          <a:prstGeom prst="rect">
            <a:avLst/>
          </a:prstGeom>
          <a:solidFill>
            <a:srgbClr val="1F1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541264"/>
            <a:ext cx="10661904" cy="438912"/>
          </a:xfrm>
          <a:prstGeom prst="rect">
            <a:avLst/>
          </a:prstGeom>
          <a:noFill/>
        </p:spPr>
        <p:txBody>
          <a:bodyPr wrap="square" anchor="ctr" lIns="0" rIns="0" tIns="0" bIns="0">
            <a:spAutoFit/>
          </a:bodyPr>
          <a:lstStyle/>
          <a:p>
            <a:pPr algn="l">
              <a:lnSpc>
                <a:spcPct val="108000"/>
              </a:lnSpc>
              <a:spcBef>
                <a:spcPts val="0"/>
              </a:spcBef>
              <a:spcAft>
                <a:spcPts val="500"/>
              </a:spcAft>
            </a:pPr>
            <a:r>
              <a:rPr sz="1200" b="0" i="0">
                <a:solidFill>
                  <a:srgbClr val="E8C896"/>
                </a:solidFill>
                <a:latin typeface="Optimist Sans"/>
              </a:rPr>
              <a:t>The metaphor: a project staffed by engineers working in shifts, where each new engineer arrives with no memory of the previous shift. The harness's job is to bridge that gap.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HARNESS  ·  11</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The fix: two roles, one harness</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Anthropic's solution splits the work by session type — not by making a complicated multi-agent system.</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11 / 17</a:t>
            </a:r>
          </a:p>
        </p:txBody>
      </p:sp>
      <p:sp>
        <p:nvSpPr>
          <p:cNvPr id="9" name="Rectangle 8"/>
          <p:cNvSpPr/>
          <p:nvPr/>
        </p:nvSpPr>
        <p:spPr>
          <a:xfrm>
            <a:off x="457200" y="2578608"/>
            <a:ext cx="50292" cy="214884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4203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01</a:t>
            </a:r>
          </a:p>
        </p:txBody>
      </p:sp>
      <p:sp>
        <p:nvSpPr>
          <p:cNvPr id="11" name="TextBox 10"/>
          <p:cNvSpPr txBox="1"/>
          <p:nvPr/>
        </p:nvSpPr>
        <p:spPr>
          <a:xfrm>
            <a:off x="1115568" y="2551176"/>
            <a:ext cx="4736592"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Initializer agent  —  the first session only</a:t>
            </a:r>
          </a:p>
        </p:txBody>
      </p:sp>
      <p:sp>
        <p:nvSpPr>
          <p:cNvPr id="12" name="TextBox 11"/>
          <p:cNvSpPr txBox="1"/>
          <p:nvPr/>
        </p:nvSpPr>
        <p:spPr>
          <a:xfrm>
            <a:off x="1115568" y="3072384"/>
            <a:ext cx="4736592" cy="167335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A specialized first prompt sets up the whole environment: it expands the user's request into a full feature list, writes an init.sh to run the app, and makes an initial git commit with a progress log. It lays the foundation every later session will build on.</a:t>
            </a:r>
          </a:p>
        </p:txBody>
      </p:sp>
      <p:sp>
        <p:nvSpPr>
          <p:cNvPr id="13" name="Rectangle 12"/>
          <p:cNvSpPr/>
          <p:nvPr/>
        </p:nvSpPr>
        <p:spPr>
          <a:xfrm>
            <a:off x="6126480" y="2578608"/>
            <a:ext cx="50292" cy="214884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54203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02</a:t>
            </a:r>
          </a:p>
        </p:txBody>
      </p:sp>
      <p:sp>
        <p:nvSpPr>
          <p:cNvPr id="15" name="TextBox 14"/>
          <p:cNvSpPr txBox="1"/>
          <p:nvPr/>
        </p:nvSpPr>
        <p:spPr>
          <a:xfrm>
            <a:off x="6784848" y="2551176"/>
            <a:ext cx="4736592"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Coding agent  —  every session after</a:t>
            </a:r>
          </a:p>
        </p:txBody>
      </p:sp>
      <p:sp>
        <p:nvSpPr>
          <p:cNvPr id="16" name="TextBox 15"/>
          <p:cNvSpPr txBox="1"/>
          <p:nvPr/>
        </p:nvSpPr>
        <p:spPr>
          <a:xfrm>
            <a:off x="6784848" y="3072384"/>
            <a:ext cx="4736592" cy="167335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A second prompt asks the model to make incremental progress on one feature, verify it, and leave a clean, documented, committed state for the next session. Same job, every shift.</a:t>
            </a:r>
          </a:p>
        </p:txBody>
      </p:sp>
      <p:sp>
        <p:nvSpPr>
          <p:cNvPr id="17" name="Rectangle 16"/>
          <p:cNvSpPr/>
          <p:nvPr/>
        </p:nvSpPr>
        <p:spPr>
          <a:xfrm>
            <a:off x="457200" y="4983480"/>
            <a:ext cx="11064240" cy="1143000"/>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129784"/>
            <a:ext cx="10661904" cy="850392"/>
          </a:xfrm>
          <a:prstGeom prst="rect">
            <a:avLst/>
          </a:prstGeom>
          <a:noFill/>
        </p:spPr>
        <p:txBody>
          <a:bodyPr wrap="square" anchor="ctr" lIns="0" rIns="0" tIns="0" bIns="0">
            <a:spAutoFit/>
          </a:bodyPr>
          <a:lstStyle/>
          <a:p>
            <a:pPr algn="l">
              <a:lnSpc>
                <a:spcPct val="108000"/>
              </a:lnSpc>
              <a:spcBef>
                <a:spcPts val="0"/>
              </a:spcBef>
              <a:spcAft>
                <a:spcPts val="500"/>
              </a:spcAft>
            </a:pPr>
            <a:r>
              <a:rPr sz="1350" b="1" i="0">
                <a:solidFill>
                  <a:srgbClr val="181818"/>
                </a:solidFill>
                <a:latin typeface="Optimist Display"/>
              </a:rPr>
              <a:t>Note what this is not</a:t>
            </a:r>
          </a:p>
          <a:p>
            <a:pPr algn="l">
              <a:lnSpc>
                <a:spcPct val="108000"/>
              </a:lnSpc>
              <a:spcBef>
                <a:spcPts val="0"/>
              </a:spcBef>
              <a:spcAft>
                <a:spcPts val="500"/>
              </a:spcAft>
            </a:pPr>
            <a:r>
              <a:rPr sz="1200" b="0" i="0">
                <a:solidFill>
                  <a:srgbClr val="181818"/>
                </a:solidFill>
                <a:latin typeface="Optimist Sans"/>
              </a:rPr>
              <a:t>It's not a multi-agent system. The initializer and coding agents share the same model, the same tools, and the same harness — only the first user prompt differs. The whole trick is 'a different prompt for the very first context window.'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HARNESS · COMPONENT 1  ·  12</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The environment the initializer builds</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Scaffolding that turns a vague goal into a structured, resumable project. Three artifacts do most of the work.</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12 / 17</a:t>
            </a:r>
          </a:p>
        </p:txBody>
      </p:sp>
      <p:sp>
        <p:nvSpPr>
          <p:cNvPr id="9" name="Rectangle 8"/>
          <p:cNvSpPr/>
          <p:nvPr/>
        </p:nvSpPr>
        <p:spPr>
          <a:xfrm>
            <a:off x="457200" y="2505456"/>
            <a:ext cx="50292" cy="15544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68880"/>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01</a:t>
            </a:r>
          </a:p>
        </p:txBody>
      </p:sp>
      <p:sp>
        <p:nvSpPr>
          <p:cNvPr id="11" name="TextBox 10"/>
          <p:cNvSpPr txBox="1"/>
          <p:nvPr/>
        </p:nvSpPr>
        <p:spPr>
          <a:xfrm>
            <a:off x="1115568" y="2478024"/>
            <a:ext cx="4828032"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A feature list — as JSON, not prose</a:t>
            </a:r>
          </a:p>
        </p:txBody>
      </p:sp>
      <p:sp>
        <p:nvSpPr>
          <p:cNvPr id="12" name="TextBox 11"/>
          <p:cNvSpPr txBox="1"/>
          <p:nvPr/>
        </p:nvSpPr>
        <p:spPr>
          <a:xfrm>
            <a:off x="1115568" y="2999232"/>
            <a:ext cx="4828032" cy="107899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Expand the prompt into end-to-end features (200+ for the claude.ai clone), each marked passes:false. Coding agents may only flip the passes field — JSON because the model is far less likely to quietly overwrite it than Markdown.</a:t>
            </a:r>
          </a:p>
        </p:txBody>
      </p:sp>
      <p:sp>
        <p:nvSpPr>
          <p:cNvPr id="13" name="Rectangle 12"/>
          <p:cNvSpPr/>
          <p:nvPr/>
        </p:nvSpPr>
        <p:spPr>
          <a:xfrm>
            <a:off x="457200" y="4133087"/>
            <a:ext cx="50292" cy="8686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0965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02</a:t>
            </a:r>
          </a:p>
        </p:txBody>
      </p:sp>
      <p:sp>
        <p:nvSpPr>
          <p:cNvPr id="15" name="TextBox 14"/>
          <p:cNvSpPr txBox="1"/>
          <p:nvPr/>
        </p:nvSpPr>
        <p:spPr>
          <a:xfrm>
            <a:off x="1115568" y="4105656"/>
            <a:ext cx="4828032"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An init.sh to run the app</a:t>
            </a:r>
          </a:p>
        </p:txBody>
      </p:sp>
      <p:sp>
        <p:nvSpPr>
          <p:cNvPr id="16" name="TextBox 15"/>
          <p:cNvSpPr txBox="1"/>
          <p:nvPr/>
        </p:nvSpPr>
        <p:spPr>
          <a:xfrm>
            <a:off x="1115568" y="4389120"/>
            <a:ext cx="4828032" cy="630936"/>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One script that starts the dev server, so no future session has to rediscover how to boot the project.</a:t>
            </a:r>
          </a:p>
        </p:txBody>
      </p:sp>
      <p:sp>
        <p:nvSpPr>
          <p:cNvPr id="17" name="Rectangle 16"/>
          <p:cNvSpPr/>
          <p:nvPr/>
        </p:nvSpPr>
        <p:spPr>
          <a:xfrm>
            <a:off x="457200" y="5093207"/>
            <a:ext cx="50292" cy="8686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05663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03</a:t>
            </a:r>
          </a:p>
        </p:txBody>
      </p:sp>
      <p:sp>
        <p:nvSpPr>
          <p:cNvPr id="19" name="TextBox 18"/>
          <p:cNvSpPr txBox="1"/>
          <p:nvPr/>
        </p:nvSpPr>
        <p:spPr>
          <a:xfrm>
            <a:off x="1115568" y="5065776"/>
            <a:ext cx="4828032"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A progress log + git history</a:t>
            </a:r>
          </a:p>
        </p:txBody>
      </p:sp>
      <p:sp>
        <p:nvSpPr>
          <p:cNvPr id="20" name="TextBox 19"/>
          <p:cNvSpPr txBox="1"/>
          <p:nvPr/>
        </p:nvSpPr>
        <p:spPr>
          <a:xfrm>
            <a:off x="1115568" y="5349240"/>
            <a:ext cx="4828032" cy="630936"/>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A claude-progress.txt plus an initial commit — the shift notes and the audit trail future agents read to get oriented.</a:t>
            </a:r>
          </a:p>
        </p:txBody>
      </p:sp>
      <p:sp>
        <p:nvSpPr>
          <p:cNvPr id="21" name="Rectangle 20"/>
          <p:cNvSpPr/>
          <p:nvPr/>
        </p:nvSpPr>
        <p:spPr>
          <a:xfrm>
            <a:off x="6309360" y="2487168"/>
            <a:ext cx="5212080" cy="3611880"/>
          </a:xfrm>
          <a:prstGeom prst="rect">
            <a:avLst/>
          </a:prstGeom>
          <a:solidFill>
            <a:srgbClr val="1F1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2651760"/>
            <a:ext cx="484632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E8C896"/>
                </a:solidFill>
                <a:latin typeface="Optimist Sans"/>
              </a:rPr>
              <a:t>feature_list.json  —  one entry of 200+</a:t>
            </a:r>
          </a:p>
        </p:txBody>
      </p:sp>
      <p:sp>
        <p:nvSpPr>
          <p:cNvPr id="23" name="TextBox 22"/>
          <p:cNvSpPr txBox="1"/>
          <p:nvPr/>
        </p:nvSpPr>
        <p:spPr>
          <a:xfrm>
            <a:off x="6492240" y="2980944"/>
            <a:ext cx="4846320" cy="3008376"/>
          </a:xfrm>
          <a:prstGeom prst="rect">
            <a:avLst/>
          </a:prstGeom>
          <a:noFill/>
        </p:spPr>
        <p:txBody>
          <a:bodyPr wrap="square" anchor="t" lIns="0" rIns="0" tIns="0" bIns="0">
            <a:spAutoFit/>
          </a:bodyPr>
          <a:lstStyle/>
          <a:p>
            <a:pPr algn="l">
              <a:lnSpc>
                <a:spcPct val="112000"/>
              </a:lnSpc>
              <a:spcBef>
                <a:spcPts val="0"/>
              </a:spcBef>
              <a:spcAft>
                <a:spcPts val="0"/>
              </a:spcAft>
            </a:pPr>
            <a:r>
              <a:rPr sz="1150" b="0" i="0">
                <a:solidFill>
                  <a:srgbClr val="E8C896"/>
                </a:solidFill>
                <a:latin typeface="Optimist Mono"/>
              </a:rPr>
              <a:t>{</a:t>
            </a:r>
          </a:p>
          <a:p>
            <a:pPr algn="l">
              <a:lnSpc>
                <a:spcPct val="112000"/>
              </a:lnSpc>
              <a:spcBef>
                <a:spcPts val="0"/>
              </a:spcBef>
              <a:spcAft>
                <a:spcPts val="0"/>
              </a:spcAft>
            </a:pPr>
            <a:r>
              <a:rPr sz="1150" b="0" i="0">
                <a:solidFill>
                  <a:srgbClr val="E8C896"/>
                </a:solidFill>
                <a:latin typeface="Optimist Mono"/>
              </a:rPr>
              <a:t>  "category": "functional",</a:t>
            </a:r>
          </a:p>
          <a:p>
            <a:pPr algn="l">
              <a:lnSpc>
                <a:spcPct val="112000"/>
              </a:lnSpc>
              <a:spcBef>
                <a:spcPts val="0"/>
              </a:spcBef>
              <a:spcAft>
                <a:spcPts val="0"/>
              </a:spcAft>
            </a:pPr>
            <a:r>
              <a:rPr sz="1150" b="0" i="0">
                <a:solidFill>
                  <a:srgbClr val="E8C896"/>
                </a:solidFill>
                <a:latin typeface="Optimist Mono"/>
              </a:rPr>
              <a:t>  "description": "New chat button</a:t>
            </a:r>
          </a:p>
          <a:p>
            <a:pPr algn="l">
              <a:lnSpc>
                <a:spcPct val="112000"/>
              </a:lnSpc>
              <a:spcBef>
                <a:spcPts val="0"/>
              </a:spcBef>
              <a:spcAft>
                <a:spcPts val="0"/>
              </a:spcAft>
            </a:pPr>
            <a:r>
              <a:rPr sz="1150" b="0" i="0">
                <a:solidFill>
                  <a:srgbClr val="E8C896"/>
                </a:solidFill>
                <a:latin typeface="Optimist Mono"/>
              </a:rPr>
              <a:t>     creates a fresh conversation",</a:t>
            </a:r>
          </a:p>
          <a:p>
            <a:pPr algn="l">
              <a:lnSpc>
                <a:spcPct val="112000"/>
              </a:lnSpc>
              <a:spcBef>
                <a:spcPts val="0"/>
              </a:spcBef>
              <a:spcAft>
                <a:spcPts val="0"/>
              </a:spcAft>
            </a:pPr>
            <a:r>
              <a:rPr sz="1150" b="0" i="0">
                <a:solidFill>
                  <a:srgbClr val="E8C896"/>
                </a:solidFill>
                <a:latin typeface="Optimist Mono"/>
              </a:rPr>
              <a:t>  "steps": [</a:t>
            </a:r>
          </a:p>
          <a:p>
            <a:pPr algn="l">
              <a:lnSpc>
                <a:spcPct val="112000"/>
              </a:lnSpc>
              <a:spcBef>
                <a:spcPts val="0"/>
              </a:spcBef>
              <a:spcAft>
                <a:spcPts val="0"/>
              </a:spcAft>
            </a:pPr>
            <a:r>
              <a:rPr sz="1150" b="0" i="0">
                <a:solidFill>
                  <a:srgbClr val="E8C896"/>
                </a:solidFill>
                <a:latin typeface="Optimist Mono"/>
              </a:rPr>
              <a:t>    "Click the ’New Chat’ button",</a:t>
            </a:r>
          </a:p>
          <a:p>
            <a:pPr algn="l">
              <a:lnSpc>
                <a:spcPct val="112000"/>
              </a:lnSpc>
              <a:spcBef>
                <a:spcPts val="0"/>
              </a:spcBef>
              <a:spcAft>
                <a:spcPts val="0"/>
              </a:spcAft>
            </a:pPr>
            <a:r>
              <a:rPr sz="1150" b="0" i="0">
                <a:solidFill>
                  <a:srgbClr val="E8C896"/>
                </a:solidFill>
                <a:latin typeface="Optimist Mono"/>
              </a:rPr>
              <a:t>    "Verify a new conversation",</a:t>
            </a:r>
          </a:p>
          <a:p>
            <a:pPr algn="l">
              <a:lnSpc>
                <a:spcPct val="112000"/>
              </a:lnSpc>
              <a:spcBef>
                <a:spcPts val="0"/>
              </a:spcBef>
              <a:spcAft>
                <a:spcPts val="0"/>
              </a:spcAft>
            </a:pPr>
            <a:r>
              <a:rPr sz="1150" b="0" i="0">
                <a:solidFill>
                  <a:srgbClr val="E8C896"/>
                </a:solidFill>
                <a:latin typeface="Optimist Mono"/>
              </a:rPr>
              <a:t>    "Check chat shows welcome state"</a:t>
            </a:r>
          </a:p>
          <a:p>
            <a:pPr algn="l">
              <a:lnSpc>
                <a:spcPct val="112000"/>
              </a:lnSpc>
              <a:spcBef>
                <a:spcPts val="0"/>
              </a:spcBef>
              <a:spcAft>
                <a:spcPts val="0"/>
              </a:spcAft>
            </a:pPr>
            <a:r>
              <a:rPr sz="1150" b="0" i="0">
                <a:solidFill>
                  <a:srgbClr val="E8C896"/>
                </a:solidFill>
                <a:latin typeface="Optimist Mono"/>
              </a:rPr>
              <a:t>  ],</a:t>
            </a:r>
          </a:p>
          <a:p>
            <a:pPr algn="l">
              <a:lnSpc>
                <a:spcPct val="112000"/>
              </a:lnSpc>
              <a:spcBef>
                <a:spcPts val="0"/>
              </a:spcBef>
              <a:spcAft>
                <a:spcPts val="0"/>
              </a:spcAft>
            </a:pPr>
            <a:r>
              <a:rPr sz="1150" b="0" i="0">
                <a:solidFill>
                  <a:srgbClr val="E8C896"/>
                </a:solidFill>
                <a:latin typeface="Optimist Mono"/>
              </a:rPr>
              <a:t>  "passes": false</a:t>
            </a:r>
          </a:p>
          <a:p>
            <a:pPr algn="l">
              <a:lnSpc>
                <a:spcPct val="112000"/>
              </a:lnSpc>
              <a:spcBef>
                <a:spcPts val="0"/>
              </a:spcBef>
              <a:spcAft>
                <a:spcPts val="0"/>
              </a:spcAft>
            </a:pPr>
            <a:r>
              <a:rPr sz="1150" b="0" i="0">
                <a:solidFill>
                  <a:srgbClr val="E8C896"/>
                </a:solidFill>
                <a:latin typeface="Optimist Mono"/>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HARNESS · COMPONENT 2  ·  13</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Incremental progress, clean state</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With the environment in place, the coding agent's whole discipline is: do a little, prove it, tidy up, hand off.</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13 / 17</a:t>
            </a:r>
          </a:p>
        </p:txBody>
      </p:sp>
      <p:sp>
        <p:nvSpPr>
          <p:cNvPr id="9" name="Rectangle 8"/>
          <p:cNvSpPr/>
          <p:nvPr/>
        </p:nvSpPr>
        <p:spPr>
          <a:xfrm>
            <a:off x="457200" y="2532888"/>
            <a:ext cx="50292" cy="20116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01</a:t>
            </a:r>
          </a:p>
        </p:txBody>
      </p:sp>
      <p:sp>
        <p:nvSpPr>
          <p:cNvPr id="11" name="TextBox 10"/>
          <p:cNvSpPr txBox="1"/>
          <p:nvPr/>
        </p:nvSpPr>
        <p:spPr>
          <a:xfrm>
            <a:off x="111556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One feature at a time</a:t>
            </a:r>
          </a:p>
        </p:txBody>
      </p:sp>
      <p:sp>
        <p:nvSpPr>
          <p:cNvPr id="12" name="TextBox 11"/>
          <p:cNvSpPr txBox="1"/>
          <p:nvPr/>
        </p:nvSpPr>
        <p:spPr>
          <a:xfrm>
            <a:off x="1115568" y="2788920"/>
            <a:ext cx="2907791" cy="1773936"/>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Pick the single highest-priority failing feature and finish it. This one rule is the biggest fix for the 'do everything at once' failure.</a:t>
            </a:r>
          </a:p>
        </p:txBody>
      </p:sp>
      <p:sp>
        <p:nvSpPr>
          <p:cNvPr id="13" name="Rectangle 12"/>
          <p:cNvSpPr/>
          <p:nvPr/>
        </p:nvSpPr>
        <p:spPr>
          <a:xfrm>
            <a:off x="4206240" y="2532888"/>
            <a:ext cx="50292" cy="20116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02</a:t>
            </a:r>
          </a:p>
        </p:txBody>
      </p:sp>
      <p:sp>
        <p:nvSpPr>
          <p:cNvPr id="15" name="TextBox 14"/>
          <p:cNvSpPr txBox="1"/>
          <p:nvPr/>
        </p:nvSpPr>
        <p:spPr>
          <a:xfrm>
            <a:off x="4864607"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Leave a mergeable state</a:t>
            </a:r>
          </a:p>
        </p:txBody>
      </p:sp>
      <p:sp>
        <p:nvSpPr>
          <p:cNvPr id="16" name="TextBox 15"/>
          <p:cNvSpPr txBox="1"/>
          <p:nvPr/>
        </p:nvSpPr>
        <p:spPr>
          <a:xfrm>
            <a:off x="4864607" y="2788920"/>
            <a:ext cx="2907791" cy="1773936"/>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End every session as if merging to main: no major bugs, orderly, documented. Commit to git with a descriptive message — which also lets the agent revert bad changes and recover a working state.</a:t>
            </a:r>
          </a:p>
        </p:txBody>
      </p:sp>
      <p:sp>
        <p:nvSpPr>
          <p:cNvPr id="17" name="Rectangle 16"/>
          <p:cNvSpPr/>
          <p:nvPr/>
        </p:nvSpPr>
        <p:spPr>
          <a:xfrm>
            <a:off x="7955279" y="2532888"/>
            <a:ext cx="50292" cy="20116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03</a:t>
            </a:r>
          </a:p>
        </p:txBody>
      </p:sp>
      <p:sp>
        <p:nvSpPr>
          <p:cNvPr id="19" name="TextBox 18"/>
          <p:cNvSpPr txBox="1"/>
          <p:nvPr/>
        </p:nvSpPr>
        <p:spPr>
          <a:xfrm>
            <a:off x="861364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Get up to speed first</a:t>
            </a:r>
          </a:p>
        </p:txBody>
      </p:sp>
      <p:sp>
        <p:nvSpPr>
          <p:cNvPr id="20" name="TextBox 19"/>
          <p:cNvSpPr txBox="1"/>
          <p:nvPr/>
        </p:nvSpPr>
        <p:spPr>
          <a:xfrm>
            <a:off x="8613648" y="2788920"/>
            <a:ext cx="2907791" cy="1773936"/>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Every session opens the same way: pwd, read the progress log and git history, read the feature list, run init.sh, and smoke-test end-to-end before writing anything new.</a:t>
            </a:r>
          </a:p>
        </p:txBody>
      </p:sp>
      <p:sp>
        <p:nvSpPr>
          <p:cNvPr id="21" name="Rectangle 20"/>
          <p:cNvSpPr/>
          <p:nvPr/>
        </p:nvSpPr>
        <p:spPr>
          <a:xfrm>
            <a:off x="457200" y="4937760"/>
            <a:ext cx="11064240" cy="1188720"/>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084064"/>
            <a:ext cx="10661904" cy="896112"/>
          </a:xfrm>
          <a:prstGeom prst="rect">
            <a:avLst/>
          </a:prstGeom>
          <a:noFill/>
        </p:spPr>
        <p:txBody>
          <a:bodyPr wrap="square" anchor="ctr" lIns="0" rIns="0" tIns="0" bIns="0">
            <a:spAutoFit/>
          </a:bodyPr>
          <a:lstStyle/>
          <a:p>
            <a:pPr algn="l">
              <a:lnSpc>
                <a:spcPct val="108000"/>
              </a:lnSpc>
              <a:spcBef>
                <a:spcPts val="0"/>
              </a:spcBef>
              <a:spcAft>
                <a:spcPts val="500"/>
              </a:spcAft>
            </a:pPr>
            <a:r>
              <a:rPr sz="1350" b="1" i="0">
                <a:solidFill>
                  <a:srgbClr val="181818"/>
                </a:solidFill>
                <a:latin typeface="Optimist Display"/>
              </a:rPr>
              <a:t>Why the ritual pays off</a:t>
            </a:r>
          </a:p>
          <a:p>
            <a:pPr algn="l">
              <a:lnSpc>
                <a:spcPct val="108000"/>
              </a:lnSpc>
              <a:spcBef>
                <a:spcPts val="0"/>
              </a:spcBef>
              <a:spcAft>
                <a:spcPts val="500"/>
              </a:spcAft>
            </a:pPr>
            <a:r>
              <a:rPr sz="1200" b="0" i="0">
                <a:solidFill>
                  <a:srgbClr val="181818"/>
                </a:solidFill>
                <a:latin typeface="Optimist Sans"/>
              </a:rPr>
              <a:t>Reading the log and running a smoke test at the start catches any undocumented breakage before the agent piles new work on top of it — and saves the tokens it would otherwise burn re-deriving how the project even runs.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HARNESS · COMPONENT 3  ·  14</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Verification: the half of the loop everyone skips</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The most stubborn failure wasn't bad code — it was the agent believing bad code was good. Close the loop with real checks.</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14 / 17</a:t>
            </a:r>
          </a:p>
        </p:txBody>
      </p:sp>
      <p:sp>
        <p:nvSpPr>
          <p:cNvPr id="9" name="Rectangle 8"/>
          <p:cNvSpPr/>
          <p:nvPr/>
        </p:nvSpPr>
        <p:spPr>
          <a:xfrm>
            <a:off x="457200" y="2487168"/>
            <a:ext cx="5394960" cy="2743200"/>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651760"/>
            <a:ext cx="5029200" cy="365760"/>
          </a:xfrm>
          <a:prstGeom prst="rect">
            <a:avLst/>
          </a:prstGeom>
          <a:noFill/>
        </p:spPr>
        <p:txBody>
          <a:bodyPr wrap="square" anchor="t" lIns="0" rIns="0" tIns="0" bIns="0">
            <a:spAutoFit/>
          </a:bodyPr>
          <a:lstStyle/>
          <a:p>
            <a:pPr algn="l">
              <a:lnSpc>
                <a:spcPct val="100000"/>
              </a:lnSpc>
              <a:spcBef>
                <a:spcPts val="0"/>
              </a:spcBef>
              <a:spcAft>
                <a:spcPts val="0"/>
              </a:spcAft>
            </a:pPr>
            <a:r>
              <a:rPr sz="1100" b="1" i="0">
                <a:solidFill>
                  <a:srgbClr val="CC785C"/>
                </a:solidFill>
                <a:latin typeface="Optimist Sans"/>
              </a:rPr>
              <a:t>WHAT BROKE</a:t>
            </a:r>
          </a:p>
        </p:txBody>
      </p:sp>
      <p:sp>
        <p:nvSpPr>
          <p:cNvPr id="11" name="TextBox 10"/>
          <p:cNvSpPr txBox="1"/>
          <p:nvPr/>
        </p:nvSpPr>
        <p:spPr>
          <a:xfrm>
            <a:off x="658368" y="3108960"/>
            <a:ext cx="5029200" cy="201168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181818"/>
                </a:solidFill>
                <a:latin typeface="Optimist Sans"/>
              </a:rPr>
              <a:t>Claude marked features 'done' without real testing. It would make changes, even run unit tests or curl a dev server — and still miss that the feature didn't actually work end-to-end for a user. Passing checks ≠ working software.</a:t>
            </a:r>
          </a:p>
        </p:txBody>
      </p:sp>
      <p:sp>
        <p:nvSpPr>
          <p:cNvPr id="12" name="Rectangle 11"/>
          <p:cNvSpPr/>
          <p:nvPr/>
        </p:nvSpPr>
        <p:spPr>
          <a:xfrm>
            <a:off x="6126480" y="2487168"/>
            <a:ext cx="5394960" cy="2743200"/>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8" y="2651760"/>
            <a:ext cx="5029200" cy="365760"/>
          </a:xfrm>
          <a:prstGeom prst="rect">
            <a:avLst/>
          </a:prstGeom>
          <a:noFill/>
        </p:spPr>
        <p:txBody>
          <a:bodyPr wrap="square" anchor="t" lIns="0" rIns="0" tIns="0" bIns="0">
            <a:spAutoFit/>
          </a:bodyPr>
          <a:lstStyle/>
          <a:p>
            <a:pPr algn="l">
              <a:lnSpc>
                <a:spcPct val="100000"/>
              </a:lnSpc>
              <a:spcBef>
                <a:spcPts val="0"/>
              </a:spcBef>
              <a:spcAft>
                <a:spcPts val="0"/>
              </a:spcAft>
            </a:pPr>
            <a:r>
              <a:rPr sz="1100" b="1" i="0">
                <a:solidFill>
                  <a:srgbClr val="CC785C"/>
                </a:solidFill>
                <a:latin typeface="Optimist Sans"/>
              </a:rPr>
              <a:t>WHAT FIXED IT</a:t>
            </a:r>
          </a:p>
        </p:txBody>
      </p:sp>
      <p:sp>
        <p:nvSpPr>
          <p:cNvPr id="14" name="TextBox 13"/>
          <p:cNvSpPr txBox="1"/>
          <p:nvPr/>
        </p:nvSpPr>
        <p:spPr>
          <a:xfrm>
            <a:off x="6327648" y="3108960"/>
            <a:ext cx="5029200" cy="201168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181818"/>
                </a:solidFill>
                <a:latin typeface="Optimist Sans"/>
              </a:rPr>
              <a:t>Give the agent real verification tools — browser automation (a Puppeteer MCP) — and tell it to test as a human would. It could then see and fix bugs invisible in the code. Providing testing tools dramatically improved results.</a:t>
            </a:r>
          </a:p>
        </p:txBody>
      </p:sp>
      <p:sp>
        <p:nvSpPr>
          <p:cNvPr id="15" name="Rectangle 14"/>
          <p:cNvSpPr/>
          <p:nvPr/>
        </p:nvSpPr>
        <p:spPr>
          <a:xfrm>
            <a:off x="457200" y="5486400"/>
            <a:ext cx="11064240" cy="658368"/>
          </a:xfrm>
          <a:prstGeom prst="rect">
            <a:avLst/>
          </a:prstGeom>
          <a:solidFill>
            <a:srgbClr val="1F1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32704"/>
            <a:ext cx="10661904" cy="365759"/>
          </a:xfrm>
          <a:prstGeom prst="rect">
            <a:avLst/>
          </a:prstGeom>
          <a:noFill/>
        </p:spPr>
        <p:txBody>
          <a:bodyPr wrap="square" anchor="ctr" lIns="0" rIns="0" tIns="0" bIns="0">
            <a:spAutoFit/>
          </a:bodyPr>
          <a:lstStyle/>
          <a:p>
            <a:pPr algn="l">
              <a:lnSpc>
                <a:spcPct val="108000"/>
              </a:lnSpc>
              <a:spcBef>
                <a:spcPts val="0"/>
              </a:spcBef>
              <a:spcAft>
                <a:spcPts val="500"/>
              </a:spcAft>
            </a:pPr>
            <a:r>
              <a:rPr sz="1200" b="0" i="0">
                <a:solidFill>
                  <a:srgbClr val="E8C896"/>
                </a:solidFill>
                <a:latin typeface="Optimist Sans"/>
              </a:rPr>
              <a:t>The principle: an agent that can't check its own work will confidently ship broken work. Verification isn't a QA step at the end — it's half of every loop.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HARNESS · TOOLS  ·  15</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Tools are the harness's contract with the world</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Tools define what the agent can see and do. Designing them well is core harness engineering — not an afterthought.</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15 / 17</a:t>
            </a:r>
          </a:p>
        </p:txBody>
      </p:sp>
      <p:sp>
        <p:nvSpPr>
          <p:cNvPr id="9" name="Rectangle 8"/>
          <p:cNvSpPr/>
          <p:nvPr/>
        </p:nvSpPr>
        <p:spPr>
          <a:xfrm>
            <a:off x="457200" y="2532888"/>
            <a:ext cx="50292" cy="20116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01</a:t>
            </a:r>
          </a:p>
        </p:txBody>
      </p:sp>
      <p:sp>
        <p:nvSpPr>
          <p:cNvPr id="11" name="TextBox 10"/>
          <p:cNvSpPr txBox="1"/>
          <p:nvPr/>
        </p:nvSpPr>
        <p:spPr>
          <a:xfrm>
            <a:off x="111556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High-leverage &amp; namespaced</a:t>
            </a:r>
          </a:p>
        </p:txBody>
      </p:sp>
      <p:sp>
        <p:nvSpPr>
          <p:cNvPr id="12" name="TextBox 11"/>
          <p:cNvSpPr txBox="1"/>
          <p:nvPr/>
        </p:nvSpPr>
        <p:spPr>
          <a:xfrm>
            <a:off x="1115568" y="3026664"/>
            <a:ext cx="2907791" cy="153619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Build tools that expand real capability, not thin wrappers over every API endpoint. Namespace them by service and resource (asana_search, jira_search) so the agent picks the right one.</a:t>
            </a:r>
          </a:p>
        </p:txBody>
      </p:sp>
      <p:sp>
        <p:nvSpPr>
          <p:cNvPr id="13" name="Rectangle 12"/>
          <p:cNvSpPr/>
          <p:nvPr/>
        </p:nvSpPr>
        <p:spPr>
          <a:xfrm>
            <a:off x="4206240" y="2532888"/>
            <a:ext cx="50292" cy="20116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02</a:t>
            </a:r>
          </a:p>
        </p:txBody>
      </p:sp>
      <p:sp>
        <p:nvSpPr>
          <p:cNvPr id="15" name="TextBox 14"/>
          <p:cNvSpPr txBox="1"/>
          <p:nvPr/>
        </p:nvSpPr>
        <p:spPr>
          <a:xfrm>
            <a:off x="4864607"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Token-efficient returns</a:t>
            </a:r>
          </a:p>
        </p:txBody>
      </p:sp>
      <p:sp>
        <p:nvSpPr>
          <p:cNvPr id="16" name="TextBox 15"/>
          <p:cNvSpPr txBox="1"/>
          <p:nvPr/>
        </p:nvSpPr>
        <p:spPr>
          <a:xfrm>
            <a:off x="4864607" y="3026664"/>
            <a:ext cx="2907791" cy="153619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Return human-readable, high-signal fields — not raw IDs and dumps. Build in pagination, truncation, and filtering so a single call can't flood the context.</a:t>
            </a:r>
          </a:p>
        </p:txBody>
      </p:sp>
      <p:sp>
        <p:nvSpPr>
          <p:cNvPr id="17" name="Rectangle 16"/>
          <p:cNvSpPr/>
          <p:nvPr/>
        </p:nvSpPr>
        <p:spPr>
          <a:xfrm>
            <a:off x="7955279" y="2532888"/>
            <a:ext cx="50292" cy="201168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2496312"/>
            <a:ext cx="914400" cy="310896"/>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CC785C"/>
                </a:solidFill>
                <a:latin typeface="Optimist Display"/>
              </a:rPr>
              <a:t>03</a:t>
            </a:r>
          </a:p>
        </p:txBody>
      </p:sp>
      <p:sp>
        <p:nvSpPr>
          <p:cNvPr id="19" name="TextBox 18"/>
          <p:cNvSpPr txBox="1"/>
          <p:nvPr/>
        </p:nvSpPr>
        <p:spPr>
          <a:xfrm>
            <a:off x="8613648" y="2505456"/>
            <a:ext cx="2907791" cy="457200"/>
          </a:xfrm>
          <a:prstGeom prst="rect">
            <a:avLst/>
          </a:prstGeom>
          <a:noFill/>
        </p:spPr>
        <p:txBody>
          <a:bodyPr wrap="square" anchor="t" lIns="0" rIns="0" tIns="0" bIns="0">
            <a:spAutoFit/>
          </a:bodyPr>
          <a:lstStyle/>
          <a:p>
            <a:pPr algn="l">
              <a:lnSpc>
                <a:spcPct val="102000"/>
              </a:lnSpc>
              <a:spcBef>
                <a:spcPts val="0"/>
              </a:spcBef>
              <a:spcAft>
                <a:spcPts val="0"/>
              </a:spcAft>
            </a:pPr>
            <a:r>
              <a:rPr sz="1250" b="1" i="0">
                <a:solidFill>
                  <a:srgbClr val="181818"/>
                </a:solidFill>
                <a:latin typeface="Optimist Sans"/>
              </a:rPr>
              <a:t>Evaluation-driven</a:t>
            </a:r>
          </a:p>
        </p:txBody>
      </p:sp>
      <p:sp>
        <p:nvSpPr>
          <p:cNvPr id="20" name="TextBox 19"/>
          <p:cNvSpPr txBox="1"/>
          <p:nvPr/>
        </p:nvSpPr>
        <p:spPr>
          <a:xfrm>
            <a:off x="8613648" y="3026664"/>
            <a:ext cx="2907791" cy="1536192"/>
          </a:xfrm>
          <a:prstGeom prst="rect">
            <a:avLst/>
          </a:prstGeom>
          <a:noFill/>
        </p:spPr>
        <p:txBody>
          <a:bodyPr wrap="square" anchor="t" lIns="0" rIns="0" tIns="0" bIns="0">
            <a:spAutoFit/>
          </a:bodyPr>
          <a:lstStyle/>
          <a:p>
            <a:pPr algn="l">
              <a:lnSpc>
                <a:spcPct val="105000"/>
              </a:lnSpc>
              <a:spcBef>
                <a:spcPts val="0"/>
              </a:spcBef>
              <a:spcAft>
                <a:spcPts val="0"/>
              </a:spcAft>
            </a:pPr>
            <a:r>
              <a:rPr sz="1150" b="0" i="0">
                <a:solidFill>
                  <a:srgbClr val="6B6B6B"/>
                </a:solidFill>
                <a:latin typeface="Optimist Sans"/>
              </a:rPr>
              <a:t>Build an eval of real tasks, measure tool performance, and have Claude optimize the tools against it. If a human can't say which tool to use, neither can the agent.</a:t>
            </a:r>
          </a:p>
        </p:txBody>
      </p:sp>
      <p:sp>
        <p:nvSpPr>
          <p:cNvPr id="21" name="Rectangle 20"/>
          <p:cNvSpPr/>
          <p:nvPr/>
        </p:nvSpPr>
        <p:spPr>
          <a:xfrm>
            <a:off x="457200" y="4892040"/>
            <a:ext cx="11064240" cy="1280160"/>
          </a:xfrm>
          <a:prstGeom prst="rect">
            <a:avLst/>
          </a:prstGeom>
          <a:solidFill>
            <a:srgbClr val="1F1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029200"/>
            <a:ext cx="1060704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E8C896"/>
                </a:solidFill>
                <a:latin typeface="Optimist Sans"/>
              </a:rPr>
              <a:t>ADVANCED LEVERS — scaling tools without paying in context</a:t>
            </a:r>
          </a:p>
        </p:txBody>
      </p:sp>
      <p:sp>
        <p:nvSpPr>
          <p:cNvPr id="23" name="TextBox 22"/>
          <p:cNvSpPr txBox="1"/>
          <p:nvPr/>
        </p:nvSpPr>
        <p:spPr>
          <a:xfrm>
            <a:off x="658368" y="5376672"/>
            <a:ext cx="324612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E8C896"/>
                </a:solidFill>
                <a:latin typeface="Optimist Mono"/>
              </a:rPr>
              <a:t>Tool Search Tool</a:t>
            </a:r>
          </a:p>
        </p:txBody>
      </p:sp>
      <p:sp>
        <p:nvSpPr>
          <p:cNvPr id="24" name="TextBox 23"/>
          <p:cNvSpPr txBox="1"/>
          <p:nvPr/>
        </p:nvSpPr>
        <p:spPr>
          <a:xfrm>
            <a:off x="3977639" y="5376672"/>
            <a:ext cx="740664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C9BCA6"/>
                </a:solidFill>
                <a:latin typeface="Optimist Sans"/>
              </a:rPr>
              <a:t>reach thousands of tools without loading them all into context</a:t>
            </a:r>
          </a:p>
        </p:txBody>
      </p:sp>
      <p:sp>
        <p:nvSpPr>
          <p:cNvPr id="25" name="TextBox 24"/>
          <p:cNvSpPr txBox="1"/>
          <p:nvPr/>
        </p:nvSpPr>
        <p:spPr>
          <a:xfrm>
            <a:off x="658368" y="5641848"/>
            <a:ext cx="324612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E8C896"/>
                </a:solidFill>
                <a:latin typeface="Optimist Mono"/>
              </a:rPr>
              <a:t>Programmatic Tool Calling</a:t>
            </a:r>
          </a:p>
        </p:txBody>
      </p:sp>
      <p:sp>
        <p:nvSpPr>
          <p:cNvPr id="26" name="TextBox 25"/>
          <p:cNvSpPr txBox="1"/>
          <p:nvPr/>
        </p:nvSpPr>
        <p:spPr>
          <a:xfrm>
            <a:off x="3977639" y="5641848"/>
            <a:ext cx="740664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C9BCA6"/>
                </a:solidFill>
                <a:latin typeface="Optimist Sans"/>
              </a:rPr>
              <a:t>invoke tools in a code sandbox; keep bulky results out of context</a:t>
            </a:r>
          </a:p>
        </p:txBody>
      </p:sp>
      <p:sp>
        <p:nvSpPr>
          <p:cNvPr id="27" name="TextBox 26"/>
          <p:cNvSpPr txBox="1"/>
          <p:nvPr/>
        </p:nvSpPr>
        <p:spPr>
          <a:xfrm>
            <a:off x="658368" y="5907024"/>
            <a:ext cx="324612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1" i="0">
                <a:solidFill>
                  <a:srgbClr val="E8C896"/>
                </a:solidFill>
                <a:latin typeface="Optimist Mono"/>
              </a:rPr>
              <a:t>Tool Use Examples</a:t>
            </a:r>
          </a:p>
        </p:txBody>
      </p:sp>
      <p:sp>
        <p:nvSpPr>
          <p:cNvPr id="28" name="TextBox 27"/>
          <p:cNvSpPr txBox="1"/>
          <p:nvPr/>
        </p:nvSpPr>
        <p:spPr>
          <a:xfrm>
            <a:off x="3977639" y="5907024"/>
            <a:ext cx="740664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C9BCA6"/>
                </a:solidFill>
                <a:latin typeface="Optimist Sans"/>
              </a:rPr>
              <a:t>show, don't just describe, how a tricky tool should be called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29768"/>
            <a:ext cx="146304" cy="146304"/>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02336"/>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6B6B6B"/>
                </a:solidFill>
                <a:latin typeface="Optimist Sans"/>
              </a:rPr>
              <a:t>HARNESS · RECAP  ·  16</a:t>
            </a:r>
          </a:p>
        </p:txBody>
      </p:sp>
      <p:sp>
        <p:nvSpPr>
          <p:cNvPr id="5" name="TextBox 4"/>
          <p:cNvSpPr txBox="1"/>
          <p:nvPr/>
        </p:nvSpPr>
        <p:spPr>
          <a:xfrm>
            <a:off x="457200" y="676656"/>
            <a:ext cx="1124712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181818"/>
                </a:solidFill>
                <a:latin typeface="Optimist Display"/>
              </a:rPr>
              <a:t>Failure mode → harness fix</a:t>
            </a:r>
          </a:p>
        </p:txBody>
      </p:sp>
      <p:sp>
        <p:nvSpPr>
          <p:cNvPr id="6" name="TextBox 5"/>
          <p:cNvSpPr txBox="1"/>
          <p:nvPr/>
        </p:nvSpPr>
        <p:spPr>
          <a:xfrm>
            <a:off x="457200" y="1664208"/>
            <a:ext cx="11247120" cy="640080"/>
          </a:xfrm>
          <a:prstGeom prst="rect">
            <a:avLst/>
          </a:prstGeom>
          <a:noFill/>
        </p:spPr>
        <p:txBody>
          <a:bodyPr wrap="square" anchor="t" lIns="0" rIns="0" tIns="0" bIns="0">
            <a:spAutoFit/>
          </a:bodyPr>
          <a:lstStyle/>
          <a:p>
            <a:pPr algn="l">
              <a:lnSpc>
                <a:spcPct val="108000"/>
              </a:lnSpc>
              <a:spcBef>
                <a:spcPts val="0"/>
              </a:spcBef>
              <a:spcAft>
                <a:spcPts val="0"/>
              </a:spcAft>
            </a:pPr>
            <a:r>
              <a:rPr sz="1350" b="0" i="0">
                <a:solidFill>
                  <a:srgbClr val="6B6B6B"/>
                </a:solidFill>
                <a:latin typeface="Optimist Sans"/>
              </a:rPr>
              <a:t>The long-running-agent playbook on one page. Every fix is an artifact or a ritual you build into the harness.</a:t>
            </a:r>
          </a:p>
        </p:txBody>
      </p:sp>
      <p:sp>
        <p:nvSpPr>
          <p:cNvPr id="7" name="TextBox 6"/>
          <p:cNvSpPr txBox="1"/>
          <p:nvPr/>
        </p:nvSpPr>
        <p:spPr>
          <a:xfrm>
            <a:off x="457200" y="6455664"/>
            <a:ext cx="82296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6B6B6B"/>
                </a:solidFill>
                <a:latin typeface="Optimist Sans"/>
              </a:rPr>
              <a:t>Harness Engineering — Practitioner's Guide   |   Internal Share</a:t>
            </a:r>
          </a:p>
        </p:txBody>
      </p:sp>
      <p:sp>
        <p:nvSpPr>
          <p:cNvPr id="8" name="TextBox 7"/>
          <p:cNvSpPr txBox="1"/>
          <p:nvPr/>
        </p:nvSpPr>
        <p:spPr>
          <a:xfrm>
            <a:off x="10698480" y="6455664"/>
            <a:ext cx="1005840" cy="274320"/>
          </a:xfrm>
          <a:prstGeom prst="rect">
            <a:avLst/>
          </a:prstGeom>
          <a:noFill/>
        </p:spPr>
        <p:txBody>
          <a:bodyPr wrap="square" anchor="t" lIns="0" rIns="0" tIns="0" bIns="0">
            <a:spAutoFit/>
          </a:bodyPr>
          <a:lstStyle/>
          <a:p>
            <a:pPr algn="r">
              <a:lnSpc>
                <a:spcPct val="100000"/>
              </a:lnSpc>
              <a:spcBef>
                <a:spcPts val="0"/>
              </a:spcBef>
              <a:spcAft>
                <a:spcPts val="0"/>
              </a:spcAft>
            </a:pPr>
            <a:r>
              <a:rPr sz="900" b="0" i="0">
                <a:solidFill>
                  <a:srgbClr val="6B6B6B"/>
                </a:solidFill>
                <a:latin typeface="Optimist Sans"/>
              </a:rPr>
              <a:t>16 / 17</a:t>
            </a:r>
          </a:p>
        </p:txBody>
      </p:sp>
      <p:sp>
        <p:nvSpPr>
          <p:cNvPr id="9" name="Rectangle 8"/>
          <p:cNvSpPr/>
          <p:nvPr/>
        </p:nvSpPr>
        <p:spPr>
          <a:xfrm>
            <a:off x="457200" y="2487168"/>
            <a:ext cx="5623560" cy="402336"/>
          </a:xfrm>
          <a:prstGeom prst="rect">
            <a:avLst/>
          </a:prstGeom>
          <a:solidFill>
            <a:srgbClr val="1F1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2487168"/>
            <a:ext cx="5349240" cy="402336"/>
          </a:xfrm>
          <a:prstGeom prst="rect">
            <a:avLst/>
          </a:prstGeom>
          <a:solidFill>
            <a:srgbClr val="1F1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578608"/>
            <a:ext cx="539496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E8C896"/>
                </a:solidFill>
                <a:latin typeface="Optimist Sans"/>
              </a:rPr>
              <a:t>FAILURE MODE</a:t>
            </a:r>
          </a:p>
        </p:txBody>
      </p:sp>
      <p:sp>
        <p:nvSpPr>
          <p:cNvPr id="12" name="TextBox 11"/>
          <p:cNvSpPr txBox="1"/>
          <p:nvPr/>
        </p:nvSpPr>
        <p:spPr>
          <a:xfrm>
            <a:off x="6355080" y="2578608"/>
            <a:ext cx="5120640" cy="27432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E8C896"/>
                </a:solidFill>
                <a:latin typeface="Optimist Sans"/>
              </a:rPr>
              <a:t>HARNESS FIX</a:t>
            </a:r>
          </a:p>
        </p:txBody>
      </p:sp>
      <p:sp>
        <p:nvSpPr>
          <p:cNvPr id="13" name="Rectangle 12"/>
          <p:cNvSpPr/>
          <p:nvPr/>
        </p:nvSpPr>
        <p:spPr>
          <a:xfrm>
            <a:off x="457200" y="2889504"/>
            <a:ext cx="5623560" cy="749808"/>
          </a:xfrm>
          <a:prstGeom prst="rect">
            <a:avLst/>
          </a:prstGeom>
          <a:solidFill>
            <a:srgbClr val="F5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889504"/>
            <a:ext cx="5349240" cy="749808"/>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80944"/>
            <a:ext cx="5349240" cy="585215"/>
          </a:xfrm>
          <a:prstGeom prst="rect">
            <a:avLst/>
          </a:prstGeom>
          <a:noFill/>
        </p:spPr>
        <p:txBody>
          <a:bodyPr wrap="square" anchor="ctr" lIns="0" rIns="0" tIns="0" bIns="0">
            <a:spAutoFit/>
          </a:bodyPr>
          <a:lstStyle/>
          <a:p>
            <a:pPr algn="l">
              <a:lnSpc>
                <a:spcPct val="105000"/>
              </a:lnSpc>
              <a:spcBef>
                <a:spcPts val="0"/>
              </a:spcBef>
              <a:spcAft>
                <a:spcPts val="0"/>
              </a:spcAft>
            </a:pPr>
            <a:r>
              <a:rPr sz="1200" b="1" i="0">
                <a:solidFill>
                  <a:srgbClr val="181818"/>
                </a:solidFill>
                <a:latin typeface="Optimist Sans"/>
              </a:rPr>
              <a:t>Declares the whole project done too early</a:t>
            </a:r>
          </a:p>
        </p:txBody>
      </p:sp>
      <p:sp>
        <p:nvSpPr>
          <p:cNvPr id="16" name="TextBox 15"/>
          <p:cNvSpPr txBox="1"/>
          <p:nvPr/>
        </p:nvSpPr>
        <p:spPr>
          <a:xfrm>
            <a:off x="6355080" y="2980944"/>
            <a:ext cx="5029200" cy="585215"/>
          </a:xfrm>
          <a:prstGeom prst="rect">
            <a:avLst/>
          </a:prstGeom>
          <a:noFill/>
        </p:spPr>
        <p:txBody>
          <a:bodyPr wrap="square" anchor="ctr" lIns="0" rIns="0" tIns="0" bIns="0">
            <a:spAutoFit/>
          </a:bodyPr>
          <a:lstStyle/>
          <a:p>
            <a:pPr algn="l">
              <a:lnSpc>
                <a:spcPct val="105000"/>
              </a:lnSpc>
              <a:spcBef>
                <a:spcPts val="0"/>
              </a:spcBef>
              <a:spcAft>
                <a:spcPts val="0"/>
              </a:spcAft>
            </a:pPr>
            <a:r>
              <a:rPr sz="1150" b="0" i="0">
                <a:solidFill>
                  <a:srgbClr val="6B6B6B"/>
                </a:solidFill>
                <a:latin typeface="Optimist Sans"/>
              </a:rPr>
              <a:t>A feature-list file. Read it each session; pick one unfinished feature to work on.</a:t>
            </a:r>
          </a:p>
        </p:txBody>
      </p:sp>
      <p:sp>
        <p:nvSpPr>
          <p:cNvPr id="17" name="Rectangle 16"/>
          <p:cNvSpPr/>
          <p:nvPr/>
        </p:nvSpPr>
        <p:spPr>
          <a:xfrm>
            <a:off x="457200" y="3639312"/>
            <a:ext cx="562356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3639312"/>
            <a:ext cx="5349240" cy="749808"/>
          </a:xfrm>
          <a:prstGeom prst="rect">
            <a:avLst/>
          </a:prstGeom>
          <a:solidFill>
            <a:srgbClr val="EE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730752"/>
            <a:ext cx="5349240" cy="585215"/>
          </a:xfrm>
          <a:prstGeom prst="rect">
            <a:avLst/>
          </a:prstGeom>
          <a:noFill/>
        </p:spPr>
        <p:txBody>
          <a:bodyPr wrap="square" anchor="ctr" lIns="0" rIns="0" tIns="0" bIns="0">
            <a:spAutoFit/>
          </a:bodyPr>
          <a:lstStyle/>
          <a:p>
            <a:pPr algn="l">
              <a:lnSpc>
                <a:spcPct val="105000"/>
              </a:lnSpc>
              <a:spcBef>
                <a:spcPts val="0"/>
              </a:spcBef>
              <a:spcAft>
                <a:spcPts val="0"/>
              </a:spcAft>
            </a:pPr>
            <a:r>
              <a:rPr sz="1200" b="1" i="0">
                <a:solidFill>
                  <a:srgbClr val="181818"/>
                </a:solidFill>
                <a:latin typeface="Optimist Sans"/>
              </a:rPr>
              <a:t>Leaves a buggy, undocumented environment</a:t>
            </a:r>
          </a:p>
        </p:txBody>
      </p:sp>
      <p:sp>
        <p:nvSpPr>
          <p:cNvPr id="20" name="TextBox 19"/>
          <p:cNvSpPr txBox="1"/>
          <p:nvPr/>
        </p:nvSpPr>
        <p:spPr>
          <a:xfrm>
            <a:off x="6355080" y="3730752"/>
            <a:ext cx="5029200" cy="585215"/>
          </a:xfrm>
          <a:prstGeom prst="rect">
            <a:avLst/>
          </a:prstGeom>
          <a:noFill/>
        </p:spPr>
        <p:txBody>
          <a:bodyPr wrap="square" anchor="ctr" lIns="0" rIns="0" tIns="0" bIns="0">
            <a:spAutoFit/>
          </a:bodyPr>
          <a:lstStyle/>
          <a:p>
            <a:pPr algn="l">
              <a:lnSpc>
                <a:spcPct val="105000"/>
              </a:lnSpc>
              <a:spcBef>
                <a:spcPts val="0"/>
              </a:spcBef>
              <a:spcAft>
                <a:spcPts val="0"/>
              </a:spcAft>
            </a:pPr>
            <a:r>
              <a:rPr sz="1150" b="0" i="0">
                <a:solidFill>
                  <a:srgbClr val="6B6B6B"/>
                </a:solidFill>
                <a:latin typeface="Optimist Sans"/>
              </a:rPr>
              <a:t>Git repo + progress log. Read them at the start, smoke-test, commit and update at the end.</a:t>
            </a:r>
          </a:p>
        </p:txBody>
      </p:sp>
      <p:sp>
        <p:nvSpPr>
          <p:cNvPr id="21" name="Rectangle 20"/>
          <p:cNvSpPr/>
          <p:nvPr/>
        </p:nvSpPr>
        <p:spPr>
          <a:xfrm>
            <a:off x="457200" y="4389120"/>
            <a:ext cx="5623560" cy="749808"/>
          </a:xfrm>
          <a:prstGeom prst="rect">
            <a:avLst/>
          </a:prstGeom>
          <a:solidFill>
            <a:srgbClr val="F5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4389120"/>
            <a:ext cx="5349240" cy="749808"/>
          </a:xfrm>
          <a:prstGeom prst="rect">
            <a:avLst/>
          </a:prstGeom>
          <a:solidFill>
            <a:srgbClr val="E8D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480559"/>
            <a:ext cx="5349240" cy="585215"/>
          </a:xfrm>
          <a:prstGeom prst="rect">
            <a:avLst/>
          </a:prstGeom>
          <a:noFill/>
        </p:spPr>
        <p:txBody>
          <a:bodyPr wrap="square" anchor="ctr" lIns="0" rIns="0" tIns="0" bIns="0">
            <a:spAutoFit/>
          </a:bodyPr>
          <a:lstStyle/>
          <a:p>
            <a:pPr algn="l">
              <a:lnSpc>
                <a:spcPct val="105000"/>
              </a:lnSpc>
              <a:spcBef>
                <a:spcPts val="0"/>
              </a:spcBef>
              <a:spcAft>
                <a:spcPts val="0"/>
              </a:spcAft>
            </a:pPr>
            <a:r>
              <a:rPr sz="1200" b="1" i="0">
                <a:solidFill>
                  <a:srgbClr val="181818"/>
                </a:solidFill>
                <a:latin typeface="Optimist Sans"/>
              </a:rPr>
              <a:t>Marks features done without real testing</a:t>
            </a:r>
          </a:p>
        </p:txBody>
      </p:sp>
      <p:sp>
        <p:nvSpPr>
          <p:cNvPr id="24" name="TextBox 23"/>
          <p:cNvSpPr txBox="1"/>
          <p:nvPr/>
        </p:nvSpPr>
        <p:spPr>
          <a:xfrm>
            <a:off x="6355080" y="4480559"/>
            <a:ext cx="5029200" cy="585215"/>
          </a:xfrm>
          <a:prstGeom prst="rect">
            <a:avLst/>
          </a:prstGeom>
          <a:noFill/>
        </p:spPr>
        <p:txBody>
          <a:bodyPr wrap="square" anchor="ctr" lIns="0" rIns="0" tIns="0" bIns="0">
            <a:spAutoFit/>
          </a:bodyPr>
          <a:lstStyle/>
          <a:p>
            <a:pPr algn="l">
              <a:lnSpc>
                <a:spcPct val="105000"/>
              </a:lnSpc>
              <a:spcBef>
                <a:spcPts val="0"/>
              </a:spcBef>
              <a:spcAft>
                <a:spcPts val="0"/>
              </a:spcAft>
            </a:pPr>
            <a:r>
              <a:rPr sz="1150" b="0" i="0">
                <a:solidFill>
                  <a:srgbClr val="6B6B6B"/>
                </a:solidFill>
                <a:latin typeface="Optimist Sans"/>
              </a:rPr>
              <a:t>Self-verification with real tools. Only flip to 'passing' after end-to-end testing.</a:t>
            </a:r>
          </a:p>
        </p:txBody>
      </p:sp>
      <p:sp>
        <p:nvSpPr>
          <p:cNvPr id="25" name="Rectangle 24"/>
          <p:cNvSpPr/>
          <p:nvPr/>
        </p:nvSpPr>
        <p:spPr>
          <a:xfrm>
            <a:off x="457200" y="5138928"/>
            <a:ext cx="562356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2200" y="5138928"/>
            <a:ext cx="5349240" cy="749808"/>
          </a:xfrm>
          <a:prstGeom prst="rect">
            <a:avLst/>
          </a:prstGeom>
          <a:solidFill>
            <a:srgbClr val="EE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230368"/>
            <a:ext cx="5349240" cy="585215"/>
          </a:xfrm>
          <a:prstGeom prst="rect">
            <a:avLst/>
          </a:prstGeom>
          <a:noFill/>
        </p:spPr>
        <p:txBody>
          <a:bodyPr wrap="square" anchor="ctr" lIns="0" rIns="0" tIns="0" bIns="0">
            <a:spAutoFit/>
          </a:bodyPr>
          <a:lstStyle/>
          <a:p>
            <a:pPr algn="l">
              <a:lnSpc>
                <a:spcPct val="105000"/>
              </a:lnSpc>
              <a:spcBef>
                <a:spcPts val="0"/>
              </a:spcBef>
              <a:spcAft>
                <a:spcPts val="0"/>
              </a:spcAft>
            </a:pPr>
            <a:r>
              <a:rPr sz="1200" b="1" i="0">
                <a:solidFill>
                  <a:srgbClr val="181818"/>
                </a:solidFill>
                <a:latin typeface="Optimist Sans"/>
              </a:rPr>
              <a:t>Wastes tokens figuring out how to run the app</a:t>
            </a:r>
          </a:p>
        </p:txBody>
      </p:sp>
      <p:sp>
        <p:nvSpPr>
          <p:cNvPr id="28" name="TextBox 27"/>
          <p:cNvSpPr txBox="1"/>
          <p:nvPr/>
        </p:nvSpPr>
        <p:spPr>
          <a:xfrm>
            <a:off x="6355080" y="5230368"/>
            <a:ext cx="5029200" cy="585215"/>
          </a:xfrm>
          <a:prstGeom prst="rect">
            <a:avLst/>
          </a:prstGeom>
          <a:noFill/>
        </p:spPr>
        <p:txBody>
          <a:bodyPr wrap="square" anchor="ctr" lIns="0" rIns="0" tIns="0" bIns="0">
            <a:spAutoFit/>
          </a:bodyPr>
          <a:lstStyle/>
          <a:p>
            <a:pPr algn="l">
              <a:lnSpc>
                <a:spcPct val="105000"/>
              </a:lnSpc>
              <a:spcBef>
                <a:spcPts val="0"/>
              </a:spcBef>
              <a:spcAft>
                <a:spcPts val="0"/>
              </a:spcAft>
            </a:pPr>
            <a:r>
              <a:rPr sz="1150" b="0" i="0">
                <a:solidFill>
                  <a:srgbClr val="6B6B6B"/>
                </a:solidFill>
                <a:latin typeface="Optimist Sans"/>
              </a:rPr>
              <a:t>An init.sh script. Read and run it at the start of every session.</a:t>
            </a:r>
          </a:p>
        </p:txBody>
      </p:sp>
      <p:sp>
        <p:nvSpPr>
          <p:cNvPr id="29" name="TextBox 28"/>
          <p:cNvSpPr txBox="1"/>
          <p:nvPr/>
        </p:nvSpPr>
        <p:spPr>
          <a:xfrm>
            <a:off x="457200" y="6035040"/>
            <a:ext cx="11064240" cy="320040"/>
          </a:xfrm>
          <a:prstGeom prst="rect">
            <a:avLst/>
          </a:prstGeom>
          <a:noFill/>
        </p:spPr>
        <p:txBody>
          <a:bodyPr wrap="square" anchor="t" lIns="0" rIns="0" tIns="0" bIns="0">
            <a:spAutoFit/>
          </a:bodyPr>
          <a:lstStyle/>
          <a:p>
            <a:pPr algn="l">
              <a:lnSpc>
                <a:spcPct val="100000"/>
              </a:lnSpc>
              <a:spcBef>
                <a:spcPts val="0"/>
              </a:spcBef>
              <a:spcAft>
                <a:spcPts val="0"/>
              </a:spcAft>
            </a:pPr>
            <a:r>
              <a:rPr sz="1200" b="0" i="1">
                <a:solidFill>
                  <a:srgbClr val="6B6B6B"/>
                </a:solidFill>
                <a:latin typeface="Optimist Sans"/>
              </a:rPr>
              <a:t>Each fix is either an artifact the initializer writes, or a ritual the coding agent repeats. That is the harness.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1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548640"/>
            <a:ext cx="2743200" cy="365760"/>
          </a:xfrm>
          <a:prstGeom prst="rect">
            <a:avLst/>
          </a:prstGeom>
          <a:noFill/>
        </p:spPr>
        <p:txBody>
          <a:bodyPr wrap="square" anchor="t" lIns="0" rIns="0" tIns="0" bIns="0">
            <a:spAutoFit/>
          </a:bodyPr>
          <a:lstStyle/>
          <a:p>
            <a:pPr algn="l">
              <a:lnSpc>
                <a:spcPct val="100000"/>
              </a:lnSpc>
              <a:spcBef>
                <a:spcPts val="0"/>
              </a:spcBef>
              <a:spcAft>
                <a:spcPts val="0"/>
              </a:spcAft>
            </a:pPr>
            <a:r>
              <a:rPr sz="1100" b="1" i="0">
                <a:solidFill>
                  <a:srgbClr val="E8C896"/>
                </a:solidFill>
                <a:latin typeface="Optimist Sans"/>
              </a:rPr>
              <a:t>17</a:t>
            </a:r>
          </a:p>
        </p:txBody>
      </p:sp>
      <p:sp>
        <p:nvSpPr>
          <p:cNvPr id="5" name="TextBox 4"/>
          <p:cNvSpPr txBox="1"/>
          <p:nvPr/>
        </p:nvSpPr>
        <p:spPr>
          <a:xfrm>
            <a:off x="1005840" y="877824"/>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100" b="1" i="0">
                <a:solidFill>
                  <a:srgbClr val="E8C896"/>
                </a:solidFill>
                <a:latin typeface="Optimist Sans"/>
              </a:rPr>
              <a:t>THE POINT</a:t>
            </a:r>
          </a:p>
        </p:txBody>
      </p:sp>
      <p:sp>
        <p:nvSpPr>
          <p:cNvPr id="6" name="TextBox 5"/>
          <p:cNvSpPr txBox="1"/>
          <p:nvPr/>
        </p:nvSpPr>
        <p:spPr>
          <a:xfrm>
            <a:off x="1005840" y="1481328"/>
            <a:ext cx="10241280" cy="1828800"/>
          </a:xfrm>
          <a:prstGeom prst="rect">
            <a:avLst/>
          </a:prstGeom>
          <a:noFill/>
        </p:spPr>
        <p:txBody>
          <a:bodyPr wrap="square" anchor="t" lIns="0" rIns="0" tIns="0" bIns="0">
            <a:spAutoFit/>
          </a:bodyPr>
          <a:lstStyle/>
          <a:p>
            <a:pPr algn="l">
              <a:lnSpc>
                <a:spcPct val="104000"/>
              </a:lnSpc>
              <a:spcBef>
                <a:spcPts val="0"/>
              </a:spcBef>
              <a:spcAft>
                <a:spcPts val="0"/>
              </a:spcAft>
            </a:pPr>
            <a:r>
              <a:rPr sz="4400" b="0" i="0">
                <a:solidFill>
                  <a:srgbClr val="FFFFFF"/>
                </a:solidFill>
                <a:latin typeface="Optimist Display"/>
              </a:rPr>
              <a:t>Design the loop,</a:t>
            </a:r>
          </a:p>
          <a:p>
            <a:pPr algn="l">
              <a:lnSpc>
                <a:spcPct val="104000"/>
              </a:lnSpc>
              <a:spcBef>
                <a:spcPts val="0"/>
              </a:spcBef>
              <a:spcAft>
                <a:spcPts val="0"/>
              </a:spcAft>
            </a:pPr>
            <a:r>
              <a:rPr sz="4400" b="0" i="0">
                <a:solidFill>
                  <a:srgbClr val="E8C896"/>
                </a:solidFill>
                <a:latin typeface="Optimist Display"/>
              </a:rPr>
              <a:t>not just the prompt.</a:t>
            </a:r>
          </a:p>
        </p:txBody>
      </p:sp>
      <p:sp>
        <p:nvSpPr>
          <p:cNvPr id="7" name="TextBox 6"/>
          <p:cNvSpPr txBox="1"/>
          <p:nvPr/>
        </p:nvSpPr>
        <p:spPr>
          <a:xfrm>
            <a:off x="1005840" y="3246120"/>
            <a:ext cx="10058400" cy="868680"/>
          </a:xfrm>
          <a:prstGeom prst="rect">
            <a:avLst/>
          </a:prstGeom>
          <a:noFill/>
        </p:spPr>
        <p:txBody>
          <a:bodyPr wrap="square" anchor="t" lIns="0" rIns="0" tIns="0" bIns="0">
            <a:spAutoFit/>
          </a:bodyPr>
          <a:lstStyle/>
          <a:p>
            <a:pPr algn="l">
              <a:lnSpc>
                <a:spcPct val="114000"/>
              </a:lnSpc>
              <a:spcBef>
                <a:spcPts val="0"/>
              </a:spcBef>
              <a:spcAft>
                <a:spcPts val="0"/>
              </a:spcAft>
            </a:pPr>
            <a:r>
              <a:rPr sz="1450" b="0" i="0">
                <a:solidFill>
                  <a:srgbClr val="C9BCA6"/>
                </a:solidFill>
                <a:latin typeface="Optimist Sans"/>
              </a:rPr>
              <a:t>The prompt is the words, context is what the model sees, and the harness is the system it lives in. As models get stronger, the prompt shrinks and the harness carries more of the load — the leverage keeps moving outward.</a:t>
            </a:r>
          </a:p>
        </p:txBody>
      </p:sp>
      <p:sp>
        <p:nvSpPr>
          <p:cNvPr id="8" name="TextBox 7"/>
          <p:cNvSpPr txBox="1"/>
          <p:nvPr/>
        </p:nvSpPr>
        <p:spPr>
          <a:xfrm>
            <a:off x="1005840" y="4343400"/>
            <a:ext cx="10241280" cy="1554480"/>
          </a:xfrm>
          <a:prstGeom prst="rect">
            <a:avLst/>
          </a:prstGeom>
          <a:noFill/>
        </p:spPr>
        <p:txBody>
          <a:bodyPr wrap="square" anchor="t" lIns="0" rIns="0" tIns="0" bIns="0">
            <a:spAutoFit/>
          </a:bodyPr>
          <a:lstStyle/>
          <a:p>
            <a:pPr algn="l">
              <a:lnSpc>
                <a:spcPct val="100000"/>
              </a:lnSpc>
              <a:spcBef>
                <a:spcPts val="0"/>
              </a:spcBef>
              <a:spcAft>
                <a:spcPts val="600"/>
              </a:spcAft>
            </a:pPr>
            <a:r>
              <a:rPr sz="1350" b="0" i="0">
                <a:solidFill>
                  <a:srgbClr val="FFFFFF"/>
                </a:solidFill>
                <a:latin typeface="Optimist Sans"/>
              </a:rPr>
              <a:t>1.  Reliability is a property of the whole model + harness + environment system.</a:t>
            </a:r>
          </a:p>
          <a:p>
            <a:pPr algn="l">
              <a:lnSpc>
                <a:spcPct val="100000"/>
              </a:lnSpc>
              <a:spcBef>
                <a:spcPts val="0"/>
              </a:spcBef>
              <a:spcAft>
                <a:spcPts val="600"/>
              </a:spcAft>
            </a:pPr>
            <a:r>
              <a:rPr sz="1350" b="0" i="0">
                <a:solidFill>
                  <a:srgbClr val="FFFFFF"/>
                </a:solidFill>
                <a:latin typeface="Optimist Sans"/>
              </a:rPr>
              <a:t>2.  Context is a finite attention budget — find the smallest high-signal set.</a:t>
            </a:r>
          </a:p>
          <a:p>
            <a:pPr algn="l">
              <a:lnSpc>
                <a:spcPct val="100000"/>
              </a:lnSpc>
              <a:spcBef>
                <a:spcPts val="0"/>
              </a:spcBef>
              <a:spcAft>
                <a:spcPts val="600"/>
              </a:spcAft>
            </a:pPr>
            <a:r>
              <a:rPr sz="1350" b="0" i="0">
                <a:solidFill>
                  <a:srgbClr val="FFFFFF"/>
                </a:solidFill>
                <a:latin typeface="Optimist Sans"/>
              </a:rPr>
              <a:t>3.  A durable harness = environment + incremental progress + verification + memory.</a:t>
            </a:r>
          </a:p>
          <a:p>
            <a:pPr algn="l">
              <a:lnSpc>
                <a:spcPct val="100000"/>
              </a:lnSpc>
              <a:spcBef>
                <a:spcPts val="0"/>
              </a:spcBef>
              <a:spcAft>
                <a:spcPts val="600"/>
              </a:spcAft>
            </a:pPr>
            <a:r>
              <a:rPr sz="1350" b="0" i="0">
                <a:solidFill>
                  <a:srgbClr val="FFFFFF"/>
                </a:solidFill>
                <a:latin typeface="Optimist Sans"/>
              </a:rPr>
              <a:t>4.  Every loop has two halves. Most agents are missing the verification half.</a:t>
            </a:r>
          </a:p>
        </p:txBody>
      </p:sp>
      <p:sp>
        <p:nvSpPr>
          <p:cNvPr id="9" name="TextBox 8"/>
          <p:cNvSpPr txBox="1"/>
          <p:nvPr/>
        </p:nvSpPr>
        <p:spPr>
          <a:xfrm>
            <a:off x="1005840" y="6172200"/>
            <a:ext cx="10241280"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1">
                <a:solidFill>
                  <a:srgbClr val="E8C896"/>
                </a:solidFill>
                <a:latin typeface="Optimist Sans"/>
              </a:rPr>
              <a:t>Take one flaky agent task this week and add the missing half: a real verification step it must pass before it calls the job done.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