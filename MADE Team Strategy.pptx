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a4bf5252-fc17-e586-8f22-2a336cab0c51}">
          <p14:sldIdLst>
            <p14:sldId id="256"/>
            <p14:sldId id="257"/>
          </p14:sldIdLst>
        </p14:section>
        <p14:section name="How we organize" id="{f83c7d59-025a-adf2-bfb6-e6e2895b3f78}">
          <p14:sldIdLst>
            <p14:sldId id="258"/>
            <p14:sldId id="259"/>
            <p14:sldId id="260"/>
            <p14:sldId id="261"/>
          </p14:sldIdLst>
        </p14:section>
        <p14:section name="What we do and how we grow" id="{d46d9099-cade-b112-6636-c4377a267b1f}">
          <p14:sldIdLst>
            <p14:sldId id="262"/>
            <p14:sldId id="263"/>
            <p14:sldId id="264"/>
          </p14:sldIdLst>
        </p14:section>
        <p14:section name="Asks" id="{d0e8b337-c60d-eb72-a597-89cd0b3860eb}">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MADE (Models, AI, Data &amp; Engineering),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1 is the biggest. Today the modeling team is led from the business side and model developers work closely with several business analysts. Real-time customer feedback is valuable, but decisions lean toward the business view and can miss technical risks only data scientists see. A leader with a technical background balances the two, so we build analytical products that meet business needs and technical standards, with less technical debt later. Benefit 2: hand-offs and support sit under one leader and one vision. Instead of the infrastructure team pushing modelers to adopt AI or data initiatives, the leader drives them and the whole team takes part. Benefit 3: a bigger talent pool means more internal mobility, aligned performance management, and the flexibility to concentrate people on a priority project at short notice. Costs: (1) Stretched leads in new areas. With mid-level managers gone, the people stepping up, including the team lead, cover a broader scope that includes unfamiliar areas such as Dual Risk Rating modeling and its business stakeholders. We lean on business analysts and former team members who know the area; the wider support model is still to be decided. (2) BAU delivery at risk. While attention goes to the reorg and the new AI work, in-flight model deliverables must not slip; we name owners and backups for each critical deliverable through the transition. (3) Rework hurts morale. The new vision revisits some earlier decisions, such as tooling development and model consolidation, and the rework that follows can hurt team morale. We share the vision openly with the whole team from day one and are clear about what each person is doing and why; because the vision now comes from the team’s own lead rather than a partner team, buy-in follows more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maps to the four functions: M for Models (Modeling), A for AI (AI Enablement), D for Data (Data Foundation), E for Engineering (Platform &amp; Deployment). Read left to right as a gradient from run-the-business to change-the-business. Modeling: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four-function structure into the actual team: one team lead, four sub-team heads, and three sub-teams under Modeling, each with its own lead and level. Each box lists every member with their level, with open roles color-coded in three types: a backfill (rust) replaces a departing person one-for-one to do the same job, and expected departures of [XYZ] associates are already counted; a converted backfill (teal) takes a departure from another team and repurposes the role, mainly into AI Enablement; a new investment (plum) is genuinely new budget and should be rare. Each BAU team also shows its floor: the minimum headcount it needs to manage key-person and operational risk, drawn as a dashed line on its bars. Each team’s 2028 target stays above its floor, never at or below it. AI Enablement has no BAU floor. The team floors add up to the BAU floor on the next slide. Then a small bar strip with year-end headcount for this year, next year and the year after. Modeling, Data Foundation and Platform &amp; Deployment get smaller over time as AI takes on BAU work; AI Enablement grows. The next slide rolls these team-level numbers up into the overall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rolls up the team-by-team plan on the previous slide. The end-2026 count includes open roles; 2027 and 2028 assume every role is filled. The story, from the end of this year to the end of 2028: today almost all capacity goes to BAU, and dedicated AI work is near zero. AI and new tooling let BAU shrink step by step (the end of 2027 shows the midpoint), but only down to a floor. That floor, [n] people, is the sum of the team-level floors on the previous slide: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and the 2028 target deliberately sits above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One opportunity already identified: turn the team’s unwritten procedures and best practices into explicit, shared documentation that both people and AI agents can read and follow. The fourth sets up the next two slides: a flatter structure that fits talent empowered by AI; a pipeline of next-generation leaders who can manage mixed teams of ICs and agents with wider spans; and a talent bar that stays consistent while it keeps rising, backed by a development program that helps ICs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Everyone starts as an individual contributor; juniors are not yet in a position to manage. As they grow more senior, they test their interests and choose the IC or the people-manager path. Both paths are equally valued, with an equal chance of success, and both lead to senior levels. We expect more associates than in the past to choose the IC path, so it must be a real destination, not a consolation prize. The IC path is about personal efficiency and leverage with AI; the manager path is about people, strategy and connecting teams. On performance: as everyone gets better with AI, fitting a distribution gets harder, so benchmarks must stay reasonable. The fix is not a new scoring method; it is a clear, fair development path on both the IC and manager tracks, so people feel fairly treated. With that in place, performance management stays consistent even as it becomes more dynamic.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 Our approach: (1) juniors are the first reviewers of agent output — they check it against data, business logic and model fundamentals and explain why they accept or reject it, which builds judgment faster than production did; (2) each junior periodically hand-builds something end to end, like a small segment model or pipeline, because you cannot supervise an agent on work you have never done; (3) juniors pair with senior ICs to see how they frame problems, direct agents and decide what is good enough, then own small real decisions, including stakeholder conversations, earlier than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MADE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4953000"/>
            <a:ext cx="9525000" cy="317500"/>
          </a:xfrm>
          <a:prstGeom prst="rect">
            <a:avLst/>
          </a:prstGeom>
          <a:noFill/>
          <a:ln/>
        </p:spPr>
        <p:txBody>
          <a:bodyPr wrap="square" lIns="0" tIns="0" rIns="0" bIns="0" rtlCol="0" anchor="t"/>
          <a:lstStyle/>
          <a:p>
            <a:pPr algn="l" indent="0" marL="0">
              <a:lnSpc>
                <a:spcPct val="115000"/>
              </a:lnSpc>
              <a:buNone/>
            </a:pPr>
            <a:r>
              <a:rPr lang="en-US" sz="1600" b="1" dirty="0">
                <a:solidFill>
                  <a:srgbClr val="E3A86B"/>
                </a:solidFill>
                <a:latin typeface="Optimist Sans" pitchFamily="34" charset="0"/>
                <a:ea typeface="Optimist Sans" pitchFamily="34" charset="-122"/>
                <a:cs typeface="Optimist Sans" pitchFamily="34" charset="-120"/>
              </a:rPr>
              <a:t>MADE</a:t>
            </a:r>
            <a:pPr algn="l" indent="0" marL="0">
              <a:lnSpc>
                <a:spcPct val="115000"/>
              </a:lnSpc>
              <a:buNone/>
            </a:pPr>
            <a:r>
              <a:rPr lang="en-US" sz="1600" dirty="0">
                <a:solidFill>
                  <a:srgbClr val="E3A86B"/>
                </a:solidFill>
                <a:latin typeface="Optimist Sans" pitchFamily="34" charset="0"/>
                <a:ea typeface="Optimist Sans" pitchFamily="34" charset="-122"/>
                <a:cs typeface="Optimist Sans" pitchFamily="34" charset="-120"/>
              </a:rPr>
              <a:t> · Models, AI, Data &amp; Engineering</a:t>
            </a:r>
            <a:endParaRPr lang="en-US" sz="1600" dirty="0"/>
          </a:p>
        </p:txBody>
      </p:sp>
      <p:sp>
        <p:nvSpPr>
          <p:cNvPr id="6" name="Text 4"/>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09900"/>
            <a:ext cx="228600" cy="228600"/>
          </a:xfrm>
          <a:prstGeom prst="rect">
            <a:avLst/>
          </a:prstGeom>
        </p:spPr>
      </p:pic>
      <p:sp>
        <p:nvSpPr>
          <p:cNvPr id="7" name="Text 4"/>
          <p:cNvSpPr txBox="1"/>
          <p:nvPr/>
        </p:nvSpPr>
        <p:spPr>
          <a:xfrm>
            <a:off x="1371600" y="2997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Balanced model decisions</a:t>
            </a:r>
            <a:endParaRPr lang="en-US" sz="1400" dirty="0"/>
          </a:p>
        </p:txBody>
      </p:sp>
      <p:sp>
        <p:nvSpPr>
          <p:cNvPr id="8" name="Text 5"/>
          <p:cNvSpPr txBox="1"/>
          <p:nvPr/>
        </p:nvSpPr>
        <p:spPr>
          <a:xfrm>
            <a:off x="1371600" y="3276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Technical rigor balances business input: sturdier models, less tech debt</a:t>
            </a:r>
            <a:endParaRPr lang="en-US" sz="1200" dirty="0"/>
          </a:p>
        </p:txBody>
      </p:sp>
      <p:pic>
        <p:nvPicPr>
          <p:cNvPr id="9" name="Image 1" descr="preencoded.png">    </p:cNvPr>
          <p:cNvPicPr>
            <a:picLocks noChangeAspect="1"/>
          </p:cNvPicPr>
          <p:nvPr/>
        </p:nvPicPr>
        <p:blipFill>
          <a:blip r:embed="rId2"/>
          <a:stretch>
            <a:fillRect/>
          </a:stretch>
        </p:blipFill>
        <p:spPr>
          <a:xfrm>
            <a:off x="1016000" y="3898900"/>
            <a:ext cx="228600" cy="228600"/>
          </a:xfrm>
          <a:prstGeom prst="rect">
            <a:avLst/>
          </a:prstGeom>
        </p:spPr>
      </p:pic>
      <p:sp>
        <p:nvSpPr>
          <p:cNvPr id="10" name="Text 6"/>
          <p:cNvSpPr txBox="1"/>
          <p:nvPr/>
        </p:nvSpPr>
        <p:spPr>
          <a:xfrm>
            <a:off x="1371600" y="3886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leader, one agenda</a:t>
            </a:r>
            <a:endParaRPr lang="en-US" sz="1400" dirty="0"/>
          </a:p>
        </p:txBody>
      </p:sp>
      <p:sp>
        <p:nvSpPr>
          <p:cNvPr id="11" name="Text 7"/>
          <p:cNvSpPr txBox="1"/>
          <p:nvPr/>
        </p:nvSpPr>
        <p:spPr>
          <a:xfrm>
            <a:off x="1371600" y="4165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AI and data work driven from within, not pushed across team lines</a:t>
            </a:r>
            <a:endParaRPr lang="en-US" sz="1200" dirty="0"/>
          </a:p>
        </p:txBody>
      </p:sp>
      <p:pic>
        <p:nvPicPr>
          <p:cNvPr id="12" name="Image 2" descr="preencoded.png">    </p:cNvPr>
          <p:cNvPicPr>
            <a:picLocks noChangeAspect="1"/>
          </p:cNvPicPr>
          <p:nvPr/>
        </p:nvPicPr>
        <p:blipFill>
          <a:blip r:embed="rId3"/>
          <a:stretch>
            <a:fillRect/>
          </a:stretch>
        </p:blipFill>
        <p:spPr>
          <a:xfrm>
            <a:off x="1016000" y="4787900"/>
            <a:ext cx="228600" cy="228600"/>
          </a:xfrm>
          <a:prstGeom prst="rect">
            <a:avLst/>
          </a:prstGeom>
        </p:spPr>
      </p:pic>
      <p:sp>
        <p:nvSpPr>
          <p:cNvPr id="13" name="Text 8"/>
          <p:cNvSpPr txBox="1"/>
          <p:nvPr/>
        </p:nvSpPr>
        <p:spPr>
          <a:xfrm>
            <a:off x="1371600" y="4775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54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More mobility, aligned performance management, fast redeployment</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89000"/>
          </a:xfrm>
          <a:prstGeom prst="roundRect">
            <a:avLst>
              <a:gd name="adj" fmla="val 10286"/>
            </a:avLst>
          </a:prstGeom>
          <a:solidFill>
            <a:srgbClr val="FDFCF9"/>
          </a:solidFill>
          <a:ln w="19050">
            <a:solidFill>
              <a:srgbClr val="A0521A"/>
            </a:solidFill>
            <a:prstDash val="solid"/>
          </a:ln>
        </p:spPr>
      </p:sp>
      <p:sp>
        <p:nvSpPr>
          <p:cNvPr id="18" name="Text 13"/>
          <p:cNvSpPr txBox="1"/>
          <p:nvPr/>
        </p:nvSpPr>
        <p:spPr>
          <a:xfrm>
            <a:off x="4826000" y="2870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Stretched leads, new areas</a:t>
            </a:r>
            <a:endParaRPr lang="en-US" sz="1400" dirty="0"/>
          </a:p>
        </p:txBody>
      </p:sp>
      <p:sp>
        <p:nvSpPr>
          <p:cNvPr id="19" name="Text 14"/>
          <p:cNvSpPr txBox="1"/>
          <p:nvPr/>
        </p:nvSpPr>
        <p:spPr>
          <a:xfrm>
            <a:off x="4826000" y="3149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managers; leads cover more, incl. unfamiliar DRR work</a:t>
            </a:r>
            <a:endParaRPr lang="en-US" sz="1200" dirty="0"/>
          </a:p>
        </p:txBody>
      </p:sp>
      <p:sp>
        <p:nvSpPr>
          <p:cNvPr id="20" name="Shape 15"/>
          <p:cNvSpPr/>
          <p:nvPr/>
        </p:nvSpPr>
        <p:spPr>
          <a:xfrm>
            <a:off x="7493000" y="3111500"/>
            <a:ext cx="406400" cy="203200"/>
          </a:xfrm>
          <a:prstGeom prst="rightArrow">
            <a:avLst/>
          </a:prstGeom>
          <a:solidFill>
            <a:srgbClr val="8A8F98"/>
          </a:solidFill>
          <a:ln/>
        </p:spPr>
      </p:sp>
      <p:sp>
        <p:nvSpPr>
          <p:cNvPr id="21" name="Shape 16"/>
          <p:cNvSpPr/>
          <p:nvPr/>
        </p:nvSpPr>
        <p:spPr>
          <a:xfrm>
            <a:off x="8051800" y="2768600"/>
            <a:ext cx="3327400" cy="889000"/>
          </a:xfrm>
          <a:prstGeom prst="roundRect">
            <a:avLst>
              <a:gd name="adj" fmla="val 10286"/>
            </a:avLst>
          </a:prstGeom>
          <a:solidFill>
            <a:srgbClr val="E1EEF0"/>
          </a:solidFill>
          <a:ln w="19050">
            <a:solidFill>
              <a:srgbClr val="1F6F7E"/>
            </a:solidFill>
            <a:prstDash val="solid"/>
          </a:ln>
        </p:spPr>
      </p:sp>
      <p:sp>
        <p:nvSpPr>
          <p:cNvPr id="22" name="Text 17"/>
          <p:cNvSpPr txBox="1"/>
          <p:nvPr/>
        </p:nvSpPr>
        <p:spPr>
          <a:xfrm>
            <a:off x="8204200" y="2870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Lean on experts: business analysts, prior team members. Wider support: [TBD]</a:t>
            </a:r>
            <a:endParaRPr lang="en-US" sz="1200" dirty="0"/>
          </a:p>
        </p:txBody>
      </p:sp>
      <p:sp>
        <p:nvSpPr>
          <p:cNvPr id="23" name="Shape 18"/>
          <p:cNvSpPr/>
          <p:nvPr/>
        </p:nvSpPr>
        <p:spPr>
          <a:xfrm>
            <a:off x="4673600" y="3784600"/>
            <a:ext cx="2667000" cy="889000"/>
          </a:xfrm>
          <a:prstGeom prst="roundRect">
            <a:avLst>
              <a:gd name="adj" fmla="val 10286"/>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BAU delivery at risk</a:t>
            </a:r>
            <a:endParaRPr lang="en-US" sz="1400" dirty="0"/>
          </a:p>
        </p:txBody>
      </p:sp>
      <p:sp>
        <p:nvSpPr>
          <p:cNvPr id="25" name="Text 20"/>
          <p:cNvSpPr txBox="1"/>
          <p:nvPr/>
        </p:nvSpPr>
        <p:spPr>
          <a:xfrm>
            <a:off x="4826000" y="4165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Transition pulls focus from in-flight model deliverables</a:t>
            </a:r>
            <a:endParaRPr lang="en-US" sz="1200" dirty="0"/>
          </a:p>
        </p:txBody>
      </p:sp>
      <p:sp>
        <p:nvSpPr>
          <p:cNvPr id="26" name="Shape 21"/>
          <p:cNvSpPr/>
          <p:nvPr/>
        </p:nvSpPr>
        <p:spPr>
          <a:xfrm>
            <a:off x="7493000" y="4127500"/>
            <a:ext cx="406400" cy="203200"/>
          </a:xfrm>
          <a:prstGeom prst="rightArrow">
            <a:avLst/>
          </a:prstGeom>
          <a:solidFill>
            <a:srgbClr val="8A8F98"/>
          </a:solidFill>
          <a:ln/>
        </p:spPr>
      </p:sp>
      <p:sp>
        <p:nvSpPr>
          <p:cNvPr id="27" name="Shape 22"/>
          <p:cNvSpPr/>
          <p:nvPr/>
        </p:nvSpPr>
        <p:spPr>
          <a:xfrm>
            <a:off x="8051800" y="3784600"/>
            <a:ext cx="3327400" cy="889000"/>
          </a:xfrm>
          <a:prstGeom prst="roundRect">
            <a:avLst>
              <a:gd name="adj" fmla="val 10286"/>
            </a:avLst>
          </a:prstGeom>
          <a:solidFill>
            <a:srgbClr val="E1EEF0"/>
          </a:solidFill>
          <a:ln w="19050">
            <a:solidFill>
              <a:srgbClr val="1F6F7E"/>
            </a:solidFill>
            <a:prstDash val="solid"/>
          </a:ln>
        </p:spPr>
      </p:sp>
      <p:sp>
        <p:nvSpPr>
          <p:cNvPr id="28" name="Text 23"/>
          <p:cNvSpPr txBox="1"/>
          <p:nvPr/>
        </p:nvSpPr>
        <p:spPr>
          <a:xfrm>
            <a:off x="8204200" y="3886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Name owners and backups for critical deliverables through the transition</a:t>
            </a:r>
            <a:endParaRPr lang="en-US" sz="1200" dirty="0"/>
          </a:p>
        </p:txBody>
      </p:sp>
      <p:sp>
        <p:nvSpPr>
          <p:cNvPr id="29" name="Shape 24"/>
          <p:cNvSpPr/>
          <p:nvPr/>
        </p:nvSpPr>
        <p:spPr>
          <a:xfrm>
            <a:off x="4673600" y="4800600"/>
            <a:ext cx="2667000" cy="889000"/>
          </a:xfrm>
          <a:prstGeom prst="roundRect">
            <a:avLst>
              <a:gd name="adj" fmla="val 10286"/>
            </a:avLst>
          </a:prstGeom>
          <a:solidFill>
            <a:srgbClr val="FDFCF9"/>
          </a:solidFill>
          <a:ln w="19050">
            <a:solidFill>
              <a:srgbClr val="A0521A"/>
            </a:solidFill>
            <a:prstDash val="solid"/>
          </a:ln>
        </p:spPr>
      </p:sp>
      <p:sp>
        <p:nvSpPr>
          <p:cNvPr id="30" name="Text 25"/>
          <p:cNvSpPr txBox="1"/>
          <p:nvPr/>
        </p:nvSpPr>
        <p:spPr>
          <a:xfrm>
            <a:off x="4826000" y="4902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Rework hurts morale</a:t>
            </a:r>
            <a:endParaRPr lang="en-US" sz="1400" dirty="0"/>
          </a:p>
        </p:txBody>
      </p:sp>
      <p:sp>
        <p:nvSpPr>
          <p:cNvPr id="31" name="Text 26"/>
          <p:cNvSpPr txBox="1"/>
          <p:nvPr/>
        </p:nvSpPr>
        <p:spPr>
          <a:xfrm>
            <a:off x="4826000" y="5181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New vision revisits past decisions, forcing rework</a:t>
            </a:r>
            <a:endParaRPr lang="en-US" sz="1200" dirty="0"/>
          </a:p>
        </p:txBody>
      </p:sp>
      <p:sp>
        <p:nvSpPr>
          <p:cNvPr id="32" name="Shape 27"/>
          <p:cNvSpPr/>
          <p:nvPr/>
        </p:nvSpPr>
        <p:spPr>
          <a:xfrm>
            <a:off x="7493000" y="5143500"/>
            <a:ext cx="406400" cy="203200"/>
          </a:xfrm>
          <a:prstGeom prst="rightArrow">
            <a:avLst/>
          </a:prstGeom>
          <a:solidFill>
            <a:srgbClr val="8A8F98"/>
          </a:solidFill>
          <a:ln/>
        </p:spPr>
      </p:sp>
      <p:sp>
        <p:nvSpPr>
          <p:cNvPr id="33" name="Shape 28"/>
          <p:cNvSpPr/>
          <p:nvPr/>
        </p:nvSpPr>
        <p:spPr>
          <a:xfrm>
            <a:off x="8051800" y="4800600"/>
            <a:ext cx="3327400" cy="889000"/>
          </a:xfrm>
          <a:prstGeom prst="roundRect">
            <a:avLst>
              <a:gd name="adj" fmla="val 10286"/>
            </a:avLst>
          </a:prstGeom>
          <a:solidFill>
            <a:srgbClr val="E1EEF0"/>
          </a:solidFill>
          <a:ln w="19050">
            <a:solidFill>
              <a:srgbClr val="1F6F7E"/>
            </a:solidFill>
            <a:prstDash val="solid"/>
          </a:ln>
        </p:spPr>
      </p:sp>
      <p:sp>
        <p:nvSpPr>
          <p:cNvPr id="34" name="Text 29"/>
          <p:cNvSpPr txBox="1"/>
          <p:nvPr/>
        </p:nvSpPr>
        <p:spPr>
          <a:xfrm>
            <a:off x="8204200" y="4902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Share the vision from day one; leading the team, not partnering with it, makes buy-in easier</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Bracketed text is still to be decided</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MADE (Models, AI, Data &amp; Engineering) runs as four functions under one lead</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MADE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1841500" cy="444500"/>
          </a:xfrm>
          <a:prstGeom prst="rect">
            <a:avLst/>
          </a:prstGeom>
          <a:noFill/>
          <a:ln/>
        </p:spPr>
        <p:txBody>
          <a:bodyPr wrap="square" lIns="0" tIns="0" rIns="0" bIns="0" rtlCol="0" anchor="t"/>
          <a:lstStyle/>
          <a:p>
            <a:pPr algn="l" indent="0" marL="0">
              <a:lnSpc>
                <a:spcPct val="110000"/>
              </a:lnSpc>
              <a:buNone/>
            </a:pPr>
            <a:r>
              <a:rPr lang="en-US" sz="1400" b="1" dirty="0">
                <a:solidFill>
                  <a:srgbClr val="14213D"/>
                </a:solidFill>
                <a:latin typeface="Optimist Sans" pitchFamily="34" charset="0"/>
                <a:ea typeface="Optimist Sans" pitchFamily="34" charset="-122"/>
                <a:cs typeface="Optimist Sans" pitchFamily="34" charset="-120"/>
              </a:rPr>
              <a:t>Modeling</a:t>
            </a:r>
            <a:endParaRPr lang="en-US" sz="1400" dirty="0"/>
          </a:p>
        </p:txBody>
      </p:sp>
      <p:sp>
        <p:nvSpPr>
          <p:cNvPr id="14" name="Shape 12"/>
          <p:cNvSpPr/>
          <p:nvPr/>
        </p:nvSpPr>
        <p:spPr>
          <a:xfrm>
            <a:off x="2844800" y="3429000"/>
            <a:ext cx="304800" cy="279400"/>
          </a:xfrm>
          <a:prstGeom prst="roundRect">
            <a:avLst>
              <a:gd name="adj" fmla="val 65455"/>
            </a:avLst>
          </a:prstGeom>
          <a:solidFill>
            <a:srgbClr val="1F6F7E"/>
          </a:solidFill>
          <a:ln/>
        </p:spPr>
      </p:sp>
      <p:sp>
        <p:nvSpPr>
          <p:cNvPr id="15" name="Text 13"/>
          <p:cNvSpPr txBox="1"/>
          <p:nvPr/>
        </p:nvSpPr>
        <p:spPr>
          <a:xfrm>
            <a:off x="2844800" y="3429000"/>
            <a:ext cx="304800" cy="279400"/>
          </a:xfrm>
          <a:prstGeom prst="rect">
            <a:avLst/>
          </a:prstGeom>
          <a:noFill/>
          <a:ln/>
        </p:spPr>
        <p:txBody>
          <a:bodyPr wrap="square" lIns="0" tIns="0" rIns="0" bIns="0" rtlCol="0" anchor="ctr"/>
          <a:lstStyle/>
          <a:p>
            <a:pPr algn="ctr"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a:t>
            </a:r>
            <a:endParaRPr lang="en-US" sz="1400" dirty="0"/>
          </a:p>
        </p:txBody>
      </p:sp>
      <p:sp>
        <p:nvSpPr>
          <p:cNvPr id="16" name="Text 14"/>
          <p:cNvSpPr txBox="1"/>
          <p:nvPr/>
        </p:nvSpPr>
        <p:spPr>
          <a:xfrm>
            <a:off x="965200" y="39370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7" name="Text 15"/>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8" name="Shape 16"/>
          <p:cNvSpPr/>
          <p:nvPr/>
        </p:nvSpPr>
        <p:spPr>
          <a:xfrm>
            <a:off x="965200" y="4826000"/>
            <a:ext cx="863600" cy="279400"/>
          </a:xfrm>
          <a:prstGeom prst="roundRect">
            <a:avLst>
              <a:gd name="adj" fmla="val 65455"/>
            </a:avLst>
          </a:prstGeom>
          <a:solidFill>
            <a:srgbClr val="E1EEF0"/>
          </a:solidFill>
          <a:ln/>
        </p:spPr>
      </p:sp>
      <p:sp>
        <p:nvSpPr>
          <p:cNvPr id="19" name="Text 17"/>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20" name="Shape 18"/>
          <p:cNvSpPr/>
          <p:nvPr/>
        </p:nvSpPr>
        <p:spPr>
          <a:xfrm>
            <a:off x="1892300" y="4826000"/>
            <a:ext cx="1028700" cy="279400"/>
          </a:xfrm>
          <a:prstGeom prst="roundRect">
            <a:avLst>
              <a:gd name="adj" fmla="val 65455"/>
            </a:avLst>
          </a:prstGeom>
          <a:solidFill>
            <a:srgbClr val="E1EEF0"/>
          </a:solidFill>
          <a:ln/>
        </p:spPr>
      </p:sp>
      <p:sp>
        <p:nvSpPr>
          <p:cNvPr id="21" name="Text 19"/>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2" name="Shape 20"/>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3" name="Text 21"/>
          <p:cNvSpPr txBox="1"/>
          <p:nvPr/>
        </p:nvSpPr>
        <p:spPr>
          <a:xfrm>
            <a:off x="3657600" y="3454400"/>
            <a:ext cx="1841500" cy="444500"/>
          </a:xfrm>
          <a:prstGeom prst="rect">
            <a:avLst/>
          </a:prstGeom>
          <a:noFill/>
          <a:ln/>
        </p:spPr>
        <p:txBody>
          <a:bodyPr wrap="square" lIns="0" tIns="0" rIns="0" bIns="0" rtlCol="0" anchor="t"/>
          <a:lstStyle/>
          <a:p>
            <a:pPr algn="l" indent="0" marL="0">
              <a:lnSpc>
                <a:spcPct val="110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4" name="Shape 22"/>
          <p:cNvSpPr/>
          <p:nvPr/>
        </p:nvSpPr>
        <p:spPr>
          <a:xfrm>
            <a:off x="5537200" y="3429000"/>
            <a:ext cx="304800" cy="279400"/>
          </a:xfrm>
          <a:prstGeom prst="roundRect">
            <a:avLst>
              <a:gd name="adj" fmla="val 65455"/>
            </a:avLst>
          </a:prstGeom>
          <a:solidFill>
            <a:srgbClr val="1F6F7E"/>
          </a:solidFill>
          <a:ln/>
        </p:spPr>
      </p:sp>
      <p:sp>
        <p:nvSpPr>
          <p:cNvPr id="25" name="Text 23"/>
          <p:cNvSpPr txBox="1"/>
          <p:nvPr/>
        </p:nvSpPr>
        <p:spPr>
          <a:xfrm>
            <a:off x="5537200" y="3429000"/>
            <a:ext cx="304800" cy="279400"/>
          </a:xfrm>
          <a:prstGeom prst="rect">
            <a:avLst/>
          </a:prstGeom>
          <a:noFill/>
          <a:ln/>
        </p:spPr>
        <p:txBody>
          <a:bodyPr wrap="square" lIns="0" tIns="0" rIns="0" bIns="0" rtlCol="0" anchor="ctr"/>
          <a:lstStyle/>
          <a:p>
            <a:pPr algn="ctr"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D</a:t>
            </a:r>
            <a:endParaRPr lang="en-US" sz="1400" dirty="0"/>
          </a:p>
        </p:txBody>
      </p:sp>
      <p:sp>
        <p:nvSpPr>
          <p:cNvPr id="26" name="Text 24"/>
          <p:cNvSpPr txBox="1"/>
          <p:nvPr/>
        </p:nvSpPr>
        <p:spPr>
          <a:xfrm>
            <a:off x="3657600" y="39370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7" name="Text 25"/>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8" name="Shape 26"/>
          <p:cNvSpPr/>
          <p:nvPr/>
        </p:nvSpPr>
        <p:spPr>
          <a:xfrm>
            <a:off x="3657600" y="4826000"/>
            <a:ext cx="946150" cy="279400"/>
          </a:xfrm>
          <a:prstGeom prst="roundRect">
            <a:avLst>
              <a:gd name="adj" fmla="val 65455"/>
            </a:avLst>
          </a:prstGeom>
          <a:solidFill>
            <a:srgbClr val="E1EEF0"/>
          </a:solidFill>
          <a:ln/>
        </p:spPr>
      </p:sp>
      <p:sp>
        <p:nvSpPr>
          <p:cNvPr id="29" name="Text 27"/>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30" name="Shape 28"/>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31" name="Text 29"/>
          <p:cNvSpPr txBox="1"/>
          <p:nvPr/>
        </p:nvSpPr>
        <p:spPr>
          <a:xfrm>
            <a:off x="6350000" y="3454400"/>
            <a:ext cx="1841500" cy="444500"/>
          </a:xfrm>
          <a:prstGeom prst="rect">
            <a:avLst/>
          </a:prstGeom>
          <a:noFill/>
          <a:ln/>
        </p:spPr>
        <p:txBody>
          <a:bodyPr wrap="square" lIns="0" tIns="0" rIns="0" bIns="0" rtlCol="0" anchor="t"/>
          <a:lstStyle/>
          <a:p>
            <a:pPr algn="l" indent="0" marL="0">
              <a:lnSpc>
                <a:spcPct val="110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32" name="Shape 30"/>
          <p:cNvSpPr/>
          <p:nvPr/>
        </p:nvSpPr>
        <p:spPr>
          <a:xfrm>
            <a:off x="8229600" y="3429000"/>
            <a:ext cx="304800" cy="279400"/>
          </a:xfrm>
          <a:prstGeom prst="roundRect">
            <a:avLst>
              <a:gd name="adj" fmla="val 65455"/>
            </a:avLst>
          </a:prstGeom>
          <a:solidFill>
            <a:srgbClr val="1F6F7E"/>
          </a:solidFill>
          <a:ln/>
        </p:spPr>
      </p:sp>
      <p:sp>
        <p:nvSpPr>
          <p:cNvPr id="33" name="Text 31"/>
          <p:cNvSpPr txBox="1"/>
          <p:nvPr/>
        </p:nvSpPr>
        <p:spPr>
          <a:xfrm>
            <a:off x="8229600" y="3429000"/>
            <a:ext cx="304800" cy="279400"/>
          </a:xfrm>
          <a:prstGeom prst="rect">
            <a:avLst/>
          </a:prstGeom>
          <a:noFill/>
          <a:ln/>
        </p:spPr>
        <p:txBody>
          <a:bodyPr wrap="square" lIns="0" tIns="0" rIns="0" bIns="0" rtlCol="0" anchor="ctr"/>
          <a:lstStyle/>
          <a:p>
            <a:pPr algn="ctr"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E</a:t>
            </a:r>
            <a:endParaRPr lang="en-US" sz="1400" dirty="0"/>
          </a:p>
        </p:txBody>
      </p:sp>
      <p:sp>
        <p:nvSpPr>
          <p:cNvPr id="34" name="Text 32"/>
          <p:cNvSpPr txBox="1"/>
          <p:nvPr/>
        </p:nvSpPr>
        <p:spPr>
          <a:xfrm>
            <a:off x="6350000" y="39370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35" name="Text 33"/>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6" name="Shape 34"/>
          <p:cNvSpPr/>
          <p:nvPr/>
        </p:nvSpPr>
        <p:spPr>
          <a:xfrm>
            <a:off x="6350000" y="4826000"/>
            <a:ext cx="450850" cy="279400"/>
          </a:xfrm>
          <a:prstGeom prst="roundRect">
            <a:avLst>
              <a:gd name="adj" fmla="val 65455"/>
            </a:avLst>
          </a:prstGeom>
          <a:solidFill>
            <a:srgbClr val="E1EEF0"/>
          </a:solidFill>
          <a:ln/>
        </p:spPr>
      </p:sp>
      <p:sp>
        <p:nvSpPr>
          <p:cNvPr id="37" name="Text 35"/>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8" name="Shape 36"/>
          <p:cNvSpPr/>
          <p:nvPr/>
        </p:nvSpPr>
        <p:spPr>
          <a:xfrm>
            <a:off x="6864350" y="4826000"/>
            <a:ext cx="1028700" cy="279400"/>
          </a:xfrm>
          <a:prstGeom prst="roundRect">
            <a:avLst>
              <a:gd name="adj" fmla="val 65455"/>
            </a:avLst>
          </a:prstGeom>
          <a:solidFill>
            <a:srgbClr val="E1EEF0"/>
          </a:solidFill>
          <a:ln/>
        </p:spPr>
      </p:sp>
      <p:sp>
        <p:nvSpPr>
          <p:cNvPr id="39" name="Text 37"/>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40" name="Shape 38"/>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41" name="Text 39"/>
          <p:cNvSpPr txBox="1"/>
          <p:nvPr/>
        </p:nvSpPr>
        <p:spPr>
          <a:xfrm>
            <a:off x="9042400" y="3454400"/>
            <a:ext cx="1841500" cy="444500"/>
          </a:xfrm>
          <a:prstGeom prst="rect">
            <a:avLst/>
          </a:prstGeom>
          <a:noFill/>
          <a:ln/>
        </p:spPr>
        <p:txBody>
          <a:bodyPr wrap="square" lIns="0" tIns="0" rIns="0" bIns="0" rtlCol="0" anchor="t"/>
          <a:lstStyle/>
          <a:p>
            <a:pPr algn="l" indent="0" marL="0">
              <a:lnSpc>
                <a:spcPct val="110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42" name="Shape 40"/>
          <p:cNvSpPr/>
          <p:nvPr/>
        </p:nvSpPr>
        <p:spPr>
          <a:xfrm>
            <a:off x="10922000" y="3429000"/>
            <a:ext cx="304800" cy="279400"/>
          </a:xfrm>
          <a:prstGeom prst="roundRect">
            <a:avLst>
              <a:gd name="adj" fmla="val 65455"/>
            </a:avLst>
          </a:prstGeom>
          <a:solidFill>
            <a:srgbClr val="F2C089"/>
          </a:solidFill>
          <a:ln/>
        </p:spPr>
      </p:sp>
      <p:sp>
        <p:nvSpPr>
          <p:cNvPr id="43" name="Text 41"/>
          <p:cNvSpPr txBox="1"/>
          <p:nvPr/>
        </p:nvSpPr>
        <p:spPr>
          <a:xfrm>
            <a:off x="10922000" y="3429000"/>
            <a:ext cx="304800" cy="279400"/>
          </a:xfrm>
          <a:prstGeom prst="rect">
            <a:avLst/>
          </a:prstGeom>
          <a:noFill/>
          <a:ln/>
        </p:spPr>
        <p:txBody>
          <a:bodyPr wrap="square" lIns="0" tIns="0" rIns="0" bIns="0" rtlCol="0" anchor="ctr"/>
          <a:lstStyle/>
          <a:p>
            <a:pPr algn="ctr"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a:t>
            </a:r>
            <a:endParaRPr lang="en-US" sz="1400" dirty="0"/>
          </a:p>
        </p:txBody>
      </p:sp>
      <p:sp>
        <p:nvSpPr>
          <p:cNvPr id="44" name="Text 42"/>
          <p:cNvSpPr txBox="1"/>
          <p:nvPr/>
        </p:nvSpPr>
        <p:spPr>
          <a:xfrm>
            <a:off x="9042400" y="39370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45" name="Text 43"/>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46" name="Shape 44"/>
          <p:cNvSpPr/>
          <p:nvPr/>
        </p:nvSpPr>
        <p:spPr>
          <a:xfrm>
            <a:off x="9042400" y="4826000"/>
            <a:ext cx="863600" cy="279400"/>
          </a:xfrm>
          <a:prstGeom prst="roundRect">
            <a:avLst>
              <a:gd name="adj" fmla="val 65455"/>
            </a:avLst>
          </a:prstGeom>
          <a:solidFill>
            <a:srgbClr val="F2C089"/>
          </a:solidFill>
          <a:ln/>
        </p:spPr>
      </p:sp>
      <p:sp>
        <p:nvSpPr>
          <p:cNvPr id="47" name="Text 45"/>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8" name="Shape 46"/>
          <p:cNvSpPr/>
          <p:nvPr/>
        </p:nvSpPr>
        <p:spPr>
          <a:xfrm>
            <a:off x="812800" y="5461000"/>
            <a:ext cx="270510" cy="76200"/>
          </a:xfrm>
          <a:prstGeom prst="rect">
            <a:avLst/>
          </a:prstGeom>
          <a:solidFill>
            <a:srgbClr val="1F6F7E"/>
          </a:solidFill>
          <a:ln/>
        </p:spPr>
      </p:sp>
      <p:sp>
        <p:nvSpPr>
          <p:cNvPr id="49" name="Shape 47"/>
          <p:cNvSpPr/>
          <p:nvPr/>
        </p:nvSpPr>
        <p:spPr>
          <a:xfrm>
            <a:off x="1076960" y="5461000"/>
            <a:ext cx="270510" cy="76200"/>
          </a:xfrm>
          <a:prstGeom prst="rect">
            <a:avLst/>
          </a:prstGeom>
          <a:solidFill>
            <a:srgbClr val="24707E"/>
          </a:solidFill>
          <a:ln/>
        </p:spPr>
      </p:sp>
      <p:sp>
        <p:nvSpPr>
          <p:cNvPr id="50" name="Shape 48"/>
          <p:cNvSpPr/>
          <p:nvPr/>
        </p:nvSpPr>
        <p:spPr>
          <a:xfrm>
            <a:off x="1341120" y="5461000"/>
            <a:ext cx="270510" cy="76200"/>
          </a:xfrm>
          <a:prstGeom prst="rect">
            <a:avLst/>
          </a:prstGeom>
          <a:solidFill>
            <a:srgbClr val="29727D"/>
          </a:solidFill>
          <a:ln/>
        </p:spPr>
      </p:sp>
      <p:sp>
        <p:nvSpPr>
          <p:cNvPr id="51" name="Shape 49"/>
          <p:cNvSpPr/>
          <p:nvPr/>
        </p:nvSpPr>
        <p:spPr>
          <a:xfrm>
            <a:off x="1605280" y="5461000"/>
            <a:ext cx="270510" cy="76200"/>
          </a:xfrm>
          <a:prstGeom prst="rect">
            <a:avLst/>
          </a:prstGeom>
          <a:solidFill>
            <a:srgbClr val="2E737D"/>
          </a:solidFill>
          <a:ln/>
        </p:spPr>
      </p:sp>
      <p:sp>
        <p:nvSpPr>
          <p:cNvPr id="52" name="Shape 50"/>
          <p:cNvSpPr/>
          <p:nvPr/>
        </p:nvSpPr>
        <p:spPr>
          <a:xfrm>
            <a:off x="1869440" y="5461000"/>
            <a:ext cx="270510" cy="76200"/>
          </a:xfrm>
          <a:prstGeom prst="rect">
            <a:avLst/>
          </a:prstGeom>
          <a:solidFill>
            <a:srgbClr val="33757C"/>
          </a:solidFill>
          <a:ln/>
        </p:spPr>
      </p:sp>
      <p:sp>
        <p:nvSpPr>
          <p:cNvPr id="53" name="Shape 51"/>
          <p:cNvSpPr/>
          <p:nvPr/>
        </p:nvSpPr>
        <p:spPr>
          <a:xfrm>
            <a:off x="2133600" y="5461000"/>
            <a:ext cx="270510" cy="76200"/>
          </a:xfrm>
          <a:prstGeom prst="rect">
            <a:avLst/>
          </a:prstGeom>
          <a:solidFill>
            <a:srgbClr val="38767C"/>
          </a:solidFill>
          <a:ln/>
        </p:spPr>
      </p:sp>
      <p:sp>
        <p:nvSpPr>
          <p:cNvPr id="54" name="Shape 52"/>
          <p:cNvSpPr/>
          <p:nvPr/>
        </p:nvSpPr>
        <p:spPr>
          <a:xfrm>
            <a:off x="2397760" y="5461000"/>
            <a:ext cx="270510" cy="76200"/>
          </a:xfrm>
          <a:prstGeom prst="rect">
            <a:avLst/>
          </a:prstGeom>
          <a:solidFill>
            <a:srgbClr val="3D787B"/>
          </a:solidFill>
          <a:ln/>
        </p:spPr>
      </p:sp>
      <p:sp>
        <p:nvSpPr>
          <p:cNvPr id="55" name="Shape 53"/>
          <p:cNvSpPr/>
          <p:nvPr/>
        </p:nvSpPr>
        <p:spPr>
          <a:xfrm>
            <a:off x="2661920" y="5461000"/>
            <a:ext cx="270510" cy="76200"/>
          </a:xfrm>
          <a:prstGeom prst="rect">
            <a:avLst/>
          </a:prstGeom>
          <a:solidFill>
            <a:srgbClr val="42797B"/>
          </a:solidFill>
          <a:ln/>
        </p:spPr>
      </p:sp>
      <p:sp>
        <p:nvSpPr>
          <p:cNvPr id="56" name="Shape 54"/>
          <p:cNvSpPr/>
          <p:nvPr/>
        </p:nvSpPr>
        <p:spPr>
          <a:xfrm>
            <a:off x="2926080" y="5461000"/>
            <a:ext cx="270510" cy="76200"/>
          </a:xfrm>
          <a:prstGeom prst="rect">
            <a:avLst/>
          </a:prstGeom>
          <a:solidFill>
            <a:srgbClr val="477B7A"/>
          </a:solidFill>
          <a:ln/>
        </p:spPr>
      </p:sp>
      <p:sp>
        <p:nvSpPr>
          <p:cNvPr id="57" name="Shape 55"/>
          <p:cNvSpPr/>
          <p:nvPr/>
        </p:nvSpPr>
        <p:spPr>
          <a:xfrm>
            <a:off x="3190240" y="5461000"/>
            <a:ext cx="270510" cy="76200"/>
          </a:xfrm>
          <a:prstGeom prst="rect">
            <a:avLst/>
          </a:prstGeom>
          <a:solidFill>
            <a:srgbClr val="4C7C7A"/>
          </a:solidFill>
          <a:ln/>
        </p:spPr>
      </p:sp>
      <p:sp>
        <p:nvSpPr>
          <p:cNvPr id="58" name="Shape 56"/>
          <p:cNvSpPr/>
          <p:nvPr/>
        </p:nvSpPr>
        <p:spPr>
          <a:xfrm>
            <a:off x="3454400" y="5461000"/>
            <a:ext cx="270510" cy="76200"/>
          </a:xfrm>
          <a:prstGeom prst="rect">
            <a:avLst/>
          </a:prstGeom>
          <a:solidFill>
            <a:srgbClr val="517E79"/>
          </a:solidFill>
          <a:ln/>
        </p:spPr>
      </p:sp>
      <p:sp>
        <p:nvSpPr>
          <p:cNvPr id="59" name="Shape 57"/>
          <p:cNvSpPr/>
          <p:nvPr/>
        </p:nvSpPr>
        <p:spPr>
          <a:xfrm>
            <a:off x="3718560" y="5461000"/>
            <a:ext cx="270510" cy="76200"/>
          </a:xfrm>
          <a:prstGeom prst="rect">
            <a:avLst/>
          </a:prstGeom>
          <a:solidFill>
            <a:srgbClr val="567F79"/>
          </a:solidFill>
          <a:ln/>
        </p:spPr>
      </p:sp>
      <p:sp>
        <p:nvSpPr>
          <p:cNvPr id="60" name="Shape 58"/>
          <p:cNvSpPr/>
          <p:nvPr/>
        </p:nvSpPr>
        <p:spPr>
          <a:xfrm>
            <a:off x="3982720" y="5461000"/>
            <a:ext cx="270510" cy="76200"/>
          </a:xfrm>
          <a:prstGeom prst="rect">
            <a:avLst/>
          </a:prstGeom>
          <a:solidFill>
            <a:srgbClr val="5B8178"/>
          </a:solidFill>
          <a:ln/>
        </p:spPr>
      </p:sp>
      <p:sp>
        <p:nvSpPr>
          <p:cNvPr id="61" name="Shape 59"/>
          <p:cNvSpPr/>
          <p:nvPr/>
        </p:nvSpPr>
        <p:spPr>
          <a:xfrm>
            <a:off x="4246880" y="5461000"/>
            <a:ext cx="270510" cy="76200"/>
          </a:xfrm>
          <a:prstGeom prst="rect">
            <a:avLst/>
          </a:prstGeom>
          <a:solidFill>
            <a:srgbClr val="608278"/>
          </a:solidFill>
          <a:ln/>
        </p:spPr>
      </p:sp>
      <p:sp>
        <p:nvSpPr>
          <p:cNvPr id="62" name="Shape 60"/>
          <p:cNvSpPr/>
          <p:nvPr/>
        </p:nvSpPr>
        <p:spPr>
          <a:xfrm>
            <a:off x="4511040" y="5461000"/>
            <a:ext cx="270510" cy="76200"/>
          </a:xfrm>
          <a:prstGeom prst="rect">
            <a:avLst/>
          </a:prstGeom>
          <a:solidFill>
            <a:srgbClr val="658377"/>
          </a:solidFill>
          <a:ln/>
        </p:spPr>
      </p:sp>
      <p:sp>
        <p:nvSpPr>
          <p:cNvPr id="63" name="Shape 61"/>
          <p:cNvSpPr/>
          <p:nvPr/>
        </p:nvSpPr>
        <p:spPr>
          <a:xfrm>
            <a:off x="4775200" y="5461000"/>
            <a:ext cx="270510" cy="76200"/>
          </a:xfrm>
          <a:prstGeom prst="rect">
            <a:avLst/>
          </a:prstGeom>
          <a:solidFill>
            <a:srgbClr val="6A8577"/>
          </a:solidFill>
          <a:ln/>
        </p:spPr>
      </p:sp>
      <p:sp>
        <p:nvSpPr>
          <p:cNvPr id="64" name="Shape 62"/>
          <p:cNvSpPr/>
          <p:nvPr/>
        </p:nvSpPr>
        <p:spPr>
          <a:xfrm>
            <a:off x="5039360" y="5461000"/>
            <a:ext cx="270510" cy="76200"/>
          </a:xfrm>
          <a:prstGeom prst="rect">
            <a:avLst/>
          </a:prstGeom>
          <a:solidFill>
            <a:srgbClr val="6F8676"/>
          </a:solidFill>
          <a:ln/>
        </p:spPr>
      </p:sp>
      <p:sp>
        <p:nvSpPr>
          <p:cNvPr id="65" name="Shape 63"/>
          <p:cNvSpPr/>
          <p:nvPr/>
        </p:nvSpPr>
        <p:spPr>
          <a:xfrm>
            <a:off x="5303520" y="5461000"/>
            <a:ext cx="270510" cy="76200"/>
          </a:xfrm>
          <a:prstGeom prst="rect">
            <a:avLst/>
          </a:prstGeom>
          <a:solidFill>
            <a:srgbClr val="748876"/>
          </a:solidFill>
          <a:ln/>
        </p:spPr>
      </p:sp>
      <p:sp>
        <p:nvSpPr>
          <p:cNvPr id="66" name="Shape 64"/>
          <p:cNvSpPr/>
          <p:nvPr/>
        </p:nvSpPr>
        <p:spPr>
          <a:xfrm>
            <a:off x="5567680" y="5461000"/>
            <a:ext cx="270510" cy="76200"/>
          </a:xfrm>
          <a:prstGeom prst="rect">
            <a:avLst/>
          </a:prstGeom>
          <a:solidFill>
            <a:srgbClr val="798975"/>
          </a:solidFill>
          <a:ln/>
        </p:spPr>
      </p:sp>
      <p:sp>
        <p:nvSpPr>
          <p:cNvPr id="67" name="Shape 65"/>
          <p:cNvSpPr/>
          <p:nvPr/>
        </p:nvSpPr>
        <p:spPr>
          <a:xfrm>
            <a:off x="5831840" y="5461000"/>
            <a:ext cx="270510" cy="76200"/>
          </a:xfrm>
          <a:prstGeom prst="rect">
            <a:avLst/>
          </a:prstGeom>
          <a:solidFill>
            <a:srgbClr val="7E8B75"/>
          </a:solidFill>
          <a:ln/>
        </p:spPr>
      </p:sp>
      <p:sp>
        <p:nvSpPr>
          <p:cNvPr id="68" name="Shape 66"/>
          <p:cNvSpPr/>
          <p:nvPr/>
        </p:nvSpPr>
        <p:spPr>
          <a:xfrm>
            <a:off x="6096000" y="5461000"/>
            <a:ext cx="270510" cy="76200"/>
          </a:xfrm>
          <a:prstGeom prst="rect">
            <a:avLst/>
          </a:prstGeom>
          <a:solidFill>
            <a:srgbClr val="848C74"/>
          </a:solidFill>
          <a:ln/>
        </p:spPr>
      </p:sp>
      <p:sp>
        <p:nvSpPr>
          <p:cNvPr id="69" name="Shape 67"/>
          <p:cNvSpPr/>
          <p:nvPr/>
        </p:nvSpPr>
        <p:spPr>
          <a:xfrm>
            <a:off x="6360160" y="5461000"/>
            <a:ext cx="270510" cy="76200"/>
          </a:xfrm>
          <a:prstGeom prst="rect">
            <a:avLst/>
          </a:prstGeom>
          <a:solidFill>
            <a:srgbClr val="898E74"/>
          </a:solidFill>
          <a:ln/>
        </p:spPr>
      </p:sp>
      <p:sp>
        <p:nvSpPr>
          <p:cNvPr id="70" name="Shape 68"/>
          <p:cNvSpPr/>
          <p:nvPr/>
        </p:nvSpPr>
        <p:spPr>
          <a:xfrm>
            <a:off x="6624320" y="5461000"/>
            <a:ext cx="270510" cy="76200"/>
          </a:xfrm>
          <a:prstGeom prst="rect">
            <a:avLst/>
          </a:prstGeom>
          <a:solidFill>
            <a:srgbClr val="8E8F73"/>
          </a:solidFill>
          <a:ln/>
        </p:spPr>
      </p:sp>
      <p:sp>
        <p:nvSpPr>
          <p:cNvPr id="71" name="Shape 69"/>
          <p:cNvSpPr/>
          <p:nvPr/>
        </p:nvSpPr>
        <p:spPr>
          <a:xfrm>
            <a:off x="6888480" y="5461000"/>
            <a:ext cx="270510" cy="76200"/>
          </a:xfrm>
          <a:prstGeom prst="rect">
            <a:avLst/>
          </a:prstGeom>
          <a:solidFill>
            <a:srgbClr val="939173"/>
          </a:solidFill>
          <a:ln/>
        </p:spPr>
      </p:sp>
      <p:sp>
        <p:nvSpPr>
          <p:cNvPr id="72" name="Shape 70"/>
          <p:cNvSpPr/>
          <p:nvPr/>
        </p:nvSpPr>
        <p:spPr>
          <a:xfrm>
            <a:off x="7152640" y="5461000"/>
            <a:ext cx="270510" cy="76200"/>
          </a:xfrm>
          <a:prstGeom prst="rect">
            <a:avLst/>
          </a:prstGeom>
          <a:solidFill>
            <a:srgbClr val="989272"/>
          </a:solidFill>
          <a:ln/>
        </p:spPr>
      </p:sp>
      <p:sp>
        <p:nvSpPr>
          <p:cNvPr id="73" name="Shape 71"/>
          <p:cNvSpPr/>
          <p:nvPr/>
        </p:nvSpPr>
        <p:spPr>
          <a:xfrm>
            <a:off x="7416800" y="5461000"/>
            <a:ext cx="270510" cy="76200"/>
          </a:xfrm>
          <a:prstGeom prst="rect">
            <a:avLst/>
          </a:prstGeom>
          <a:solidFill>
            <a:srgbClr val="9D9472"/>
          </a:solidFill>
          <a:ln/>
        </p:spPr>
      </p:sp>
      <p:sp>
        <p:nvSpPr>
          <p:cNvPr id="74" name="Shape 72"/>
          <p:cNvSpPr/>
          <p:nvPr/>
        </p:nvSpPr>
        <p:spPr>
          <a:xfrm>
            <a:off x="7680960" y="5461000"/>
            <a:ext cx="270510" cy="76200"/>
          </a:xfrm>
          <a:prstGeom prst="rect">
            <a:avLst/>
          </a:prstGeom>
          <a:solidFill>
            <a:srgbClr val="A29571"/>
          </a:solidFill>
          <a:ln/>
        </p:spPr>
      </p:sp>
      <p:sp>
        <p:nvSpPr>
          <p:cNvPr id="75" name="Shape 73"/>
          <p:cNvSpPr/>
          <p:nvPr/>
        </p:nvSpPr>
        <p:spPr>
          <a:xfrm>
            <a:off x="7945120" y="5461000"/>
            <a:ext cx="270510" cy="76200"/>
          </a:xfrm>
          <a:prstGeom prst="rect">
            <a:avLst/>
          </a:prstGeom>
          <a:solidFill>
            <a:srgbClr val="A79671"/>
          </a:solidFill>
          <a:ln/>
        </p:spPr>
      </p:sp>
      <p:sp>
        <p:nvSpPr>
          <p:cNvPr id="76" name="Shape 74"/>
          <p:cNvSpPr/>
          <p:nvPr/>
        </p:nvSpPr>
        <p:spPr>
          <a:xfrm>
            <a:off x="8209280" y="5461000"/>
            <a:ext cx="270510" cy="76200"/>
          </a:xfrm>
          <a:prstGeom prst="rect">
            <a:avLst/>
          </a:prstGeom>
          <a:solidFill>
            <a:srgbClr val="AC9870"/>
          </a:solidFill>
          <a:ln/>
        </p:spPr>
      </p:sp>
      <p:sp>
        <p:nvSpPr>
          <p:cNvPr id="77" name="Shape 75"/>
          <p:cNvSpPr/>
          <p:nvPr/>
        </p:nvSpPr>
        <p:spPr>
          <a:xfrm>
            <a:off x="8473440" y="5461000"/>
            <a:ext cx="270510" cy="76200"/>
          </a:xfrm>
          <a:prstGeom prst="rect">
            <a:avLst/>
          </a:prstGeom>
          <a:solidFill>
            <a:srgbClr val="B19970"/>
          </a:solidFill>
          <a:ln/>
        </p:spPr>
      </p:sp>
      <p:sp>
        <p:nvSpPr>
          <p:cNvPr id="78" name="Shape 76"/>
          <p:cNvSpPr/>
          <p:nvPr/>
        </p:nvSpPr>
        <p:spPr>
          <a:xfrm>
            <a:off x="8737600" y="5461000"/>
            <a:ext cx="270510" cy="76200"/>
          </a:xfrm>
          <a:prstGeom prst="rect">
            <a:avLst/>
          </a:prstGeom>
          <a:solidFill>
            <a:srgbClr val="B69B6F"/>
          </a:solidFill>
          <a:ln/>
        </p:spPr>
      </p:sp>
      <p:sp>
        <p:nvSpPr>
          <p:cNvPr id="79" name="Shape 77"/>
          <p:cNvSpPr/>
          <p:nvPr/>
        </p:nvSpPr>
        <p:spPr>
          <a:xfrm>
            <a:off x="9001760" y="5461000"/>
            <a:ext cx="270510" cy="76200"/>
          </a:xfrm>
          <a:prstGeom prst="rect">
            <a:avLst/>
          </a:prstGeom>
          <a:solidFill>
            <a:srgbClr val="BB9C6F"/>
          </a:solidFill>
          <a:ln/>
        </p:spPr>
      </p:sp>
      <p:sp>
        <p:nvSpPr>
          <p:cNvPr id="80" name="Shape 78"/>
          <p:cNvSpPr/>
          <p:nvPr/>
        </p:nvSpPr>
        <p:spPr>
          <a:xfrm>
            <a:off x="9265920" y="5461000"/>
            <a:ext cx="270510" cy="76200"/>
          </a:xfrm>
          <a:prstGeom prst="rect">
            <a:avLst/>
          </a:prstGeom>
          <a:solidFill>
            <a:srgbClr val="C09E6E"/>
          </a:solidFill>
          <a:ln/>
        </p:spPr>
      </p:sp>
      <p:sp>
        <p:nvSpPr>
          <p:cNvPr id="81" name="Shape 79"/>
          <p:cNvSpPr/>
          <p:nvPr/>
        </p:nvSpPr>
        <p:spPr>
          <a:xfrm>
            <a:off x="9530080" y="5461000"/>
            <a:ext cx="270510" cy="76200"/>
          </a:xfrm>
          <a:prstGeom prst="rect">
            <a:avLst/>
          </a:prstGeom>
          <a:solidFill>
            <a:srgbClr val="C59F6E"/>
          </a:solidFill>
          <a:ln/>
        </p:spPr>
      </p:sp>
      <p:sp>
        <p:nvSpPr>
          <p:cNvPr id="82" name="Shape 80"/>
          <p:cNvSpPr/>
          <p:nvPr/>
        </p:nvSpPr>
        <p:spPr>
          <a:xfrm>
            <a:off x="9794240" y="5461000"/>
            <a:ext cx="270510" cy="76200"/>
          </a:xfrm>
          <a:prstGeom prst="rect">
            <a:avLst/>
          </a:prstGeom>
          <a:solidFill>
            <a:srgbClr val="CAA16D"/>
          </a:solidFill>
          <a:ln/>
        </p:spPr>
      </p:sp>
      <p:sp>
        <p:nvSpPr>
          <p:cNvPr id="83" name="Shape 81"/>
          <p:cNvSpPr/>
          <p:nvPr/>
        </p:nvSpPr>
        <p:spPr>
          <a:xfrm>
            <a:off x="10058400" y="5461000"/>
            <a:ext cx="270510" cy="76200"/>
          </a:xfrm>
          <a:prstGeom prst="rect">
            <a:avLst/>
          </a:prstGeom>
          <a:solidFill>
            <a:srgbClr val="CFA26D"/>
          </a:solidFill>
          <a:ln/>
        </p:spPr>
      </p:sp>
      <p:sp>
        <p:nvSpPr>
          <p:cNvPr id="84" name="Shape 82"/>
          <p:cNvSpPr/>
          <p:nvPr/>
        </p:nvSpPr>
        <p:spPr>
          <a:xfrm>
            <a:off x="10322560" y="5461000"/>
            <a:ext cx="270510" cy="76200"/>
          </a:xfrm>
          <a:prstGeom prst="rect">
            <a:avLst/>
          </a:prstGeom>
          <a:solidFill>
            <a:srgbClr val="D4A46C"/>
          </a:solidFill>
          <a:ln/>
        </p:spPr>
      </p:sp>
      <p:sp>
        <p:nvSpPr>
          <p:cNvPr id="85" name="Shape 83"/>
          <p:cNvSpPr/>
          <p:nvPr/>
        </p:nvSpPr>
        <p:spPr>
          <a:xfrm>
            <a:off x="10586720" y="5461000"/>
            <a:ext cx="270510" cy="76200"/>
          </a:xfrm>
          <a:prstGeom prst="rect">
            <a:avLst/>
          </a:prstGeom>
          <a:solidFill>
            <a:srgbClr val="D9A56C"/>
          </a:solidFill>
          <a:ln/>
        </p:spPr>
      </p:sp>
      <p:sp>
        <p:nvSpPr>
          <p:cNvPr id="86" name="Shape 84"/>
          <p:cNvSpPr/>
          <p:nvPr/>
        </p:nvSpPr>
        <p:spPr>
          <a:xfrm>
            <a:off x="10850880" y="5461000"/>
            <a:ext cx="270510" cy="76200"/>
          </a:xfrm>
          <a:prstGeom prst="rect">
            <a:avLst/>
          </a:prstGeom>
          <a:solidFill>
            <a:srgbClr val="DEA76B"/>
          </a:solidFill>
          <a:ln/>
        </p:spPr>
      </p:sp>
      <p:sp>
        <p:nvSpPr>
          <p:cNvPr id="87" name="Shape 85"/>
          <p:cNvSpPr/>
          <p:nvPr/>
        </p:nvSpPr>
        <p:spPr>
          <a:xfrm>
            <a:off x="11115040" y="5461000"/>
            <a:ext cx="270510" cy="76200"/>
          </a:xfrm>
          <a:prstGeom prst="rect">
            <a:avLst/>
          </a:prstGeom>
          <a:solidFill>
            <a:srgbClr val="E3A86B"/>
          </a:solidFill>
          <a:ln/>
        </p:spPr>
      </p:sp>
      <p:sp>
        <p:nvSpPr>
          <p:cNvPr id="88" name="Text 86"/>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9" name="Text 87"/>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90" name="Text 88"/>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 · DETAIL</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BAU-heavy teams shrink as AI Enablement grows</a:t>
            </a:r>
            <a:endParaRPr lang="en-US" sz="3200" dirty="0"/>
          </a:p>
        </p:txBody>
      </p:sp>
      <p:sp>
        <p:nvSpPr>
          <p:cNvPr id="4" name="Shape 2"/>
          <p:cNvSpPr/>
          <p:nvPr/>
        </p:nvSpPr>
        <p:spPr>
          <a:xfrm>
            <a:off x="6096000" y="2463800"/>
            <a:ext cx="914" cy="127000"/>
          </a:xfrm>
          <a:prstGeom prst="line">
            <a:avLst/>
          </a:prstGeom>
          <a:noFill/>
          <a:ln w="25400">
            <a:solidFill>
              <a:srgbClr val="8A8F98"/>
            </a:solidFill>
            <a:prstDash val="solid"/>
          </a:ln>
        </p:spPr>
      </p:sp>
      <p:sp>
        <p:nvSpPr>
          <p:cNvPr id="5" name="Shape 3"/>
          <p:cNvSpPr/>
          <p:nvPr/>
        </p:nvSpPr>
        <p:spPr>
          <a:xfrm>
            <a:off x="3200400" y="2590800"/>
            <a:ext cx="7289800" cy="914"/>
          </a:xfrm>
          <a:prstGeom prst="line">
            <a:avLst/>
          </a:prstGeom>
          <a:noFill/>
          <a:ln w="25400">
            <a:solidFill>
              <a:srgbClr val="8A8F98"/>
            </a:solidFill>
            <a:prstDash val="solid"/>
          </a:ln>
        </p:spPr>
      </p:sp>
      <p:sp>
        <p:nvSpPr>
          <p:cNvPr id="6" name="Shape 4"/>
          <p:cNvSpPr/>
          <p:nvPr/>
        </p:nvSpPr>
        <p:spPr>
          <a:xfrm>
            <a:off x="3200400" y="2590800"/>
            <a:ext cx="914" cy="127000"/>
          </a:xfrm>
          <a:prstGeom prst="line">
            <a:avLst/>
          </a:prstGeom>
          <a:noFill/>
          <a:ln w="25400">
            <a:solidFill>
              <a:srgbClr val="8A8F98"/>
            </a:solidFill>
            <a:prstDash val="solid"/>
          </a:ln>
        </p:spPr>
      </p:sp>
      <p:sp>
        <p:nvSpPr>
          <p:cNvPr id="7" name="Shape 5"/>
          <p:cNvSpPr/>
          <p:nvPr/>
        </p:nvSpPr>
        <p:spPr>
          <a:xfrm>
            <a:off x="6629400" y="2590800"/>
            <a:ext cx="914" cy="127000"/>
          </a:xfrm>
          <a:prstGeom prst="line">
            <a:avLst/>
          </a:prstGeom>
          <a:noFill/>
          <a:ln w="25400">
            <a:solidFill>
              <a:srgbClr val="8A8F98"/>
            </a:solidFill>
            <a:prstDash val="solid"/>
          </a:ln>
        </p:spPr>
      </p:sp>
      <p:sp>
        <p:nvSpPr>
          <p:cNvPr id="8" name="Shape 6"/>
          <p:cNvSpPr/>
          <p:nvPr/>
        </p:nvSpPr>
        <p:spPr>
          <a:xfrm>
            <a:off x="8559800" y="2590800"/>
            <a:ext cx="914" cy="127000"/>
          </a:xfrm>
          <a:prstGeom prst="line">
            <a:avLst/>
          </a:prstGeom>
          <a:noFill/>
          <a:ln w="25400">
            <a:solidFill>
              <a:srgbClr val="8A8F98"/>
            </a:solidFill>
            <a:prstDash val="solid"/>
          </a:ln>
        </p:spPr>
      </p:sp>
      <p:sp>
        <p:nvSpPr>
          <p:cNvPr id="9" name="Shape 7"/>
          <p:cNvSpPr/>
          <p:nvPr/>
        </p:nvSpPr>
        <p:spPr>
          <a:xfrm>
            <a:off x="10490200" y="2590800"/>
            <a:ext cx="914" cy="127000"/>
          </a:xfrm>
          <a:prstGeom prst="line">
            <a:avLst/>
          </a:prstGeom>
          <a:noFill/>
          <a:ln w="25400">
            <a:solidFill>
              <a:srgbClr val="8A8F98"/>
            </a:solidFill>
            <a:prstDash val="solid"/>
          </a:ln>
        </p:spPr>
      </p:sp>
      <p:sp>
        <p:nvSpPr>
          <p:cNvPr id="10" name="Shape 8"/>
          <p:cNvSpPr/>
          <p:nvPr/>
        </p:nvSpPr>
        <p:spPr>
          <a:xfrm>
            <a:off x="3200400" y="3378200"/>
            <a:ext cx="914" cy="101600"/>
          </a:xfrm>
          <a:prstGeom prst="line">
            <a:avLst/>
          </a:prstGeom>
          <a:noFill/>
          <a:ln w="25400">
            <a:solidFill>
              <a:srgbClr val="8A8F98"/>
            </a:solidFill>
            <a:prstDash val="solid"/>
          </a:ln>
        </p:spPr>
      </p:sp>
      <p:sp>
        <p:nvSpPr>
          <p:cNvPr id="11" name="Shape 9"/>
          <p:cNvSpPr/>
          <p:nvPr/>
        </p:nvSpPr>
        <p:spPr>
          <a:xfrm>
            <a:off x="1574800" y="3479800"/>
            <a:ext cx="3251200" cy="914"/>
          </a:xfrm>
          <a:prstGeom prst="line">
            <a:avLst/>
          </a:prstGeom>
          <a:noFill/>
          <a:ln w="25400">
            <a:solidFill>
              <a:srgbClr val="8A8F98"/>
            </a:solidFill>
            <a:prstDash val="solid"/>
          </a:ln>
        </p:spPr>
      </p:sp>
      <p:sp>
        <p:nvSpPr>
          <p:cNvPr id="12" name="Shape 10"/>
          <p:cNvSpPr/>
          <p:nvPr/>
        </p:nvSpPr>
        <p:spPr>
          <a:xfrm>
            <a:off x="1574800" y="3479800"/>
            <a:ext cx="914" cy="101600"/>
          </a:xfrm>
          <a:prstGeom prst="line">
            <a:avLst/>
          </a:prstGeom>
          <a:noFill/>
          <a:ln w="25400">
            <a:solidFill>
              <a:srgbClr val="8A8F98"/>
            </a:solidFill>
            <a:prstDash val="solid"/>
          </a:ln>
        </p:spPr>
      </p:sp>
      <p:sp>
        <p:nvSpPr>
          <p:cNvPr id="13" name="Shape 11"/>
          <p:cNvSpPr/>
          <p:nvPr/>
        </p:nvSpPr>
        <p:spPr>
          <a:xfrm>
            <a:off x="1574800" y="4089400"/>
            <a:ext cx="914" cy="101600"/>
          </a:xfrm>
          <a:prstGeom prst="line">
            <a:avLst/>
          </a:prstGeom>
          <a:noFill/>
          <a:ln w="25400">
            <a:solidFill>
              <a:srgbClr val="8A8F98"/>
            </a:solidFill>
            <a:prstDash val="solid"/>
          </a:ln>
        </p:spPr>
      </p:sp>
      <p:sp>
        <p:nvSpPr>
          <p:cNvPr id="14" name="Shape 12"/>
          <p:cNvSpPr/>
          <p:nvPr/>
        </p:nvSpPr>
        <p:spPr>
          <a:xfrm>
            <a:off x="3200400" y="3479800"/>
            <a:ext cx="914" cy="101600"/>
          </a:xfrm>
          <a:prstGeom prst="line">
            <a:avLst/>
          </a:prstGeom>
          <a:noFill/>
          <a:ln w="25400">
            <a:solidFill>
              <a:srgbClr val="8A8F98"/>
            </a:solidFill>
            <a:prstDash val="solid"/>
          </a:ln>
        </p:spPr>
      </p:sp>
      <p:sp>
        <p:nvSpPr>
          <p:cNvPr id="15" name="Shape 13"/>
          <p:cNvSpPr/>
          <p:nvPr/>
        </p:nvSpPr>
        <p:spPr>
          <a:xfrm>
            <a:off x="3200400" y="4089400"/>
            <a:ext cx="914" cy="101600"/>
          </a:xfrm>
          <a:prstGeom prst="line">
            <a:avLst/>
          </a:prstGeom>
          <a:noFill/>
          <a:ln w="25400">
            <a:solidFill>
              <a:srgbClr val="8A8F98"/>
            </a:solidFill>
            <a:prstDash val="solid"/>
          </a:ln>
        </p:spPr>
      </p:sp>
      <p:sp>
        <p:nvSpPr>
          <p:cNvPr id="16" name="Shape 14"/>
          <p:cNvSpPr/>
          <p:nvPr/>
        </p:nvSpPr>
        <p:spPr>
          <a:xfrm>
            <a:off x="4826000" y="3479800"/>
            <a:ext cx="914" cy="101600"/>
          </a:xfrm>
          <a:prstGeom prst="line">
            <a:avLst/>
          </a:prstGeom>
          <a:noFill/>
          <a:ln w="25400">
            <a:solidFill>
              <a:srgbClr val="8A8F98"/>
            </a:solidFill>
            <a:prstDash val="solid"/>
          </a:ln>
        </p:spPr>
      </p:sp>
      <p:sp>
        <p:nvSpPr>
          <p:cNvPr id="17" name="Shape 15"/>
          <p:cNvSpPr/>
          <p:nvPr/>
        </p:nvSpPr>
        <p:spPr>
          <a:xfrm>
            <a:off x="4826000" y="4089400"/>
            <a:ext cx="914" cy="101600"/>
          </a:xfrm>
          <a:prstGeom prst="line">
            <a:avLst/>
          </a:prstGeom>
          <a:noFill/>
          <a:ln w="25400">
            <a:solidFill>
              <a:srgbClr val="8A8F98"/>
            </a:solidFill>
            <a:prstDash val="solid"/>
          </a:ln>
        </p:spPr>
      </p:sp>
      <p:sp>
        <p:nvSpPr>
          <p:cNvPr id="18" name="Shape 16"/>
          <p:cNvSpPr/>
          <p:nvPr/>
        </p:nvSpPr>
        <p:spPr>
          <a:xfrm>
            <a:off x="6629400" y="3378200"/>
            <a:ext cx="914" cy="203200"/>
          </a:xfrm>
          <a:prstGeom prst="line">
            <a:avLst/>
          </a:prstGeom>
          <a:noFill/>
          <a:ln w="25400">
            <a:solidFill>
              <a:srgbClr val="8A8F98"/>
            </a:solidFill>
            <a:prstDash val="solid"/>
          </a:ln>
        </p:spPr>
      </p:sp>
      <p:sp>
        <p:nvSpPr>
          <p:cNvPr id="19" name="Shape 17"/>
          <p:cNvSpPr/>
          <p:nvPr/>
        </p:nvSpPr>
        <p:spPr>
          <a:xfrm>
            <a:off x="8559800" y="3378200"/>
            <a:ext cx="914" cy="203200"/>
          </a:xfrm>
          <a:prstGeom prst="line">
            <a:avLst/>
          </a:prstGeom>
          <a:noFill/>
          <a:ln w="25400">
            <a:solidFill>
              <a:srgbClr val="8A8F98"/>
            </a:solidFill>
            <a:prstDash val="solid"/>
          </a:ln>
        </p:spPr>
      </p:sp>
      <p:sp>
        <p:nvSpPr>
          <p:cNvPr id="20" name="Shape 18"/>
          <p:cNvSpPr/>
          <p:nvPr/>
        </p:nvSpPr>
        <p:spPr>
          <a:xfrm>
            <a:off x="10490200" y="3378200"/>
            <a:ext cx="914" cy="203200"/>
          </a:xfrm>
          <a:prstGeom prst="line">
            <a:avLst/>
          </a:prstGeom>
          <a:noFill/>
          <a:ln w="25400">
            <a:solidFill>
              <a:srgbClr val="8A8F98"/>
            </a:solidFill>
            <a:prstDash val="solid"/>
          </a:ln>
        </p:spPr>
      </p:sp>
      <p:sp>
        <p:nvSpPr>
          <p:cNvPr id="21" name="Shape 19"/>
          <p:cNvSpPr/>
          <p:nvPr/>
        </p:nvSpPr>
        <p:spPr>
          <a:xfrm>
            <a:off x="4826000" y="2108200"/>
            <a:ext cx="2540000" cy="355600"/>
          </a:xfrm>
          <a:prstGeom prst="roundRect">
            <a:avLst>
              <a:gd name="adj" fmla="val 38571"/>
            </a:avLst>
          </a:prstGeom>
          <a:solidFill>
            <a:srgbClr val="14213D"/>
          </a:solidFill>
          <a:ln/>
        </p:spPr>
      </p:sp>
      <p:sp>
        <p:nvSpPr>
          <p:cNvPr id="22" name="Text 20"/>
          <p:cNvSpPr txBox="1"/>
          <p:nvPr/>
        </p:nvSpPr>
        <p:spPr>
          <a:xfrm>
            <a:off x="4826000" y="2108200"/>
            <a:ext cx="2540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[Name] · MADE lead [SD]</a:t>
            </a:r>
            <a:endParaRPr lang="en-US" sz="1300" dirty="0"/>
          </a:p>
        </p:txBody>
      </p:sp>
      <p:sp>
        <p:nvSpPr>
          <p:cNvPr id="23" name="Shape 21"/>
          <p:cNvSpPr/>
          <p:nvPr/>
        </p:nvSpPr>
        <p:spPr>
          <a:xfrm>
            <a:off x="812800" y="2717800"/>
            <a:ext cx="4775200" cy="660400"/>
          </a:xfrm>
          <a:prstGeom prst="roundRect">
            <a:avLst>
              <a:gd name="adj" fmla="val 13846"/>
            </a:avLst>
          </a:prstGeom>
          <a:solidFill>
            <a:srgbClr val="E1EEF0"/>
          </a:solidFill>
          <a:ln w="19050">
            <a:solidFill>
              <a:srgbClr val="1F6F7E"/>
            </a:solidFill>
            <a:prstDash val="solid"/>
          </a:ln>
        </p:spPr>
      </p:sp>
      <p:sp>
        <p:nvSpPr>
          <p:cNvPr id="24" name="Text 22"/>
          <p:cNvSpPr txBox="1"/>
          <p:nvPr/>
        </p:nvSpPr>
        <p:spPr>
          <a:xfrm>
            <a:off x="901700" y="2768600"/>
            <a:ext cx="45974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Modeling</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[XX] [D]</a:t>
            </a:r>
            <a:endParaRPr lang="en-US" sz="1200" dirty="0"/>
          </a:p>
        </p:txBody>
      </p:sp>
      <p:sp>
        <p:nvSpPr>
          <p:cNvPr id="25" name="Shape 23"/>
          <p:cNvSpPr/>
          <p:nvPr/>
        </p:nvSpPr>
        <p:spPr>
          <a:xfrm>
            <a:off x="5740400" y="2717800"/>
            <a:ext cx="1778000" cy="660400"/>
          </a:xfrm>
          <a:prstGeom prst="roundRect">
            <a:avLst>
              <a:gd name="adj" fmla="val 13846"/>
            </a:avLst>
          </a:prstGeom>
          <a:solidFill>
            <a:srgbClr val="E1EEF0"/>
          </a:solidFill>
          <a:ln w="19050">
            <a:solidFill>
              <a:srgbClr val="1F6F7E"/>
            </a:solidFill>
            <a:prstDash val="solid"/>
          </a:ln>
        </p:spPr>
      </p:sp>
      <p:sp>
        <p:nvSpPr>
          <p:cNvPr id="26" name="Text 24"/>
          <p:cNvSpPr txBox="1"/>
          <p:nvPr/>
        </p:nvSpPr>
        <p:spPr>
          <a:xfrm>
            <a:off x="5829300" y="2768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Data Foundation</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27" name="Shape 25"/>
          <p:cNvSpPr/>
          <p:nvPr/>
        </p:nvSpPr>
        <p:spPr>
          <a:xfrm>
            <a:off x="7670800" y="2717800"/>
            <a:ext cx="1778000" cy="660400"/>
          </a:xfrm>
          <a:prstGeom prst="roundRect">
            <a:avLst>
              <a:gd name="adj" fmla="val 13846"/>
            </a:avLst>
          </a:prstGeom>
          <a:solidFill>
            <a:srgbClr val="E1EEF0"/>
          </a:solidFill>
          <a:ln w="19050">
            <a:solidFill>
              <a:srgbClr val="1F6F7E"/>
            </a:solidFill>
            <a:prstDash val="solid"/>
          </a:ln>
        </p:spPr>
      </p:sp>
      <p:sp>
        <p:nvSpPr>
          <p:cNvPr id="28" name="Text 26"/>
          <p:cNvSpPr txBox="1"/>
          <p:nvPr/>
        </p:nvSpPr>
        <p:spPr>
          <a:xfrm>
            <a:off x="7759700" y="2768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Platform &amp; Deployment</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29" name="Shape 27"/>
          <p:cNvSpPr/>
          <p:nvPr/>
        </p:nvSpPr>
        <p:spPr>
          <a:xfrm>
            <a:off x="9601200" y="2717800"/>
            <a:ext cx="1778000" cy="660400"/>
          </a:xfrm>
          <a:prstGeom prst="roundRect">
            <a:avLst>
              <a:gd name="adj" fmla="val 13846"/>
            </a:avLst>
          </a:prstGeom>
          <a:solidFill>
            <a:srgbClr val="14213D"/>
          </a:solidFill>
          <a:ln w="19050">
            <a:solidFill>
              <a:srgbClr val="14213D"/>
            </a:solidFill>
            <a:prstDash val="solid"/>
          </a:ln>
        </p:spPr>
      </p:sp>
      <p:sp>
        <p:nvSpPr>
          <p:cNvPr id="30" name="Text 28"/>
          <p:cNvSpPr txBox="1"/>
          <p:nvPr/>
        </p:nvSpPr>
        <p:spPr>
          <a:xfrm>
            <a:off x="9690100" y="2768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F7F6F2"/>
                </a:solidFill>
                <a:latin typeface="Optimist Sans" pitchFamily="34" charset="0"/>
                <a:ea typeface="Optimist Sans" pitchFamily="34" charset="-122"/>
                <a:cs typeface="Optimist Sans" pitchFamily="34" charset="-120"/>
              </a:rPr>
              <a:t>AI Enablement</a:t>
            </a:r>
            <a:endParaRPr lang="en-US" sz="1200" dirty="0"/>
          </a:p>
          <a:p>
            <a:pPr algn="l" indent="0" marL="0">
              <a:lnSpc>
                <a:spcPct val="110000"/>
              </a:lnSpc>
              <a:buNone/>
            </a:pPr>
            <a:r>
              <a:rPr lang="en-US" sz="1200" dirty="0">
                <a:solidFill>
                  <a:srgbClr val="BFCAD9"/>
                </a:solidFill>
                <a:latin typeface="Optimist Sans" pitchFamily="34" charset="0"/>
                <a:ea typeface="Optimist Sans" pitchFamily="34" charset="-122"/>
                <a:cs typeface="Optimist Sans" pitchFamily="34" charset="-120"/>
              </a:rPr>
              <a:t>[Name] [D/SM]</a:t>
            </a:r>
            <a:endParaRPr lang="en-US" sz="1200" dirty="0"/>
          </a:p>
        </p:txBody>
      </p:sp>
      <p:sp>
        <p:nvSpPr>
          <p:cNvPr id="31" name="Shape 29"/>
          <p:cNvSpPr/>
          <p:nvPr/>
        </p:nvSpPr>
        <p:spPr>
          <a:xfrm>
            <a:off x="812800" y="3581400"/>
            <a:ext cx="1524000" cy="508000"/>
          </a:xfrm>
          <a:prstGeom prst="roundRect">
            <a:avLst>
              <a:gd name="adj" fmla="val 21600"/>
            </a:avLst>
          </a:prstGeom>
          <a:solidFill>
            <a:srgbClr val="FDFCF9"/>
          </a:solidFill>
          <a:ln w="19050">
            <a:solidFill>
              <a:srgbClr val="1F6F7E"/>
            </a:solidFill>
            <a:prstDash val="solid"/>
          </a:ln>
        </p:spPr>
      </p:sp>
      <p:sp>
        <p:nvSpPr>
          <p:cNvPr id="32" name="Text 30"/>
          <p:cNvSpPr txBox="1"/>
          <p:nvPr/>
        </p:nvSpPr>
        <p:spPr>
          <a:xfrm>
            <a:off x="901700" y="3619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A]</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33" name="Shape 31"/>
          <p:cNvSpPr/>
          <p:nvPr/>
        </p:nvSpPr>
        <p:spPr>
          <a:xfrm>
            <a:off x="2438400" y="3581400"/>
            <a:ext cx="1524000" cy="508000"/>
          </a:xfrm>
          <a:prstGeom prst="roundRect">
            <a:avLst>
              <a:gd name="adj" fmla="val 21600"/>
            </a:avLst>
          </a:prstGeom>
          <a:solidFill>
            <a:srgbClr val="FDFCF9"/>
          </a:solidFill>
          <a:ln w="19050">
            <a:solidFill>
              <a:srgbClr val="1F6F7E"/>
            </a:solidFill>
            <a:prstDash val="solid"/>
          </a:ln>
        </p:spPr>
      </p:sp>
      <p:sp>
        <p:nvSpPr>
          <p:cNvPr id="34" name="Text 32"/>
          <p:cNvSpPr txBox="1"/>
          <p:nvPr/>
        </p:nvSpPr>
        <p:spPr>
          <a:xfrm>
            <a:off x="2527300" y="3619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B]</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[M]</a:t>
            </a:r>
            <a:endParaRPr lang="en-US" sz="1200" dirty="0"/>
          </a:p>
        </p:txBody>
      </p:sp>
      <p:sp>
        <p:nvSpPr>
          <p:cNvPr id="35" name="Shape 33"/>
          <p:cNvSpPr/>
          <p:nvPr/>
        </p:nvSpPr>
        <p:spPr>
          <a:xfrm>
            <a:off x="4064000" y="3581400"/>
            <a:ext cx="1524000" cy="508000"/>
          </a:xfrm>
          <a:prstGeom prst="roundRect">
            <a:avLst>
              <a:gd name="adj" fmla="val 21600"/>
            </a:avLst>
          </a:prstGeom>
          <a:solidFill>
            <a:srgbClr val="FDFCF9"/>
          </a:solidFill>
          <a:ln w="19050">
            <a:solidFill>
              <a:srgbClr val="1F6F7E"/>
            </a:solidFill>
            <a:prstDash val="solid"/>
          </a:ln>
        </p:spPr>
      </p:sp>
      <p:sp>
        <p:nvSpPr>
          <p:cNvPr id="36" name="Text 34"/>
          <p:cNvSpPr txBox="1"/>
          <p:nvPr/>
        </p:nvSpPr>
        <p:spPr>
          <a:xfrm>
            <a:off x="4152900" y="3619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C]</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[M]</a:t>
            </a:r>
            <a:endParaRPr lang="en-US" sz="1200" dirty="0"/>
          </a:p>
        </p:txBody>
      </p:sp>
      <p:sp>
        <p:nvSpPr>
          <p:cNvPr id="37" name="Shape 35"/>
          <p:cNvSpPr/>
          <p:nvPr/>
        </p:nvSpPr>
        <p:spPr>
          <a:xfrm>
            <a:off x="812800" y="4191000"/>
            <a:ext cx="1524000" cy="1651000"/>
          </a:xfrm>
          <a:prstGeom prst="roundRect">
            <a:avLst>
              <a:gd name="adj" fmla="val 3600"/>
            </a:avLst>
          </a:prstGeom>
          <a:solidFill>
            <a:srgbClr val="FDFCF9"/>
          </a:solidFill>
          <a:ln w="12700">
            <a:solidFill>
              <a:srgbClr val="D3CDBE"/>
            </a:solidFill>
            <a:prstDash val="solid"/>
          </a:ln>
        </p:spPr>
      </p:sp>
      <p:sp>
        <p:nvSpPr>
          <p:cNvPr id="38" name="Text 36"/>
          <p:cNvSpPr txBox="1"/>
          <p:nvPr/>
        </p:nvSpPr>
        <p:spPr>
          <a:xfrm>
            <a:off x="914400" y="4267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39" name="Shape 37"/>
          <p:cNvSpPr/>
          <p:nvPr/>
        </p:nvSpPr>
        <p:spPr>
          <a:xfrm>
            <a:off x="914400" y="5321300"/>
            <a:ext cx="1320800" cy="914"/>
          </a:xfrm>
          <a:prstGeom prst="line">
            <a:avLst/>
          </a:prstGeom>
          <a:noFill/>
          <a:ln w="12700">
            <a:solidFill>
              <a:srgbClr val="E3DED2"/>
            </a:solidFill>
            <a:prstDash val="solid"/>
          </a:ln>
        </p:spPr>
      </p:sp>
      <p:sp>
        <p:nvSpPr>
          <p:cNvPr id="40" name="Text 38"/>
          <p:cNvSpPr txBox="1"/>
          <p:nvPr/>
        </p:nvSpPr>
        <p:spPr>
          <a:xfrm>
            <a:off x="914400" y="5143500"/>
            <a:ext cx="1320800" cy="165100"/>
          </a:xfrm>
          <a:prstGeom prst="rect">
            <a:avLst/>
          </a:prstGeom>
          <a:noFill/>
          <a:ln/>
        </p:spPr>
        <p:txBody>
          <a:bodyPr wrap="square" lIns="0" tIns="0" rIns="0" bIns="0" rtlCol="0" anchor="t"/>
          <a:lstStyle/>
          <a:p>
            <a:pPr algn="l" indent="0" marL="0">
              <a:lnSpc>
                <a:spcPct val="115000"/>
              </a:lnSpc>
              <a:buNone/>
            </a:pPr>
            <a:r>
              <a:rPr lang="en-US" sz="1000" b="1" dirty="0">
                <a:solidFill>
                  <a:srgbClr val="A0521A"/>
                </a:solidFill>
                <a:latin typeface="Optimist Sans" pitchFamily="34" charset="0"/>
                <a:ea typeface="Optimist Sans" pitchFamily="34" charset="-122"/>
                <a:cs typeface="Optimist Sans" pitchFamily="34" charset="-120"/>
              </a:rPr>
              <a:t>BAU floor: [n]</a:t>
            </a:r>
            <a:endParaRPr lang="en-US" sz="1000" dirty="0"/>
          </a:p>
        </p:txBody>
      </p:sp>
      <p:sp>
        <p:nvSpPr>
          <p:cNvPr id="41" name="Shape 39"/>
          <p:cNvSpPr/>
          <p:nvPr/>
        </p:nvSpPr>
        <p:spPr>
          <a:xfrm>
            <a:off x="914400" y="5448300"/>
            <a:ext cx="1320800" cy="914"/>
          </a:xfrm>
          <a:prstGeom prst="line">
            <a:avLst/>
          </a:prstGeom>
          <a:noFill/>
          <a:ln w="19050">
            <a:solidFill>
              <a:srgbClr val="A0521A"/>
            </a:solidFill>
            <a:prstDash val="dash"/>
          </a:ln>
        </p:spPr>
      </p:sp>
      <p:sp>
        <p:nvSpPr>
          <p:cNvPr id="42" name="Shape 40"/>
          <p:cNvSpPr/>
          <p:nvPr/>
        </p:nvSpPr>
        <p:spPr>
          <a:xfrm>
            <a:off x="1130300" y="5359400"/>
            <a:ext cx="177800" cy="127000"/>
          </a:xfrm>
          <a:prstGeom prst="rect">
            <a:avLst/>
          </a:prstGeom>
          <a:solidFill>
            <a:srgbClr val="1F6F7E"/>
          </a:solidFill>
          <a:ln/>
        </p:spPr>
      </p:sp>
      <p:sp>
        <p:nvSpPr>
          <p:cNvPr id="43" name="Text 41"/>
          <p:cNvSpPr txBox="1"/>
          <p:nvPr/>
        </p:nvSpPr>
        <p:spPr>
          <a:xfrm>
            <a:off x="10668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14213D"/>
                </a:solidFill>
                <a:latin typeface="Optimist Sans" pitchFamily="34" charset="0"/>
                <a:ea typeface="Optimist Sans" pitchFamily="34" charset="-122"/>
                <a:cs typeface="Optimist Sans" pitchFamily="34" charset="-120"/>
              </a:rPr>
              <a:t>[n]</a:t>
            </a:r>
            <a:endParaRPr lang="en-US" sz="1000" dirty="0"/>
          </a:p>
        </p:txBody>
      </p:sp>
      <p:sp>
        <p:nvSpPr>
          <p:cNvPr id="44" name="Text 42"/>
          <p:cNvSpPr txBox="1"/>
          <p:nvPr/>
        </p:nvSpPr>
        <p:spPr>
          <a:xfrm>
            <a:off x="10668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’26</a:t>
            </a:r>
            <a:endParaRPr lang="en-US" sz="1000" dirty="0"/>
          </a:p>
        </p:txBody>
      </p:sp>
      <p:sp>
        <p:nvSpPr>
          <p:cNvPr id="45" name="Shape 43"/>
          <p:cNvSpPr/>
          <p:nvPr/>
        </p:nvSpPr>
        <p:spPr>
          <a:xfrm>
            <a:off x="1485900" y="5391150"/>
            <a:ext cx="177800" cy="95250"/>
          </a:xfrm>
          <a:prstGeom prst="rect">
            <a:avLst/>
          </a:prstGeom>
          <a:solidFill>
            <a:srgbClr val="1F6F7E"/>
          </a:solidFill>
          <a:ln/>
        </p:spPr>
      </p:sp>
      <p:sp>
        <p:nvSpPr>
          <p:cNvPr id="46" name="Text 44"/>
          <p:cNvSpPr txBox="1"/>
          <p:nvPr/>
        </p:nvSpPr>
        <p:spPr>
          <a:xfrm>
            <a:off x="14224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14213D"/>
                </a:solidFill>
                <a:latin typeface="Optimist Sans" pitchFamily="34" charset="0"/>
                <a:ea typeface="Optimist Sans" pitchFamily="34" charset="-122"/>
                <a:cs typeface="Optimist Sans" pitchFamily="34" charset="-120"/>
              </a:rPr>
              <a:t>[n]</a:t>
            </a:r>
            <a:endParaRPr lang="en-US" sz="1000" dirty="0"/>
          </a:p>
        </p:txBody>
      </p:sp>
      <p:sp>
        <p:nvSpPr>
          <p:cNvPr id="47" name="Text 45"/>
          <p:cNvSpPr txBox="1"/>
          <p:nvPr/>
        </p:nvSpPr>
        <p:spPr>
          <a:xfrm>
            <a:off x="14224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’27</a:t>
            </a:r>
            <a:endParaRPr lang="en-US" sz="1000" dirty="0"/>
          </a:p>
        </p:txBody>
      </p:sp>
      <p:sp>
        <p:nvSpPr>
          <p:cNvPr id="48" name="Shape 46"/>
          <p:cNvSpPr/>
          <p:nvPr/>
        </p:nvSpPr>
        <p:spPr>
          <a:xfrm>
            <a:off x="1841500" y="5422900"/>
            <a:ext cx="177800" cy="63500"/>
          </a:xfrm>
          <a:prstGeom prst="rect">
            <a:avLst/>
          </a:prstGeom>
          <a:solidFill>
            <a:srgbClr val="1F6F7E"/>
          </a:solidFill>
          <a:ln/>
        </p:spPr>
      </p:sp>
      <p:sp>
        <p:nvSpPr>
          <p:cNvPr id="49" name="Text 47"/>
          <p:cNvSpPr txBox="1"/>
          <p:nvPr/>
        </p:nvSpPr>
        <p:spPr>
          <a:xfrm>
            <a:off x="17780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14213D"/>
                </a:solidFill>
                <a:latin typeface="Optimist Sans" pitchFamily="34" charset="0"/>
                <a:ea typeface="Optimist Sans" pitchFamily="34" charset="-122"/>
                <a:cs typeface="Optimist Sans" pitchFamily="34" charset="-120"/>
              </a:rPr>
              <a:t>[n]</a:t>
            </a:r>
            <a:endParaRPr lang="en-US" sz="1000" dirty="0"/>
          </a:p>
        </p:txBody>
      </p:sp>
      <p:sp>
        <p:nvSpPr>
          <p:cNvPr id="50" name="Text 48"/>
          <p:cNvSpPr txBox="1"/>
          <p:nvPr/>
        </p:nvSpPr>
        <p:spPr>
          <a:xfrm>
            <a:off x="17780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’28</a:t>
            </a:r>
            <a:endParaRPr lang="en-US" sz="1000" dirty="0"/>
          </a:p>
        </p:txBody>
      </p:sp>
      <p:sp>
        <p:nvSpPr>
          <p:cNvPr id="51" name="Shape 49"/>
          <p:cNvSpPr/>
          <p:nvPr/>
        </p:nvSpPr>
        <p:spPr>
          <a:xfrm>
            <a:off x="2438400" y="4191000"/>
            <a:ext cx="1524000" cy="1651000"/>
          </a:xfrm>
          <a:prstGeom prst="roundRect">
            <a:avLst>
              <a:gd name="adj" fmla="val 3600"/>
            </a:avLst>
          </a:prstGeom>
          <a:solidFill>
            <a:srgbClr val="FDFCF9"/>
          </a:solidFill>
          <a:ln w="12700">
            <a:solidFill>
              <a:srgbClr val="D3CDBE"/>
            </a:solidFill>
            <a:prstDash val="solid"/>
          </a:ln>
        </p:spPr>
      </p:sp>
      <p:sp>
        <p:nvSpPr>
          <p:cNvPr id="52" name="Text 50"/>
          <p:cNvSpPr txBox="1"/>
          <p:nvPr/>
        </p:nvSpPr>
        <p:spPr>
          <a:xfrm>
            <a:off x="2540000" y="4267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53" name="Shape 51"/>
          <p:cNvSpPr/>
          <p:nvPr/>
        </p:nvSpPr>
        <p:spPr>
          <a:xfrm>
            <a:off x="2540000" y="5321300"/>
            <a:ext cx="1320800" cy="914"/>
          </a:xfrm>
          <a:prstGeom prst="line">
            <a:avLst/>
          </a:prstGeom>
          <a:noFill/>
          <a:ln w="12700">
            <a:solidFill>
              <a:srgbClr val="E3DED2"/>
            </a:solidFill>
            <a:prstDash val="solid"/>
          </a:ln>
        </p:spPr>
      </p:sp>
      <p:sp>
        <p:nvSpPr>
          <p:cNvPr id="54" name="Text 52"/>
          <p:cNvSpPr txBox="1"/>
          <p:nvPr/>
        </p:nvSpPr>
        <p:spPr>
          <a:xfrm>
            <a:off x="2540000" y="5143500"/>
            <a:ext cx="1320800" cy="165100"/>
          </a:xfrm>
          <a:prstGeom prst="rect">
            <a:avLst/>
          </a:prstGeom>
          <a:noFill/>
          <a:ln/>
        </p:spPr>
        <p:txBody>
          <a:bodyPr wrap="square" lIns="0" tIns="0" rIns="0" bIns="0" rtlCol="0" anchor="t"/>
          <a:lstStyle/>
          <a:p>
            <a:pPr algn="l" indent="0" marL="0">
              <a:lnSpc>
                <a:spcPct val="115000"/>
              </a:lnSpc>
              <a:buNone/>
            </a:pPr>
            <a:r>
              <a:rPr lang="en-US" sz="1000" b="1" dirty="0">
                <a:solidFill>
                  <a:srgbClr val="A0521A"/>
                </a:solidFill>
                <a:latin typeface="Optimist Sans" pitchFamily="34" charset="0"/>
                <a:ea typeface="Optimist Sans" pitchFamily="34" charset="-122"/>
                <a:cs typeface="Optimist Sans" pitchFamily="34" charset="-120"/>
              </a:rPr>
              <a:t>BAU floor: [n]</a:t>
            </a:r>
            <a:endParaRPr lang="en-US" sz="1000" dirty="0"/>
          </a:p>
        </p:txBody>
      </p:sp>
      <p:sp>
        <p:nvSpPr>
          <p:cNvPr id="55" name="Shape 53"/>
          <p:cNvSpPr/>
          <p:nvPr/>
        </p:nvSpPr>
        <p:spPr>
          <a:xfrm>
            <a:off x="2540000" y="5448300"/>
            <a:ext cx="1320800" cy="914"/>
          </a:xfrm>
          <a:prstGeom prst="line">
            <a:avLst/>
          </a:prstGeom>
          <a:noFill/>
          <a:ln w="19050">
            <a:solidFill>
              <a:srgbClr val="A0521A"/>
            </a:solidFill>
            <a:prstDash val="dash"/>
          </a:ln>
        </p:spPr>
      </p:sp>
      <p:sp>
        <p:nvSpPr>
          <p:cNvPr id="56" name="Shape 54"/>
          <p:cNvSpPr/>
          <p:nvPr/>
        </p:nvSpPr>
        <p:spPr>
          <a:xfrm>
            <a:off x="2755900" y="5359400"/>
            <a:ext cx="177800" cy="127000"/>
          </a:xfrm>
          <a:prstGeom prst="rect">
            <a:avLst/>
          </a:prstGeom>
          <a:solidFill>
            <a:srgbClr val="1F6F7E"/>
          </a:solidFill>
          <a:ln/>
        </p:spPr>
      </p:sp>
      <p:sp>
        <p:nvSpPr>
          <p:cNvPr id="57" name="Text 55"/>
          <p:cNvSpPr txBox="1"/>
          <p:nvPr/>
        </p:nvSpPr>
        <p:spPr>
          <a:xfrm>
            <a:off x="26924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14213D"/>
                </a:solidFill>
                <a:latin typeface="Optimist Sans" pitchFamily="34" charset="0"/>
                <a:ea typeface="Optimist Sans" pitchFamily="34" charset="-122"/>
                <a:cs typeface="Optimist Sans" pitchFamily="34" charset="-120"/>
              </a:rPr>
              <a:t>[n]</a:t>
            </a:r>
            <a:endParaRPr lang="en-US" sz="1000" dirty="0"/>
          </a:p>
        </p:txBody>
      </p:sp>
      <p:sp>
        <p:nvSpPr>
          <p:cNvPr id="58" name="Text 56"/>
          <p:cNvSpPr txBox="1"/>
          <p:nvPr/>
        </p:nvSpPr>
        <p:spPr>
          <a:xfrm>
            <a:off x="26924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’26</a:t>
            </a:r>
            <a:endParaRPr lang="en-US" sz="1000" dirty="0"/>
          </a:p>
        </p:txBody>
      </p:sp>
      <p:sp>
        <p:nvSpPr>
          <p:cNvPr id="59" name="Shape 57"/>
          <p:cNvSpPr/>
          <p:nvPr/>
        </p:nvSpPr>
        <p:spPr>
          <a:xfrm>
            <a:off x="3111500" y="5391150"/>
            <a:ext cx="177800" cy="95250"/>
          </a:xfrm>
          <a:prstGeom prst="rect">
            <a:avLst/>
          </a:prstGeom>
          <a:solidFill>
            <a:srgbClr val="1F6F7E"/>
          </a:solidFill>
          <a:ln/>
        </p:spPr>
      </p:sp>
      <p:sp>
        <p:nvSpPr>
          <p:cNvPr id="60" name="Text 58"/>
          <p:cNvSpPr txBox="1"/>
          <p:nvPr/>
        </p:nvSpPr>
        <p:spPr>
          <a:xfrm>
            <a:off x="30480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14213D"/>
                </a:solidFill>
                <a:latin typeface="Optimist Sans" pitchFamily="34" charset="0"/>
                <a:ea typeface="Optimist Sans" pitchFamily="34" charset="-122"/>
                <a:cs typeface="Optimist Sans" pitchFamily="34" charset="-120"/>
              </a:rPr>
              <a:t>[n]</a:t>
            </a:r>
            <a:endParaRPr lang="en-US" sz="1000" dirty="0"/>
          </a:p>
        </p:txBody>
      </p:sp>
      <p:sp>
        <p:nvSpPr>
          <p:cNvPr id="61" name="Text 59"/>
          <p:cNvSpPr txBox="1"/>
          <p:nvPr/>
        </p:nvSpPr>
        <p:spPr>
          <a:xfrm>
            <a:off x="30480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’27</a:t>
            </a:r>
            <a:endParaRPr lang="en-US" sz="1000" dirty="0"/>
          </a:p>
        </p:txBody>
      </p:sp>
      <p:sp>
        <p:nvSpPr>
          <p:cNvPr id="62" name="Shape 60"/>
          <p:cNvSpPr/>
          <p:nvPr/>
        </p:nvSpPr>
        <p:spPr>
          <a:xfrm>
            <a:off x="3467100" y="5422900"/>
            <a:ext cx="177800" cy="63500"/>
          </a:xfrm>
          <a:prstGeom prst="rect">
            <a:avLst/>
          </a:prstGeom>
          <a:solidFill>
            <a:srgbClr val="1F6F7E"/>
          </a:solidFill>
          <a:ln/>
        </p:spPr>
      </p:sp>
      <p:sp>
        <p:nvSpPr>
          <p:cNvPr id="63" name="Text 61"/>
          <p:cNvSpPr txBox="1"/>
          <p:nvPr/>
        </p:nvSpPr>
        <p:spPr>
          <a:xfrm>
            <a:off x="34036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14213D"/>
                </a:solidFill>
                <a:latin typeface="Optimist Sans" pitchFamily="34" charset="0"/>
                <a:ea typeface="Optimist Sans" pitchFamily="34" charset="-122"/>
                <a:cs typeface="Optimist Sans" pitchFamily="34" charset="-120"/>
              </a:rPr>
              <a:t>[n]</a:t>
            </a:r>
            <a:endParaRPr lang="en-US" sz="1000" dirty="0"/>
          </a:p>
        </p:txBody>
      </p:sp>
      <p:sp>
        <p:nvSpPr>
          <p:cNvPr id="64" name="Text 62"/>
          <p:cNvSpPr txBox="1"/>
          <p:nvPr/>
        </p:nvSpPr>
        <p:spPr>
          <a:xfrm>
            <a:off x="34036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’28</a:t>
            </a:r>
            <a:endParaRPr lang="en-US" sz="1000" dirty="0"/>
          </a:p>
        </p:txBody>
      </p:sp>
      <p:sp>
        <p:nvSpPr>
          <p:cNvPr id="65" name="Shape 63"/>
          <p:cNvSpPr/>
          <p:nvPr/>
        </p:nvSpPr>
        <p:spPr>
          <a:xfrm>
            <a:off x="4064000" y="4191000"/>
            <a:ext cx="1524000" cy="1651000"/>
          </a:xfrm>
          <a:prstGeom prst="roundRect">
            <a:avLst>
              <a:gd name="adj" fmla="val 3600"/>
            </a:avLst>
          </a:prstGeom>
          <a:solidFill>
            <a:srgbClr val="FDFCF9"/>
          </a:solidFill>
          <a:ln w="12700">
            <a:solidFill>
              <a:srgbClr val="D3CDBE"/>
            </a:solidFill>
            <a:prstDash val="solid"/>
          </a:ln>
        </p:spPr>
      </p:sp>
      <p:sp>
        <p:nvSpPr>
          <p:cNvPr id="66" name="Text 64"/>
          <p:cNvSpPr txBox="1"/>
          <p:nvPr/>
        </p:nvSpPr>
        <p:spPr>
          <a:xfrm>
            <a:off x="4165600" y="4267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67" name="Shape 65"/>
          <p:cNvSpPr/>
          <p:nvPr/>
        </p:nvSpPr>
        <p:spPr>
          <a:xfrm>
            <a:off x="4165600" y="5321300"/>
            <a:ext cx="1320800" cy="914"/>
          </a:xfrm>
          <a:prstGeom prst="line">
            <a:avLst/>
          </a:prstGeom>
          <a:noFill/>
          <a:ln w="12700">
            <a:solidFill>
              <a:srgbClr val="E3DED2"/>
            </a:solidFill>
            <a:prstDash val="solid"/>
          </a:ln>
        </p:spPr>
      </p:sp>
      <p:sp>
        <p:nvSpPr>
          <p:cNvPr id="68" name="Text 66"/>
          <p:cNvSpPr txBox="1"/>
          <p:nvPr/>
        </p:nvSpPr>
        <p:spPr>
          <a:xfrm>
            <a:off x="4165600" y="5143500"/>
            <a:ext cx="1320800" cy="165100"/>
          </a:xfrm>
          <a:prstGeom prst="rect">
            <a:avLst/>
          </a:prstGeom>
          <a:noFill/>
          <a:ln/>
        </p:spPr>
        <p:txBody>
          <a:bodyPr wrap="square" lIns="0" tIns="0" rIns="0" bIns="0" rtlCol="0" anchor="t"/>
          <a:lstStyle/>
          <a:p>
            <a:pPr algn="l" indent="0" marL="0">
              <a:lnSpc>
                <a:spcPct val="115000"/>
              </a:lnSpc>
              <a:buNone/>
            </a:pPr>
            <a:r>
              <a:rPr lang="en-US" sz="1000" b="1" dirty="0">
                <a:solidFill>
                  <a:srgbClr val="A0521A"/>
                </a:solidFill>
                <a:latin typeface="Optimist Sans" pitchFamily="34" charset="0"/>
                <a:ea typeface="Optimist Sans" pitchFamily="34" charset="-122"/>
                <a:cs typeface="Optimist Sans" pitchFamily="34" charset="-120"/>
              </a:rPr>
              <a:t>BAU floor: [n]</a:t>
            </a:r>
            <a:endParaRPr lang="en-US" sz="1000" dirty="0"/>
          </a:p>
        </p:txBody>
      </p:sp>
      <p:sp>
        <p:nvSpPr>
          <p:cNvPr id="69" name="Shape 67"/>
          <p:cNvSpPr/>
          <p:nvPr/>
        </p:nvSpPr>
        <p:spPr>
          <a:xfrm>
            <a:off x="4165600" y="5448300"/>
            <a:ext cx="1320800" cy="914"/>
          </a:xfrm>
          <a:prstGeom prst="line">
            <a:avLst/>
          </a:prstGeom>
          <a:noFill/>
          <a:ln w="19050">
            <a:solidFill>
              <a:srgbClr val="A0521A"/>
            </a:solidFill>
            <a:prstDash val="dash"/>
          </a:ln>
        </p:spPr>
      </p:sp>
      <p:sp>
        <p:nvSpPr>
          <p:cNvPr id="70" name="Shape 68"/>
          <p:cNvSpPr/>
          <p:nvPr/>
        </p:nvSpPr>
        <p:spPr>
          <a:xfrm>
            <a:off x="4381500" y="5359400"/>
            <a:ext cx="177800" cy="127000"/>
          </a:xfrm>
          <a:prstGeom prst="rect">
            <a:avLst/>
          </a:prstGeom>
          <a:solidFill>
            <a:srgbClr val="1F6F7E"/>
          </a:solidFill>
          <a:ln/>
        </p:spPr>
      </p:sp>
      <p:sp>
        <p:nvSpPr>
          <p:cNvPr id="71" name="Text 69"/>
          <p:cNvSpPr txBox="1"/>
          <p:nvPr/>
        </p:nvSpPr>
        <p:spPr>
          <a:xfrm>
            <a:off x="43180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14213D"/>
                </a:solidFill>
                <a:latin typeface="Optimist Sans" pitchFamily="34" charset="0"/>
                <a:ea typeface="Optimist Sans" pitchFamily="34" charset="-122"/>
                <a:cs typeface="Optimist Sans" pitchFamily="34" charset="-120"/>
              </a:rPr>
              <a:t>[n]</a:t>
            </a:r>
            <a:endParaRPr lang="en-US" sz="1000" dirty="0"/>
          </a:p>
        </p:txBody>
      </p:sp>
      <p:sp>
        <p:nvSpPr>
          <p:cNvPr id="72" name="Text 70"/>
          <p:cNvSpPr txBox="1"/>
          <p:nvPr/>
        </p:nvSpPr>
        <p:spPr>
          <a:xfrm>
            <a:off x="43180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’26</a:t>
            </a:r>
            <a:endParaRPr lang="en-US" sz="1000" dirty="0"/>
          </a:p>
        </p:txBody>
      </p:sp>
      <p:sp>
        <p:nvSpPr>
          <p:cNvPr id="73" name="Shape 71"/>
          <p:cNvSpPr/>
          <p:nvPr/>
        </p:nvSpPr>
        <p:spPr>
          <a:xfrm>
            <a:off x="4737100" y="5391150"/>
            <a:ext cx="177800" cy="95250"/>
          </a:xfrm>
          <a:prstGeom prst="rect">
            <a:avLst/>
          </a:prstGeom>
          <a:solidFill>
            <a:srgbClr val="1F6F7E"/>
          </a:solidFill>
          <a:ln/>
        </p:spPr>
      </p:sp>
      <p:sp>
        <p:nvSpPr>
          <p:cNvPr id="74" name="Text 72"/>
          <p:cNvSpPr txBox="1"/>
          <p:nvPr/>
        </p:nvSpPr>
        <p:spPr>
          <a:xfrm>
            <a:off x="46736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14213D"/>
                </a:solidFill>
                <a:latin typeface="Optimist Sans" pitchFamily="34" charset="0"/>
                <a:ea typeface="Optimist Sans" pitchFamily="34" charset="-122"/>
                <a:cs typeface="Optimist Sans" pitchFamily="34" charset="-120"/>
              </a:rPr>
              <a:t>[n]</a:t>
            </a:r>
            <a:endParaRPr lang="en-US" sz="1000" dirty="0"/>
          </a:p>
        </p:txBody>
      </p:sp>
      <p:sp>
        <p:nvSpPr>
          <p:cNvPr id="75" name="Text 73"/>
          <p:cNvSpPr txBox="1"/>
          <p:nvPr/>
        </p:nvSpPr>
        <p:spPr>
          <a:xfrm>
            <a:off x="46736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’27</a:t>
            </a:r>
            <a:endParaRPr lang="en-US" sz="1000" dirty="0"/>
          </a:p>
        </p:txBody>
      </p:sp>
      <p:sp>
        <p:nvSpPr>
          <p:cNvPr id="76" name="Shape 74"/>
          <p:cNvSpPr/>
          <p:nvPr/>
        </p:nvSpPr>
        <p:spPr>
          <a:xfrm>
            <a:off x="5092700" y="5422900"/>
            <a:ext cx="177800" cy="63500"/>
          </a:xfrm>
          <a:prstGeom prst="rect">
            <a:avLst/>
          </a:prstGeom>
          <a:solidFill>
            <a:srgbClr val="1F6F7E"/>
          </a:solidFill>
          <a:ln/>
        </p:spPr>
      </p:sp>
      <p:sp>
        <p:nvSpPr>
          <p:cNvPr id="77" name="Text 75"/>
          <p:cNvSpPr txBox="1"/>
          <p:nvPr/>
        </p:nvSpPr>
        <p:spPr>
          <a:xfrm>
            <a:off x="50292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14213D"/>
                </a:solidFill>
                <a:latin typeface="Optimist Sans" pitchFamily="34" charset="0"/>
                <a:ea typeface="Optimist Sans" pitchFamily="34" charset="-122"/>
                <a:cs typeface="Optimist Sans" pitchFamily="34" charset="-120"/>
              </a:rPr>
              <a:t>[n]</a:t>
            </a:r>
            <a:endParaRPr lang="en-US" sz="1000" dirty="0"/>
          </a:p>
        </p:txBody>
      </p:sp>
      <p:sp>
        <p:nvSpPr>
          <p:cNvPr id="78" name="Text 76"/>
          <p:cNvSpPr txBox="1"/>
          <p:nvPr/>
        </p:nvSpPr>
        <p:spPr>
          <a:xfrm>
            <a:off x="50292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’28</a:t>
            </a:r>
            <a:endParaRPr lang="en-US" sz="1000" dirty="0"/>
          </a:p>
        </p:txBody>
      </p:sp>
      <p:sp>
        <p:nvSpPr>
          <p:cNvPr id="79" name="Shape 77"/>
          <p:cNvSpPr/>
          <p:nvPr/>
        </p:nvSpPr>
        <p:spPr>
          <a:xfrm>
            <a:off x="5740400" y="3581400"/>
            <a:ext cx="1778000" cy="2260600"/>
          </a:xfrm>
          <a:prstGeom prst="roundRect">
            <a:avLst>
              <a:gd name="adj" fmla="val 3086"/>
            </a:avLst>
          </a:prstGeom>
          <a:solidFill>
            <a:srgbClr val="FDFCF9"/>
          </a:solidFill>
          <a:ln w="12700">
            <a:solidFill>
              <a:srgbClr val="D3CDBE"/>
            </a:solidFill>
            <a:prstDash val="solid"/>
          </a:ln>
        </p:spPr>
      </p:sp>
      <p:sp>
        <p:nvSpPr>
          <p:cNvPr id="80" name="Text 78"/>
          <p:cNvSpPr txBox="1"/>
          <p:nvPr/>
        </p:nvSpPr>
        <p:spPr>
          <a:xfrm>
            <a:off x="5842000" y="3657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[SA]</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[PA]</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Open [Mgr Opening]</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p:txBody>
      </p:sp>
      <p:sp>
        <p:nvSpPr>
          <p:cNvPr id="81" name="Shape 79"/>
          <p:cNvSpPr/>
          <p:nvPr/>
        </p:nvSpPr>
        <p:spPr>
          <a:xfrm>
            <a:off x="5842000" y="5321300"/>
            <a:ext cx="1574800" cy="914"/>
          </a:xfrm>
          <a:prstGeom prst="line">
            <a:avLst/>
          </a:prstGeom>
          <a:noFill/>
          <a:ln w="12700">
            <a:solidFill>
              <a:srgbClr val="E3DED2"/>
            </a:solidFill>
            <a:prstDash val="solid"/>
          </a:ln>
        </p:spPr>
      </p:sp>
      <p:sp>
        <p:nvSpPr>
          <p:cNvPr id="82" name="Text 80"/>
          <p:cNvSpPr txBox="1"/>
          <p:nvPr/>
        </p:nvSpPr>
        <p:spPr>
          <a:xfrm>
            <a:off x="5842000" y="5143500"/>
            <a:ext cx="1574800" cy="165100"/>
          </a:xfrm>
          <a:prstGeom prst="rect">
            <a:avLst/>
          </a:prstGeom>
          <a:noFill/>
          <a:ln/>
        </p:spPr>
        <p:txBody>
          <a:bodyPr wrap="square" lIns="0" tIns="0" rIns="0" bIns="0" rtlCol="0" anchor="t"/>
          <a:lstStyle/>
          <a:p>
            <a:pPr algn="l" indent="0" marL="0">
              <a:lnSpc>
                <a:spcPct val="115000"/>
              </a:lnSpc>
              <a:buNone/>
            </a:pPr>
            <a:r>
              <a:rPr lang="en-US" sz="1000" b="1" dirty="0">
                <a:solidFill>
                  <a:srgbClr val="A0521A"/>
                </a:solidFill>
                <a:latin typeface="Optimist Sans" pitchFamily="34" charset="0"/>
                <a:ea typeface="Optimist Sans" pitchFamily="34" charset="-122"/>
                <a:cs typeface="Optimist Sans" pitchFamily="34" charset="-120"/>
              </a:rPr>
              <a:t>BAU floor: [n]</a:t>
            </a:r>
            <a:endParaRPr lang="en-US" sz="1000" dirty="0"/>
          </a:p>
        </p:txBody>
      </p:sp>
      <p:sp>
        <p:nvSpPr>
          <p:cNvPr id="83" name="Shape 81"/>
          <p:cNvSpPr/>
          <p:nvPr/>
        </p:nvSpPr>
        <p:spPr>
          <a:xfrm>
            <a:off x="5842000" y="5448300"/>
            <a:ext cx="1574800" cy="914"/>
          </a:xfrm>
          <a:prstGeom prst="line">
            <a:avLst/>
          </a:prstGeom>
          <a:noFill/>
          <a:ln w="19050">
            <a:solidFill>
              <a:srgbClr val="A0521A"/>
            </a:solidFill>
            <a:prstDash val="dash"/>
          </a:ln>
        </p:spPr>
      </p:sp>
      <p:sp>
        <p:nvSpPr>
          <p:cNvPr id="84" name="Shape 82"/>
          <p:cNvSpPr/>
          <p:nvPr/>
        </p:nvSpPr>
        <p:spPr>
          <a:xfrm>
            <a:off x="6184900" y="5359400"/>
            <a:ext cx="177800" cy="127000"/>
          </a:xfrm>
          <a:prstGeom prst="rect">
            <a:avLst/>
          </a:prstGeom>
          <a:solidFill>
            <a:srgbClr val="1F6F7E"/>
          </a:solidFill>
          <a:ln/>
        </p:spPr>
      </p:sp>
      <p:sp>
        <p:nvSpPr>
          <p:cNvPr id="85" name="Text 83"/>
          <p:cNvSpPr txBox="1"/>
          <p:nvPr/>
        </p:nvSpPr>
        <p:spPr>
          <a:xfrm>
            <a:off x="61214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14213D"/>
                </a:solidFill>
                <a:latin typeface="Optimist Sans" pitchFamily="34" charset="0"/>
                <a:ea typeface="Optimist Sans" pitchFamily="34" charset="-122"/>
                <a:cs typeface="Optimist Sans" pitchFamily="34" charset="-120"/>
              </a:rPr>
              <a:t>[n]</a:t>
            </a:r>
            <a:endParaRPr lang="en-US" sz="1000" dirty="0"/>
          </a:p>
        </p:txBody>
      </p:sp>
      <p:sp>
        <p:nvSpPr>
          <p:cNvPr id="86" name="Text 84"/>
          <p:cNvSpPr txBox="1"/>
          <p:nvPr/>
        </p:nvSpPr>
        <p:spPr>
          <a:xfrm>
            <a:off x="61214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’26</a:t>
            </a:r>
            <a:endParaRPr lang="en-US" sz="1000" dirty="0"/>
          </a:p>
        </p:txBody>
      </p:sp>
      <p:sp>
        <p:nvSpPr>
          <p:cNvPr id="87" name="Shape 85"/>
          <p:cNvSpPr/>
          <p:nvPr/>
        </p:nvSpPr>
        <p:spPr>
          <a:xfrm>
            <a:off x="6540500" y="5391150"/>
            <a:ext cx="177800" cy="95250"/>
          </a:xfrm>
          <a:prstGeom prst="rect">
            <a:avLst/>
          </a:prstGeom>
          <a:solidFill>
            <a:srgbClr val="1F6F7E"/>
          </a:solidFill>
          <a:ln/>
        </p:spPr>
      </p:sp>
      <p:sp>
        <p:nvSpPr>
          <p:cNvPr id="88" name="Text 86"/>
          <p:cNvSpPr txBox="1"/>
          <p:nvPr/>
        </p:nvSpPr>
        <p:spPr>
          <a:xfrm>
            <a:off x="64770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14213D"/>
                </a:solidFill>
                <a:latin typeface="Optimist Sans" pitchFamily="34" charset="0"/>
                <a:ea typeface="Optimist Sans" pitchFamily="34" charset="-122"/>
                <a:cs typeface="Optimist Sans" pitchFamily="34" charset="-120"/>
              </a:rPr>
              <a:t>[n]</a:t>
            </a:r>
            <a:endParaRPr lang="en-US" sz="1000" dirty="0"/>
          </a:p>
        </p:txBody>
      </p:sp>
      <p:sp>
        <p:nvSpPr>
          <p:cNvPr id="89" name="Text 87"/>
          <p:cNvSpPr txBox="1"/>
          <p:nvPr/>
        </p:nvSpPr>
        <p:spPr>
          <a:xfrm>
            <a:off x="64770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’27</a:t>
            </a:r>
            <a:endParaRPr lang="en-US" sz="1000" dirty="0"/>
          </a:p>
        </p:txBody>
      </p:sp>
      <p:sp>
        <p:nvSpPr>
          <p:cNvPr id="90" name="Shape 88"/>
          <p:cNvSpPr/>
          <p:nvPr/>
        </p:nvSpPr>
        <p:spPr>
          <a:xfrm>
            <a:off x="6896100" y="5422900"/>
            <a:ext cx="177800" cy="63500"/>
          </a:xfrm>
          <a:prstGeom prst="rect">
            <a:avLst/>
          </a:prstGeom>
          <a:solidFill>
            <a:srgbClr val="1F6F7E"/>
          </a:solidFill>
          <a:ln/>
        </p:spPr>
      </p:sp>
      <p:sp>
        <p:nvSpPr>
          <p:cNvPr id="91" name="Text 89"/>
          <p:cNvSpPr txBox="1"/>
          <p:nvPr/>
        </p:nvSpPr>
        <p:spPr>
          <a:xfrm>
            <a:off x="68326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14213D"/>
                </a:solidFill>
                <a:latin typeface="Optimist Sans" pitchFamily="34" charset="0"/>
                <a:ea typeface="Optimist Sans" pitchFamily="34" charset="-122"/>
                <a:cs typeface="Optimist Sans" pitchFamily="34" charset="-120"/>
              </a:rPr>
              <a:t>[n]</a:t>
            </a:r>
            <a:endParaRPr lang="en-US" sz="1000" dirty="0"/>
          </a:p>
        </p:txBody>
      </p:sp>
      <p:sp>
        <p:nvSpPr>
          <p:cNvPr id="92" name="Text 90"/>
          <p:cNvSpPr txBox="1"/>
          <p:nvPr/>
        </p:nvSpPr>
        <p:spPr>
          <a:xfrm>
            <a:off x="68326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’28</a:t>
            </a:r>
            <a:endParaRPr lang="en-US" sz="1000" dirty="0"/>
          </a:p>
        </p:txBody>
      </p:sp>
      <p:sp>
        <p:nvSpPr>
          <p:cNvPr id="93" name="Shape 91"/>
          <p:cNvSpPr/>
          <p:nvPr/>
        </p:nvSpPr>
        <p:spPr>
          <a:xfrm>
            <a:off x="7670800" y="3581400"/>
            <a:ext cx="1778000" cy="2260600"/>
          </a:xfrm>
          <a:prstGeom prst="roundRect">
            <a:avLst>
              <a:gd name="adj" fmla="val 3086"/>
            </a:avLst>
          </a:prstGeom>
          <a:solidFill>
            <a:srgbClr val="FDFCF9"/>
          </a:solidFill>
          <a:ln w="12700">
            <a:solidFill>
              <a:srgbClr val="D3CDBE"/>
            </a:solidFill>
            <a:prstDash val="solid"/>
          </a:ln>
        </p:spPr>
      </p:sp>
      <p:sp>
        <p:nvSpPr>
          <p:cNvPr id="94" name="Text 92"/>
          <p:cNvSpPr txBox="1"/>
          <p:nvPr/>
        </p:nvSpPr>
        <p:spPr>
          <a:xfrm>
            <a:off x="7772400" y="3657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1F6F7E"/>
                </a:solidFill>
                <a:latin typeface="Optimist Sans" pitchFamily="34" charset="0"/>
                <a:ea typeface="Optimist Sans" pitchFamily="34" charset="-122"/>
                <a:cs typeface="Optimist Sans" pitchFamily="34" charset="-120"/>
              </a:rPr>
              <a:t>Converted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95" name="Shape 93"/>
          <p:cNvSpPr/>
          <p:nvPr/>
        </p:nvSpPr>
        <p:spPr>
          <a:xfrm>
            <a:off x="7772400" y="5321300"/>
            <a:ext cx="1574800" cy="914"/>
          </a:xfrm>
          <a:prstGeom prst="line">
            <a:avLst/>
          </a:prstGeom>
          <a:noFill/>
          <a:ln w="12700">
            <a:solidFill>
              <a:srgbClr val="E3DED2"/>
            </a:solidFill>
            <a:prstDash val="solid"/>
          </a:ln>
        </p:spPr>
      </p:sp>
      <p:sp>
        <p:nvSpPr>
          <p:cNvPr id="96" name="Text 94"/>
          <p:cNvSpPr txBox="1"/>
          <p:nvPr/>
        </p:nvSpPr>
        <p:spPr>
          <a:xfrm>
            <a:off x="7772400" y="5143500"/>
            <a:ext cx="1574800" cy="165100"/>
          </a:xfrm>
          <a:prstGeom prst="rect">
            <a:avLst/>
          </a:prstGeom>
          <a:noFill/>
          <a:ln/>
        </p:spPr>
        <p:txBody>
          <a:bodyPr wrap="square" lIns="0" tIns="0" rIns="0" bIns="0" rtlCol="0" anchor="t"/>
          <a:lstStyle/>
          <a:p>
            <a:pPr algn="l" indent="0" marL="0">
              <a:lnSpc>
                <a:spcPct val="115000"/>
              </a:lnSpc>
              <a:buNone/>
            </a:pPr>
            <a:r>
              <a:rPr lang="en-US" sz="1000" b="1" dirty="0">
                <a:solidFill>
                  <a:srgbClr val="A0521A"/>
                </a:solidFill>
                <a:latin typeface="Optimist Sans" pitchFamily="34" charset="0"/>
                <a:ea typeface="Optimist Sans" pitchFamily="34" charset="-122"/>
                <a:cs typeface="Optimist Sans" pitchFamily="34" charset="-120"/>
              </a:rPr>
              <a:t>BAU floor: [n]</a:t>
            </a:r>
            <a:endParaRPr lang="en-US" sz="1000" dirty="0"/>
          </a:p>
        </p:txBody>
      </p:sp>
      <p:sp>
        <p:nvSpPr>
          <p:cNvPr id="97" name="Shape 95"/>
          <p:cNvSpPr/>
          <p:nvPr/>
        </p:nvSpPr>
        <p:spPr>
          <a:xfrm>
            <a:off x="7772400" y="5448300"/>
            <a:ext cx="1574800" cy="914"/>
          </a:xfrm>
          <a:prstGeom prst="line">
            <a:avLst/>
          </a:prstGeom>
          <a:noFill/>
          <a:ln w="19050">
            <a:solidFill>
              <a:srgbClr val="A0521A"/>
            </a:solidFill>
            <a:prstDash val="dash"/>
          </a:ln>
        </p:spPr>
      </p:sp>
      <p:sp>
        <p:nvSpPr>
          <p:cNvPr id="98" name="Shape 96"/>
          <p:cNvSpPr/>
          <p:nvPr/>
        </p:nvSpPr>
        <p:spPr>
          <a:xfrm>
            <a:off x="8115300" y="5359400"/>
            <a:ext cx="177800" cy="127000"/>
          </a:xfrm>
          <a:prstGeom prst="rect">
            <a:avLst/>
          </a:prstGeom>
          <a:solidFill>
            <a:srgbClr val="1F6F7E"/>
          </a:solidFill>
          <a:ln/>
        </p:spPr>
      </p:sp>
      <p:sp>
        <p:nvSpPr>
          <p:cNvPr id="99" name="Text 97"/>
          <p:cNvSpPr txBox="1"/>
          <p:nvPr/>
        </p:nvSpPr>
        <p:spPr>
          <a:xfrm>
            <a:off x="80518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14213D"/>
                </a:solidFill>
                <a:latin typeface="Optimist Sans" pitchFamily="34" charset="0"/>
                <a:ea typeface="Optimist Sans" pitchFamily="34" charset="-122"/>
                <a:cs typeface="Optimist Sans" pitchFamily="34" charset="-120"/>
              </a:rPr>
              <a:t>[n]</a:t>
            </a:r>
            <a:endParaRPr lang="en-US" sz="1000" dirty="0"/>
          </a:p>
        </p:txBody>
      </p:sp>
      <p:sp>
        <p:nvSpPr>
          <p:cNvPr id="100" name="Text 98"/>
          <p:cNvSpPr txBox="1"/>
          <p:nvPr/>
        </p:nvSpPr>
        <p:spPr>
          <a:xfrm>
            <a:off x="80518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’26</a:t>
            </a:r>
            <a:endParaRPr lang="en-US" sz="1000" dirty="0"/>
          </a:p>
        </p:txBody>
      </p:sp>
      <p:sp>
        <p:nvSpPr>
          <p:cNvPr id="101" name="Shape 99"/>
          <p:cNvSpPr/>
          <p:nvPr/>
        </p:nvSpPr>
        <p:spPr>
          <a:xfrm>
            <a:off x="8470900" y="5391150"/>
            <a:ext cx="177800" cy="95250"/>
          </a:xfrm>
          <a:prstGeom prst="rect">
            <a:avLst/>
          </a:prstGeom>
          <a:solidFill>
            <a:srgbClr val="1F6F7E"/>
          </a:solidFill>
          <a:ln/>
        </p:spPr>
      </p:sp>
      <p:sp>
        <p:nvSpPr>
          <p:cNvPr id="102" name="Text 100"/>
          <p:cNvSpPr txBox="1"/>
          <p:nvPr/>
        </p:nvSpPr>
        <p:spPr>
          <a:xfrm>
            <a:off x="84074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14213D"/>
                </a:solidFill>
                <a:latin typeface="Optimist Sans" pitchFamily="34" charset="0"/>
                <a:ea typeface="Optimist Sans" pitchFamily="34" charset="-122"/>
                <a:cs typeface="Optimist Sans" pitchFamily="34" charset="-120"/>
              </a:rPr>
              <a:t>[n]</a:t>
            </a:r>
            <a:endParaRPr lang="en-US" sz="1000" dirty="0"/>
          </a:p>
        </p:txBody>
      </p:sp>
      <p:sp>
        <p:nvSpPr>
          <p:cNvPr id="103" name="Text 101"/>
          <p:cNvSpPr txBox="1"/>
          <p:nvPr/>
        </p:nvSpPr>
        <p:spPr>
          <a:xfrm>
            <a:off x="84074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’27</a:t>
            </a:r>
            <a:endParaRPr lang="en-US" sz="1000" dirty="0"/>
          </a:p>
        </p:txBody>
      </p:sp>
      <p:sp>
        <p:nvSpPr>
          <p:cNvPr id="104" name="Shape 102"/>
          <p:cNvSpPr/>
          <p:nvPr/>
        </p:nvSpPr>
        <p:spPr>
          <a:xfrm>
            <a:off x="8826500" y="5422900"/>
            <a:ext cx="177800" cy="63500"/>
          </a:xfrm>
          <a:prstGeom prst="rect">
            <a:avLst/>
          </a:prstGeom>
          <a:solidFill>
            <a:srgbClr val="1F6F7E"/>
          </a:solidFill>
          <a:ln/>
        </p:spPr>
      </p:sp>
      <p:sp>
        <p:nvSpPr>
          <p:cNvPr id="105" name="Text 103"/>
          <p:cNvSpPr txBox="1"/>
          <p:nvPr/>
        </p:nvSpPr>
        <p:spPr>
          <a:xfrm>
            <a:off x="87630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14213D"/>
                </a:solidFill>
                <a:latin typeface="Optimist Sans" pitchFamily="34" charset="0"/>
                <a:ea typeface="Optimist Sans" pitchFamily="34" charset="-122"/>
                <a:cs typeface="Optimist Sans" pitchFamily="34" charset="-120"/>
              </a:rPr>
              <a:t>[n]</a:t>
            </a:r>
            <a:endParaRPr lang="en-US" sz="1000" dirty="0"/>
          </a:p>
        </p:txBody>
      </p:sp>
      <p:sp>
        <p:nvSpPr>
          <p:cNvPr id="106" name="Text 104"/>
          <p:cNvSpPr txBox="1"/>
          <p:nvPr/>
        </p:nvSpPr>
        <p:spPr>
          <a:xfrm>
            <a:off x="87630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’28</a:t>
            </a:r>
            <a:endParaRPr lang="en-US" sz="1000" dirty="0"/>
          </a:p>
        </p:txBody>
      </p:sp>
      <p:sp>
        <p:nvSpPr>
          <p:cNvPr id="107" name="Shape 105"/>
          <p:cNvSpPr/>
          <p:nvPr/>
        </p:nvSpPr>
        <p:spPr>
          <a:xfrm>
            <a:off x="9601200" y="3581400"/>
            <a:ext cx="1778000" cy="2260600"/>
          </a:xfrm>
          <a:prstGeom prst="roundRect">
            <a:avLst>
              <a:gd name="adj" fmla="val 3086"/>
            </a:avLst>
          </a:prstGeom>
          <a:solidFill>
            <a:srgbClr val="FDFCF9"/>
          </a:solidFill>
          <a:ln w="12700">
            <a:solidFill>
              <a:srgbClr val="D3CDBE"/>
            </a:solidFill>
            <a:prstDash val="solid"/>
          </a:ln>
        </p:spPr>
      </p:sp>
      <p:sp>
        <p:nvSpPr>
          <p:cNvPr id="108" name="Text 106"/>
          <p:cNvSpPr txBox="1"/>
          <p:nvPr/>
        </p:nvSpPr>
        <p:spPr>
          <a:xfrm>
            <a:off x="9702800" y="3657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1F6F7E"/>
                </a:solidFill>
                <a:latin typeface="Optimist Sans" pitchFamily="34" charset="0"/>
                <a:ea typeface="Optimist Sans" pitchFamily="34" charset="-122"/>
                <a:cs typeface="Optimist Sans" pitchFamily="34" charset="-120"/>
              </a:rPr>
              <a:t>Converted [Lvl]</a:t>
            </a:r>
            <a:endParaRPr lang="en-US" sz="1200" dirty="0"/>
          </a:p>
          <a:p>
            <a:pPr algn="l" indent="0" marL="0">
              <a:lnSpc>
                <a:spcPct val="105000"/>
              </a:lnSpc>
              <a:buNone/>
            </a:pPr>
            <a:r>
              <a:rPr lang="en-US" sz="1200" b="1" dirty="0">
                <a:solidFill>
                  <a:srgbClr val="1F6F7E"/>
                </a:solidFill>
                <a:latin typeface="Optimist Sans" pitchFamily="34" charset="0"/>
                <a:ea typeface="Optimist Sans" pitchFamily="34" charset="-122"/>
                <a:cs typeface="Optimist Sans" pitchFamily="34" charset="-120"/>
              </a:rPr>
              <a:t>Converted [Lvl]</a:t>
            </a:r>
            <a:endParaRPr lang="en-US" sz="1200" dirty="0"/>
          </a:p>
          <a:p>
            <a:pPr algn="l" indent="0" marL="0">
              <a:lnSpc>
                <a:spcPct val="105000"/>
              </a:lnSpc>
              <a:buNone/>
            </a:pPr>
            <a:r>
              <a:rPr lang="en-US" sz="1200" b="1" dirty="0">
                <a:solidFill>
                  <a:srgbClr val="7B3FA0"/>
                </a:solidFill>
                <a:latin typeface="Optimist Sans" pitchFamily="34" charset="0"/>
                <a:ea typeface="Optimist Sans" pitchFamily="34" charset="-122"/>
                <a:cs typeface="Optimist Sans" pitchFamily="34" charset="-120"/>
              </a:rPr>
              <a:t>New invest. [Lvl]</a:t>
            </a:r>
            <a:endParaRPr lang="en-US" sz="1200" dirty="0"/>
          </a:p>
        </p:txBody>
      </p:sp>
      <p:sp>
        <p:nvSpPr>
          <p:cNvPr id="109" name="Shape 107"/>
          <p:cNvSpPr/>
          <p:nvPr/>
        </p:nvSpPr>
        <p:spPr>
          <a:xfrm>
            <a:off x="9702800" y="5321300"/>
            <a:ext cx="1574800" cy="914"/>
          </a:xfrm>
          <a:prstGeom prst="line">
            <a:avLst/>
          </a:prstGeom>
          <a:noFill/>
          <a:ln w="12700">
            <a:solidFill>
              <a:srgbClr val="E3DED2"/>
            </a:solidFill>
            <a:prstDash val="solid"/>
          </a:ln>
        </p:spPr>
      </p:sp>
      <p:sp>
        <p:nvSpPr>
          <p:cNvPr id="110" name="Text 108"/>
          <p:cNvSpPr txBox="1"/>
          <p:nvPr/>
        </p:nvSpPr>
        <p:spPr>
          <a:xfrm>
            <a:off x="9702800" y="5143500"/>
            <a:ext cx="1574800" cy="165100"/>
          </a:xfrm>
          <a:prstGeom prst="rect">
            <a:avLst/>
          </a:prstGeom>
          <a:noFill/>
          <a:ln/>
        </p:spPr>
        <p:txBody>
          <a:bodyPr wrap="square" lIns="0" tIns="0" rIns="0" bIns="0" rtlCol="0" anchor="t"/>
          <a:lstStyle/>
          <a:p>
            <a:pPr algn="l" indent="0" marL="0">
              <a:lnSpc>
                <a:spcPct val="115000"/>
              </a:lnSpc>
              <a:buNone/>
            </a:pPr>
            <a:r>
              <a:rPr lang="en-US" sz="1000" dirty="0">
                <a:solidFill>
                  <a:srgbClr val="6B7280"/>
                </a:solidFill>
                <a:latin typeface="Optimist Sans" pitchFamily="34" charset="0"/>
                <a:ea typeface="Optimist Sans" pitchFamily="34" charset="-122"/>
                <a:cs typeface="Optimist Sans" pitchFamily="34" charset="-120"/>
              </a:rPr>
              <a:t>No BAU floor</a:t>
            </a:r>
            <a:endParaRPr lang="en-US" sz="1000" dirty="0"/>
          </a:p>
        </p:txBody>
      </p:sp>
      <p:sp>
        <p:nvSpPr>
          <p:cNvPr id="111" name="Shape 109"/>
          <p:cNvSpPr/>
          <p:nvPr/>
        </p:nvSpPr>
        <p:spPr>
          <a:xfrm>
            <a:off x="10045700" y="5435600"/>
            <a:ext cx="177800" cy="50800"/>
          </a:xfrm>
          <a:prstGeom prst="rect">
            <a:avLst/>
          </a:prstGeom>
          <a:solidFill>
            <a:srgbClr val="E3A86B"/>
          </a:solidFill>
          <a:ln/>
        </p:spPr>
      </p:sp>
      <p:sp>
        <p:nvSpPr>
          <p:cNvPr id="112" name="Text 110"/>
          <p:cNvSpPr txBox="1"/>
          <p:nvPr/>
        </p:nvSpPr>
        <p:spPr>
          <a:xfrm>
            <a:off x="99822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8A4514"/>
                </a:solidFill>
                <a:latin typeface="Optimist Sans" pitchFamily="34" charset="0"/>
                <a:ea typeface="Optimist Sans" pitchFamily="34" charset="-122"/>
                <a:cs typeface="Optimist Sans" pitchFamily="34" charset="-120"/>
              </a:rPr>
              <a:t>[n]</a:t>
            </a:r>
            <a:endParaRPr lang="en-US" sz="1000" dirty="0"/>
          </a:p>
        </p:txBody>
      </p:sp>
      <p:sp>
        <p:nvSpPr>
          <p:cNvPr id="113" name="Text 111"/>
          <p:cNvSpPr txBox="1"/>
          <p:nvPr/>
        </p:nvSpPr>
        <p:spPr>
          <a:xfrm>
            <a:off x="99822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’26</a:t>
            </a:r>
            <a:endParaRPr lang="en-US" sz="1000" dirty="0"/>
          </a:p>
        </p:txBody>
      </p:sp>
      <p:sp>
        <p:nvSpPr>
          <p:cNvPr id="114" name="Shape 112"/>
          <p:cNvSpPr/>
          <p:nvPr/>
        </p:nvSpPr>
        <p:spPr>
          <a:xfrm>
            <a:off x="10401300" y="5397500"/>
            <a:ext cx="177800" cy="88900"/>
          </a:xfrm>
          <a:prstGeom prst="rect">
            <a:avLst/>
          </a:prstGeom>
          <a:solidFill>
            <a:srgbClr val="E3A86B"/>
          </a:solidFill>
          <a:ln/>
        </p:spPr>
      </p:sp>
      <p:sp>
        <p:nvSpPr>
          <p:cNvPr id="115" name="Text 113"/>
          <p:cNvSpPr txBox="1"/>
          <p:nvPr/>
        </p:nvSpPr>
        <p:spPr>
          <a:xfrm>
            <a:off x="103378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8A4514"/>
                </a:solidFill>
                <a:latin typeface="Optimist Sans" pitchFamily="34" charset="0"/>
                <a:ea typeface="Optimist Sans" pitchFamily="34" charset="-122"/>
                <a:cs typeface="Optimist Sans" pitchFamily="34" charset="-120"/>
              </a:rPr>
              <a:t>[n]</a:t>
            </a:r>
            <a:endParaRPr lang="en-US" sz="1000" dirty="0"/>
          </a:p>
        </p:txBody>
      </p:sp>
      <p:sp>
        <p:nvSpPr>
          <p:cNvPr id="116" name="Text 114"/>
          <p:cNvSpPr txBox="1"/>
          <p:nvPr/>
        </p:nvSpPr>
        <p:spPr>
          <a:xfrm>
            <a:off x="103378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’27</a:t>
            </a:r>
            <a:endParaRPr lang="en-US" sz="1000" dirty="0"/>
          </a:p>
        </p:txBody>
      </p:sp>
      <p:sp>
        <p:nvSpPr>
          <p:cNvPr id="117" name="Shape 115"/>
          <p:cNvSpPr/>
          <p:nvPr/>
        </p:nvSpPr>
        <p:spPr>
          <a:xfrm>
            <a:off x="10756900" y="5359400"/>
            <a:ext cx="177800" cy="127000"/>
          </a:xfrm>
          <a:prstGeom prst="rect">
            <a:avLst/>
          </a:prstGeom>
          <a:solidFill>
            <a:srgbClr val="E3A86B"/>
          </a:solidFill>
          <a:ln/>
        </p:spPr>
      </p:sp>
      <p:sp>
        <p:nvSpPr>
          <p:cNvPr id="118" name="Text 116"/>
          <p:cNvSpPr txBox="1"/>
          <p:nvPr/>
        </p:nvSpPr>
        <p:spPr>
          <a:xfrm>
            <a:off x="10693400" y="5499100"/>
            <a:ext cx="304800" cy="139700"/>
          </a:xfrm>
          <a:prstGeom prst="rect">
            <a:avLst/>
          </a:prstGeom>
          <a:noFill/>
          <a:ln/>
        </p:spPr>
        <p:txBody>
          <a:bodyPr wrap="square" lIns="0" tIns="0" rIns="0" bIns="0" rtlCol="0" anchor="t"/>
          <a:lstStyle/>
          <a:p>
            <a:pPr algn="ctr" indent="0" marL="0">
              <a:lnSpc>
                <a:spcPct val="100000"/>
              </a:lnSpc>
              <a:buNone/>
            </a:pPr>
            <a:r>
              <a:rPr lang="en-US" sz="1000" b="1" dirty="0">
                <a:solidFill>
                  <a:srgbClr val="8A4514"/>
                </a:solidFill>
                <a:latin typeface="Optimist Sans" pitchFamily="34" charset="0"/>
                <a:ea typeface="Optimist Sans" pitchFamily="34" charset="-122"/>
                <a:cs typeface="Optimist Sans" pitchFamily="34" charset="-120"/>
              </a:rPr>
              <a:t>[n]</a:t>
            </a:r>
            <a:endParaRPr lang="en-US" sz="1000" dirty="0"/>
          </a:p>
        </p:txBody>
      </p:sp>
      <p:sp>
        <p:nvSpPr>
          <p:cNvPr id="119" name="Text 117"/>
          <p:cNvSpPr txBox="1"/>
          <p:nvPr/>
        </p:nvSpPr>
        <p:spPr>
          <a:xfrm>
            <a:off x="10693400" y="5638800"/>
            <a:ext cx="304800" cy="139700"/>
          </a:xfrm>
          <a:prstGeom prst="rect">
            <a:avLst/>
          </a:prstGeom>
          <a:noFill/>
          <a:ln/>
        </p:spPr>
        <p:txBody>
          <a:bodyPr wrap="square" lIns="0" tIns="0" rIns="0" bIns="0" rtlCol="0" anchor="t"/>
          <a:lstStyle/>
          <a:p>
            <a:pPr algn="ctr" indent="0" marL="0">
              <a:lnSpc>
                <a:spcPct val="100000"/>
              </a:lnSpc>
              <a:buNone/>
            </a:pPr>
            <a:r>
              <a:rPr lang="en-US" sz="1000" dirty="0">
                <a:solidFill>
                  <a:srgbClr val="6B7280"/>
                </a:solidFill>
                <a:latin typeface="Optimist Sans" pitchFamily="34" charset="0"/>
                <a:ea typeface="Optimist Sans" pitchFamily="34" charset="-122"/>
                <a:cs typeface="Optimist Sans" pitchFamily="34" charset="-120"/>
              </a:rPr>
              <a:t>’28</a:t>
            </a:r>
            <a:endParaRPr lang="en-US" sz="1000" dirty="0"/>
          </a:p>
        </p:txBody>
      </p:sp>
      <p:sp>
        <p:nvSpPr>
          <p:cNvPr id="120" name="Shape 118"/>
          <p:cNvSpPr/>
          <p:nvPr/>
        </p:nvSpPr>
        <p:spPr>
          <a:xfrm>
            <a:off x="4445000" y="1758950"/>
            <a:ext cx="127000" cy="127000"/>
          </a:xfrm>
          <a:prstGeom prst="rect">
            <a:avLst/>
          </a:prstGeom>
          <a:solidFill>
            <a:srgbClr val="4A5568"/>
          </a:solidFill>
          <a:ln/>
        </p:spPr>
      </p:sp>
      <p:sp>
        <p:nvSpPr>
          <p:cNvPr id="121" name="Text 119"/>
          <p:cNvSpPr txBox="1"/>
          <p:nvPr/>
        </p:nvSpPr>
        <p:spPr>
          <a:xfrm>
            <a:off x="4635500" y="1714500"/>
            <a:ext cx="635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Filled</a:t>
            </a:r>
            <a:endParaRPr lang="en-US" sz="1200" dirty="0"/>
          </a:p>
        </p:txBody>
      </p:sp>
      <p:sp>
        <p:nvSpPr>
          <p:cNvPr id="122" name="Shape 120"/>
          <p:cNvSpPr/>
          <p:nvPr/>
        </p:nvSpPr>
        <p:spPr>
          <a:xfrm>
            <a:off x="5334000" y="1758950"/>
            <a:ext cx="127000" cy="127000"/>
          </a:xfrm>
          <a:prstGeom prst="rect">
            <a:avLst/>
          </a:prstGeom>
          <a:solidFill>
            <a:srgbClr val="A0521A"/>
          </a:solidFill>
          <a:ln/>
        </p:spPr>
      </p:sp>
      <p:sp>
        <p:nvSpPr>
          <p:cNvPr id="123" name="Text 121"/>
          <p:cNvSpPr txBox="1"/>
          <p:nvPr/>
        </p:nvSpPr>
        <p:spPr>
          <a:xfrm>
            <a:off x="5524500" y="1714500"/>
            <a:ext cx="1270000" cy="2159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Backfill (1:1)</a:t>
            </a:r>
            <a:endParaRPr lang="en-US" sz="1200" dirty="0"/>
          </a:p>
        </p:txBody>
      </p:sp>
      <p:sp>
        <p:nvSpPr>
          <p:cNvPr id="124" name="Shape 122"/>
          <p:cNvSpPr/>
          <p:nvPr/>
        </p:nvSpPr>
        <p:spPr>
          <a:xfrm>
            <a:off x="6858000" y="1758950"/>
            <a:ext cx="127000" cy="127000"/>
          </a:xfrm>
          <a:prstGeom prst="rect">
            <a:avLst/>
          </a:prstGeom>
          <a:solidFill>
            <a:srgbClr val="1F6F7E"/>
          </a:solidFill>
          <a:ln/>
        </p:spPr>
      </p:sp>
      <p:sp>
        <p:nvSpPr>
          <p:cNvPr id="125" name="Text 123"/>
          <p:cNvSpPr txBox="1"/>
          <p:nvPr/>
        </p:nvSpPr>
        <p:spPr>
          <a:xfrm>
            <a:off x="7048500" y="1714500"/>
            <a:ext cx="16510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F6F7E"/>
                </a:solidFill>
                <a:latin typeface="Optimist Sans" pitchFamily="34" charset="0"/>
                <a:ea typeface="Optimist Sans" pitchFamily="34" charset="-122"/>
                <a:cs typeface="Optimist Sans" pitchFamily="34" charset="-120"/>
              </a:rPr>
              <a:t>Converted backfill</a:t>
            </a:r>
            <a:endParaRPr lang="en-US" sz="1200" dirty="0"/>
          </a:p>
        </p:txBody>
      </p:sp>
      <p:sp>
        <p:nvSpPr>
          <p:cNvPr id="126" name="Shape 124"/>
          <p:cNvSpPr/>
          <p:nvPr/>
        </p:nvSpPr>
        <p:spPr>
          <a:xfrm>
            <a:off x="8763000" y="1758950"/>
            <a:ext cx="127000" cy="127000"/>
          </a:xfrm>
          <a:prstGeom prst="rect">
            <a:avLst/>
          </a:prstGeom>
          <a:solidFill>
            <a:srgbClr val="7B3FA0"/>
          </a:solidFill>
          <a:ln/>
        </p:spPr>
      </p:sp>
      <p:sp>
        <p:nvSpPr>
          <p:cNvPr id="127" name="Text 125"/>
          <p:cNvSpPr txBox="1"/>
          <p:nvPr/>
        </p:nvSpPr>
        <p:spPr>
          <a:xfrm>
            <a:off x="8953500" y="1714500"/>
            <a:ext cx="1905000" cy="215900"/>
          </a:xfrm>
          <a:prstGeom prst="rect">
            <a:avLst/>
          </a:prstGeom>
          <a:noFill/>
          <a:ln/>
        </p:spPr>
        <p:txBody>
          <a:bodyPr wrap="square" lIns="0" tIns="0" rIns="0" bIns="0" rtlCol="0" anchor="t"/>
          <a:lstStyle/>
          <a:p>
            <a:pPr algn="l" indent="0" marL="0">
              <a:lnSpc>
                <a:spcPct val="115000"/>
              </a:lnSpc>
              <a:buNone/>
            </a:pPr>
            <a:r>
              <a:rPr lang="en-US" sz="1200" b="1" dirty="0">
                <a:solidFill>
                  <a:srgbClr val="7B3FA0"/>
                </a:solidFill>
                <a:latin typeface="Optimist Sans" pitchFamily="34" charset="0"/>
                <a:ea typeface="Optimist Sans" pitchFamily="34" charset="-122"/>
                <a:cs typeface="Optimist Sans" pitchFamily="34" charset="-120"/>
              </a:rPr>
              <a:t>New investment (rare)</a:t>
            </a:r>
            <a:endParaRPr lang="en-US" sz="1200" dirty="0"/>
          </a:p>
        </p:txBody>
      </p:sp>
      <p:sp>
        <p:nvSpPr>
          <p:cNvPr id="128" name="Text 126"/>
          <p:cNvSpPr txBox="1"/>
          <p:nvPr/>
        </p:nvSpPr>
        <p:spPr>
          <a:xfrm>
            <a:off x="812800" y="1714500"/>
            <a:ext cx="3556000" cy="2159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Sum of BAU floors: [n] → slide 5</a:t>
            </a:r>
            <a:endParaRPr lang="en-US" sz="1200" dirty="0"/>
          </a:p>
        </p:txBody>
      </p:sp>
      <p:sp>
        <p:nvSpPr>
          <p:cNvPr id="129" name="Text 12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Bars = year-end headcount; dashed line = BAU floor · Expected departures of [XYZ] are counted as backfills</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’26</a:t>
            </a:r>
            <a:endParaRPr lang="en-US" sz="1600" dirty="0"/>
          </a:p>
        </p:txBody>
      </p:sp>
      <p:sp>
        <p:nvSpPr>
          <p:cNvPr id="5" name="Text 3"/>
          <p:cNvSpPr txBox="1"/>
          <p:nvPr/>
        </p:nvSpPr>
        <p:spPr>
          <a:xfrm>
            <a:off x="812800" y="26670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incl. [n] openings</a:t>
            </a:r>
            <a:endParaRPr lang="en-US" sz="1200" dirty="0"/>
          </a:p>
        </p:txBody>
      </p:sp>
      <p:sp>
        <p:nvSpPr>
          <p:cNvPr id="6" name="Shape 4"/>
          <p:cNvSpPr/>
          <p:nvPr/>
        </p:nvSpPr>
        <p:spPr>
          <a:xfrm>
            <a:off x="2921000" y="2438400"/>
            <a:ext cx="7366000" cy="406400"/>
          </a:xfrm>
          <a:prstGeom prst="rect">
            <a:avLst/>
          </a:prstGeom>
          <a:solidFill>
            <a:srgbClr val="1F6F7E"/>
          </a:solidFill>
          <a:ln/>
        </p:spPr>
      </p:sp>
      <p:sp>
        <p:nvSpPr>
          <p:cNvPr id="7" name="Text 5"/>
          <p:cNvSpPr txBox="1"/>
          <p:nvPr/>
        </p:nvSpPr>
        <p:spPr>
          <a:xfrm>
            <a:off x="3073400" y="2438400"/>
            <a:ext cx="72136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38400"/>
            <a:ext cx="127000" cy="406400"/>
          </a:xfrm>
          <a:prstGeom prst="rect">
            <a:avLst/>
          </a:prstGeom>
          <a:solidFill>
            <a:srgbClr val="E3A86B"/>
          </a:solidFill>
          <a:ln/>
        </p:spPr>
      </p:sp>
      <p:sp>
        <p:nvSpPr>
          <p:cNvPr id="9" name="Text 7"/>
          <p:cNvSpPr txBox="1"/>
          <p:nvPr/>
        </p:nvSpPr>
        <p:spPr>
          <a:xfrm>
            <a:off x="10515600" y="2438400"/>
            <a:ext cx="8636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29845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’27</a:t>
            </a:r>
            <a:endParaRPr lang="en-US" sz="1600" dirty="0"/>
          </a:p>
        </p:txBody>
      </p:sp>
      <p:sp>
        <p:nvSpPr>
          <p:cNvPr id="11" name="Text 9"/>
          <p:cNvSpPr txBox="1"/>
          <p:nvPr/>
        </p:nvSpPr>
        <p:spPr>
          <a:xfrm>
            <a:off x="812800" y="32512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 fully staffed</a:t>
            </a:r>
            <a:endParaRPr lang="en-US" sz="1200" dirty="0"/>
          </a:p>
        </p:txBody>
      </p:sp>
      <p:sp>
        <p:nvSpPr>
          <p:cNvPr id="12" name="Shape 10"/>
          <p:cNvSpPr/>
          <p:nvPr/>
        </p:nvSpPr>
        <p:spPr>
          <a:xfrm>
            <a:off x="2921000" y="3022600"/>
            <a:ext cx="4953000" cy="406400"/>
          </a:xfrm>
          <a:prstGeom prst="rect">
            <a:avLst/>
          </a:prstGeom>
          <a:solidFill>
            <a:srgbClr val="1F6F7E"/>
          </a:solidFill>
          <a:ln/>
        </p:spPr>
      </p:sp>
      <p:sp>
        <p:nvSpPr>
          <p:cNvPr id="13" name="Text 11"/>
          <p:cNvSpPr txBox="1"/>
          <p:nvPr/>
        </p:nvSpPr>
        <p:spPr>
          <a:xfrm>
            <a:off x="2921000" y="3022600"/>
            <a:ext cx="4800600" cy="4064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7874000" y="3022600"/>
            <a:ext cx="2159000" cy="406400"/>
          </a:xfrm>
          <a:prstGeom prst="rect">
            <a:avLst/>
          </a:prstGeom>
          <a:solidFill>
            <a:srgbClr val="E3A86B"/>
          </a:solidFill>
          <a:ln/>
        </p:spPr>
      </p:sp>
      <p:sp>
        <p:nvSpPr>
          <p:cNvPr id="15" name="Text 13"/>
          <p:cNvSpPr txBox="1"/>
          <p:nvPr/>
        </p:nvSpPr>
        <p:spPr>
          <a:xfrm>
            <a:off x="8026400" y="3022600"/>
            <a:ext cx="19050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10033000" y="3022600"/>
            <a:ext cx="381000" cy="406400"/>
          </a:xfrm>
          <a:prstGeom prst="rect">
            <a:avLst/>
          </a:prstGeom>
          <a:solidFill>
            <a:srgbClr val="F7F6F2"/>
          </a:solidFill>
          <a:ln w="19050">
            <a:solidFill>
              <a:srgbClr val="8A8F98"/>
            </a:solidFill>
            <a:prstDash val="dash"/>
          </a:ln>
        </p:spPr>
      </p:sp>
      <p:sp>
        <p:nvSpPr>
          <p:cNvPr id="17" name="Text 15"/>
          <p:cNvSpPr txBox="1"/>
          <p:nvPr/>
        </p:nvSpPr>
        <p:spPr>
          <a:xfrm>
            <a:off x="812800" y="35687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’28 target</a:t>
            </a:r>
            <a:endParaRPr lang="en-US" sz="1600" dirty="0"/>
          </a:p>
        </p:txBody>
      </p:sp>
      <p:sp>
        <p:nvSpPr>
          <p:cNvPr id="18" name="Text 16"/>
          <p:cNvSpPr txBox="1"/>
          <p:nvPr/>
        </p:nvSpPr>
        <p:spPr>
          <a:xfrm>
            <a:off x="812800" y="38354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 fully staffed</a:t>
            </a:r>
            <a:endParaRPr lang="en-US" sz="1200" dirty="0"/>
          </a:p>
        </p:txBody>
      </p:sp>
      <p:sp>
        <p:nvSpPr>
          <p:cNvPr id="19" name="Shape 17"/>
          <p:cNvSpPr/>
          <p:nvPr/>
        </p:nvSpPr>
        <p:spPr>
          <a:xfrm>
            <a:off x="2921000" y="3606800"/>
            <a:ext cx="3556000" cy="406400"/>
          </a:xfrm>
          <a:prstGeom prst="rect">
            <a:avLst/>
          </a:prstGeom>
          <a:solidFill>
            <a:srgbClr val="1F6F7E"/>
          </a:solidFill>
          <a:ln/>
        </p:spPr>
      </p:sp>
      <p:sp>
        <p:nvSpPr>
          <p:cNvPr id="20" name="Text 18"/>
          <p:cNvSpPr txBox="1"/>
          <p:nvPr/>
        </p:nvSpPr>
        <p:spPr>
          <a:xfrm>
            <a:off x="2921000" y="3606800"/>
            <a:ext cx="3403600" cy="4064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21" name="Shape 19"/>
          <p:cNvSpPr/>
          <p:nvPr/>
        </p:nvSpPr>
        <p:spPr>
          <a:xfrm>
            <a:off x="6477000" y="3606800"/>
            <a:ext cx="3048000" cy="406400"/>
          </a:xfrm>
          <a:prstGeom prst="rect">
            <a:avLst/>
          </a:prstGeom>
          <a:solidFill>
            <a:srgbClr val="E3A86B"/>
          </a:solidFill>
          <a:ln/>
        </p:spPr>
      </p:sp>
      <p:sp>
        <p:nvSpPr>
          <p:cNvPr id="22" name="Text 20"/>
          <p:cNvSpPr txBox="1"/>
          <p:nvPr/>
        </p:nvSpPr>
        <p:spPr>
          <a:xfrm>
            <a:off x="6629400" y="3606800"/>
            <a:ext cx="27940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23" name="Shape 21"/>
          <p:cNvSpPr/>
          <p:nvPr/>
        </p:nvSpPr>
        <p:spPr>
          <a:xfrm>
            <a:off x="9525000" y="3606800"/>
            <a:ext cx="889000" cy="406400"/>
          </a:xfrm>
          <a:prstGeom prst="rect">
            <a:avLst/>
          </a:prstGeom>
          <a:solidFill>
            <a:srgbClr val="F7F6F2"/>
          </a:solidFill>
          <a:ln w="19050">
            <a:solidFill>
              <a:srgbClr val="8A8F98"/>
            </a:solidFill>
            <a:prstDash val="dash"/>
          </a:ln>
        </p:spPr>
      </p:sp>
      <p:sp>
        <p:nvSpPr>
          <p:cNvPr id="24" name="Text 22"/>
          <p:cNvSpPr txBox="1"/>
          <p:nvPr/>
        </p:nvSpPr>
        <p:spPr>
          <a:xfrm>
            <a:off x="9525000" y="3606800"/>
            <a:ext cx="889000" cy="4064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25" name="BAU floor marker 2027"/>
          <p:cNvSpPr/>
          <p:nvPr/>
        </p:nvSpPr>
        <p:spPr>
          <a:xfrm>
            <a:off x="4806950" y="3022600"/>
            <a:ext cx="38100" cy="558800"/>
          </a:xfrm>
          <a:prstGeom prst="rect">
            <a:avLst/>
          </a:prstGeom>
          <a:solidFill>
            <a:srgbClr val="A0521A"/>
          </a:solidFill>
          <a:ln/>
        </p:spPr>
      </p:sp>
      <p:sp>
        <p:nvSpPr>
          <p:cNvPr id="26" name="BAU floor marker 2028"/>
          <p:cNvSpPr/>
          <p:nvPr/>
        </p:nvSpPr>
        <p:spPr>
          <a:xfrm>
            <a:off x="4806950" y="3606800"/>
            <a:ext cx="38100" cy="558800"/>
          </a:xfrm>
          <a:prstGeom prst="rect">
            <a:avLst/>
          </a:prstGeom>
          <a:solidFill>
            <a:srgbClr val="A0521A"/>
          </a:solidFill>
          <a:ln/>
        </p:spPr>
      </p:sp>
      <p:sp>
        <p:nvSpPr>
          <p:cNvPr id="27" name="Text 25"/>
          <p:cNvSpPr txBox="1"/>
          <p:nvPr/>
        </p:nvSpPr>
        <p:spPr>
          <a:xfrm>
            <a:off x="4064000" y="4191000"/>
            <a:ext cx="4826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 [n]: sum of team floors (slide 4)</a:t>
            </a:r>
            <a:endParaRPr lang="en-US" sz="1200" dirty="0"/>
          </a:p>
        </p:txBody>
      </p:sp>
      <p:sp>
        <p:nvSpPr>
          <p:cNvPr id="28" name="Shape 26"/>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9"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30" name="Text 27"/>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31" name="Text 28"/>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32" name="Shape 29"/>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33"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34" name="Text 30"/>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35" name="Text 31"/>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36" name="Shape 32"/>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7"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8" name="Text 33"/>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9" name="Text 34"/>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(slide 3).</a:t>
            </a:r>
            <a:endParaRPr lang="en-US" sz="1200" dirty="0"/>
          </a:p>
        </p:txBody>
      </p:sp>
      <p:sp>
        <p:nvSpPr>
          <p:cNvPr id="40" name="Text 35"/>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’26 includes open roles; ’27–’28 assume the team is fully staffed · Mix is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242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870200"/>
            <a:ext cx="279400" cy="279400"/>
          </a:xfrm>
          <a:prstGeom prst="rect">
            <a:avLst/>
          </a:prstGeom>
        </p:spPr>
      </p:pic>
      <p:sp>
        <p:nvSpPr>
          <p:cNvPr id="12" name="Text 9"/>
          <p:cNvSpPr txBox="1"/>
          <p:nvPr/>
        </p:nvSpPr>
        <p:spPr>
          <a:xfrm>
            <a:off x="10160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242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870200"/>
            <a:ext cx="279400" cy="279400"/>
          </a:xfrm>
          <a:prstGeom prst="rect">
            <a:avLst/>
          </a:prstGeom>
        </p:spPr>
      </p:pic>
      <p:sp>
        <p:nvSpPr>
          <p:cNvPr id="17" name="Text 13"/>
          <p:cNvSpPr txBox="1"/>
          <p:nvPr/>
        </p:nvSpPr>
        <p:spPr>
          <a:xfrm>
            <a:off x="37084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242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870200"/>
            <a:ext cx="279400" cy="279400"/>
          </a:xfrm>
          <a:prstGeom prst="rect">
            <a:avLst/>
          </a:prstGeom>
        </p:spPr>
      </p:pic>
      <p:sp>
        <p:nvSpPr>
          <p:cNvPr id="22" name="Text 17"/>
          <p:cNvSpPr txBox="1"/>
          <p:nvPr/>
        </p:nvSpPr>
        <p:spPr>
          <a:xfrm>
            <a:off x="64008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Codify unwritten know-how for humans and AI</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242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870200"/>
            <a:ext cx="279400" cy="279400"/>
          </a:xfrm>
          <a:prstGeom prst="rect">
            <a:avLst/>
          </a:prstGeom>
        </p:spPr>
      </p:pic>
      <p:sp>
        <p:nvSpPr>
          <p:cNvPr id="27" name="Text 21"/>
          <p:cNvSpPr txBox="1"/>
          <p:nvPr/>
        </p:nvSpPr>
        <p:spPr>
          <a:xfrm>
            <a:off x="90932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 for AI-empowered talent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Leaders for mixed IC + agent teams, wider spans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Consistent, rising talent bar; IC development</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Everyone starts as an IC, then chooses between two equally valued paths</a:t>
            </a:r>
            <a:endParaRPr lang="en-US" sz="3200" dirty="0"/>
          </a:p>
        </p:txBody>
      </p:sp>
      <p:sp>
        <p:nvSpPr>
          <p:cNvPr id="4" name="Shape 2"/>
          <p:cNvSpPr/>
          <p:nvPr/>
        </p:nvSpPr>
        <p:spPr>
          <a:xfrm>
            <a:off x="2654300" y="2286000"/>
            <a:ext cx="3048000" cy="355600"/>
          </a:xfrm>
          <a:prstGeom prst="roundRect">
            <a:avLst>
              <a:gd name="adj" fmla="val 38571"/>
            </a:avLst>
          </a:prstGeom>
          <a:solidFill>
            <a:srgbClr val="14213D"/>
          </a:solidFill>
          <a:ln/>
        </p:spPr>
      </p:sp>
      <p:sp>
        <p:nvSpPr>
          <p:cNvPr id="5" name="Text 3"/>
          <p:cNvSpPr txBox="1"/>
          <p:nvPr/>
        </p:nvSpPr>
        <p:spPr>
          <a:xfrm>
            <a:off x="2654300" y="2286000"/>
            <a:ext cx="3048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Junior IC: everyone starts here</a:t>
            </a:r>
            <a:endParaRPr lang="en-US" sz="1300" dirty="0"/>
          </a:p>
        </p:txBody>
      </p:sp>
      <p:sp>
        <p:nvSpPr>
          <p:cNvPr id="6" name="Text 4"/>
          <p:cNvSpPr txBox="1"/>
          <p:nvPr/>
        </p:nvSpPr>
        <p:spPr>
          <a:xfrm>
            <a:off x="4279900" y="2628900"/>
            <a:ext cx="2032000" cy="215900"/>
          </a:xfrm>
          <a:prstGeom prst="rect">
            <a:avLst/>
          </a:prstGeom>
          <a:noFill/>
          <a:ln/>
        </p:spPr>
        <p:txBody>
          <a:bodyPr wrap="square" lIns="0" tIns="0" rIns="0" bIns="0" rtlCol="0" anchor="t"/>
          <a:lstStyle/>
          <a:p>
            <a:pPr algn="l" indent="0" marL="0">
              <a:lnSpc>
                <a:spcPct val="115000"/>
              </a:lnSpc>
              <a:buNone/>
            </a:pPr>
            <a:r>
              <a:rPr lang="en-US" sz="1200" i="1" dirty="0">
                <a:solidFill>
                  <a:srgbClr val="6B7280"/>
                </a:solidFill>
                <a:latin typeface="Optimist Sans" pitchFamily="34" charset="0"/>
                <a:ea typeface="Optimist Sans" pitchFamily="34" charset="-122"/>
                <a:cs typeface="Optimist Sans" pitchFamily="34" charset="-120"/>
              </a:rPr>
              <a:t>Choose at senior level</a:t>
            </a:r>
            <a:endParaRPr lang="en-US" sz="1200" dirty="0"/>
          </a:p>
        </p:txBody>
      </p:sp>
      <p:sp>
        <p:nvSpPr>
          <p:cNvPr id="7" name="Shape 5"/>
          <p:cNvSpPr/>
          <p:nvPr/>
        </p:nvSpPr>
        <p:spPr>
          <a:xfrm>
            <a:off x="4178300" y="2641600"/>
            <a:ext cx="914" cy="228600"/>
          </a:xfrm>
          <a:prstGeom prst="line">
            <a:avLst/>
          </a:prstGeom>
          <a:noFill/>
          <a:ln w="25400">
            <a:solidFill>
              <a:srgbClr val="6B7280"/>
            </a:solidFill>
            <a:prstDash val="solid"/>
          </a:ln>
        </p:spPr>
      </p:sp>
      <p:sp>
        <p:nvSpPr>
          <p:cNvPr id="8" name="Shape 6"/>
          <p:cNvSpPr/>
          <p:nvPr/>
        </p:nvSpPr>
        <p:spPr>
          <a:xfrm>
            <a:off x="2432050" y="2870200"/>
            <a:ext cx="3492500" cy="914"/>
          </a:xfrm>
          <a:prstGeom prst="line">
            <a:avLst/>
          </a:prstGeom>
          <a:noFill/>
          <a:ln w="25400">
            <a:solidFill>
              <a:srgbClr val="6B7280"/>
            </a:solidFill>
            <a:prstDash val="solid"/>
          </a:ln>
        </p:spPr>
      </p:sp>
      <p:sp>
        <p:nvSpPr>
          <p:cNvPr id="9" name="Shape 7"/>
          <p:cNvSpPr/>
          <p:nvPr/>
        </p:nvSpPr>
        <p:spPr>
          <a:xfrm>
            <a:off x="2432050" y="2870200"/>
            <a:ext cx="914" cy="114300"/>
          </a:xfrm>
          <a:prstGeom prst="line">
            <a:avLst/>
          </a:prstGeom>
          <a:noFill/>
          <a:ln w="25400">
            <a:solidFill>
              <a:srgbClr val="6B7280"/>
            </a:solidFill>
            <a:prstDash val="solid"/>
            <a:tailEnd type="triangle"/>
          </a:ln>
        </p:spPr>
      </p:sp>
      <p:sp>
        <p:nvSpPr>
          <p:cNvPr id="10" name="Shape 8"/>
          <p:cNvSpPr/>
          <p:nvPr/>
        </p:nvSpPr>
        <p:spPr>
          <a:xfrm>
            <a:off x="5924550" y="2870200"/>
            <a:ext cx="914" cy="114300"/>
          </a:xfrm>
          <a:prstGeom prst="line">
            <a:avLst/>
          </a:prstGeom>
          <a:noFill/>
          <a:ln w="25400">
            <a:solidFill>
              <a:srgbClr val="6B7280"/>
            </a:solidFill>
            <a:prstDash val="solid"/>
            <a:tailEnd type="triangle"/>
          </a:ln>
        </p:spPr>
      </p:sp>
      <p:sp>
        <p:nvSpPr>
          <p:cNvPr id="11" name="Shape 9"/>
          <p:cNvSpPr/>
          <p:nvPr/>
        </p:nvSpPr>
        <p:spPr>
          <a:xfrm>
            <a:off x="812800" y="2984500"/>
            <a:ext cx="3238500" cy="2222500"/>
          </a:xfrm>
          <a:prstGeom prst="roundRect">
            <a:avLst>
              <a:gd name="adj" fmla="val 2469"/>
            </a:avLst>
          </a:prstGeom>
          <a:solidFill>
            <a:srgbClr val="E1EEF0"/>
          </a:solidFill>
          <a:ln w="19050">
            <a:solidFill>
              <a:srgbClr val="1F6F7E"/>
            </a:solidFill>
            <a:prstDash val="solid"/>
          </a:ln>
        </p:spPr>
      </p:sp>
      <p:sp>
        <p:nvSpPr>
          <p:cNvPr id="12" name="Text 10"/>
          <p:cNvSpPr txBox="1"/>
          <p:nvPr/>
        </p:nvSpPr>
        <p:spPr>
          <a:xfrm>
            <a:off x="10160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 · MORE COMMON NOW</a:t>
            </a:r>
            <a:endParaRPr lang="en-US" sz="1200" dirty="0"/>
          </a:p>
        </p:txBody>
      </p:sp>
      <p:sp>
        <p:nvSpPr>
          <p:cNvPr id="13" name="Text 11"/>
          <p:cNvSpPr txBox="1"/>
          <p:nvPr/>
        </p:nvSpPr>
        <p:spPr>
          <a:xfrm>
            <a:off x="10160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Individual contributor</a:t>
            </a:r>
            <a:endParaRPr lang="en-US" sz="1600" dirty="0"/>
          </a:p>
        </p:txBody>
      </p:sp>
      <p:sp>
        <p:nvSpPr>
          <p:cNvPr id="14" name="Text 12"/>
          <p:cNvSpPr txBox="1"/>
          <p:nvPr/>
        </p:nvSpPr>
        <p:spPr>
          <a:xfrm>
            <a:off x="10160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5" name="Text 13"/>
          <p:cNvSpPr txBox="1"/>
          <p:nvPr/>
        </p:nvSpPr>
        <p:spPr>
          <a:xfrm>
            <a:off x="10160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6" name="Shape 14"/>
          <p:cNvSpPr/>
          <p:nvPr/>
        </p:nvSpPr>
        <p:spPr>
          <a:xfrm>
            <a:off x="4305300" y="2984500"/>
            <a:ext cx="3238500" cy="2222500"/>
          </a:xfrm>
          <a:prstGeom prst="roundRect">
            <a:avLst>
              <a:gd name="adj" fmla="val 2469"/>
            </a:avLst>
          </a:prstGeom>
          <a:solidFill>
            <a:srgbClr val="F6E6D6"/>
          </a:solidFill>
          <a:ln w="19050">
            <a:solidFill>
              <a:srgbClr val="A0521A"/>
            </a:solidFill>
            <a:prstDash val="solid"/>
          </a:ln>
        </p:spPr>
      </p:sp>
      <p:sp>
        <p:nvSpPr>
          <p:cNvPr id="17" name="Text 15"/>
          <p:cNvSpPr txBox="1"/>
          <p:nvPr/>
        </p:nvSpPr>
        <p:spPr>
          <a:xfrm>
            <a:off x="45085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8" name="Text 16"/>
          <p:cNvSpPr txBox="1"/>
          <p:nvPr/>
        </p:nvSpPr>
        <p:spPr>
          <a:xfrm>
            <a:off x="45085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9" name="Text 17"/>
          <p:cNvSpPr txBox="1"/>
          <p:nvPr/>
        </p:nvSpPr>
        <p:spPr>
          <a:xfrm>
            <a:off x="45085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20" name="Text 18"/>
          <p:cNvSpPr txBox="1"/>
          <p:nvPr/>
        </p:nvSpPr>
        <p:spPr>
          <a:xfrm>
            <a:off x="45085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1" name="Shape 19"/>
          <p:cNvSpPr/>
          <p:nvPr/>
        </p:nvSpPr>
        <p:spPr>
          <a:xfrm>
            <a:off x="3975100" y="3892550"/>
            <a:ext cx="406400" cy="406400"/>
          </a:xfrm>
          <a:prstGeom prst="ellipse">
            <a:avLst/>
          </a:prstGeom>
          <a:solidFill>
            <a:srgbClr val="14213D"/>
          </a:solidFill>
          <a:ln w="38100">
            <a:solidFill>
              <a:srgbClr val="F7F6F2"/>
            </a:solidFill>
            <a:prstDash val="solid"/>
          </a:ln>
        </p:spPr>
      </p:sp>
      <p:sp>
        <p:nvSpPr>
          <p:cNvPr id="22" name="Text 20"/>
          <p:cNvSpPr txBox="1"/>
          <p:nvPr/>
        </p:nvSpPr>
        <p:spPr>
          <a:xfrm>
            <a:off x="3975100" y="3892550"/>
            <a:ext cx="406400" cy="406400"/>
          </a:xfrm>
          <a:prstGeom prst="rect">
            <a:avLst/>
          </a:prstGeom>
          <a:noFill/>
          <a:ln/>
        </p:spPr>
        <p:txBody>
          <a:bodyPr wrap="square" lIns="0" tIns="0" rIns="0" bIns="0" rtlCol="0" anchor="ctr"/>
          <a:lstStyle/>
          <a:p>
            <a:pPr algn="ctr" indent="0" marL="0">
              <a:lnSpc>
                <a:spcPct val="115000"/>
              </a:lnSpc>
              <a:buNone/>
            </a:pPr>
            <a:r>
              <a:rPr lang="en-US" sz="2200" b="1" dirty="0">
                <a:solidFill>
                  <a:srgbClr val="F7F6F2"/>
                </a:solidFill>
                <a:latin typeface="Optimist Sans" pitchFamily="34" charset="0"/>
                <a:ea typeface="Optimist Sans" pitchFamily="34" charset="-122"/>
                <a:cs typeface="Optimist Sans" pitchFamily="34" charset="-120"/>
              </a:rPr>
              <a:t>=</a:t>
            </a:r>
            <a:endParaRPr lang="en-US" sz="2200" dirty="0"/>
          </a:p>
        </p:txBody>
      </p:sp>
      <p:sp>
        <p:nvSpPr>
          <p:cNvPr id="23" name="Text 21"/>
          <p:cNvSpPr txBox="1"/>
          <p:nvPr/>
        </p:nvSpPr>
        <p:spPr>
          <a:xfrm>
            <a:off x="812800" y="5334000"/>
            <a:ext cx="67310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4213D"/>
                </a:solidFill>
                <a:latin typeface="Optimist Sans" pitchFamily="34" charset="0"/>
                <a:ea typeface="Optimist Sans" pitchFamily="34" charset="-122"/>
                <a:cs typeface="Optimist Sans" pitchFamily="34" charset="-120"/>
              </a:rPr>
              <a:t>Everyone builds skills as an IC first and chooses once senior. </a:t>
            </a:r>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Both paths offer an equal chance of success; we expect more people to stay on the IC path than in the past.</a:t>
            </a:r>
            <a:endParaRPr lang="en-US" sz="1200" dirty="0"/>
          </a:p>
        </p:txBody>
      </p:sp>
      <p:sp>
        <p:nvSpPr>
          <p:cNvPr id="24" name="Shape 22"/>
          <p:cNvSpPr/>
          <p:nvPr/>
        </p:nvSpPr>
        <p:spPr>
          <a:xfrm>
            <a:off x="7848600" y="2286000"/>
            <a:ext cx="3530600" cy="3492500"/>
          </a:xfrm>
          <a:prstGeom prst="roundRect">
            <a:avLst>
              <a:gd name="adj" fmla="val 1571"/>
            </a:avLst>
          </a:prstGeom>
          <a:solidFill>
            <a:srgbClr val="ECEAE3"/>
          </a:solidFill>
          <a:ln/>
        </p:spPr>
      </p:sp>
      <p:pic>
        <p:nvPicPr>
          <p:cNvPr id="25"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6" name="Text 23"/>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7" name="Text 24"/>
          <p:cNvSpPr txBox="1"/>
          <p:nvPr/>
        </p:nvSpPr>
        <p:spPr>
          <a:xfrm>
            <a:off x="8051800" y="3619500"/>
            <a:ext cx="3124200" cy="825500"/>
          </a:xfrm>
          <a:prstGeom prst="rect">
            <a:avLst/>
          </a:prstGeom>
          <a:noFill/>
          <a:ln/>
        </p:spPr>
        <p:txBody>
          <a:bodyPr wrap="square" lIns="0" tIns="0" rIns="0" bIns="0" rtlCol="0" anchor="t"/>
          <a:lstStyle/>
          <a:p>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Everyone is getting better, yet we still fit a distribution. We must keep benchmarks reasonable.</a:t>
            </a:r>
            <a:endParaRPr lang="en-US" sz="1300" dirty="0"/>
          </a:p>
        </p:txBody>
      </p:sp>
      <p:sp>
        <p:nvSpPr>
          <p:cNvPr id="28" name="Shape 25"/>
          <p:cNvSpPr/>
          <p:nvPr/>
        </p:nvSpPr>
        <p:spPr>
          <a:xfrm>
            <a:off x="8001000" y="4546600"/>
            <a:ext cx="3225800" cy="1143000"/>
          </a:xfrm>
          <a:prstGeom prst="roundRect">
            <a:avLst>
              <a:gd name="adj" fmla="val 6400"/>
            </a:avLst>
          </a:prstGeom>
          <a:solidFill>
            <a:srgbClr val="E1EEF0"/>
          </a:solidFill>
          <a:ln/>
        </p:spPr>
      </p:sp>
      <p:sp>
        <p:nvSpPr>
          <p:cNvPr id="29" name="Text 26"/>
          <p:cNvSpPr txBox="1"/>
          <p:nvPr/>
        </p:nvSpPr>
        <p:spPr>
          <a:xfrm>
            <a:off x="8153400" y="4648200"/>
            <a:ext cx="2921000" cy="952500"/>
          </a:xfrm>
          <a:prstGeom prst="rect">
            <a:avLst/>
          </a:prstGeom>
          <a:noFill/>
          <a:ln/>
        </p:spPr>
        <p:txBody>
          <a:bodyPr wrap="square" lIns="0" tIns="0" rIns="0" bIns="0" rtlCol="0" anchor="ctr"/>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Our answer: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a clear, fair development path on both tracks, so people feel treated fairly as expectations evolve.</a:t>
            </a:r>
            <a:endParaRPr lang="en-US" sz="1300" dirty="0"/>
          </a:p>
        </p:txBody>
      </p:sp>
      <p:sp>
        <p:nvSpPr>
          <p:cNvPr id="30" name="Text 2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Shape 27"/>
          <p:cNvSpPr/>
          <p:nvPr/>
        </p:nvSpPr>
        <p:spPr>
          <a:xfrm>
            <a:off x="8178800" y="4102100"/>
            <a:ext cx="3048000" cy="533400"/>
          </a:xfrm>
          <a:prstGeom prst="roundRect">
            <a:avLst>
              <a:gd name="adj" fmla="val 20571"/>
            </a:avLst>
          </a:prstGeom>
          <a:solidFill>
            <a:srgbClr val="E1EEF0"/>
          </a:solidFill>
          <a:ln/>
        </p:spPr>
      </p:sp>
      <p:sp>
        <p:nvSpPr>
          <p:cNvPr id="30" name="Text 28"/>
          <p:cNvSpPr txBox="1"/>
          <p:nvPr/>
        </p:nvSpPr>
        <p:spPr>
          <a:xfrm>
            <a:off x="8280400" y="4102100"/>
            <a:ext cx="2895600" cy="533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Juniors learn by judging, not just doing:</a:t>
            </a:r>
            <a:endParaRPr lang="en-US" sz="1200" dirty="0"/>
          </a:p>
        </p:txBody>
      </p:sp>
      <p:sp>
        <p:nvSpPr>
          <p:cNvPr id="31" name="Text 29"/>
          <p:cNvSpPr txBox="1"/>
          <p:nvPr/>
        </p:nvSpPr>
        <p:spPr>
          <a:xfrm>
            <a:off x="8229600" y="4749800"/>
            <a:ext cx="2946400" cy="9525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Review and challenge agent output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Hand-build some work end to end</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Pair with senior ICs on real decisions</a:t>
            </a:r>
            <a:endParaRPr lang="en-US" sz="1200" dirty="0"/>
          </a:p>
        </p:txBody>
      </p:sp>
      <p:sp>
        <p:nvSpPr>
          <p:cNvPr id="32"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MADE and its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MADE Team Strategy">
  <a:themeElements>
    <a:clrScheme name="MADE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MADE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MADE Team Strategy</dc:title>
  <dc:subject>PptxGenJS Presentation</dc:subject>
  <dc:creator>PptxGenJS</dc:creator>
  <cp:lastModifiedBy>PptxGenJS</cp:lastModifiedBy>
  <cp:revision>1</cp:revision>
  <dcterms:created xsi:type="dcterms:W3CDTF">2026-10-24T14:32:35Z</dcterms:created>
  <dcterms:modified xsi:type="dcterms:W3CDTF">2026-10-24T14:32:35Z</dcterms:modified>
</cp:coreProperties>
</file>