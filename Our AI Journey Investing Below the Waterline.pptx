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the AI conversation fixates on agents and automation. This deck argues the durable advantage is built underneath, and lays out how we invest.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invest in both parts of the iceberg: we do build agents and automated workflows. What we don't do is chase the visible tip on its own. An agent is only as good as the tools it can call, the calculations it relies on and the data underneath. If those layers are weak, every agent inherits the weakness; if they are strong, each new agent is cheaper, faster and safer to build. So we build from the bottom up: foundation first, and applications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 1 uses AI to accelerate the foundational work itself: data quality, standardized calculations, and better tools. That benefits human users now and agents in the long run. Track 2 looks at our workflows, finds the friction and repetitive steps, and uses agentic workflows to take them over, with humans driving the process and staying in the loop. The two reinforce each other: every foundation improvement makes the agents in Track 2 more reliable.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use cases tied to our commercial banking work. 1) Deal approval: help credit officers get the information they need summarized so they can decide and approve deals faster. 2) Loss forecast model development and deployment: use AI to accelerate every part of model development and to deploy models to the enterprise platform. 3) Loss forecast outcome analysis: after the forecast runs, quickly explain what changed, identify the drivers and make recommendations. This work happens in a very short window, for example the quarterly allowance process that must finish before earnings, which has forced trade-offs in the past. The output also has to be summarized so senior leaders can consume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and the step table measure one deal only; frequency is shown separately in the band below. Placeholder assumptions: a mid-size commercial credit deal takes about 34 FTE hours across relationship, analyst and credit officer time. Bars are to scale at about 14 px per hour: when you replace a number, set that segment's height to hours x 14. Committee review shrinks least because the credit officer and committee keep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and the step table measure one model only; frequency is shown separately in the band below. Sizing: one FTE-year is about 2,000 working hours, so 1,500 FTE hours is roughly 3 FTEs for 3 months. Bars are to scale at 0.32 px per hour: when you replace a number, set that segment's height to hours x 0.32. The biggest savings come from data sourcing and cleaning (data foundation) and from coding, testing and documentation (AI coding assistants). Segmentation and model design stay human-led.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Bars and the step table measure one quarterly allowance cycle only; frequency is shown separately in the band below. Placeholder assumptions: about 760 FTE hours of post-forecast analysis per quarter, squeezed into a short window before earnings. Bars are to scale at about 0.63 px per hour: when you replace a number, set that segment's height to hours x 0.63. Overlay recommendations and final review shrink least because they need human judgment. The point for leadership is not only fewer hours: within the same window the team can go deeper on drivers instead of trading depth for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FTE hours for one deal today, by step. Right: the same steps with AI, same scale and colors. Middle: the reduction per deal, how often deals happen, and the four projects that move the bars; the colored squares on each card match the bar segments that project shrinks. Full step-level detail is on the earlier deal approval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FTE hours for one model today, by step (about 3 FTEs for 3 months). Right: the same steps with AI, same scale and colors. Middle: the reduction per model, how often we build models, and the four projects that move the bars; the colored squares on each card match the bar segments that project shrinks. Full step-level detail is on the earlier model development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FTE hours for one quarterly allowance cycle today, by step. Right: the same steps with AI, same scale and colors. Middle: the reduction per quarter, how often it happens, and the four projects that move the bars; the colored squares on each card match the bar segments that project shrinks. Full step-level detail is on the earlier outcome analysis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14E74"/>
        </a:solidFill>
      </p:bgPr>
    </p:bg>
    <p:spTree>
      <p:nvGrpSpPr>
        <p:cNvPr id="1" name=""/>
        <p:cNvGrpSpPr/>
        <p:nvPr/>
      </p:nvGrpSpPr>
      <p:grpSpPr>
        <a:xfrm>
          <a:off x="0" y="0"/>
          <a:ext cx="0" cy="0"/>
          <a:chOff x="0" y="0"/>
          <a:chExt cx="0" cy="0"/>
        </a:xfrm>
      </p:grpSpPr>
      <p:pic>
        <p:nvPicPr>
          <p:cNvPr id="2" name="Image 0" descr="Thin waterline across the slid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3088779"/>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FB8D6"/>
                </a:solidFill>
                <a:latin typeface="Arial" pitchFamily="34" charset="0"/>
                <a:ea typeface="Arial" pitchFamily="34" charset="-122"/>
                <a:cs typeface="Arial" pitchFamily="34" charset="-120"/>
              </a:rPr>
              <a:t>[DEPARTMENT] · AI JOURNEY</a:t>
            </a:r>
            <a:endParaRPr lang="en-US" sz="1200" dirty="0"/>
          </a:p>
        </p:txBody>
      </p:sp>
      <p:sp>
        <p:nvSpPr>
          <p:cNvPr id="4" name="Text 1"/>
          <p:cNvSpPr/>
          <p:nvPr/>
        </p:nvSpPr>
        <p:spPr>
          <a:xfrm>
            <a:off x="812800" y="3505299"/>
            <a:ext cx="7194550" cy="1305520"/>
          </a:xfrm>
          <a:prstGeom prst="rect">
            <a:avLst/>
          </a:prstGeom>
          <a:noFill/>
          <a:ln/>
        </p:spPr>
        <p:txBody>
          <a:bodyPr wrap="square" lIns="0" tIns="0" rIns="0" bIns="0" rtlCol="0" anchor="t">
            <a:normAutofit/>
          </a:bodyPr>
          <a:lstStyle/>
          <a:p>
            <a:pPr algn="l" indent="0" marL="0">
              <a:lnSpc>
                <a:spcPts val="5040"/>
              </a:lnSpc>
              <a:buNone/>
            </a:pPr>
            <a:r>
              <a:rPr lang="en-US" sz="4800" b="1" dirty="0">
                <a:solidFill>
                  <a:srgbClr val="FFFFFF"/>
                </a:solidFill>
                <a:latin typeface="Arial" pitchFamily="34" charset="0"/>
                <a:ea typeface="Arial" pitchFamily="34" charset="-122"/>
                <a:cs typeface="Arial" pitchFamily="34" charset="-120"/>
              </a:rPr>
              <a:t>Our AI journey starts below the waterline</a:t>
            </a:r>
            <a:endParaRPr lang="en-US" sz="4800" dirty="0"/>
          </a:p>
        </p:txBody>
      </p:sp>
      <p:sp>
        <p:nvSpPr>
          <p:cNvPr id="5" name="Text 2"/>
          <p:cNvSpPr/>
          <p:nvPr/>
        </p:nvSpPr>
        <p:spPr>
          <a:xfrm>
            <a:off x="812800" y="4988620"/>
            <a:ext cx="7194550" cy="66546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D4D4D4"/>
                </a:solidFill>
                <a:latin typeface="Arial" pitchFamily="34" charset="0"/>
                <a:ea typeface="Arial" pitchFamily="34" charset="-122"/>
                <a:cs typeface="Arial" pitchFamily="34" charset="-120"/>
              </a:rPr>
              <a:t>Why our AI program starts with data, calculations and tools, not just agents</a:t>
            </a:r>
            <a:endParaRPr lang="en-US" sz="1800" dirty="0"/>
          </a:p>
        </p:txBody>
      </p:sp>
      <p:sp>
        <p:nvSpPr>
          <p:cNvPr id="6"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D4D4D4"/>
                </a:solidFill>
                <a:latin typeface="Arial" pitchFamily="34" charset="0"/>
                <a:ea typeface="Arial" pitchFamily="34" charset="-122"/>
                <a:cs typeface="Arial" pitchFamily="34" charset="-120"/>
              </a:rPr>
              <a:t>[Presenter] · [Date]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14E74"/>
        </a:solidFill>
      </p:bgPr>
    </p:bg>
    <p:spTree>
      <p:nvGrpSpPr>
        <p:cNvPr id="1" name=""/>
        <p:cNvGrpSpPr/>
        <p:nvPr/>
      </p:nvGrpSpPr>
      <p:grpSpPr>
        <a:xfrm>
          <a:off x="0" y="0"/>
          <a:ext cx="0" cy="0"/>
          <a:chOff x="0" y="0"/>
          <a:chExt cx="0" cy="0"/>
        </a:xfrm>
      </p:grpSpPr>
      <p:pic>
        <p:nvPicPr>
          <p:cNvPr id="2" name="Image 0" descr="An iceberg: a small tip of AI applications above the waterline and a much larger mass of tools, calculations and data below i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4064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Arial" pitchFamily="34" charset="0"/>
                <a:ea typeface="Arial" pitchFamily="34" charset="-122"/>
                <a:cs typeface="Arial" pitchFamily="34" charset="-120"/>
              </a:rPr>
              <a:t>We build agentic workflows from the bottom up</a:t>
            </a:r>
            <a:endParaRPr lang="en-US" sz="3200" dirty="0"/>
          </a:p>
        </p:txBody>
      </p:sp>
      <p:sp>
        <p:nvSpPr>
          <p:cNvPr id="4" name="Text 1"/>
          <p:cNvSpPr/>
          <p:nvPr/>
        </p:nvSpPr>
        <p:spPr>
          <a:xfrm>
            <a:off x="6604000" y="1765300"/>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ABOVE THE SURFACE · WHAT PEOPLE SEE</a:t>
            </a:r>
            <a:endParaRPr lang="en-US" sz="1200" dirty="0"/>
          </a:p>
        </p:txBody>
      </p:sp>
      <p:sp>
        <p:nvSpPr>
          <p:cNvPr id="5" name="Text 2"/>
          <p:cNvSpPr/>
          <p:nvPr/>
        </p:nvSpPr>
        <p:spPr>
          <a:xfrm>
            <a:off x="6604000" y="2016720"/>
            <a:ext cx="4918456"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525252"/>
                </a:solidFill>
                <a:latin typeface="Arial" pitchFamily="34" charset="0"/>
                <a:ea typeface="Arial" pitchFamily="34" charset="-122"/>
                <a:cs typeface="Arial" pitchFamily="34" charset="-120"/>
              </a:rPr>
              <a:t>Agents and automated workflows only work when they rest on a solid foundation</a:t>
            </a:r>
            <a:endParaRPr lang="en-US" sz="1400" dirty="0"/>
          </a:p>
        </p:txBody>
      </p:sp>
      <p:sp>
        <p:nvSpPr>
          <p:cNvPr id="6" name="Text 3"/>
          <p:cNvSpPr/>
          <p:nvPr/>
        </p:nvSpPr>
        <p:spPr>
          <a:xfrm>
            <a:off x="6604000" y="2819400"/>
            <a:ext cx="491845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FFFFF"/>
                </a:solidFill>
                <a:latin typeface="Arial" pitchFamily="34" charset="0"/>
                <a:ea typeface="Arial" pitchFamily="34" charset="-122"/>
                <a:cs typeface="Arial" pitchFamily="34" charset="-120"/>
              </a:rPr>
              <a:t>BELOW THE SURFACE · WHAT MAKES IT WORK</a:t>
            </a:r>
            <a:endParaRPr lang="en-US" sz="1200" dirty="0"/>
          </a:p>
        </p:txBody>
      </p:sp>
      <p:sp>
        <p:nvSpPr>
          <p:cNvPr id="7" name="Text 4"/>
          <p:cNvSpPr/>
          <p:nvPr/>
        </p:nvSpPr>
        <p:spPr>
          <a:xfrm>
            <a:off x="6604000" y="3124200"/>
            <a:ext cx="49184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FB8D6"/>
                </a:solidFill>
                <a:latin typeface="Arial" pitchFamily="34" charset="0"/>
                <a:ea typeface="Arial" pitchFamily="34" charset="-122"/>
                <a:cs typeface="Arial" pitchFamily="34" charset="-120"/>
              </a:rPr>
              <a:t>Tools agents actually use</a:t>
            </a:r>
            <a:endParaRPr lang="en-US" sz="1700" dirty="0"/>
          </a:p>
        </p:txBody>
      </p:sp>
      <p:sp>
        <p:nvSpPr>
          <p:cNvPr id="8" name="Text 5"/>
          <p:cNvSpPr/>
          <p:nvPr/>
        </p:nvSpPr>
        <p:spPr>
          <a:xfrm>
            <a:off x="6604000" y="3421360"/>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4D4D4"/>
                </a:solidFill>
                <a:latin typeface="Arial" pitchFamily="34" charset="0"/>
                <a:ea typeface="Arial" pitchFamily="34" charset="-122"/>
                <a:cs typeface="Arial" pitchFamily="34" charset="-120"/>
              </a:rPr>
              <a:t>Reliable, well-documented systems and APIs that people and agents can both call</a:t>
            </a:r>
            <a:endParaRPr lang="en-US" sz="1300" dirty="0"/>
          </a:p>
        </p:txBody>
      </p:sp>
      <p:sp>
        <p:nvSpPr>
          <p:cNvPr id="9" name="Text 6"/>
          <p:cNvSpPr/>
          <p:nvPr/>
        </p:nvSpPr>
        <p:spPr>
          <a:xfrm>
            <a:off x="6604000" y="4330700"/>
            <a:ext cx="49184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FB8D6"/>
                </a:solidFill>
                <a:latin typeface="Arial" pitchFamily="34" charset="0"/>
                <a:ea typeface="Arial" pitchFamily="34" charset="-122"/>
                <a:cs typeface="Arial" pitchFamily="34" charset="-120"/>
              </a:rPr>
              <a:t>Standardized calculations</a:t>
            </a:r>
            <a:endParaRPr lang="en-US" sz="1700" dirty="0"/>
          </a:p>
        </p:txBody>
      </p:sp>
      <p:sp>
        <p:nvSpPr>
          <p:cNvPr id="10" name="Text 7"/>
          <p:cNvSpPr/>
          <p:nvPr/>
        </p:nvSpPr>
        <p:spPr>
          <a:xfrm>
            <a:off x="6604000" y="4627860"/>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4D4D4"/>
                </a:solidFill>
                <a:latin typeface="Arial" pitchFamily="34" charset="0"/>
                <a:ea typeface="Arial" pitchFamily="34" charset="-122"/>
                <a:cs typeface="Arial" pitchFamily="34" charset="-120"/>
              </a:rPr>
              <a:t>One validated definition per metric, reused everywhere instead of rebuilt each time</a:t>
            </a:r>
            <a:endParaRPr lang="en-US" sz="1300" dirty="0"/>
          </a:p>
        </p:txBody>
      </p:sp>
      <p:sp>
        <p:nvSpPr>
          <p:cNvPr id="11" name="Text 8"/>
          <p:cNvSpPr/>
          <p:nvPr/>
        </p:nvSpPr>
        <p:spPr>
          <a:xfrm>
            <a:off x="6604000" y="5473700"/>
            <a:ext cx="4918456" cy="284460"/>
          </a:xfrm>
          <a:prstGeom prst="rect">
            <a:avLst/>
          </a:prstGeom>
          <a:noFill/>
          <a:ln/>
        </p:spPr>
        <p:txBody>
          <a:bodyPr wrap="square" lIns="0" tIns="0" rIns="0" bIns="0" rtlCol="0" anchor="t">
            <a:normAutofit/>
          </a:bodyPr>
          <a:lstStyle/>
          <a:p>
            <a:pPr algn="l" indent="0" marL="0">
              <a:lnSpc>
                <a:spcPts val="2040"/>
              </a:lnSpc>
              <a:buNone/>
            </a:pPr>
            <a:r>
              <a:rPr lang="en-US" sz="1700" b="1" dirty="0">
                <a:solidFill>
                  <a:srgbClr val="7FB8D6"/>
                </a:solidFill>
                <a:latin typeface="Arial" pitchFamily="34" charset="0"/>
                <a:ea typeface="Arial" pitchFamily="34" charset="-122"/>
                <a:cs typeface="Arial" pitchFamily="34" charset="-120"/>
              </a:rPr>
              <a:t>Data foundation</a:t>
            </a:r>
            <a:endParaRPr lang="en-US" sz="1700" dirty="0"/>
          </a:p>
        </p:txBody>
      </p:sp>
      <p:sp>
        <p:nvSpPr>
          <p:cNvPr id="12" name="Text 9"/>
          <p:cNvSpPr/>
          <p:nvPr/>
        </p:nvSpPr>
        <p:spPr>
          <a:xfrm>
            <a:off x="6604000" y="5770860"/>
            <a:ext cx="491845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D4D4D4"/>
                </a:solidFill>
                <a:latin typeface="Arial" pitchFamily="34" charset="0"/>
                <a:ea typeface="Arial" pitchFamily="34" charset="-122"/>
                <a:cs typeface="Arial" pitchFamily="34" charset="-120"/>
              </a:rPr>
              <a:t>Trusted, governed, quality-monitored data that everything above depends 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Text 0"/>
          <p:cNvSpPr/>
          <p:nvPr/>
        </p:nvSpPr>
        <p:spPr>
          <a:xfrm>
            <a:off x="812800" y="812800"/>
            <a:ext cx="10883392" cy="91946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Arial" pitchFamily="34" charset="0"/>
                <a:ea typeface="Arial" pitchFamily="34" charset="-122"/>
                <a:cs typeface="Arial" pitchFamily="34" charset="-120"/>
              </a:rPr>
              <a:t>We invest on two tracks: stronger foundations and leaner workflows</a:t>
            </a:r>
            <a:endParaRPr lang="en-US" sz="3200" dirty="0"/>
          </a:p>
        </p:txBody>
      </p:sp>
      <p:sp>
        <p:nvSpPr>
          <p:cNvPr id="3" name="Shape 1"/>
          <p:cNvSpPr/>
          <p:nvPr/>
        </p:nvSpPr>
        <p:spPr>
          <a:xfrm>
            <a:off x="815975" y="2065635"/>
            <a:ext cx="5124450" cy="3976390"/>
          </a:xfrm>
          <a:prstGeom prst="roundRect">
            <a:avLst>
              <a:gd name="adj" fmla="val 1198"/>
            </a:avLst>
          </a:prstGeom>
          <a:solidFill>
            <a:srgbClr val="FFFFFF"/>
          </a:solidFill>
          <a:ln w="6350">
            <a:solidFill>
              <a:srgbClr val="E6E6E6"/>
            </a:solidFill>
            <a:prstDash val="solid"/>
          </a:ln>
        </p:spPr>
      </p:sp>
      <p:sp>
        <p:nvSpPr>
          <p:cNvPr id="4" name="Text 2"/>
          <p:cNvSpPr/>
          <p:nvPr/>
        </p:nvSpPr>
        <p:spPr>
          <a:xfrm>
            <a:off x="1123950" y="2373610"/>
            <a:ext cx="4643755" cy="236141"/>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0276B1"/>
                </a:solidFill>
                <a:latin typeface="Arial" pitchFamily="34" charset="0"/>
                <a:ea typeface="Arial" pitchFamily="34" charset="-122"/>
                <a:cs typeface="Arial" pitchFamily="34" charset="-120"/>
              </a:rPr>
              <a:t>01 · STRENGTHEN THE FOUNDATION</a:t>
            </a:r>
            <a:endParaRPr lang="en-US" sz="1196" dirty="0"/>
          </a:p>
        </p:txBody>
      </p:sp>
      <p:sp>
        <p:nvSpPr>
          <p:cNvPr id="5" name="Text 3"/>
          <p:cNvSpPr/>
          <p:nvPr/>
        </p:nvSpPr>
        <p:spPr>
          <a:xfrm>
            <a:off x="1123950" y="2711351"/>
            <a:ext cx="4643755" cy="602456"/>
          </a:xfrm>
          <a:prstGeom prst="rect">
            <a:avLst/>
          </a:prstGeom>
          <a:noFill/>
          <a:ln/>
        </p:spPr>
        <p:txBody>
          <a:bodyPr wrap="square" lIns="0" tIns="0" rIns="0" bIns="0" rtlCol="0" anchor="t">
            <a:normAutofit/>
          </a:bodyPr>
          <a:lstStyle/>
          <a:p>
            <a:pPr algn="l" indent="0" marL="0">
              <a:lnSpc>
                <a:spcPts val="2286"/>
              </a:lnSpc>
              <a:buNone/>
            </a:pPr>
            <a:r>
              <a:rPr lang="en-US" sz="1988" b="1" dirty="0">
                <a:solidFill>
                  <a:srgbClr val="141414"/>
                </a:solidFill>
                <a:latin typeface="Arial" pitchFamily="34" charset="0"/>
                <a:ea typeface="Arial" pitchFamily="34" charset="-122"/>
                <a:cs typeface="Arial" pitchFamily="34" charset="-120"/>
              </a:rPr>
              <a:t>Use AI to build what sits below the waterline, faster</a:t>
            </a:r>
            <a:endParaRPr lang="en-US" sz="1988" dirty="0"/>
          </a:p>
        </p:txBody>
      </p:sp>
      <p:sp>
        <p:nvSpPr>
          <p:cNvPr id="6" name="Text 4"/>
          <p:cNvSpPr/>
          <p:nvPr/>
        </p:nvSpPr>
        <p:spPr>
          <a:xfrm>
            <a:off x="1123950" y="3415407"/>
            <a:ext cx="4643755" cy="27071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5252"/>
                </a:solidFill>
                <a:latin typeface="Arial" pitchFamily="34" charset="0"/>
                <a:ea typeface="Arial" pitchFamily="34" charset="-122"/>
                <a:cs typeface="Arial" pitchFamily="34" charset="-120"/>
              </a:rPr>
              <a:t>Make the data foundation more solid</a:t>
            </a:r>
            <a:endParaRPr lang="en-US" sz="1400" dirty="0"/>
          </a:p>
        </p:txBody>
      </p:sp>
      <p:sp>
        <p:nvSpPr>
          <p:cNvPr id="7" name="Text 5"/>
          <p:cNvSpPr/>
          <p:nvPr/>
        </p:nvSpPr>
        <p:spPr>
          <a:xfrm>
            <a:off x="1123950" y="3673425"/>
            <a:ext cx="4643755" cy="235694"/>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0276B1"/>
                </a:solidFill>
                <a:latin typeface="Arial" pitchFamily="34" charset="0"/>
                <a:ea typeface="Arial" pitchFamily="34" charset="-122"/>
                <a:cs typeface="Arial" pitchFamily="34" charset="-120"/>
              </a:rPr>
              <a:t>e.g., Project Gordius</a:t>
            </a:r>
            <a:endParaRPr lang="en-US" sz="1196" dirty="0"/>
          </a:p>
        </p:txBody>
      </p:sp>
      <p:sp>
        <p:nvSpPr>
          <p:cNvPr id="8" name="Text 6"/>
          <p:cNvSpPr/>
          <p:nvPr/>
        </p:nvSpPr>
        <p:spPr>
          <a:xfrm>
            <a:off x="1123950" y="3985320"/>
            <a:ext cx="4643755" cy="27071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5252"/>
                </a:solidFill>
                <a:latin typeface="Arial" pitchFamily="34" charset="0"/>
                <a:ea typeface="Arial" pitchFamily="34" charset="-122"/>
                <a:cs typeface="Arial" pitchFamily="34" charset="-120"/>
              </a:rPr>
              <a:t>Standardize and validate key calculations</a:t>
            </a:r>
            <a:endParaRPr lang="en-US" sz="1400" dirty="0"/>
          </a:p>
        </p:txBody>
      </p:sp>
      <p:sp>
        <p:nvSpPr>
          <p:cNvPr id="9" name="Text 7"/>
          <p:cNvSpPr/>
          <p:nvPr/>
        </p:nvSpPr>
        <p:spPr>
          <a:xfrm>
            <a:off x="1123950" y="4243338"/>
            <a:ext cx="4643755" cy="235645"/>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0276B1"/>
                </a:solidFill>
                <a:latin typeface="Arial" pitchFamily="34" charset="0"/>
                <a:ea typeface="Arial" pitchFamily="34" charset="-122"/>
                <a:cs typeface="Arial" pitchFamily="34" charset="-120"/>
              </a:rPr>
              <a:t>e.g., Commercial Calculation project</a:t>
            </a:r>
            <a:endParaRPr lang="en-US" sz="1196" dirty="0"/>
          </a:p>
        </p:txBody>
      </p:sp>
      <p:sp>
        <p:nvSpPr>
          <p:cNvPr id="10" name="Text 8"/>
          <p:cNvSpPr/>
          <p:nvPr/>
        </p:nvSpPr>
        <p:spPr>
          <a:xfrm>
            <a:off x="1123950" y="4555182"/>
            <a:ext cx="4643755" cy="270718"/>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5252"/>
                </a:solidFill>
                <a:latin typeface="Arial" pitchFamily="34" charset="0"/>
                <a:ea typeface="Arial" pitchFamily="34" charset="-122"/>
                <a:cs typeface="Arial" pitchFamily="34" charset="-120"/>
              </a:rPr>
              <a:t>Make our tooling more useful and reusable</a:t>
            </a:r>
            <a:endParaRPr lang="en-US" sz="1400" dirty="0"/>
          </a:p>
        </p:txBody>
      </p:sp>
      <p:sp>
        <p:nvSpPr>
          <p:cNvPr id="11" name="Text 9"/>
          <p:cNvSpPr/>
          <p:nvPr/>
        </p:nvSpPr>
        <p:spPr>
          <a:xfrm>
            <a:off x="1123950" y="4813201"/>
            <a:ext cx="4643755" cy="235645"/>
          </a:xfrm>
          <a:prstGeom prst="rect">
            <a:avLst/>
          </a:prstGeom>
          <a:noFill/>
          <a:ln/>
        </p:spPr>
        <p:txBody>
          <a:bodyPr wrap="square" lIns="0" tIns="0" rIns="0" bIns="0" rtlCol="0" anchor="t">
            <a:normAutofit/>
          </a:bodyPr>
          <a:lstStyle/>
          <a:p>
            <a:pPr algn="l" indent="0" marL="0">
              <a:lnSpc>
                <a:spcPts val="1675"/>
              </a:lnSpc>
              <a:buNone/>
            </a:pPr>
            <a:r>
              <a:rPr lang="en-US" sz="1196" b="1" dirty="0">
                <a:solidFill>
                  <a:srgbClr val="0276B1"/>
                </a:solidFill>
                <a:latin typeface="Arial" pitchFamily="34" charset="0"/>
                <a:ea typeface="Arial" pitchFamily="34" charset="-122"/>
                <a:cs typeface="Arial" pitchFamily="34" charset="-120"/>
              </a:rPr>
              <a:t>e.g., [tooling project]</a:t>
            </a:r>
            <a:endParaRPr lang="en-US" sz="1196" dirty="0"/>
          </a:p>
        </p:txBody>
      </p:sp>
      <p:sp>
        <p:nvSpPr>
          <p:cNvPr id="12" name="Text 10"/>
          <p:cNvSpPr/>
          <p:nvPr/>
        </p:nvSpPr>
        <p:spPr>
          <a:xfrm>
            <a:off x="1123950" y="5277445"/>
            <a:ext cx="4643755" cy="482005"/>
          </a:xfrm>
          <a:prstGeom prst="rect">
            <a:avLst/>
          </a:prstGeom>
          <a:noFill/>
          <a:ln/>
        </p:spPr>
        <p:txBody>
          <a:bodyPr wrap="square" lIns="0" tIns="0" rIns="0" bIns="0" rtlCol="0" anchor="t">
            <a:normAutofit/>
          </a:bodyPr>
          <a:lstStyle/>
          <a:p>
            <a:pPr algn="l" indent="0" marL="0">
              <a:lnSpc>
                <a:spcPts val="1809"/>
              </a:lnSpc>
              <a:buNone/>
            </a:pPr>
            <a:r>
              <a:rPr lang="en-US" sz="1292" b="1" dirty="0">
                <a:solidFill>
                  <a:srgbClr val="0276B1"/>
                </a:solidFill>
                <a:latin typeface="Arial" pitchFamily="34" charset="0"/>
                <a:ea typeface="Arial" pitchFamily="34" charset="-122"/>
                <a:cs typeface="Arial" pitchFamily="34" charset="-120"/>
              </a:rPr>
              <a:t>Payoff:</a:t>
            </a:r>
            <a:r>
              <a:rPr lang="en-US" sz="1292" dirty="0">
                <a:solidFill>
                  <a:srgbClr val="0276B1"/>
                </a:solidFill>
                <a:latin typeface="Arial" pitchFamily="34" charset="0"/>
                <a:ea typeface="Arial" pitchFamily="34" charset="-122"/>
                <a:cs typeface="Arial" pitchFamily="34" charset="-120"/>
              </a:rPr>
              <a:t> helps our people today and every agent we build tomorrow</a:t>
            </a:r>
            <a:endParaRPr lang="en-US" sz="1292" dirty="0"/>
          </a:p>
        </p:txBody>
      </p:sp>
      <p:sp>
        <p:nvSpPr>
          <p:cNvPr id="13" name="Shape 11"/>
          <p:cNvSpPr/>
          <p:nvPr/>
        </p:nvSpPr>
        <p:spPr>
          <a:xfrm>
            <a:off x="6251575" y="2065635"/>
            <a:ext cx="5124450" cy="3976390"/>
          </a:xfrm>
          <a:prstGeom prst="roundRect">
            <a:avLst>
              <a:gd name="adj" fmla="val 1198"/>
            </a:avLst>
          </a:prstGeom>
          <a:solidFill>
            <a:srgbClr val="FFFFFF"/>
          </a:solidFill>
          <a:ln w="6350">
            <a:solidFill>
              <a:srgbClr val="E6E6E6"/>
            </a:solidFill>
            <a:prstDash val="solid"/>
          </a:ln>
        </p:spPr>
      </p:sp>
      <p:sp>
        <p:nvSpPr>
          <p:cNvPr id="14" name="Text 12"/>
          <p:cNvSpPr/>
          <p:nvPr/>
        </p:nvSpPr>
        <p:spPr>
          <a:xfrm>
            <a:off x="6559550" y="2373610"/>
            <a:ext cx="464375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02 · RE-ENGINEER WORKFLOWS</a:t>
            </a:r>
            <a:endParaRPr lang="en-US" sz="1200" dirty="0"/>
          </a:p>
        </p:txBody>
      </p:sp>
      <p:sp>
        <p:nvSpPr>
          <p:cNvPr id="15" name="Text 13"/>
          <p:cNvSpPr/>
          <p:nvPr/>
        </p:nvSpPr>
        <p:spPr>
          <a:xfrm>
            <a:off x="6559550" y="2713930"/>
            <a:ext cx="4643755" cy="609600"/>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41414"/>
                </a:solidFill>
                <a:latin typeface="Arial" pitchFamily="34" charset="0"/>
                <a:ea typeface="Arial" pitchFamily="34" charset="-122"/>
                <a:cs typeface="Arial" pitchFamily="34" charset="-120"/>
              </a:rPr>
              <a:t>Use agentic workflows to remove friction from how we work</a:t>
            </a:r>
            <a:endParaRPr lang="en-US" sz="2000" dirty="0"/>
          </a:p>
        </p:txBody>
      </p:sp>
      <p:sp>
        <p:nvSpPr>
          <p:cNvPr id="16" name="Text 14"/>
          <p:cNvSpPr/>
          <p:nvPr/>
        </p:nvSpPr>
        <p:spPr>
          <a:xfrm>
            <a:off x="6559550" y="3425130"/>
            <a:ext cx="464375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5252"/>
                </a:solidFill>
                <a:latin typeface="Arial" pitchFamily="34" charset="0"/>
                <a:ea typeface="Arial" pitchFamily="34" charset="-122"/>
                <a:cs typeface="Arial" pitchFamily="34" charset="-120"/>
              </a:rPr>
              <a:t>Map workflows for friction and inefficiency</a:t>
            </a:r>
            <a:endParaRPr lang="en-US" sz="1400" dirty="0"/>
          </a:p>
        </p:txBody>
      </p:sp>
      <p:sp>
        <p:nvSpPr>
          <p:cNvPr id="17" name="Text 15"/>
          <p:cNvSpPr/>
          <p:nvPr/>
        </p:nvSpPr>
        <p:spPr>
          <a:xfrm>
            <a:off x="6559550" y="3686721"/>
            <a:ext cx="46437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276B1"/>
                </a:solidFill>
                <a:latin typeface="Arial" pitchFamily="34" charset="0"/>
                <a:ea typeface="Arial" pitchFamily="34" charset="-122"/>
                <a:cs typeface="Arial" pitchFamily="34" charset="-120"/>
              </a:rPr>
              <a:t>e.g., deal approval, model build, allowance analysis</a:t>
            </a:r>
            <a:endParaRPr lang="en-US" sz="1200" dirty="0"/>
          </a:p>
        </p:txBody>
      </p:sp>
      <p:sp>
        <p:nvSpPr>
          <p:cNvPr id="18" name="Text 16"/>
          <p:cNvSpPr/>
          <p:nvPr/>
        </p:nvSpPr>
        <p:spPr>
          <a:xfrm>
            <a:off x="6559550" y="4001641"/>
            <a:ext cx="464375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5252"/>
                </a:solidFill>
                <a:latin typeface="Arial" pitchFamily="34" charset="0"/>
                <a:ea typeface="Arial" pitchFamily="34" charset="-122"/>
                <a:cs typeface="Arial" pitchFamily="34" charset="-120"/>
              </a:rPr>
              <a:t>Let agents take over repetitive steps</a:t>
            </a:r>
            <a:endParaRPr lang="en-US" sz="1400" dirty="0"/>
          </a:p>
        </p:txBody>
      </p:sp>
      <p:sp>
        <p:nvSpPr>
          <p:cNvPr id="19" name="Text 17"/>
          <p:cNvSpPr/>
          <p:nvPr/>
        </p:nvSpPr>
        <p:spPr>
          <a:xfrm>
            <a:off x="6559550" y="4263231"/>
            <a:ext cx="46437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276B1"/>
                </a:solidFill>
                <a:latin typeface="Arial" pitchFamily="34" charset="0"/>
                <a:ea typeface="Arial" pitchFamily="34" charset="-122"/>
                <a:cs typeface="Arial" pitchFamily="34" charset="-120"/>
              </a:rPr>
              <a:t>e.g., Cyber Credit Officer for deal approval</a:t>
            </a:r>
            <a:endParaRPr lang="en-US" sz="1200" dirty="0"/>
          </a:p>
        </p:txBody>
      </p:sp>
      <p:sp>
        <p:nvSpPr>
          <p:cNvPr id="20" name="Text 18"/>
          <p:cNvSpPr/>
          <p:nvPr/>
        </p:nvSpPr>
        <p:spPr>
          <a:xfrm>
            <a:off x="6559550" y="4578152"/>
            <a:ext cx="4643755"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25252"/>
                </a:solidFill>
                <a:latin typeface="Arial" pitchFamily="34" charset="0"/>
                <a:ea typeface="Arial" pitchFamily="34" charset="-122"/>
                <a:cs typeface="Arial" pitchFamily="34" charset="-120"/>
              </a:rPr>
              <a:t>Humans drive the process and stay in the loop</a:t>
            </a:r>
            <a:endParaRPr lang="en-US" sz="1400" dirty="0"/>
          </a:p>
        </p:txBody>
      </p:sp>
      <p:sp>
        <p:nvSpPr>
          <p:cNvPr id="21" name="Text 19"/>
          <p:cNvSpPr/>
          <p:nvPr/>
        </p:nvSpPr>
        <p:spPr>
          <a:xfrm>
            <a:off x="6559550" y="4839742"/>
            <a:ext cx="464375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0276B1"/>
                </a:solidFill>
                <a:latin typeface="Arial" pitchFamily="34" charset="0"/>
                <a:ea typeface="Arial" pitchFamily="34" charset="-122"/>
                <a:cs typeface="Arial" pitchFamily="34" charset="-120"/>
              </a:rPr>
              <a:t>e.g., officers review and decide on every deal</a:t>
            </a:r>
            <a:endParaRPr lang="en-US" sz="1200" dirty="0"/>
          </a:p>
        </p:txBody>
      </p:sp>
      <p:sp>
        <p:nvSpPr>
          <p:cNvPr id="22" name="Text 20"/>
          <p:cNvSpPr/>
          <p:nvPr/>
        </p:nvSpPr>
        <p:spPr>
          <a:xfrm>
            <a:off x="6559550" y="5502920"/>
            <a:ext cx="4643755" cy="25653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276B1"/>
                </a:solidFill>
                <a:latin typeface="Arial" pitchFamily="34" charset="0"/>
                <a:ea typeface="Arial" pitchFamily="34" charset="-122"/>
                <a:cs typeface="Arial" pitchFamily="34" charset="-120"/>
              </a:rPr>
              <a:t>Payoff:</a:t>
            </a:r>
            <a:r>
              <a:rPr lang="en-US" sz="1300" dirty="0">
                <a:solidFill>
                  <a:srgbClr val="0276B1"/>
                </a:solidFill>
                <a:latin typeface="Arial" pitchFamily="34" charset="0"/>
                <a:ea typeface="Arial" pitchFamily="34" charset="-122"/>
                <a:cs typeface="Arial" pitchFamily="34" charset="-120"/>
              </a:rPr>
              <a:t> faster, more efficient processes with people in control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Arial" pitchFamily="34" charset="0"/>
                <a:ea typeface="Arial" pitchFamily="34" charset="-122"/>
                <a:cs typeface="Arial" pitchFamily="34" charset="-120"/>
              </a:rPr>
              <a:t>We start with three core credit workflows</a:t>
            </a:r>
            <a:endParaRPr lang="en-US" sz="3200" dirty="0"/>
          </a:p>
        </p:txBody>
      </p:sp>
      <p:sp>
        <p:nvSpPr>
          <p:cNvPr id="3" name="Shape 1"/>
          <p:cNvSpPr/>
          <p:nvPr/>
        </p:nvSpPr>
        <p:spPr>
          <a:xfrm>
            <a:off x="815975" y="1567805"/>
            <a:ext cx="3380284" cy="4271020"/>
          </a:xfrm>
          <a:prstGeom prst="roundRect">
            <a:avLst>
              <a:gd name="adj" fmla="val 1409"/>
            </a:avLst>
          </a:prstGeom>
          <a:solidFill>
            <a:srgbClr val="FFFFFF"/>
          </a:solidFill>
          <a:ln w="6350">
            <a:solidFill>
              <a:srgbClr val="E6E6E6"/>
            </a:solidFill>
            <a:prstDash val="solid"/>
          </a:ln>
        </p:spPr>
      </p:sp>
      <p:sp>
        <p:nvSpPr>
          <p:cNvPr id="4" name="Text 2"/>
          <p:cNvSpPr/>
          <p:nvPr/>
        </p:nvSpPr>
        <p:spPr>
          <a:xfrm>
            <a:off x="1073150" y="1824980"/>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01 · CREDIT</a:t>
            </a:r>
            <a:endParaRPr lang="en-US" sz="1200" dirty="0"/>
          </a:p>
        </p:txBody>
      </p:sp>
      <p:sp>
        <p:nvSpPr>
          <p:cNvPr id="5" name="Text 3"/>
          <p:cNvSpPr/>
          <p:nvPr/>
        </p:nvSpPr>
        <p:spPr>
          <a:xfrm>
            <a:off x="1073150" y="2165300"/>
            <a:ext cx="2951912" cy="2882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1414"/>
                </a:solidFill>
                <a:latin typeface="Arial" pitchFamily="34" charset="0"/>
                <a:ea typeface="Arial" pitchFamily="34" charset="-122"/>
                <a:cs typeface="Arial" pitchFamily="34" charset="-120"/>
              </a:rPr>
              <a:t>Deal approval</a:t>
            </a:r>
            <a:endParaRPr lang="en-US" sz="1800" dirty="0"/>
          </a:p>
        </p:txBody>
      </p:sp>
      <p:sp>
        <p:nvSpPr>
          <p:cNvPr id="6" name="Text 4"/>
          <p:cNvSpPr/>
          <p:nvPr/>
        </p:nvSpPr>
        <p:spPr>
          <a:xfrm>
            <a:off x="1073150" y="2555180"/>
            <a:ext cx="295191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5252"/>
                </a:solidFill>
                <a:latin typeface="Arial" pitchFamily="34" charset="0"/>
                <a:ea typeface="Arial" pitchFamily="34" charset="-122"/>
                <a:cs typeface="Arial" pitchFamily="34" charset="-120"/>
              </a:rPr>
              <a:t>Summarize what credit officers need to make a decision, so deals get approved faster</a:t>
            </a:r>
            <a:endParaRPr lang="en-US" sz="1300" dirty="0"/>
          </a:p>
        </p:txBody>
      </p:sp>
      <p:sp>
        <p:nvSpPr>
          <p:cNvPr id="7" name="Text 5"/>
          <p:cNvSpPr/>
          <p:nvPr/>
        </p:nvSpPr>
        <p:spPr>
          <a:xfrm>
            <a:off x="1073150" y="3375571"/>
            <a:ext cx="2951912" cy="1181050"/>
          </a:xfrm>
          <a:prstGeom prst="rect">
            <a:avLst/>
          </a:prstGeom>
          <a:noFill/>
          <a:ln/>
        </p:spPr>
        <p:txBody>
          <a:bodyPr wrap="square" lIns="0" tIns="0" rIns="0" bIns="0" rtlCol="0" anchor="t">
            <a:normAutofit/>
          </a:bodyPr>
          <a:lstStyle/>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Pull deal, borrower and industry information together</a:t>
            </a:r>
            <a:endParaRPr lang="en-US" sz="1300" dirty="0"/>
          </a:p>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Draft the decision summary for review</a:t>
            </a:r>
            <a:endParaRPr lang="en-US" sz="1300" dirty="0"/>
          </a:p>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Credit officer keeps the final call</a:t>
            </a:r>
            <a:endParaRPr lang="en-US" sz="1300" dirty="0"/>
          </a:p>
        </p:txBody>
      </p:sp>
      <p:sp>
        <p:nvSpPr>
          <p:cNvPr id="8" name="Text 6"/>
          <p:cNvSpPr/>
          <p:nvPr/>
        </p:nvSpPr>
        <p:spPr>
          <a:xfrm>
            <a:off x="1073150" y="5119390"/>
            <a:ext cx="2951912"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276B1"/>
                </a:solidFill>
                <a:latin typeface="Arial" pitchFamily="34" charset="0"/>
                <a:ea typeface="Arial" pitchFamily="34" charset="-122"/>
                <a:cs typeface="Arial" pitchFamily="34" charset="-120"/>
              </a:rPr>
              <a:t>Outcome:</a:t>
            </a:r>
            <a:r>
              <a:rPr lang="en-US" sz="1300" dirty="0">
                <a:solidFill>
                  <a:srgbClr val="0276B1"/>
                </a:solidFill>
                <a:latin typeface="Arial" pitchFamily="34" charset="0"/>
                <a:ea typeface="Arial" pitchFamily="34" charset="-122"/>
                <a:cs typeface="Arial" pitchFamily="34" charset="-120"/>
              </a:rPr>
              <a:t> faster approvals, same credit discipline</a:t>
            </a:r>
            <a:endParaRPr lang="en-US" sz="1300" dirty="0"/>
          </a:p>
        </p:txBody>
      </p:sp>
      <p:sp>
        <p:nvSpPr>
          <p:cNvPr id="9" name="Shape 7"/>
          <p:cNvSpPr/>
          <p:nvPr/>
        </p:nvSpPr>
        <p:spPr>
          <a:xfrm>
            <a:off x="4405809" y="1567805"/>
            <a:ext cx="3380333" cy="4271020"/>
          </a:xfrm>
          <a:prstGeom prst="roundRect">
            <a:avLst>
              <a:gd name="adj" fmla="val 1409"/>
            </a:avLst>
          </a:prstGeom>
          <a:solidFill>
            <a:srgbClr val="FFFFFF"/>
          </a:solidFill>
          <a:ln w="6350">
            <a:solidFill>
              <a:srgbClr val="E6E6E6"/>
            </a:solidFill>
            <a:prstDash val="solid"/>
          </a:ln>
        </p:spPr>
      </p:sp>
      <p:sp>
        <p:nvSpPr>
          <p:cNvPr id="10" name="Text 8"/>
          <p:cNvSpPr/>
          <p:nvPr/>
        </p:nvSpPr>
        <p:spPr>
          <a:xfrm>
            <a:off x="4662984" y="182498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02 · MODELING</a:t>
            </a:r>
            <a:endParaRPr lang="en-US" sz="1200" dirty="0"/>
          </a:p>
        </p:txBody>
      </p:sp>
      <p:sp>
        <p:nvSpPr>
          <p:cNvPr id="11" name="Text 9"/>
          <p:cNvSpPr/>
          <p:nvPr/>
        </p:nvSpPr>
        <p:spPr>
          <a:xfrm>
            <a:off x="4662984" y="2165300"/>
            <a:ext cx="2951963" cy="28828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1414"/>
                </a:solidFill>
                <a:latin typeface="Arial" pitchFamily="34" charset="0"/>
                <a:ea typeface="Arial" pitchFamily="34" charset="-122"/>
                <a:cs typeface="Arial" pitchFamily="34" charset="-120"/>
              </a:rPr>
              <a:t>Loss forecast models</a:t>
            </a:r>
            <a:endParaRPr lang="en-US" sz="1800" dirty="0"/>
          </a:p>
        </p:txBody>
      </p:sp>
      <p:sp>
        <p:nvSpPr>
          <p:cNvPr id="12" name="Text 10"/>
          <p:cNvSpPr/>
          <p:nvPr/>
        </p:nvSpPr>
        <p:spPr>
          <a:xfrm>
            <a:off x="4662984" y="2555180"/>
            <a:ext cx="295196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5252"/>
                </a:solidFill>
                <a:latin typeface="Arial" pitchFamily="34" charset="0"/>
                <a:ea typeface="Arial" pitchFamily="34" charset="-122"/>
                <a:cs typeface="Arial" pitchFamily="34" charset="-120"/>
              </a:rPr>
              <a:t>Use AI across model development, and speed deployment to the enterprise platform</a:t>
            </a:r>
            <a:endParaRPr lang="en-US" sz="1300" dirty="0"/>
          </a:p>
        </p:txBody>
      </p:sp>
      <p:sp>
        <p:nvSpPr>
          <p:cNvPr id="13" name="Text 11"/>
          <p:cNvSpPr/>
          <p:nvPr/>
        </p:nvSpPr>
        <p:spPr>
          <a:xfrm>
            <a:off x="4662984" y="3375571"/>
            <a:ext cx="2951963" cy="1181050"/>
          </a:xfrm>
          <a:prstGeom prst="rect">
            <a:avLst/>
          </a:prstGeom>
          <a:noFill/>
          <a:ln/>
        </p:spPr>
        <p:txBody>
          <a:bodyPr wrap="square" lIns="0" tIns="0" rIns="0" bIns="0" rtlCol="0" anchor="t">
            <a:normAutofit/>
          </a:bodyPr>
          <a:lstStyle/>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Accelerate every stage of model development</a:t>
            </a:r>
            <a:endParaRPr lang="en-US" sz="1300" dirty="0"/>
          </a:p>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Streamline deployment to the enterprise platform</a:t>
            </a:r>
            <a:endParaRPr lang="en-US" sz="1300" dirty="0"/>
          </a:p>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[Add a third focus area]</a:t>
            </a:r>
            <a:endParaRPr lang="en-US" sz="1300" dirty="0"/>
          </a:p>
        </p:txBody>
      </p:sp>
      <p:sp>
        <p:nvSpPr>
          <p:cNvPr id="14" name="Text 12"/>
          <p:cNvSpPr/>
          <p:nvPr/>
        </p:nvSpPr>
        <p:spPr>
          <a:xfrm>
            <a:off x="4662984" y="5119390"/>
            <a:ext cx="295196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276B1"/>
                </a:solidFill>
                <a:latin typeface="Arial" pitchFamily="34" charset="0"/>
                <a:ea typeface="Arial" pitchFamily="34" charset="-122"/>
                <a:cs typeface="Arial" pitchFamily="34" charset="-120"/>
              </a:rPr>
              <a:t>Outcome:</a:t>
            </a:r>
            <a:r>
              <a:rPr lang="en-US" sz="1300" dirty="0">
                <a:solidFill>
                  <a:srgbClr val="0276B1"/>
                </a:solidFill>
                <a:latin typeface="Arial" pitchFamily="34" charset="0"/>
                <a:ea typeface="Arial" pitchFamily="34" charset="-122"/>
                <a:cs typeface="Arial" pitchFamily="34" charset="-120"/>
              </a:rPr>
              <a:t> a shorter path from model build to production</a:t>
            </a:r>
            <a:endParaRPr lang="en-US" sz="1300" dirty="0"/>
          </a:p>
        </p:txBody>
      </p:sp>
      <p:sp>
        <p:nvSpPr>
          <p:cNvPr id="15" name="Shape 13"/>
          <p:cNvSpPr/>
          <p:nvPr/>
        </p:nvSpPr>
        <p:spPr>
          <a:xfrm>
            <a:off x="7995692" y="1567805"/>
            <a:ext cx="3380333" cy="4271020"/>
          </a:xfrm>
          <a:prstGeom prst="roundRect">
            <a:avLst>
              <a:gd name="adj" fmla="val 1409"/>
            </a:avLst>
          </a:prstGeom>
          <a:solidFill>
            <a:srgbClr val="FFFFFF"/>
          </a:solidFill>
          <a:ln w="6350">
            <a:solidFill>
              <a:srgbClr val="E6E6E6"/>
            </a:solidFill>
            <a:prstDash val="solid"/>
          </a:ln>
        </p:spPr>
      </p:sp>
      <p:sp>
        <p:nvSpPr>
          <p:cNvPr id="16" name="Text 14"/>
          <p:cNvSpPr/>
          <p:nvPr/>
        </p:nvSpPr>
        <p:spPr>
          <a:xfrm>
            <a:off x="8252867" y="1824980"/>
            <a:ext cx="2951963"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03 · ALLOWANCE</a:t>
            </a:r>
            <a:endParaRPr lang="en-US" sz="1200" dirty="0"/>
          </a:p>
        </p:txBody>
      </p:sp>
      <p:sp>
        <p:nvSpPr>
          <p:cNvPr id="17" name="Text 15"/>
          <p:cNvSpPr/>
          <p:nvPr/>
        </p:nvSpPr>
        <p:spPr>
          <a:xfrm>
            <a:off x="8252867" y="2165300"/>
            <a:ext cx="2951963" cy="551160"/>
          </a:xfrm>
          <a:prstGeom prst="rect">
            <a:avLst/>
          </a:prstGeom>
          <a:noFill/>
          <a:ln/>
        </p:spPr>
        <p:txBody>
          <a:bodyPr wrap="square" lIns="0" tIns="0" rIns="0" bIns="0" rtlCol="0" anchor="t">
            <a:normAutofit/>
          </a:bodyPr>
          <a:lstStyle/>
          <a:p>
            <a:pPr algn="l" indent="0" marL="0">
              <a:lnSpc>
                <a:spcPts val="2070"/>
              </a:lnSpc>
              <a:buNone/>
            </a:pPr>
            <a:r>
              <a:rPr lang="en-US" sz="1800" b="1" dirty="0">
                <a:solidFill>
                  <a:srgbClr val="141414"/>
                </a:solidFill>
                <a:latin typeface="Arial" pitchFamily="34" charset="0"/>
                <a:ea typeface="Arial" pitchFamily="34" charset="-122"/>
                <a:cs typeface="Arial" pitchFamily="34" charset="-120"/>
              </a:rPr>
              <a:t>Forecast outcome analysis</a:t>
            </a:r>
            <a:endParaRPr lang="en-US" sz="1800" dirty="0"/>
          </a:p>
        </p:txBody>
      </p:sp>
      <p:sp>
        <p:nvSpPr>
          <p:cNvPr id="18" name="Text 16"/>
          <p:cNvSpPr/>
          <p:nvPr/>
        </p:nvSpPr>
        <p:spPr>
          <a:xfrm>
            <a:off x="8252867" y="2818061"/>
            <a:ext cx="2951963"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525252"/>
                </a:solidFill>
                <a:latin typeface="Arial" pitchFamily="34" charset="0"/>
                <a:ea typeface="Arial" pitchFamily="34" charset="-122"/>
                <a:cs typeface="Arial" pitchFamily="34" charset="-120"/>
              </a:rPr>
              <a:t>Turn forecast results into insight within the tight quarterly window before earnings</a:t>
            </a:r>
            <a:endParaRPr lang="en-US" sz="1300" dirty="0"/>
          </a:p>
        </p:txBody>
      </p:sp>
      <p:sp>
        <p:nvSpPr>
          <p:cNvPr id="19" name="Text 17"/>
          <p:cNvSpPr/>
          <p:nvPr/>
        </p:nvSpPr>
        <p:spPr>
          <a:xfrm>
            <a:off x="8252867" y="3638451"/>
            <a:ext cx="2951963" cy="949920"/>
          </a:xfrm>
          <a:prstGeom prst="rect">
            <a:avLst/>
          </a:prstGeom>
          <a:noFill/>
          <a:ln/>
        </p:spPr>
        <p:txBody>
          <a:bodyPr wrap="square" lIns="0" tIns="0" rIns="0" bIns="0" rtlCol="0" anchor="t">
            <a:normAutofit/>
          </a:bodyPr>
          <a:lstStyle/>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Explain what changed and what drove it</a:t>
            </a:r>
            <a:endParaRPr lang="en-US" sz="1300" dirty="0"/>
          </a:p>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Draft recommendations</a:t>
            </a:r>
            <a:endParaRPr lang="en-US" sz="1300" dirty="0"/>
          </a:p>
          <a:p>
            <a:pPr algn="l" marL="198120" indent="-155956">
              <a:lnSpc>
                <a:spcPts val="1820"/>
              </a:lnSpc>
              <a:buSzPct val="100000"/>
              <a:buChar char="•"/>
            </a:pPr>
            <a:r>
              <a:rPr lang="en-US" sz="1300" dirty="0">
                <a:solidFill>
                  <a:srgbClr val="525252"/>
                </a:solidFill>
                <a:latin typeface="Arial" pitchFamily="34" charset="0"/>
                <a:ea typeface="Arial" pitchFamily="34" charset="-122"/>
                <a:cs typeface="Arial" pitchFamily="34" charset="-120"/>
              </a:rPr>
              <a:t>Summarize for senior leaders</a:t>
            </a:r>
            <a:endParaRPr lang="en-US" sz="1300" dirty="0"/>
          </a:p>
        </p:txBody>
      </p:sp>
      <p:sp>
        <p:nvSpPr>
          <p:cNvPr id="20" name="Text 18"/>
          <p:cNvSpPr/>
          <p:nvPr/>
        </p:nvSpPr>
        <p:spPr>
          <a:xfrm>
            <a:off x="8252867" y="5119390"/>
            <a:ext cx="2951963" cy="48766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0276B1"/>
                </a:solidFill>
                <a:latin typeface="Arial" pitchFamily="34" charset="0"/>
                <a:ea typeface="Arial" pitchFamily="34" charset="-122"/>
                <a:cs typeface="Arial" pitchFamily="34" charset="-120"/>
              </a:rPr>
              <a:t>Outcome:</a:t>
            </a:r>
            <a:r>
              <a:rPr lang="en-US" sz="1300" dirty="0">
                <a:solidFill>
                  <a:srgbClr val="0276B1"/>
                </a:solidFill>
                <a:latin typeface="Arial" pitchFamily="34" charset="0"/>
                <a:ea typeface="Arial" pitchFamily="34" charset="-122"/>
                <a:cs typeface="Arial" pitchFamily="34" charset="-120"/>
              </a:rPr>
              <a:t> fewer trade-offs under deadline, a clearer story</a:t>
            </a:r>
            <a:endParaRPr lang="en-US" sz="1300" dirty="0"/>
          </a:p>
        </p:txBody>
      </p:sp>
      <p:sp>
        <p:nvSpPr>
          <p:cNvPr id="21" name="Text 19"/>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All three run on the same foundation: data, standardized calculations and tools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Arial" pitchFamily="34" charset="0"/>
                <a:ea typeface="Arial" pitchFamily="34" charset="-122"/>
                <a:cs typeface="Arial" pitchFamily="34" charset="-120"/>
              </a:rPr>
              <a:t>AI could halve the effort behind each deal</a:t>
            </a:r>
            <a:endParaRPr lang="en-US" sz="3200" dirty="0"/>
          </a:p>
        </p:txBody>
      </p:sp>
      <p:sp>
        <p:nvSpPr>
          <p:cNvPr id="3" name="Text 1"/>
          <p:cNvSpPr/>
          <p:nvPr/>
        </p:nvSpPr>
        <p:spPr>
          <a:xfrm>
            <a:off x="812800" y="150247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TODAY</a:t>
            </a:r>
            <a:endParaRPr lang="en-US" sz="1200" dirty="0"/>
          </a:p>
        </p:txBody>
      </p:sp>
      <p:sp>
        <p:nvSpPr>
          <p:cNvPr id="4" name="Text 2"/>
          <p:cNvSpPr/>
          <p:nvPr/>
        </p:nvSpPr>
        <p:spPr>
          <a:xfrm>
            <a:off x="812800" y="176659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Arial" pitchFamily="34" charset="0"/>
                <a:ea typeface="Arial" pitchFamily="34" charset="-122"/>
                <a:cs typeface="Arial" pitchFamily="34" charset="-120"/>
              </a:rPr>
              <a:t>34 hrs</a:t>
            </a:r>
            <a:endParaRPr lang="en-US" sz="1600" dirty="0"/>
          </a:p>
        </p:txBody>
      </p:sp>
      <p:sp>
        <p:nvSpPr>
          <p:cNvPr id="5" name="Shape 3"/>
          <p:cNvSpPr/>
          <p:nvPr/>
        </p:nvSpPr>
        <p:spPr>
          <a:xfrm>
            <a:off x="812800" y="2101850"/>
            <a:ext cx="1143000" cy="266700"/>
          </a:xfrm>
          <a:prstGeom prst="rect">
            <a:avLst/>
          </a:prstGeom>
          <a:solidFill>
            <a:srgbClr val="012F47"/>
          </a:solidFill>
          <a:ln/>
        </p:spPr>
      </p:sp>
      <p:sp>
        <p:nvSpPr>
          <p:cNvPr id="6" name="Shape 4"/>
          <p:cNvSpPr/>
          <p:nvPr/>
        </p:nvSpPr>
        <p:spPr>
          <a:xfrm>
            <a:off x="812800" y="2381250"/>
            <a:ext cx="1143000" cy="450850"/>
          </a:xfrm>
          <a:prstGeom prst="rect">
            <a:avLst/>
          </a:prstGeom>
          <a:solidFill>
            <a:srgbClr val="014E74"/>
          </a:solidFill>
          <a:ln/>
        </p:spPr>
      </p:sp>
      <p:sp>
        <p:nvSpPr>
          <p:cNvPr id="7" name="Shape 5"/>
          <p:cNvSpPr/>
          <p:nvPr/>
        </p:nvSpPr>
        <p:spPr>
          <a:xfrm>
            <a:off x="812800" y="2844800"/>
            <a:ext cx="1143000" cy="450850"/>
          </a:xfrm>
          <a:prstGeom prst="rect">
            <a:avLst/>
          </a:prstGeom>
          <a:solidFill>
            <a:srgbClr val="026597"/>
          </a:solidFill>
          <a:ln/>
        </p:spPr>
      </p:sp>
      <p:sp>
        <p:nvSpPr>
          <p:cNvPr id="8" name="Shape 6"/>
          <p:cNvSpPr/>
          <p:nvPr/>
        </p:nvSpPr>
        <p:spPr>
          <a:xfrm>
            <a:off x="812800" y="3308350"/>
            <a:ext cx="1143000" cy="266700"/>
          </a:xfrm>
          <a:prstGeom prst="rect">
            <a:avLst/>
          </a:prstGeom>
          <a:solidFill>
            <a:srgbClr val="0276B1"/>
          </a:solidFill>
          <a:ln/>
        </p:spPr>
      </p:sp>
      <p:sp>
        <p:nvSpPr>
          <p:cNvPr id="9" name="Shape 7"/>
          <p:cNvSpPr/>
          <p:nvPr/>
        </p:nvSpPr>
        <p:spPr>
          <a:xfrm>
            <a:off x="812800" y="3587750"/>
            <a:ext cx="1143000" cy="355600"/>
          </a:xfrm>
          <a:prstGeom prst="rect">
            <a:avLst/>
          </a:prstGeom>
          <a:solidFill>
            <a:srgbClr val="3A93C4"/>
          </a:solidFill>
          <a:ln/>
        </p:spPr>
      </p:sp>
      <p:sp>
        <p:nvSpPr>
          <p:cNvPr id="10" name="Shape 8"/>
          <p:cNvSpPr/>
          <p:nvPr/>
        </p:nvSpPr>
        <p:spPr>
          <a:xfrm>
            <a:off x="812800" y="3956050"/>
            <a:ext cx="1143000" cy="177800"/>
          </a:xfrm>
          <a:prstGeom prst="rect">
            <a:avLst/>
          </a:prstGeom>
          <a:solidFill>
            <a:srgbClr val="6FB0D4"/>
          </a:solidFill>
          <a:ln/>
        </p:spPr>
      </p:sp>
      <p:sp>
        <p:nvSpPr>
          <p:cNvPr id="11" name="Shape 9"/>
          <p:cNvSpPr/>
          <p:nvPr/>
        </p:nvSpPr>
        <p:spPr>
          <a:xfrm>
            <a:off x="812800" y="4146550"/>
            <a:ext cx="1143000" cy="717550"/>
          </a:xfrm>
          <a:prstGeom prst="rect">
            <a:avLst/>
          </a:prstGeom>
          <a:solidFill>
            <a:srgbClr val="A3CDE4"/>
          </a:solidFill>
          <a:ln/>
        </p:spPr>
      </p:sp>
      <p:sp>
        <p:nvSpPr>
          <p:cNvPr id="12" name="Shape 10"/>
          <p:cNvSpPr/>
          <p:nvPr/>
        </p:nvSpPr>
        <p:spPr>
          <a:xfrm>
            <a:off x="812800" y="4876800"/>
            <a:ext cx="1143000" cy="355600"/>
          </a:xfrm>
          <a:prstGeom prst="rect">
            <a:avLst/>
          </a:prstGeom>
          <a:solidFill>
            <a:srgbClr val="D0E6F2"/>
          </a:solidFill>
          <a:ln/>
        </p:spPr>
      </p:sp>
      <p:sp>
        <p:nvSpPr>
          <p:cNvPr id="13" name="Text 11"/>
          <p:cNvSpPr/>
          <p:nvPr/>
        </p:nvSpPr>
        <p:spPr>
          <a:xfrm>
            <a:off x="2108200" y="321062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WITH AI</a:t>
            </a:r>
            <a:endParaRPr lang="en-US" sz="1200" dirty="0"/>
          </a:p>
        </p:txBody>
      </p:sp>
      <p:sp>
        <p:nvSpPr>
          <p:cNvPr id="14" name="Text 12"/>
          <p:cNvSpPr/>
          <p:nvPr/>
        </p:nvSpPr>
        <p:spPr>
          <a:xfrm>
            <a:off x="2108200" y="347474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276B1"/>
                </a:solidFill>
                <a:latin typeface="Arial" pitchFamily="34" charset="0"/>
                <a:ea typeface="Arial" pitchFamily="34" charset="-122"/>
                <a:cs typeface="Arial" pitchFamily="34" charset="-120"/>
              </a:rPr>
              <a:t>15 hrs</a:t>
            </a:r>
            <a:endParaRPr lang="en-US" sz="1600" dirty="0"/>
          </a:p>
        </p:txBody>
      </p:sp>
      <p:sp>
        <p:nvSpPr>
          <p:cNvPr id="15" name="Shape 13"/>
          <p:cNvSpPr/>
          <p:nvPr/>
        </p:nvSpPr>
        <p:spPr>
          <a:xfrm>
            <a:off x="2108200" y="3810000"/>
            <a:ext cx="1143000" cy="88900"/>
          </a:xfrm>
          <a:prstGeom prst="rect">
            <a:avLst/>
          </a:prstGeom>
          <a:solidFill>
            <a:srgbClr val="012F47"/>
          </a:solidFill>
          <a:ln/>
        </p:spPr>
      </p:sp>
      <p:sp>
        <p:nvSpPr>
          <p:cNvPr id="16" name="Shape 14"/>
          <p:cNvSpPr/>
          <p:nvPr/>
        </p:nvSpPr>
        <p:spPr>
          <a:xfrm>
            <a:off x="2108200" y="3911600"/>
            <a:ext cx="1143000" cy="177800"/>
          </a:xfrm>
          <a:prstGeom prst="rect">
            <a:avLst/>
          </a:prstGeom>
          <a:solidFill>
            <a:srgbClr val="014E74"/>
          </a:solidFill>
          <a:ln/>
        </p:spPr>
      </p:sp>
      <p:sp>
        <p:nvSpPr>
          <p:cNvPr id="17" name="Shape 15"/>
          <p:cNvSpPr/>
          <p:nvPr/>
        </p:nvSpPr>
        <p:spPr>
          <a:xfrm>
            <a:off x="2108200" y="4102100"/>
            <a:ext cx="1143000" cy="177800"/>
          </a:xfrm>
          <a:prstGeom prst="rect">
            <a:avLst/>
          </a:prstGeom>
          <a:solidFill>
            <a:srgbClr val="026597"/>
          </a:solidFill>
          <a:ln/>
        </p:spPr>
      </p:sp>
      <p:sp>
        <p:nvSpPr>
          <p:cNvPr id="18" name="Shape 16"/>
          <p:cNvSpPr/>
          <p:nvPr/>
        </p:nvSpPr>
        <p:spPr>
          <a:xfrm>
            <a:off x="2108200" y="4292600"/>
            <a:ext cx="1143000" cy="177800"/>
          </a:xfrm>
          <a:prstGeom prst="rect">
            <a:avLst/>
          </a:prstGeom>
          <a:solidFill>
            <a:srgbClr val="0276B1"/>
          </a:solidFill>
          <a:ln/>
        </p:spPr>
      </p:sp>
      <p:sp>
        <p:nvSpPr>
          <p:cNvPr id="19" name="Shape 17"/>
          <p:cNvSpPr/>
          <p:nvPr/>
        </p:nvSpPr>
        <p:spPr>
          <a:xfrm>
            <a:off x="2108200" y="4483100"/>
            <a:ext cx="1143000" cy="88900"/>
          </a:xfrm>
          <a:prstGeom prst="rect">
            <a:avLst/>
          </a:prstGeom>
          <a:solidFill>
            <a:srgbClr val="3A93C4"/>
          </a:solidFill>
          <a:ln/>
        </p:spPr>
      </p:sp>
      <p:sp>
        <p:nvSpPr>
          <p:cNvPr id="20" name="Shape 18"/>
          <p:cNvSpPr/>
          <p:nvPr/>
        </p:nvSpPr>
        <p:spPr>
          <a:xfrm>
            <a:off x="2108200" y="4584700"/>
            <a:ext cx="1143000" cy="88900"/>
          </a:xfrm>
          <a:prstGeom prst="rect">
            <a:avLst/>
          </a:prstGeom>
          <a:solidFill>
            <a:srgbClr val="6FB0D4"/>
          </a:solidFill>
          <a:ln/>
        </p:spPr>
      </p:sp>
      <p:sp>
        <p:nvSpPr>
          <p:cNvPr id="21" name="Shape 19"/>
          <p:cNvSpPr/>
          <p:nvPr/>
        </p:nvSpPr>
        <p:spPr>
          <a:xfrm>
            <a:off x="2108200" y="4686300"/>
            <a:ext cx="1143000" cy="266700"/>
          </a:xfrm>
          <a:prstGeom prst="rect">
            <a:avLst/>
          </a:prstGeom>
          <a:solidFill>
            <a:srgbClr val="A3CDE4"/>
          </a:solidFill>
          <a:ln/>
        </p:spPr>
      </p:sp>
      <p:sp>
        <p:nvSpPr>
          <p:cNvPr id="22" name="Shape 20"/>
          <p:cNvSpPr/>
          <p:nvPr/>
        </p:nvSpPr>
        <p:spPr>
          <a:xfrm>
            <a:off x="2108200" y="4965700"/>
            <a:ext cx="1143000" cy="266700"/>
          </a:xfrm>
          <a:prstGeom prst="rect">
            <a:avLst/>
          </a:prstGeom>
          <a:solidFill>
            <a:srgbClr val="D0E6F2"/>
          </a:solidFill>
          <a:ln/>
        </p:spPr>
      </p:sp>
      <p:sp>
        <p:nvSpPr>
          <p:cNvPr id="23" name="Text 21"/>
          <p:cNvSpPr/>
          <p:nvPr/>
        </p:nvSpPr>
        <p:spPr>
          <a:xfrm>
            <a:off x="3556000" y="1483717"/>
            <a:ext cx="1654721"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STEP · ONE DEAL</a:t>
            </a:r>
            <a:endParaRPr lang="en-US" sz="1200" dirty="0"/>
          </a:p>
        </p:txBody>
      </p:sp>
      <p:sp>
        <p:nvSpPr>
          <p:cNvPr id="24" name="Text 22"/>
          <p:cNvSpPr/>
          <p:nvPr/>
        </p:nvSpPr>
        <p:spPr>
          <a:xfrm>
            <a:off x="7393484" y="1483717"/>
            <a:ext cx="42971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HRS</a:t>
            </a:r>
            <a:endParaRPr lang="en-US" sz="1200" dirty="0"/>
          </a:p>
        </p:txBody>
      </p:sp>
      <p:sp>
        <p:nvSpPr>
          <p:cNvPr id="25" name="Shape 23"/>
          <p:cNvSpPr/>
          <p:nvPr/>
        </p:nvSpPr>
        <p:spPr>
          <a:xfrm>
            <a:off x="3556000" y="1797348"/>
            <a:ext cx="127000" cy="304800"/>
          </a:xfrm>
          <a:prstGeom prst="roundRect">
            <a:avLst>
              <a:gd name="adj" fmla="val 20000"/>
            </a:avLst>
          </a:prstGeom>
          <a:solidFill>
            <a:srgbClr val="012F47"/>
          </a:solidFill>
          <a:ln/>
        </p:spPr>
      </p:sp>
      <p:sp>
        <p:nvSpPr>
          <p:cNvPr id="26" name="Text 24"/>
          <p:cNvSpPr/>
          <p:nvPr/>
        </p:nvSpPr>
        <p:spPr>
          <a:xfrm>
            <a:off x="3784600" y="176053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Intake &amp; documents</a:t>
            </a:r>
            <a:endParaRPr lang="en-US" sz="1200" dirty="0"/>
          </a:p>
        </p:txBody>
      </p:sp>
      <p:sp>
        <p:nvSpPr>
          <p:cNvPr id="27" name="Text 25"/>
          <p:cNvSpPr/>
          <p:nvPr/>
        </p:nvSpPr>
        <p:spPr>
          <a:xfrm>
            <a:off x="3784600" y="195609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Gather financials, KYC and deal terms</a:t>
            </a:r>
            <a:endParaRPr lang="en-US" sz="1200" dirty="0"/>
          </a:p>
        </p:txBody>
      </p:sp>
      <p:sp>
        <p:nvSpPr>
          <p:cNvPr id="28" name="Text 26"/>
          <p:cNvSpPr/>
          <p:nvPr/>
        </p:nvSpPr>
        <p:spPr>
          <a:xfrm>
            <a:off x="6896100" y="184308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3 → </a:t>
            </a:r>
            <a:r>
              <a:rPr lang="en-US" sz="1200" b="1" dirty="0">
                <a:solidFill>
                  <a:srgbClr val="0276B1"/>
                </a:solidFill>
                <a:latin typeface="Arial" pitchFamily="34" charset="0"/>
                <a:ea typeface="Arial" pitchFamily="34" charset="-122"/>
                <a:cs typeface="Arial" pitchFamily="34" charset="-120"/>
              </a:rPr>
              <a:t>1</a:t>
            </a:r>
            <a:endParaRPr lang="en-US" sz="1200" dirty="0"/>
          </a:p>
        </p:txBody>
      </p:sp>
      <p:sp>
        <p:nvSpPr>
          <p:cNvPr id="29" name="Shape 27"/>
          <p:cNvSpPr/>
          <p:nvPr/>
        </p:nvSpPr>
        <p:spPr>
          <a:xfrm>
            <a:off x="3556000" y="2239268"/>
            <a:ext cx="127000" cy="304800"/>
          </a:xfrm>
          <a:prstGeom prst="roundRect">
            <a:avLst>
              <a:gd name="adj" fmla="val 20000"/>
            </a:avLst>
          </a:prstGeom>
          <a:solidFill>
            <a:srgbClr val="014E74"/>
          </a:solidFill>
          <a:ln/>
        </p:spPr>
      </p:sp>
      <p:sp>
        <p:nvSpPr>
          <p:cNvPr id="30" name="Text 28"/>
          <p:cNvSpPr/>
          <p:nvPr/>
        </p:nvSpPr>
        <p:spPr>
          <a:xfrm>
            <a:off x="3784600" y="220245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Financial spreading</a:t>
            </a:r>
            <a:endParaRPr lang="en-US" sz="1200" dirty="0"/>
          </a:p>
        </p:txBody>
      </p:sp>
      <p:sp>
        <p:nvSpPr>
          <p:cNvPr id="31" name="Text 29"/>
          <p:cNvSpPr/>
          <p:nvPr/>
        </p:nvSpPr>
        <p:spPr>
          <a:xfrm>
            <a:off x="3784600" y="239801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Spread and normalize statements</a:t>
            </a:r>
            <a:endParaRPr lang="en-US" sz="1200" dirty="0"/>
          </a:p>
        </p:txBody>
      </p:sp>
      <p:sp>
        <p:nvSpPr>
          <p:cNvPr id="32" name="Text 30"/>
          <p:cNvSpPr/>
          <p:nvPr/>
        </p:nvSpPr>
        <p:spPr>
          <a:xfrm>
            <a:off x="6896100" y="228500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5 → </a:t>
            </a:r>
            <a:r>
              <a:rPr lang="en-US" sz="1200" b="1" dirty="0">
                <a:solidFill>
                  <a:srgbClr val="0276B1"/>
                </a:solidFill>
                <a:latin typeface="Arial" pitchFamily="34" charset="0"/>
                <a:ea typeface="Arial" pitchFamily="34" charset="-122"/>
                <a:cs typeface="Arial" pitchFamily="34" charset="-120"/>
              </a:rPr>
              <a:t>2</a:t>
            </a:r>
            <a:endParaRPr lang="en-US" sz="1200" dirty="0"/>
          </a:p>
        </p:txBody>
      </p:sp>
      <p:sp>
        <p:nvSpPr>
          <p:cNvPr id="33" name="Shape 31"/>
          <p:cNvSpPr/>
          <p:nvPr/>
        </p:nvSpPr>
        <p:spPr>
          <a:xfrm>
            <a:off x="3556000" y="2681188"/>
            <a:ext cx="127000" cy="304800"/>
          </a:xfrm>
          <a:prstGeom prst="roundRect">
            <a:avLst>
              <a:gd name="adj" fmla="val 20000"/>
            </a:avLst>
          </a:prstGeom>
          <a:solidFill>
            <a:srgbClr val="026597"/>
          </a:solidFill>
          <a:ln/>
        </p:spPr>
      </p:sp>
      <p:sp>
        <p:nvSpPr>
          <p:cNvPr id="34" name="Text 32"/>
          <p:cNvSpPr/>
          <p:nvPr/>
        </p:nvSpPr>
        <p:spPr>
          <a:xfrm>
            <a:off x="3784600" y="264437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Cash flow &amp; debt capacity</a:t>
            </a:r>
            <a:endParaRPr lang="en-US" sz="1200" dirty="0"/>
          </a:p>
        </p:txBody>
      </p:sp>
      <p:sp>
        <p:nvSpPr>
          <p:cNvPr id="35" name="Text 33"/>
          <p:cNvSpPr/>
          <p:nvPr/>
        </p:nvSpPr>
        <p:spPr>
          <a:xfrm>
            <a:off x="3784600" y="283993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DSCR, leverage and downside cases</a:t>
            </a:r>
            <a:endParaRPr lang="en-US" sz="1200" dirty="0"/>
          </a:p>
        </p:txBody>
      </p:sp>
      <p:sp>
        <p:nvSpPr>
          <p:cNvPr id="36" name="Text 34"/>
          <p:cNvSpPr/>
          <p:nvPr/>
        </p:nvSpPr>
        <p:spPr>
          <a:xfrm>
            <a:off x="6896100" y="272692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5 → </a:t>
            </a:r>
            <a:r>
              <a:rPr lang="en-US" sz="1200" b="1" dirty="0">
                <a:solidFill>
                  <a:srgbClr val="0276B1"/>
                </a:solidFill>
                <a:latin typeface="Arial" pitchFamily="34" charset="0"/>
                <a:ea typeface="Arial" pitchFamily="34" charset="-122"/>
                <a:cs typeface="Arial" pitchFamily="34" charset="-120"/>
              </a:rPr>
              <a:t>2</a:t>
            </a:r>
            <a:endParaRPr lang="en-US" sz="1200" dirty="0"/>
          </a:p>
        </p:txBody>
      </p:sp>
      <p:sp>
        <p:nvSpPr>
          <p:cNvPr id="37" name="Shape 35"/>
          <p:cNvSpPr/>
          <p:nvPr/>
        </p:nvSpPr>
        <p:spPr>
          <a:xfrm>
            <a:off x="3556000" y="3123109"/>
            <a:ext cx="127000" cy="304800"/>
          </a:xfrm>
          <a:prstGeom prst="roundRect">
            <a:avLst>
              <a:gd name="adj" fmla="val 20000"/>
            </a:avLst>
          </a:prstGeom>
          <a:solidFill>
            <a:srgbClr val="0276B1"/>
          </a:solidFill>
          <a:ln/>
        </p:spPr>
      </p:sp>
      <p:sp>
        <p:nvSpPr>
          <p:cNvPr id="38" name="Text 36"/>
          <p:cNvSpPr/>
          <p:nvPr/>
        </p:nvSpPr>
        <p:spPr>
          <a:xfrm>
            <a:off x="3784600" y="308629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Collateral &amp; structure</a:t>
            </a:r>
            <a:endParaRPr lang="en-US" sz="1200" dirty="0"/>
          </a:p>
        </p:txBody>
      </p:sp>
      <p:sp>
        <p:nvSpPr>
          <p:cNvPr id="39" name="Text 37"/>
          <p:cNvSpPr/>
          <p:nvPr/>
        </p:nvSpPr>
        <p:spPr>
          <a:xfrm>
            <a:off x="3784600" y="328185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Collateral values, covenants, terms</a:t>
            </a:r>
            <a:endParaRPr lang="en-US" sz="1200" dirty="0"/>
          </a:p>
        </p:txBody>
      </p:sp>
      <p:sp>
        <p:nvSpPr>
          <p:cNvPr id="40" name="Text 38"/>
          <p:cNvSpPr/>
          <p:nvPr/>
        </p:nvSpPr>
        <p:spPr>
          <a:xfrm>
            <a:off x="6896100" y="316884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3 → </a:t>
            </a:r>
            <a:r>
              <a:rPr lang="en-US" sz="1200" b="1" dirty="0">
                <a:solidFill>
                  <a:srgbClr val="0276B1"/>
                </a:solidFill>
                <a:latin typeface="Arial" pitchFamily="34" charset="0"/>
                <a:ea typeface="Arial" pitchFamily="34" charset="-122"/>
                <a:cs typeface="Arial" pitchFamily="34" charset="-120"/>
              </a:rPr>
              <a:t>2</a:t>
            </a:r>
            <a:endParaRPr lang="en-US" sz="1200" dirty="0"/>
          </a:p>
        </p:txBody>
      </p:sp>
      <p:sp>
        <p:nvSpPr>
          <p:cNvPr id="41" name="Shape 39"/>
          <p:cNvSpPr/>
          <p:nvPr/>
        </p:nvSpPr>
        <p:spPr>
          <a:xfrm>
            <a:off x="3556000" y="3565029"/>
            <a:ext cx="127000" cy="304800"/>
          </a:xfrm>
          <a:prstGeom prst="roundRect">
            <a:avLst>
              <a:gd name="adj" fmla="val 20000"/>
            </a:avLst>
          </a:prstGeom>
          <a:solidFill>
            <a:srgbClr val="3A93C4"/>
          </a:solidFill>
          <a:ln/>
        </p:spPr>
      </p:sp>
      <p:sp>
        <p:nvSpPr>
          <p:cNvPr id="42" name="Text 40"/>
          <p:cNvSpPr/>
          <p:nvPr/>
        </p:nvSpPr>
        <p:spPr>
          <a:xfrm>
            <a:off x="3784600" y="352821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Industry &amp; peer analysis</a:t>
            </a:r>
            <a:endParaRPr lang="en-US" sz="1200" dirty="0"/>
          </a:p>
        </p:txBody>
      </p:sp>
      <p:sp>
        <p:nvSpPr>
          <p:cNvPr id="43" name="Text 41"/>
          <p:cNvSpPr/>
          <p:nvPr/>
        </p:nvSpPr>
        <p:spPr>
          <a:xfrm>
            <a:off x="3784600" y="372377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Industry outlook, peer benchmarks</a:t>
            </a:r>
            <a:endParaRPr lang="en-US" sz="1200" dirty="0"/>
          </a:p>
        </p:txBody>
      </p:sp>
      <p:sp>
        <p:nvSpPr>
          <p:cNvPr id="44" name="Text 42"/>
          <p:cNvSpPr/>
          <p:nvPr/>
        </p:nvSpPr>
        <p:spPr>
          <a:xfrm>
            <a:off x="6896100" y="361076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4 → </a:t>
            </a:r>
            <a:r>
              <a:rPr lang="en-US" sz="1200" b="1" dirty="0">
                <a:solidFill>
                  <a:srgbClr val="0276B1"/>
                </a:solidFill>
                <a:latin typeface="Arial" pitchFamily="34" charset="0"/>
                <a:ea typeface="Arial" pitchFamily="34" charset="-122"/>
                <a:cs typeface="Arial" pitchFamily="34" charset="-120"/>
              </a:rPr>
              <a:t>1</a:t>
            </a:r>
            <a:endParaRPr lang="en-US" sz="1200" dirty="0"/>
          </a:p>
        </p:txBody>
      </p:sp>
      <p:sp>
        <p:nvSpPr>
          <p:cNvPr id="45" name="Shape 43"/>
          <p:cNvSpPr/>
          <p:nvPr/>
        </p:nvSpPr>
        <p:spPr>
          <a:xfrm>
            <a:off x="3556000" y="4006949"/>
            <a:ext cx="127000" cy="304800"/>
          </a:xfrm>
          <a:prstGeom prst="roundRect">
            <a:avLst>
              <a:gd name="adj" fmla="val 20000"/>
            </a:avLst>
          </a:prstGeom>
          <a:solidFill>
            <a:srgbClr val="6FB0D4"/>
          </a:solidFill>
          <a:ln/>
        </p:spPr>
      </p:sp>
      <p:sp>
        <p:nvSpPr>
          <p:cNvPr id="46" name="Text 44"/>
          <p:cNvSpPr/>
          <p:nvPr/>
        </p:nvSpPr>
        <p:spPr>
          <a:xfrm>
            <a:off x="3784600" y="397013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Risk rating</a:t>
            </a:r>
            <a:endParaRPr lang="en-US" sz="1200" dirty="0"/>
          </a:p>
        </p:txBody>
      </p:sp>
      <p:sp>
        <p:nvSpPr>
          <p:cNvPr id="47" name="Text 45"/>
          <p:cNvSpPr/>
          <p:nvPr/>
        </p:nvSpPr>
        <p:spPr>
          <a:xfrm>
            <a:off x="3784600" y="416569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PD / LGD rating with rationale</a:t>
            </a:r>
            <a:endParaRPr lang="en-US" sz="1200" dirty="0"/>
          </a:p>
        </p:txBody>
      </p:sp>
      <p:sp>
        <p:nvSpPr>
          <p:cNvPr id="48" name="Text 46"/>
          <p:cNvSpPr/>
          <p:nvPr/>
        </p:nvSpPr>
        <p:spPr>
          <a:xfrm>
            <a:off x="6896100" y="405268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2 → </a:t>
            </a:r>
            <a:r>
              <a:rPr lang="en-US" sz="1200" b="1" dirty="0">
                <a:solidFill>
                  <a:srgbClr val="0276B1"/>
                </a:solidFill>
                <a:latin typeface="Arial" pitchFamily="34" charset="0"/>
                <a:ea typeface="Arial" pitchFamily="34" charset="-122"/>
                <a:cs typeface="Arial" pitchFamily="34" charset="-120"/>
              </a:rPr>
              <a:t>1</a:t>
            </a:r>
            <a:endParaRPr lang="en-US" sz="1200" dirty="0"/>
          </a:p>
        </p:txBody>
      </p:sp>
      <p:sp>
        <p:nvSpPr>
          <p:cNvPr id="49" name="Shape 47"/>
          <p:cNvSpPr/>
          <p:nvPr/>
        </p:nvSpPr>
        <p:spPr>
          <a:xfrm>
            <a:off x="3556000" y="4448870"/>
            <a:ext cx="127000" cy="304800"/>
          </a:xfrm>
          <a:prstGeom prst="roundRect">
            <a:avLst>
              <a:gd name="adj" fmla="val 20000"/>
            </a:avLst>
          </a:prstGeom>
          <a:solidFill>
            <a:srgbClr val="A3CDE4"/>
          </a:solidFill>
          <a:ln/>
        </p:spPr>
      </p:sp>
      <p:sp>
        <p:nvSpPr>
          <p:cNvPr id="50" name="Text 48"/>
          <p:cNvSpPr/>
          <p:nvPr/>
        </p:nvSpPr>
        <p:spPr>
          <a:xfrm>
            <a:off x="3784600" y="441205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Credit memo</a:t>
            </a:r>
            <a:endParaRPr lang="en-US" sz="1200" dirty="0"/>
          </a:p>
        </p:txBody>
      </p:sp>
      <p:sp>
        <p:nvSpPr>
          <p:cNvPr id="51" name="Text 49"/>
          <p:cNvSpPr/>
          <p:nvPr/>
        </p:nvSpPr>
        <p:spPr>
          <a:xfrm>
            <a:off x="3784600" y="4607620"/>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Write the recommendation narrative</a:t>
            </a:r>
            <a:endParaRPr lang="en-US" sz="1200" dirty="0"/>
          </a:p>
        </p:txBody>
      </p:sp>
      <p:sp>
        <p:nvSpPr>
          <p:cNvPr id="52" name="Text 50"/>
          <p:cNvSpPr/>
          <p:nvPr/>
        </p:nvSpPr>
        <p:spPr>
          <a:xfrm>
            <a:off x="6896100" y="449460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8 → </a:t>
            </a:r>
            <a:r>
              <a:rPr lang="en-US" sz="1200" b="1" dirty="0">
                <a:solidFill>
                  <a:srgbClr val="0276B1"/>
                </a:solidFill>
                <a:latin typeface="Arial" pitchFamily="34" charset="0"/>
                <a:ea typeface="Arial" pitchFamily="34" charset="-122"/>
                <a:cs typeface="Arial" pitchFamily="34" charset="-120"/>
              </a:rPr>
              <a:t>3</a:t>
            </a:r>
            <a:endParaRPr lang="en-US" sz="1200" dirty="0"/>
          </a:p>
        </p:txBody>
      </p:sp>
      <p:sp>
        <p:nvSpPr>
          <p:cNvPr id="53" name="Shape 51"/>
          <p:cNvSpPr/>
          <p:nvPr/>
        </p:nvSpPr>
        <p:spPr>
          <a:xfrm>
            <a:off x="3556000" y="4890790"/>
            <a:ext cx="127000" cy="304800"/>
          </a:xfrm>
          <a:prstGeom prst="roundRect">
            <a:avLst>
              <a:gd name="adj" fmla="val 20000"/>
            </a:avLst>
          </a:prstGeom>
          <a:solidFill>
            <a:srgbClr val="D0E6F2"/>
          </a:solidFill>
          <a:ln/>
        </p:spPr>
      </p:sp>
      <p:sp>
        <p:nvSpPr>
          <p:cNvPr id="54" name="Text 52"/>
          <p:cNvSpPr/>
          <p:nvPr/>
        </p:nvSpPr>
        <p:spPr>
          <a:xfrm>
            <a:off x="3784600" y="4853980"/>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Committee review &amp; approval</a:t>
            </a:r>
            <a:endParaRPr lang="en-US" sz="1200" dirty="0"/>
          </a:p>
        </p:txBody>
      </p:sp>
      <p:sp>
        <p:nvSpPr>
          <p:cNvPr id="55" name="Text 53"/>
          <p:cNvSpPr/>
          <p:nvPr/>
        </p:nvSpPr>
        <p:spPr>
          <a:xfrm>
            <a:off x="3784600" y="5049540"/>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Challenge, Q&amp;A and final decision</a:t>
            </a:r>
            <a:endParaRPr lang="en-US" sz="1200" dirty="0"/>
          </a:p>
        </p:txBody>
      </p:sp>
      <p:sp>
        <p:nvSpPr>
          <p:cNvPr id="56" name="Text 54"/>
          <p:cNvSpPr/>
          <p:nvPr/>
        </p:nvSpPr>
        <p:spPr>
          <a:xfrm>
            <a:off x="6896100" y="4936530"/>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4 → </a:t>
            </a:r>
            <a:r>
              <a:rPr lang="en-US" sz="1200" b="1" dirty="0">
                <a:solidFill>
                  <a:srgbClr val="0276B1"/>
                </a:solidFill>
                <a:latin typeface="Arial" pitchFamily="34" charset="0"/>
                <a:ea typeface="Arial" pitchFamily="34" charset="-122"/>
                <a:cs typeface="Arial" pitchFamily="34" charset="-120"/>
              </a:rPr>
              <a:t>3</a:t>
            </a:r>
            <a:endParaRPr lang="en-US" sz="1200" dirty="0"/>
          </a:p>
        </p:txBody>
      </p:sp>
      <p:sp>
        <p:nvSpPr>
          <p:cNvPr id="57" name="Text 55"/>
          <p:cNvSpPr/>
          <p:nvPr/>
        </p:nvSpPr>
        <p:spPr>
          <a:xfrm>
            <a:off x="8077200" y="1412230"/>
            <a:ext cx="3401060" cy="578048"/>
          </a:xfrm>
          <a:prstGeom prst="rect">
            <a:avLst/>
          </a:prstGeom>
          <a:noFill/>
          <a:ln/>
        </p:spPr>
        <p:txBody>
          <a:bodyPr wrap="square" lIns="0" tIns="0" rIns="0" bIns="0" rtlCol="0" anchor="t">
            <a:normAutofit/>
          </a:bodyPr>
          <a:lstStyle/>
          <a:p>
            <a:pPr algn="l" indent="0" marL="0">
              <a:lnSpc>
                <a:spcPts val="4373"/>
              </a:lnSpc>
              <a:buNone/>
            </a:pPr>
            <a:r>
              <a:rPr lang="en-US" sz="3975" b="1" dirty="0">
                <a:solidFill>
                  <a:srgbClr val="0276B1"/>
                </a:solidFill>
                <a:latin typeface="Arial" pitchFamily="34" charset="0"/>
                <a:ea typeface="Arial" pitchFamily="34" charset="-122"/>
                <a:cs typeface="Arial" pitchFamily="34" charset="-120"/>
              </a:rPr>
              <a:t>−56%</a:t>
            </a:r>
            <a:endParaRPr lang="en-US" sz="3975" dirty="0"/>
          </a:p>
        </p:txBody>
      </p:sp>
      <p:sp>
        <p:nvSpPr>
          <p:cNvPr id="58" name="Text 56"/>
          <p:cNvSpPr/>
          <p:nvPr/>
        </p:nvSpPr>
        <p:spPr>
          <a:xfrm>
            <a:off x="8077200" y="2041079"/>
            <a:ext cx="3401060" cy="23633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FTE hours per deal</a:t>
            </a:r>
            <a:endParaRPr lang="en-US" sz="1196" dirty="0"/>
          </a:p>
        </p:txBody>
      </p:sp>
      <p:sp>
        <p:nvSpPr>
          <p:cNvPr id="59" name="Text 57"/>
          <p:cNvSpPr/>
          <p:nvPr/>
        </p:nvSpPr>
        <p:spPr>
          <a:xfrm>
            <a:off x="8077200" y="2328218"/>
            <a:ext cx="3401060" cy="236389"/>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6B6B6B"/>
                </a:solidFill>
                <a:latin typeface="Arial" pitchFamily="34" charset="0"/>
                <a:ea typeface="Arial" pitchFamily="34" charset="-122"/>
                <a:cs typeface="Arial" pitchFamily="34" charset="-120"/>
              </a:rPr>
              <a:t>WHAT MOVES THE BARS</a:t>
            </a:r>
            <a:endParaRPr lang="en-US" sz="1196" dirty="0"/>
          </a:p>
        </p:txBody>
      </p:sp>
      <p:sp>
        <p:nvSpPr>
          <p:cNvPr id="60" name="Shape 58"/>
          <p:cNvSpPr/>
          <p:nvPr/>
        </p:nvSpPr>
        <p:spPr>
          <a:xfrm>
            <a:off x="8080375" y="2618581"/>
            <a:ext cx="3295650" cy="590748"/>
          </a:xfrm>
          <a:prstGeom prst="roundRect">
            <a:avLst>
              <a:gd name="adj" fmla="val 3762"/>
            </a:avLst>
          </a:prstGeom>
          <a:solidFill>
            <a:srgbClr val="FFFFFF"/>
          </a:solidFill>
          <a:ln w="6350">
            <a:solidFill>
              <a:srgbClr val="E6E6E6"/>
            </a:solidFill>
            <a:prstDash val="solid"/>
          </a:ln>
        </p:spPr>
      </p:sp>
      <p:sp>
        <p:nvSpPr>
          <p:cNvPr id="61" name="Text 59"/>
          <p:cNvSpPr/>
          <p:nvPr/>
        </p:nvSpPr>
        <p:spPr>
          <a:xfrm>
            <a:off x="8235950" y="2697956"/>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Unified borrower and deal data</a:t>
            </a:r>
            <a:endParaRPr lang="en-US" sz="1300" dirty="0"/>
          </a:p>
        </p:txBody>
      </p:sp>
      <p:sp>
        <p:nvSpPr>
          <p:cNvPr id="62" name="Text 60"/>
          <p:cNvSpPr/>
          <p:nvPr/>
        </p:nvSpPr>
        <p:spPr>
          <a:xfrm>
            <a:off x="8235950" y="2919115"/>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Intake, spreading</a:t>
            </a:r>
            <a:endParaRPr lang="en-US" sz="1196" dirty="0"/>
          </a:p>
        </p:txBody>
      </p:sp>
      <p:sp>
        <p:nvSpPr>
          <p:cNvPr id="63" name="Shape 61"/>
          <p:cNvSpPr/>
          <p:nvPr/>
        </p:nvSpPr>
        <p:spPr>
          <a:xfrm>
            <a:off x="8080375" y="3291880"/>
            <a:ext cx="3295650" cy="590748"/>
          </a:xfrm>
          <a:prstGeom prst="roundRect">
            <a:avLst>
              <a:gd name="adj" fmla="val 3762"/>
            </a:avLst>
          </a:prstGeom>
          <a:solidFill>
            <a:srgbClr val="FFFFFF"/>
          </a:solidFill>
          <a:ln w="6350">
            <a:solidFill>
              <a:srgbClr val="E6E6E6"/>
            </a:solidFill>
            <a:prstDash val="solid"/>
          </a:ln>
        </p:spPr>
      </p:sp>
      <p:sp>
        <p:nvSpPr>
          <p:cNvPr id="64" name="Text 62"/>
          <p:cNvSpPr/>
          <p:nvPr/>
        </p:nvSpPr>
        <p:spPr>
          <a:xfrm>
            <a:off x="8235950" y="3371255"/>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Standardized credit calculations</a:t>
            </a:r>
            <a:endParaRPr lang="en-US" sz="1300" dirty="0"/>
          </a:p>
        </p:txBody>
      </p:sp>
      <p:sp>
        <p:nvSpPr>
          <p:cNvPr id="65" name="Text 63"/>
          <p:cNvSpPr/>
          <p:nvPr/>
        </p:nvSpPr>
        <p:spPr>
          <a:xfrm>
            <a:off x="8235950" y="3592413"/>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Cash flow, collateral, rating</a:t>
            </a:r>
            <a:endParaRPr lang="en-US" sz="1196" dirty="0"/>
          </a:p>
        </p:txBody>
      </p:sp>
      <p:sp>
        <p:nvSpPr>
          <p:cNvPr id="66" name="Shape 64"/>
          <p:cNvSpPr/>
          <p:nvPr/>
        </p:nvSpPr>
        <p:spPr>
          <a:xfrm>
            <a:off x="8080375" y="3965178"/>
            <a:ext cx="3295650" cy="590748"/>
          </a:xfrm>
          <a:prstGeom prst="roundRect">
            <a:avLst>
              <a:gd name="adj" fmla="val 3762"/>
            </a:avLst>
          </a:prstGeom>
          <a:solidFill>
            <a:srgbClr val="FFFFFF"/>
          </a:solidFill>
          <a:ln w="6350">
            <a:solidFill>
              <a:srgbClr val="E6E6E6"/>
            </a:solidFill>
            <a:prstDash val="solid"/>
          </a:ln>
        </p:spPr>
      </p:sp>
      <p:sp>
        <p:nvSpPr>
          <p:cNvPr id="67" name="Text 65"/>
          <p:cNvSpPr/>
          <p:nvPr/>
        </p:nvSpPr>
        <p:spPr>
          <a:xfrm>
            <a:off x="8235950" y="4044553"/>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Industry risk research agent</a:t>
            </a:r>
            <a:endParaRPr lang="en-US" sz="1300" dirty="0"/>
          </a:p>
        </p:txBody>
      </p:sp>
      <p:sp>
        <p:nvSpPr>
          <p:cNvPr id="68" name="Text 66"/>
          <p:cNvSpPr/>
          <p:nvPr/>
        </p:nvSpPr>
        <p:spPr>
          <a:xfrm>
            <a:off x="8235950" y="4265712"/>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Industry and peer analysis</a:t>
            </a:r>
            <a:endParaRPr lang="en-US" sz="1196" dirty="0"/>
          </a:p>
        </p:txBody>
      </p:sp>
      <p:sp>
        <p:nvSpPr>
          <p:cNvPr id="69" name="Shape 67"/>
          <p:cNvSpPr/>
          <p:nvPr/>
        </p:nvSpPr>
        <p:spPr>
          <a:xfrm>
            <a:off x="8080375" y="4638477"/>
            <a:ext cx="3295650" cy="590748"/>
          </a:xfrm>
          <a:prstGeom prst="roundRect">
            <a:avLst>
              <a:gd name="adj" fmla="val 3762"/>
            </a:avLst>
          </a:prstGeom>
          <a:solidFill>
            <a:srgbClr val="FFFFFF"/>
          </a:solidFill>
          <a:ln w="6350">
            <a:solidFill>
              <a:srgbClr val="E6E6E6"/>
            </a:solidFill>
            <a:prstDash val="solid"/>
          </a:ln>
        </p:spPr>
      </p:sp>
      <p:sp>
        <p:nvSpPr>
          <p:cNvPr id="70" name="Text 68"/>
          <p:cNvSpPr/>
          <p:nvPr/>
        </p:nvSpPr>
        <p:spPr>
          <a:xfrm>
            <a:off x="8235950" y="4717852"/>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Credit memo drafting agent</a:t>
            </a:r>
            <a:endParaRPr lang="en-US" sz="1300" dirty="0"/>
          </a:p>
        </p:txBody>
      </p:sp>
      <p:sp>
        <p:nvSpPr>
          <p:cNvPr id="71" name="Text 69"/>
          <p:cNvSpPr/>
          <p:nvPr/>
        </p:nvSpPr>
        <p:spPr>
          <a:xfrm>
            <a:off x="8235950" y="4939010"/>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Credit memo, committee prep</a:t>
            </a:r>
            <a:endParaRPr lang="en-US" sz="1196" dirty="0"/>
          </a:p>
        </p:txBody>
      </p:sp>
      <p:sp>
        <p:nvSpPr>
          <p:cNvPr id="72" name="Shape 70"/>
          <p:cNvSpPr/>
          <p:nvPr/>
        </p:nvSpPr>
        <p:spPr>
          <a:xfrm>
            <a:off x="812800" y="5384800"/>
            <a:ext cx="10566400" cy="457200"/>
          </a:xfrm>
          <a:prstGeom prst="roundRect">
            <a:avLst>
              <a:gd name="adj" fmla="val 11111"/>
            </a:avLst>
          </a:prstGeom>
          <a:solidFill>
            <a:srgbClr val="F4F4F4"/>
          </a:solidFill>
          <a:ln/>
        </p:spPr>
      </p:sp>
      <p:sp>
        <p:nvSpPr>
          <p:cNvPr id="73" name="Text 71"/>
          <p:cNvSpPr/>
          <p:nvPr/>
        </p:nvSpPr>
        <p:spPr>
          <a:xfrm>
            <a:off x="1016000" y="5506740"/>
            <a:ext cx="11534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HOW OFTEN</a:t>
            </a:r>
            <a:endParaRPr lang="en-US" sz="1200" dirty="0"/>
          </a:p>
        </p:txBody>
      </p:sp>
      <p:sp>
        <p:nvSpPr>
          <p:cNvPr id="74" name="Text 72"/>
          <p:cNvSpPr/>
          <p:nvPr/>
        </p:nvSpPr>
        <p:spPr>
          <a:xfrm>
            <a:off x="2321868" y="5473700"/>
            <a:ext cx="3547353"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1414"/>
                </a:solidFill>
                <a:latin typeface="Arial" pitchFamily="34" charset="0"/>
                <a:ea typeface="Arial" pitchFamily="34" charset="-122"/>
                <a:cs typeface="Arial" pitchFamily="34" charset="-120"/>
              </a:rPr>
              <a:t>[Hundreds of] deals per year</a:t>
            </a:r>
            <a:endParaRPr lang="en-US" sz="2000" dirty="0"/>
          </a:p>
        </p:txBody>
      </p:sp>
      <p:sp>
        <p:nvSpPr>
          <p:cNvPr id="75" name="Text 73"/>
          <p:cNvSpPr/>
          <p:nvPr/>
        </p:nvSpPr>
        <p:spPr>
          <a:xfrm>
            <a:off x="5969099" y="5506740"/>
            <a:ext cx="29548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5252"/>
                </a:solidFill>
                <a:latin typeface="Arial" pitchFamily="34" charset="0"/>
                <a:ea typeface="Arial" pitchFamily="34" charset="-122"/>
                <a:cs typeface="Arial" pitchFamily="34" charset="-120"/>
              </a:rPr>
              <a:t>Small effort per deal, repeated many times</a:t>
            </a:r>
            <a:endParaRPr lang="en-US" sz="1200" dirty="0"/>
          </a:p>
        </p:txBody>
      </p:sp>
      <p:sp>
        <p:nvSpPr>
          <p:cNvPr id="76" name="Text 7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Bars show FTE hours for a single deal · Placeholder estimates, to be replaced with measured figures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Arial" pitchFamily="34" charset="0"/>
                <a:ea typeface="Arial" pitchFamily="34" charset="-122"/>
                <a:cs typeface="Arial" pitchFamily="34" charset="-120"/>
              </a:rPr>
              <a:t>AI could halve the effort behind each model</a:t>
            </a:r>
            <a:endParaRPr lang="en-US" sz="3200" dirty="0"/>
          </a:p>
        </p:txBody>
      </p:sp>
      <p:sp>
        <p:nvSpPr>
          <p:cNvPr id="3" name="Text 1"/>
          <p:cNvSpPr/>
          <p:nvPr/>
        </p:nvSpPr>
        <p:spPr>
          <a:xfrm>
            <a:off x="812800" y="149612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TODAY</a:t>
            </a:r>
            <a:endParaRPr lang="en-US" sz="1200" dirty="0"/>
          </a:p>
        </p:txBody>
      </p:sp>
      <p:sp>
        <p:nvSpPr>
          <p:cNvPr id="4" name="Text 2"/>
          <p:cNvSpPr/>
          <p:nvPr/>
        </p:nvSpPr>
        <p:spPr>
          <a:xfrm>
            <a:off x="812800" y="176024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Arial" pitchFamily="34" charset="0"/>
                <a:ea typeface="Arial" pitchFamily="34" charset="-122"/>
                <a:cs typeface="Arial" pitchFamily="34" charset="-120"/>
              </a:rPr>
              <a:t>1,500 hrs</a:t>
            </a:r>
            <a:endParaRPr lang="en-US" sz="1600" dirty="0"/>
          </a:p>
        </p:txBody>
      </p:sp>
      <p:sp>
        <p:nvSpPr>
          <p:cNvPr id="5" name="Shape 3"/>
          <p:cNvSpPr/>
          <p:nvPr/>
        </p:nvSpPr>
        <p:spPr>
          <a:xfrm>
            <a:off x="812800" y="2095500"/>
            <a:ext cx="1143000" cy="368300"/>
          </a:xfrm>
          <a:prstGeom prst="rect">
            <a:avLst/>
          </a:prstGeom>
          <a:solidFill>
            <a:srgbClr val="012F47"/>
          </a:solidFill>
          <a:ln/>
        </p:spPr>
      </p:sp>
      <p:sp>
        <p:nvSpPr>
          <p:cNvPr id="6" name="Shape 4"/>
          <p:cNvSpPr/>
          <p:nvPr/>
        </p:nvSpPr>
        <p:spPr>
          <a:xfrm>
            <a:off x="812800" y="2476500"/>
            <a:ext cx="1143000" cy="609600"/>
          </a:xfrm>
          <a:prstGeom prst="rect">
            <a:avLst/>
          </a:prstGeom>
          <a:solidFill>
            <a:srgbClr val="014E74"/>
          </a:solidFill>
          <a:ln/>
        </p:spPr>
      </p:sp>
      <p:sp>
        <p:nvSpPr>
          <p:cNvPr id="7" name="Shape 5"/>
          <p:cNvSpPr/>
          <p:nvPr/>
        </p:nvSpPr>
        <p:spPr>
          <a:xfrm>
            <a:off x="812800" y="3098800"/>
            <a:ext cx="1143000" cy="304800"/>
          </a:xfrm>
          <a:prstGeom prst="rect">
            <a:avLst/>
          </a:prstGeom>
          <a:solidFill>
            <a:srgbClr val="026597"/>
          </a:solidFill>
          <a:ln/>
        </p:spPr>
      </p:sp>
      <p:sp>
        <p:nvSpPr>
          <p:cNvPr id="8" name="Shape 6"/>
          <p:cNvSpPr/>
          <p:nvPr/>
        </p:nvSpPr>
        <p:spPr>
          <a:xfrm>
            <a:off x="812800" y="3416300"/>
            <a:ext cx="1143000" cy="304800"/>
          </a:xfrm>
          <a:prstGeom prst="rect">
            <a:avLst/>
          </a:prstGeom>
          <a:solidFill>
            <a:srgbClr val="0276B1"/>
          </a:solidFill>
          <a:ln/>
        </p:spPr>
      </p:sp>
      <p:sp>
        <p:nvSpPr>
          <p:cNvPr id="9" name="Shape 7"/>
          <p:cNvSpPr/>
          <p:nvPr/>
        </p:nvSpPr>
        <p:spPr>
          <a:xfrm>
            <a:off x="812800" y="3733800"/>
            <a:ext cx="1143000" cy="406400"/>
          </a:xfrm>
          <a:prstGeom prst="rect">
            <a:avLst/>
          </a:prstGeom>
          <a:solidFill>
            <a:srgbClr val="3A93C4"/>
          </a:solidFill>
          <a:ln/>
        </p:spPr>
      </p:sp>
      <p:sp>
        <p:nvSpPr>
          <p:cNvPr id="10" name="Shape 8"/>
          <p:cNvSpPr/>
          <p:nvPr/>
        </p:nvSpPr>
        <p:spPr>
          <a:xfrm>
            <a:off x="812800" y="4152900"/>
            <a:ext cx="1143000" cy="508000"/>
          </a:xfrm>
          <a:prstGeom prst="rect">
            <a:avLst/>
          </a:prstGeom>
          <a:solidFill>
            <a:srgbClr val="6FB0D4"/>
          </a:solidFill>
          <a:ln/>
        </p:spPr>
      </p:sp>
      <p:sp>
        <p:nvSpPr>
          <p:cNvPr id="11" name="Shape 9"/>
          <p:cNvSpPr/>
          <p:nvPr/>
        </p:nvSpPr>
        <p:spPr>
          <a:xfrm>
            <a:off x="812800" y="4673600"/>
            <a:ext cx="1143000" cy="241300"/>
          </a:xfrm>
          <a:prstGeom prst="rect">
            <a:avLst/>
          </a:prstGeom>
          <a:solidFill>
            <a:srgbClr val="A3CDE4"/>
          </a:solidFill>
          <a:ln/>
        </p:spPr>
      </p:sp>
      <p:sp>
        <p:nvSpPr>
          <p:cNvPr id="12" name="Shape 10"/>
          <p:cNvSpPr/>
          <p:nvPr/>
        </p:nvSpPr>
        <p:spPr>
          <a:xfrm>
            <a:off x="812800" y="4927600"/>
            <a:ext cx="1143000" cy="304800"/>
          </a:xfrm>
          <a:prstGeom prst="rect">
            <a:avLst/>
          </a:prstGeom>
          <a:solidFill>
            <a:srgbClr val="D0E6F2"/>
          </a:solidFill>
          <a:ln/>
        </p:spPr>
      </p:sp>
      <p:sp>
        <p:nvSpPr>
          <p:cNvPr id="13" name="Text 11"/>
          <p:cNvSpPr/>
          <p:nvPr/>
        </p:nvSpPr>
        <p:spPr>
          <a:xfrm>
            <a:off x="2108200" y="320427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WITH AI</a:t>
            </a:r>
            <a:endParaRPr lang="en-US" sz="1200" dirty="0"/>
          </a:p>
        </p:txBody>
      </p:sp>
      <p:sp>
        <p:nvSpPr>
          <p:cNvPr id="14" name="Text 12"/>
          <p:cNvSpPr/>
          <p:nvPr/>
        </p:nvSpPr>
        <p:spPr>
          <a:xfrm>
            <a:off x="2108200" y="346839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276B1"/>
                </a:solidFill>
                <a:latin typeface="Arial" pitchFamily="34" charset="0"/>
                <a:ea typeface="Arial" pitchFamily="34" charset="-122"/>
                <a:cs typeface="Arial" pitchFamily="34" charset="-120"/>
              </a:rPr>
              <a:t>660 hrs</a:t>
            </a:r>
            <a:endParaRPr lang="en-US" sz="1600" dirty="0"/>
          </a:p>
        </p:txBody>
      </p:sp>
      <p:sp>
        <p:nvSpPr>
          <p:cNvPr id="15" name="Shape 13"/>
          <p:cNvSpPr/>
          <p:nvPr/>
        </p:nvSpPr>
        <p:spPr>
          <a:xfrm>
            <a:off x="2108200" y="3803650"/>
            <a:ext cx="1143000" cy="165100"/>
          </a:xfrm>
          <a:prstGeom prst="rect">
            <a:avLst/>
          </a:prstGeom>
          <a:solidFill>
            <a:srgbClr val="012F47"/>
          </a:solidFill>
          <a:ln/>
        </p:spPr>
      </p:sp>
      <p:sp>
        <p:nvSpPr>
          <p:cNvPr id="16" name="Shape 14"/>
          <p:cNvSpPr/>
          <p:nvPr/>
        </p:nvSpPr>
        <p:spPr>
          <a:xfrm>
            <a:off x="2108200" y="3981450"/>
            <a:ext cx="1143000" cy="241300"/>
          </a:xfrm>
          <a:prstGeom prst="rect">
            <a:avLst/>
          </a:prstGeom>
          <a:solidFill>
            <a:srgbClr val="014E74"/>
          </a:solidFill>
          <a:ln/>
        </p:spPr>
      </p:sp>
      <p:sp>
        <p:nvSpPr>
          <p:cNvPr id="17" name="Shape 15"/>
          <p:cNvSpPr/>
          <p:nvPr/>
        </p:nvSpPr>
        <p:spPr>
          <a:xfrm>
            <a:off x="2108200" y="4235450"/>
            <a:ext cx="1143000" cy="165100"/>
          </a:xfrm>
          <a:prstGeom prst="rect">
            <a:avLst/>
          </a:prstGeom>
          <a:solidFill>
            <a:srgbClr val="026597"/>
          </a:solidFill>
          <a:ln/>
        </p:spPr>
      </p:sp>
      <p:sp>
        <p:nvSpPr>
          <p:cNvPr id="18" name="Shape 16"/>
          <p:cNvSpPr/>
          <p:nvPr/>
        </p:nvSpPr>
        <p:spPr>
          <a:xfrm>
            <a:off x="2108200" y="4413250"/>
            <a:ext cx="1143000" cy="139700"/>
          </a:xfrm>
          <a:prstGeom prst="rect">
            <a:avLst/>
          </a:prstGeom>
          <a:solidFill>
            <a:srgbClr val="0276B1"/>
          </a:solidFill>
          <a:ln/>
        </p:spPr>
      </p:sp>
      <p:sp>
        <p:nvSpPr>
          <p:cNvPr id="19" name="Shape 17"/>
          <p:cNvSpPr/>
          <p:nvPr/>
        </p:nvSpPr>
        <p:spPr>
          <a:xfrm>
            <a:off x="2108200" y="4565650"/>
            <a:ext cx="1143000" cy="184150"/>
          </a:xfrm>
          <a:prstGeom prst="rect">
            <a:avLst/>
          </a:prstGeom>
          <a:solidFill>
            <a:srgbClr val="3A93C4"/>
          </a:solidFill>
          <a:ln/>
        </p:spPr>
      </p:sp>
      <p:sp>
        <p:nvSpPr>
          <p:cNvPr id="20" name="Shape 18"/>
          <p:cNvSpPr/>
          <p:nvPr/>
        </p:nvSpPr>
        <p:spPr>
          <a:xfrm>
            <a:off x="2108200" y="4762500"/>
            <a:ext cx="1143000" cy="184150"/>
          </a:xfrm>
          <a:prstGeom prst="rect">
            <a:avLst/>
          </a:prstGeom>
          <a:solidFill>
            <a:srgbClr val="6FB0D4"/>
          </a:solidFill>
          <a:ln/>
        </p:spPr>
      </p:sp>
      <p:sp>
        <p:nvSpPr>
          <p:cNvPr id="21" name="Shape 19"/>
          <p:cNvSpPr/>
          <p:nvPr/>
        </p:nvSpPr>
        <p:spPr>
          <a:xfrm>
            <a:off x="2108200" y="4959350"/>
            <a:ext cx="1143000" cy="139700"/>
          </a:xfrm>
          <a:prstGeom prst="rect">
            <a:avLst/>
          </a:prstGeom>
          <a:solidFill>
            <a:srgbClr val="A3CDE4"/>
          </a:solidFill>
          <a:ln/>
        </p:spPr>
      </p:sp>
      <p:sp>
        <p:nvSpPr>
          <p:cNvPr id="22" name="Shape 20"/>
          <p:cNvSpPr/>
          <p:nvPr/>
        </p:nvSpPr>
        <p:spPr>
          <a:xfrm>
            <a:off x="2108200" y="5111750"/>
            <a:ext cx="1143000" cy="120650"/>
          </a:xfrm>
          <a:prstGeom prst="rect">
            <a:avLst/>
          </a:prstGeom>
          <a:solidFill>
            <a:srgbClr val="D0E6F2"/>
          </a:solidFill>
          <a:ln/>
        </p:spPr>
      </p:sp>
      <p:sp>
        <p:nvSpPr>
          <p:cNvPr id="23" name="Text 21"/>
          <p:cNvSpPr/>
          <p:nvPr/>
        </p:nvSpPr>
        <p:spPr>
          <a:xfrm>
            <a:off x="3556000" y="1483717"/>
            <a:ext cx="181115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STEP · ONE MODEL</a:t>
            </a:r>
            <a:endParaRPr lang="en-US" sz="1200" dirty="0"/>
          </a:p>
        </p:txBody>
      </p:sp>
      <p:sp>
        <p:nvSpPr>
          <p:cNvPr id="24" name="Text 22"/>
          <p:cNvSpPr/>
          <p:nvPr/>
        </p:nvSpPr>
        <p:spPr>
          <a:xfrm>
            <a:off x="7393484" y="1483717"/>
            <a:ext cx="42971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HRS</a:t>
            </a:r>
            <a:endParaRPr lang="en-US" sz="1200" dirty="0"/>
          </a:p>
        </p:txBody>
      </p:sp>
      <p:sp>
        <p:nvSpPr>
          <p:cNvPr id="25" name="Shape 23"/>
          <p:cNvSpPr/>
          <p:nvPr/>
        </p:nvSpPr>
        <p:spPr>
          <a:xfrm>
            <a:off x="3556000" y="1797348"/>
            <a:ext cx="127000" cy="304800"/>
          </a:xfrm>
          <a:prstGeom prst="roundRect">
            <a:avLst>
              <a:gd name="adj" fmla="val 20000"/>
            </a:avLst>
          </a:prstGeom>
          <a:solidFill>
            <a:srgbClr val="012F47"/>
          </a:solidFill>
          <a:ln/>
        </p:spPr>
      </p:sp>
      <p:sp>
        <p:nvSpPr>
          <p:cNvPr id="26" name="Text 24"/>
          <p:cNvSpPr/>
          <p:nvPr/>
        </p:nvSpPr>
        <p:spPr>
          <a:xfrm>
            <a:off x="3784600" y="176053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Data sourcing &amp; exploration</a:t>
            </a:r>
            <a:endParaRPr lang="en-US" sz="1200" dirty="0"/>
          </a:p>
        </p:txBody>
      </p:sp>
      <p:sp>
        <p:nvSpPr>
          <p:cNvPr id="27" name="Text 25"/>
          <p:cNvSpPr/>
          <p:nvPr/>
        </p:nvSpPr>
        <p:spPr>
          <a:xfrm>
            <a:off x="3784600" y="195609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Pull history, profile, spot gaps</a:t>
            </a:r>
            <a:endParaRPr lang="en-US" sz="1200" dirty="0"/>
          </a:p>
        </p:txBody>
      </p:sp>
      <p:sp>
        <p:nvSpPr>
          <p:cNvPr id="28" name="Text 26"/>
          <p:cNvSpPr/>
          <p:nvPr/>
        </p:nvSpPr>
        <p:spPr>
          <a:xfrm>
            <a:off x="6896100" y="184308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180 → </a:t>
            </a:r>
            <a:r>
              <a:rPr lang="en-US" sz="1200" b="1" dirty="0">
                <a:solidFill>
                  <a:srgbClr val="0276B1"/>
                </a:solidFill>
                <a:latin typeface="Arial" pitchFamily="34" charset="0"/>
                <a:ea typeface="Arial" pitchFamily="34" charset="-122"/>
                <a:cs typeface="Arial" pitchFamily="34" charset="-120"/>
              </a:rPr>
              <a:t>80</a:t>
            </a:r>
            <a:endParaRPr lang="en-US" sz="1200" dirty="0"/>
          </a:p>
        </p:txBody>
      </p:sp>
      <p:sp>
        <p:nvSpPr>
          <p:cNvPr id="29" name="Shape 27"/>
          <p:cNvSpPr/>
          <p:nvPr/>
        </p:nvSpPr>
        <p:spPr>
          <a:xfrm>
            <a:off x="3556000" y="2239268"/>
            <a:ext cx="127000" cy="304800"/>
          </a:xfrm>
          <a:prstGeom prst="roundRect">
            <a:avLst>
              <a:gd name="adj" fmla="val 20000"/>
            </a:avLst>
          </a:prstGeom>
          <a:solidFill>
            <a:srgbClr val="014E74"/>
          </a:solidFill>
          <a:ln/>
        </p:spPr>
      </p:sp>
      <p:sp>
        <p:nvSpPr>
          <p:cNvPr id="30" name="Text 28"/>
          <p:cNvSpPr/>
          <p:nvPr/>
        </p:nvSpPr>
        <p:spPr>
          <a:xfrm>
            <a:off x="3784600" y="220245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Data cleaning &amp; prep</a:t>
            </a:r>
            <a:endParaRPr lang="en-US" sz="1200" dirty="0"/>
          </a:p>
        </p:txBody>
      </p:sp>
      <p:sp>
        <p:nvSpPr>
          <p:cNvPr id="31" name="Text 29"/>
          <p:cNvSpPr/>
          <p:nvPr/>
        </p:nvSpPr>
        <p:spPr>
          <a:xfrm>
            <a:off x="3784600" y="239801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Fix breaks, outliers, build datasets</a:t>
            </a:r>
            <a:endParaRPr lang="en-US" sz="1200" dirty="0"/>
          </a:p>
        </p:txBody>
      </p:sp>
      <p:sp>
        <p:nvSpPr>
          <p:cNvPr id="32" name="Text 30"/>
          <p:cNvSpPr/>
          <p:nvPr/>
        </p:nvSpPr>
        <p:spPr>
          <a:xfrm>
            <a:off x="6896100" y="228500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300 → </a:t>
            </a:r>
            <a:r>
              <a:rPr lang="en-US" sz="1200" b="1" dirty="0">
                <a:solidFill>
                  <a:srgbClr val="0276B1"/>
                </a:solidFill>
                <a:latin typeface="Arial" pitchFamily="34" charset="0"/>
                <a:ea typeface="Arial" pitchFamily="34" charset="-122"/>
                <a:cs typeface="Arial" pitchFamily="34" charset="-120"/>
              </a:rPr>
              <a:t>120</a:t>
            </a:r>
            <a:endParaRPr lang="en-US" sz="1200" dirty="0"/>
          </a:p>
        </p:txBody>
      </p:sp>
      <p:sp>
        <p:nvSpPr>
          <p:cNvPr id="33" name="Shape 31"/>
          <p:cNvSpPr/>
          <p:nvPr/>
        </p:nvSpPr>
        <p:spPr>
          <a:xfrm>
            <a:off x="3556000" y="2681188"/>
            <a:ext cx="127000" cy="304800"/>
          </a:xfrm>
          <a:prstGeom prst="roundRect">
            <a:avLst>
              <a:gd name="adj" fmla="val 20000"/>
            </a:avLst>
          </a:prstGeom>
          <a:solidFill>
            <a:srgbClr val="026597"/>
          </a:solidFill>
          <a:ln/>
        </p:spPr>
      </p:sp>
      <p:sp>
        <p:nvSpPr>
          <p:cNvPr id="34" name="Text 32"/>
          <p:cNvSpPr/>
          <p:nvPr/>
        </p:nvSpPr>
        <p:spPr>
          <a:xfrm>
            <a:off x="3784600" y="264437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Segmentation &amp; variables</a:t>
            </a:r>
            <a:endParaRPr lang="en-US" sz="1200" dirty="0"/>
          </a:p>
        </p:txBody>
      </p:sp>
      <p:sp>
        <p:nvSpPr>
          <p:cNvPr id="35" name="Text 33"/>
          <p:cNvSpPr/>
          <p:nvPr/>
        </p:nvSpPr>
        <p:spPr>
          <a:xfrm>
            <a:off x="3784600" y="283993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Segments, drivers, macro candidates</a:t>
            </a:r>
            <a:endParaRPr lang="en-US" sz="1200" dirty="0"/>
          </a:p>
        </p:txBody>
      </p:sp>
      <p:sp>
        <p:nvSpPr>
          <p:cNvPr id="36" name="Text 34"/>
          <p:cNvSpPr/>
          <p:nvPr/>
        </p:nvSpPr>
        <p:spPr>
          <a:xfrm>
            <a:off x="6896100" y="272692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150 → </a:t>
            </a:r>
            <a:r>
              <a:rPr lang="en-US" sz="1200" b="1" dirty="0">
                <a:solidFill>
                  <a:srgbClr val="0276B1"/>
                </a:solidFill>
                <a:latin typeface="Arial" pitchFamily="34" charset="0"/>
                <a:ea typeface="Arial" pitchFamily="34" charset="-122"/>
                <a:cs typeface="Arial" pitchFamily="34" charset="-120"/>
              </a:rPr>
              <a:t>80</a:t>
            </a:r>
            <a:endParaRPr lang="en-US" sz="1200" dirty="0"/>
          </a:p>
        </p:txBody>
      </p:sp>
      <p:sp>
        <p:nvSpPr>
          <p:cNvPr id="37" name="Shape 35"/>
          <p:cNvSpPr/>
          <p:nvPr/>
        </p:nvSpPr>
        <p:spPr>
          <a:xfrm>
            <a:off x="3556000" y="3123109"/>
            <a:ext cx="127000" cy="304800"/>
          </a:xfrm>
          <a:prstGeom prst="roundRect">
            <a:avLst>
              <a:gd name="adj" fmla="val 20000"/>
            </a:avLst>
          </a:prstGeom>
          <a:solidFill>
            <a:srgbClr val="0276B1"/>
          </a:solidFill>
          <a:ln/>
        </p:spPr>
      </p:sp>
      <p:sp>
        <p:nvSpPr>
          <p:cNvPr id="38" name="Text 36"/>
          <p:cNvSpPr/>
          <p:nvPr/>
        </p:nvSpPr>
        <p:spPr>
          <a:xfrm>
            <a:off x="3784600" y="308629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Model estimation</a:t>
            </a:r>
            <a:endParaRPr lang="en-US" sz="1200" dirty="0"/>
          </a:p>
        </p:txBody>
      </p:sp>
      <p:sp>
        <p:nvSpPr>
          <p:cNvPr id="39" name="Text 37"/>
          <p:cNvSpPr/>
          <p:nvPr/>
        </p:nvSpPr>
        <p:spPr>
          <a:xfrm>
            <a:off x="3784600" y="328185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Specify and fit candidate models</a:t>
            </a:r>
            <a:endParaRPr lang="en-US" sz="1200" dirty="0"/>
          </a:p>
        </p:txBody>
      </p:sp>
      <p:sp>
        <p:nvSpPr>
          <p:cNvPr id="40" name="Text 38"/>
          <p:cNvSpPr/>
          <p:nvPr/>
        </p:nvSpPr>
        <p:spPr>
          <a:xfrm>
            <a:off x="6896100" y="316884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150 → </a:t>
            </a:r>
            <a:r>
              <a:rPr lang="en-US" sz="1200" b="1" dirty="0">
                <a:solidFill>
                  <a:srgbClr val="0276B1"/>
                </a:solidFill>
                <a:latin typeface="Arial" pitchFamily="34" charset="0"/>
                <a:ea typeface="Arial" pitchFamily="34" charset="-122"/>
                <a:cs typeface="Arial" pitchFamily="34" charset="-120"/>
              </a:rPr>
              <a:t>70</a:t>
            </a:r>
            <a:endParaRPr lang="en-US" sz="1200" dirty="0"/>
          </a:p>
        </p:txBody>
      </p:sp>
      <p:sp>
        <p:nvSpPr>
          <p:cNvPr id="41" name="Shape 39"/>
          <p:cNvSpPr/>
          <p:nvPr/>
        </p:nvSpPr>
        <p:spPr>
          <a:xfrm>
            <a:off x="3556000" y="3565029"/>
            <a:ext cx="127000" cy="304800"/>
          </a:xfrm>
          <a:prstGeom prst="roundRect">
            <a:avLst>
              <a:gd name="adj" fmla="val 20000"/>
            </a:avLst>
          </a:prstGeom>
          <a:solidFill>
            <a:srgbClr val="3A93C4"/>
          </a:solidFill>
          <a:ln/>
        </p:spPr>
      </p:sp>
      <p:sp>
        <p:nvSpPr>
          <p:cNvPr id="42" name="Text 40"/>
          <p:cNvSpPr/>
          <p:nvPr/>
        </p:nvSpPr>
        <p:spPr>
          <a:xfrm>
            <a:off x="3784600" y="352821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Testing &amp; outcome analysis</a:t>
            </a:r>
            <a:endParaRPr lang="en-US" sz="1200" dirty="0"/>
          </a:p>
        </p:txBody>
      </p:sp>
      <p:sp>
        <p:nvSpPr>
          <p:cNvPr id="43" name="Text 41"/>
          <p:cNvSpPr/>
          <p:nvPr/>
        </p:nvSpPr>
        <p:spPr>
          <a:xfrm>
            <a:off x="3784600" y="372377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Backtests, stability, sensitivity</a:t>
            </a:r>
            <a:endParaRPr lang="en-US" sz="1200" dirty="0"/>
          </a:p>
        </p:txBody>
      </p:sp>
      <p:sp>
        <p:nvSpPr>
          <p:cNvPr id="44" name="Text 42"/>
          <p:cNvSpPr/>
          <p:nvPr/>
        </p:nvSpPr>
        <p:spPr>
          <a:xfrm>
            <a:off x="6896100" y="361076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200 → </a:t>
            </a:r>
            <a:r>
              <a:rPr lang="en-US" sz="1200" b="1" dirty="0">
                <a:solidFill>
                  <a:srgbClr val="0276B1"/>
                </a:solidFill>
                <a:latin typeface="Arial" pitchFamily="34" charset="0"/>
                <a:ea typeface="Arial" pitchFamily="34" charset="-122"/>
                <a:cs typeface="Arial" pitchFamily="34" charset="-120"/>
              </a:rPr>
              <a:t>90</a:t>
            </a:r>
            <a:endParaRPr lang="en-US" sz="1200" dirty="0"/>
          </a:p>
        </p:txBody>
      </p:sp>
      <p:sp>
        <p:nvSpPr>
          <p:cNvPr id="45" name="Shape 43"/>
          <p:cNvSpPr/>
          <p:nvPr/>
        </p:nvSpPr>
        <p:spPr>
          <a:xfrm>
            <a:off x="3556000" y="4006949"/>
            <a:ext cx="127000" cy="304800"/>
          </a:xfrm>
          <a:prstGeom prst="roundRect">
            <a:avLst>
              <a:gd name="adj" fmla="val 20000"/>
            </a:avLst>
          </a:prstGeom>
          <a:solidFill>
            <a:srgbClr val="6FB0D4"/>
          </a:solidFill>
          <a:ln/>
        </p:spPr>
      </p:sp>
      <p:sp>
        <p:nvSpPr>
          <p:cNvPr id="46" name="Text 44"/>
          <p:cNvSpPr/>
          <p:nvPr/>
        </p:nvSpPr>
        <p:spPr>
          <a:xfrm>
            <a:off x="3784600" y="397013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Documentation</a:t>
            </a:r>
            <a:endParaRPr lang="en-US" sz="1200" dirty="0"/>
          </a:p>
        </p:txBody>
      </p:sp>
      <p:sp>
        <p:nvSpPr>
          <p:cNvPr id="47" name="Text 45"/>
          <p:cNvSpPr/>
          <p:nvPr/>
        </p:nvSpPr>
        <p:spPr>
          <a:xfrm>
            <a:off x="3784600" y="416569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Development doc for model risk</a:t>
            </a:r>
            <a:endParaRPr lang="en-US" sz="1200" dirty="0"/>
          </a:p>
        </p:txBody>
      </p:sp>
      <p:sp>
        <p:nvSpPr>
          <p:cNvPr id="48" name="Text 46"/>
          <p:cNvSpPr/>
          <p:nvPr/>
        </p:nvSpPr>
        <p:spPr>
          <a:xfrm>
            <a:off x="6896100" y="405268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250 → </a:t>
            </a:r>
            <a:r>
              <a:rPr lang="en-US" sz="1200" b="1" dirty="0">
                <a:solidFill>
                  <a:srgbClr val="0276B1"/>
                </a:solidFill>
                <a:latin typeface="Arial" pitchFamily="34" charset="0"/>
                <a:ea typeface="Arial" pitchFamily="34" charset="-122"/>
                <a:cs typeface="Arial" pitchFamily="34" charset="-120"/>
              </a:rPr>
              <a:t>90</a:t>
            </a:r>
            <a:endParaRPr lang="en-US" sz="1200" dirty="0"/>
          </a:p>
        </p:txBody>
      </p:sp>
      <p:sp>
        <p:nvSpPr>
          <p:cNvPr id="49" name="Shape 47"/>
          <p:cNvSpPr/>
          <p:nvPr/>
        </p:nvSpPr>
        <p:spPr>
          <a:xfrm>
            <a:off x="3556000" y="4448870"/>
            <a:ext cx="127000" cy="304800"/>
          </a:xfrm>
          <a:prstGeom prst="roundRect">
            <a:avLst>
              <a:gd name="adj" fmla="val 20000"/>
            </a:avLst>
          </a:prstGeom>
          <a:solidFill>
            <a:srgbClr val="A3CDE4"/>
          </a:solidFill>
          <a:ln/>
        </p:spPr>
      </p:sp>
      <p:sp>
        <p:nvSpPr>
          <p:cNvPr id="50" name="Text 48"/>
          <p:cNvSpPr/>
          <p:nvPr/>
        </p:nvSpPr>
        <p:spPr>
          <a:xfrm>
            <a:off x="3784600" y="441205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Validation support</a:t>
            </a:r>
            <a:endParaRPr lang="en-US" sz="1200" dirty="0"/>
          </a:p>
        </p:txBody>
      </p:sp>
      <p:sp>
        <p:nvSpPr>
          <p:cNvPr id="51" name="Text 49"/>
          <p:cNvSpPr/>
          <p:nvPr/>
        </p:nvSpPr>
        <p:spPr>
          <a:xfrm>
            <a:off x="3784600" y="4607620"/>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Answer MRM findings and challenge</a:t>
            </a:r>
            <a:endParaRPr lang="en-US" sz="1200" dirty="0"/>
          </a:p>
        </p:txBody>
      </p:sp>
      <p:sp>
        <p:nvSpPr>
          <p:cNvPr id="52" name="Text 50"/>
          <p:cNvSpPr/>
          <p:nvPr/>
        </p:nvSpPr>
        <p:spPr>
          <a:xfrm>
            <a:off x="6896100" y="449460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120 → </a:t>
            </a:r>
            <a:r>
              <a:rPr lang="en-US" sz="1200" b="1" dirty="0">
                <a:solidFill>
                  <a:srgbClr val="0276B1"/>
                </a:solidFill>
                <a:latin typeface="Arial" pitchFamily="34" charset="0"/>
                <a:ea typeface="Arial" pitchFamily="34" charset="-122"/>
                <a:cs typeface="Arial" pitchFamily="34" charset="-120"/>
              </a:rPr>
              <a:t>70</a:t>
            </a:r>
            <a:endParaRPr lang="en-US" sz="1200" dirty="0"/>
          </a:p>
        </p:txBody>
      </p:sp>
      <p:sp>
        <p:nvSpPr>
          <p:cNvPr id="53" name="Shape 51"/>
          <p:cNvSpPr/>
          <p:nvPr/>
        </p:nvSpPr>
        <p:spPr>
          <a:xfrm>
            <a:off x="3556000" y="4890790"/>
            <a:ext cx="127000" cy="304800"/>
          </a:xfrm>
          <a:prstGeom prst="roundRect">
            <a:avLst>
              <a:gd name="adj" fmla="val 20000"/>
            </a:avLst>
          </a:prstGeom>
          <a:solidFill>
            <a:srgbClr val="D0E6F2"/>
          </a:solidFill>
          <a:ln/>
        </p:spPr>
      </p:sp>
      <p:sp>
        <p:nvSpPr>
          <p:cNvPr id="54" name="Text 52"/>
          <p:cNvSpPr/>
          <p:nvPr/>
        </p:nvSpPr>
        <p:spPr>
          <a:xfrm>
            <a:off x="3784600" y="4853980"/>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Implementation &amp; deployment</a:t>
            </a:r>
            <a:endParaRPr lang="en-US" sz="1200" dirty="0"/>
          </a:p>
        </p:txBody>
      </p:sp>
      <p:sp>
        <p:nvSpPr>
          <p:cNvPr id="55" name="Text 53"/>
          <p:cNvSpPr/>
          <p:nvPr/>
        </p:nvSpPr>
        <p:spPr>
          <a:xfrm>
            <a:off x="3784600" y="5049540"/>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Release on the enterprise platform</a:t>
            </a:r>
            <a:endParaRPr lang="en-US" sz="1200" dirty="0"/>
          </a:p>
        </p:txBody>
      </p:sp>
      <p:sp>
        <p:nvSpPr>
          <p:cNvPr id="56" name="Text 54"/>
          <p:cNvSpPr/>
          <p:nvPr/>
        </p:nvSpPr>
        <p:spPr>
          <a:xfrm>
            <a:off x="6896100" y="4936530"/>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150 → </a:t>
            </a:r>
            <a:r>
              <a:rPr lang="en-US" sz="1200" b="1" dirty="0">
                <a:solidFill>
                  <a:srgbClr val="0276B1"/>
                </a:solidFill>
                <a:latin typeface="Arial" pitchFamily="34" charset="0"/>
                <a:ea typeface="Arial" pitchFamily="34" charset="-122"/>
                <a:cs typeface="Arial" pitchFamily="34" charset="-120"/>
              </a:rPr>
              <a:t>60</a:t>
            </a:r>
            <a:endParaRPr lang="en-US" sz="1200" dirty="0"/>
          </a:p>
        </p:txBody>
      </p:sp>
      <p:sp>
        <p:nvSpPr>
          <p:cNvPr id="57" name="Text 55"/>
          <p:cNvSpPr/>
          <p:nvPr/>
        </p:nvSpPr>
        <p:spPr>
          <a:xfrm>
            <a:off x="8077200" y="1412230"/>
            <a:ext cx="3401060" cy="578048"/>
          </a:xfrm>
          <a:prstGeom prst="rect">
            <a:avLst/>
          </a:prstGeom>
          <a:noFill/>
          <a:ln/>
        </p:spPr>
        <p:txBody>
          <a:bodyPr wrap="square" lIns="0" tIns="0" rIns="0" bIns="0" rtlCol="0" anchor="t">
            <a:normAutofit/>
          </a:bodyPr>
          <a:lstStyle/>
          <a:p>
            <a:pPr algn="l" indent="0" marL="0">
              <a:lnSpc>
                <a:spcPts val="4373"/>
              </a:lnSpc>
              <a:buNone/>
            </a:pPr>
            <a:r>
              <a:rPr lang="en-US" sz="3975" b="1" dirty="0">
                <a:solidFill>
                  <a:srgbClr val="0276B1"/>
                </a:solidFill>
                <a:latin typeface="Arial" pitchFamily="34" charset="0"/>
                <a:ea typeface="Arial" pitchFamily="34" charset="-122"/>
                <a:cs typeface="Arial" pitchFamily="34" charset="-120"/>
              </a:rPr>
              <a:t>−56%</a:t>
            </a:r>
            <a:endParaRPr lang="en-US" sz="3975" dirty="0"/>
          </a:p>
        </p:txBody>
      </p:sp>
      <p:sp>
        <p:nvSpPr>
          <p:cNvPr id="58" name="Text 56"/>
          <p:cNvSpPr/>
          <p:nvPr/>
        </p:nvSpPr>
        <p:spPr>
          <a:xfrm>
            <a:off x="8077200" y="2041079"/>
            <a:ext cx="3401060" cy="23633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FTE hours per model</a:t>
            </a:r>
            <a:endParaRPr lang="en-US" sz="1196" dirty="0"/>
          </a:p>
        </p:txBody>
      </p:sp>
      <p:sp>
        <p:nvSpPr>
          <p:cNvPr id="59" name="Text 57"/>
          <p:cNvSpPr/>
          <p:nvPr/>
        </p:nvSpPr>
        <p:spPr>
          <a:xfrm>
            <a:off x="8077200" y="2328218"/>
            <a:ext cx="3401060" cy="236389"/>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6B6B6B"/>
                </a:solidFill>
                <a:latin typeface="Arial" pitchFamily="34" charset="0"/>
                <a:ea typeface="Arial" pitchFamily="34" charset="-122"/>
                <a:cs typeface="Arial" pitchFamily="34" charset="-120"/>
              </a:rPr>
              <a:t>WHAT MOVES THE BARS</a:t>
            </a:r>
            <a:endParaRPr lang="en-US" sz="1196" dirty="0"/>
          </a:p>
        </p:txBody>
      </p:sp>
      <p:sp>
        <p:nvSpPr>
          <p:cNvPr id="60" name="Shape 58"/>
          <p:cNvSpPr/>
          <p:nvPr/>
        </p:nvSpPr>
        <p:spPr>
          <a:xfrm>
            <a:off x="8080375" y="2618581"/>
            <a:ext cx="3295650" cy="590748"/>
          </a:xfrm>
          <a:prstGeom prst="roundRect">
            <a:avLst>
              <a:gd name="adj" fmla="val 3762"/>
            </a:avLst>
          </a:prstGeom>
          <a:solidFill>
            <a:srgbClr val="FFFFFF"/>
          </a:solidFill>
          <a:ln w="6350">
            <a:solidFill>
              <a:srgbClr val="E6E6E6"/>
            </a:solidFill>
            <a:prstDash val="solid"/>
          </a:ln>
        </p:spPr>
      </p:sp>
      <p:sp>
        <p:nvSpPr>
          <p:cNvPr id="61" name="Text 59"/>
          <p:cNvSpPr/>
          <p:nvPr/>
        </p:nvSpPr>
        <p:spPr>
          <a:xfrm>
            <a:off x="8235950" y="2697956"/>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Curated, quality-monitored data</a:t>
            </a:r>
            <a:endParaRPr lang="en-US" sz="1300" dirty="0"/>
          </a:p>
        </p:txBody>
      </p:sp>
      <p:sp>
        <p:nvSpPr>
          <p:cNvPr id="62" name="Text 60"/>
          <p:cNvSpPr/>
          <p:nvPr/>
        </p:nvSpPr>
        <p:spPr>
          <a:xfrm>
            <a:off x="8235950" y="2919115"/>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Sourcing, cleaning</a:t>
            </a:r>
            <a:endParaRPr lang="en-US" sz="1196" dirty="0"/>
          </a:p>
        </p:txBody>
      </p:sp>
      <p:sp>
        <p:nvSpPr>
          <p:cNvPr id="63" name="Shape 61"/>
          <p:cNvSpPr/>
          <p:nvPr/>
        </p:nvSpPr>
        <p:spPr>
          <a:xfrm>
            <a:off x="8080375" y="3291880"/>
            <a:ext cx="3295650" cy="590748"/>
          </a:xfrm>
          <a:prstGeom prst="roundRect">
            <a:avLst>
              <a:gd name="adj" fmla="val 3762"/>
            </a:avLst>
          </a:prstGeom>
          <a:solidFill>
            <a:srgbClr val="FFFFFF"/>
          </a:solidFill>
          <a:ln w="6350">
            <a:solidFill>
              <a:srgbClr val="E6E6E6"/>
            </a:solidFill>
            <a:prstDash val="solid"/>
          </a:ln>
        </p:spPr>
      </p:sp>
      <p:sp>
        <p:nvSpPr>
          <p:cNvPr id="64" name="Text 62"/>
          <p:cNvSpPr/>
          <p:nvPr/>
        </p:nvSpPr>
        <p:spPr>
          <a:xfrm>
            <a:off x="8235950" y="3371255"/>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Standardized calculation library</a:t>
            </a:r>
            <a:endParaRPr lang="en-US" sz="1300" dirty="0"/>
          </a:p>
        </p:txBody>
      </p:sp>
      <p:sp>
        <p:nvSpPr>
          <p:cNvPr id="65" name="Text 63"/>
          <p:cNvSpPr/>
          <p:nvPr/>
        </p:nvSpPr>
        <p:spPr>
          <a:xfrm>
            <a:off x="8235950" y="3592413"/>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Variables, testing</a:t>
            </a:r>
            <a:endParaRPr lang="en-US" sz="1196" dirty="0"/>
          </a:p>
        </p:txBody>
      </p:sp>
      <p:sp>
        <p:nvSpPr>
          <p:cNvPr id="66" name="Shape 64"/>
          <p:cNvSpPr/>
          <p:nvPr/>
        </p:nvSpPr>
        <p:spPr>
          <a:xfrm>
            <a:off x="8080375" y="3965178"/>
            <a:ext cx="3295650" cy="590748"/>
          </a:xfrm>
          <a:prstGeom prst="roundRect">
            <a:avLst>
              <a:gd name="adj" fmla="val 3762"/>
            </a:avLst>
          </a:prstGeom>
          <a:solidFill>
            <a:srgbClr val="FFFFFF"/>
          </a:solidFill>
          <a:ln w="6350">
            <a:solidFill>
              <a:srgbClr val="E6E6E6"/>
            </a:solidFill>
            <a:prstDash val="solid"/>
          </a:ln>
        </p:spPr>
      </p:sp>
      <p:sp>
        <p:nvSpPr>
          <p:cNvPr id="67" name="Text 65"/>
          <p:cNvSpPr/>
          <p:nvPr/>
        </p:nvSpPr>
        <p:spPr>
          <a:xfrm>
            <a:off x="8235950" y="4044553"/>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AI coding assistants (Claude Code)</a:t>
            </a:r>
            <a:endParaRPr lang="en-US" sz="1300" dirty="0"/>
          </a:p>
        </p:txBody>
      </p:sp>
      <p:sp>
        <p:nvSpPr>
          <p:cNvPr id="68" name="Text 66"/>
          <p:cNvSpPr/>
          <p:nvPr/>
        </p:nvSpPr>
        <p:spPr>
          <a:xfrm>
            <a:off x="8235950" y="4265712"/>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Estimation, testing, documentation</a:t>
            </a:r>
            <a:endParaRPr lang="en-US" sz="1196" dirty="0"/>
          </a:p>
        </p:txBody>
      </p:sp>
      <p:sp>
        <p:nvSpPr>
          <p:cNvPr id="69" name="Shape 67"/>
          <p:cNvSpPr/>
          <p:nvPr/>
        </p:nvSpPr>
        <p:spPr>
          <a:xfrm>
            <a:off x="8080375" y="4638477"/>
            <a:ext cx="3295650" cy="590748"/>
          </a:xfrm>
          <a:prstGeom prst="roundRect">
            <a:avLst>
              <a:gd name="adj" fmla="val 3762"/>
            </a:avLst>
          </a:prstGeom>
          <a:solidFill>
            <a:srgbClr val="FFFFFF"/>
          </a:solidFill>
          <a:ln w="6350">
            <a:solidFill>
              <a:srgbClr val="E6E6E6"/>
            </a:solidFill>
            <a:prstDash val="solid"/>
          </a:ln>
        </p:spPr>
      </p:sp>
      <p:sp>
        <p:nvSpPr>
          <p:cNvPr id="70" name="Text 68"/>
          <p:cNvSpPr/>
          <p:nvPr/>
        </p:nvSpPr>
        <p:spPr>
          <a:xfrm>
            <a:off x="8235950" y="4717852"/>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Automated deployment pipeline</a:t>
            </a:r>
            <a:endParaRPr lang="en-US" sz="1300" dirty="0"/>
          </a:p>
        </p:txBody>
      </p:sp>
      <p:sp>
        <p:nvSpPr>
          <p:cNvPr id="71" name="Text 69"/>
          <p:cNvSpPr/>
          <p:nvPr/>
        </p:nvSpPr>
        <p:spPr>
          <a:xfrm>
            <a:off x="8235950" y="4939010"/>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Implementation and deployment</a:t>
            </a:r>
            <a:endParaRPr lang="en-US" sz="1196" dirty="0"/>
          </a:p>
        </p:txBody>
      </p:sp>
      <p:sp>
        <p:nvSpPr>
          <p:cNvPr id="72" name="Shape 70"/>
          <p:cNvSpPr/>
          <p:nvPr/>
        </p:nvSpPr>
        <p:spPr>
          <a:xfrm>
            <a:off x="812800" y="5384800"/>
            <a:ext cx="10566400" cy="457200"/>
          </a:xfrm>
          <a:prstGeom prst="roundRect">
            <a:avLst>
              <a:gd name="adj" fmla="val 11111"/>
            </a:avLst>
          </a:prstGeom>
          <a:solidFill>
            <a:srgbClr val="F4F4F4"/>
          </a:solidFill>
          <a:ln/>
        </p:spPr>
      </p:sp>
      <p:sp>
        <p:nvSpPr>
          <p:cNvPr id="73" name="Text 71"/>
          <p:cNvSpPr/>
          <p:nvPr/>
        </p:nvSpPr>
        <p:spPr>
          <a:xfrm>
            <a:off x="1016000" y="5506740"/>
            <a:ext cx="11534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HOW OFTEN</a:t>
            </a:r>
            <a:endParaRPr lang="en-US" sz="1200" dirty="0"/>
          </a:p>
        </p:txBody>
      </p:sp>
      <p:sp>
        <p:nvSpPr>
          <p:cNvPr id="74" name="Text 72"/>
          <p:cNvSpPr/>
          <p:nvPr/>
        </p:nvSpPr>
        <p:spPr>
          <a:xfrm>
            <a:off x="2321868" y="5473700"/>
            <a:ext cx="269018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1414"/>
                </a:solidFill>
                <a:latin typeface="Arial" pitchFamily="34" charset="0"/>
                <a:ea typeface="Arial" pitchFamily="34" charset="-122"/>
                <a:cs typeface="Arial" pitchFamily="34" charset="-120"/>
              </a:rPr>
              <a:t>[1–2] models per year</a:t>
            </a:r>
            <a:endParaRPr lang="en-US" sz="2000" dirty="0"/>
          </a:p>
        </p:txBody>
      </p:sp>
      <p:sp>
        <p:nvSpPr>
          <p:cNvPr id="75" name="Text 73"/>
          <p:cNvSpPr/>
          <p:nvPr/>
        </p:nvSpPr>
        <p:spPr>
          <a:xfrm>
            <a:off x="5136902" y="5506740"/>
            <a:ext cx="34872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5252"/>
                </a:solidFill>
                <a:latin typeface="Arial" pitchFamily="34" charset="0"/>
                <a:ea typeface="Arial" pitchFamily="34" charset="-122"/>
                <a:cs typeface="Arial" pitchFamily="34" charset="-120"/>
              </a:rPr>
              <a:t>Large effort per model: about 3 FTEs for 3 months</a:t>
            </a:r>
            <a:endParaRPr lang="en-US" sz="1200" dirty="0"/>
          </a:p>
        </p:txBody>
      </p:sp>
      <p:sp>
        <p:nvSpPr>
          <p:cNvPr id="76" name="Text 7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Bars show FTE hours for a single model · Placeholder estimates, to be replaced with measured figures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41414"/>
                </a:solidFill>
                <a:latin typeface="Arial" pitchFamily="34" charset="0"/>
                <a:ea typeface="Arial" pitchFamily="34" charset="-122"/>
                <a:cs typeface="Arial" pitchFamily="34" charset="-120"/>
              </a:rPr>
              <a:t>AI could cut each quarter's analysis by 60%</a:t>
            </a:r>
            <a:endParaRPr lang="en-US" sz="3200" dirty="0"/>
          </a:p>
        </p:txBody>
      </p:sp>
      <p:sp>
        <p:nvSpPr>
          <p:cNvPr id="3" name="Text 1"/>
          <p:cNvSpPr/>
          <p:nvPr/>
        </p:nvSpPr>
        <p:spPr>
          <a:xfrm>
            <a:off x="812800" y="149612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TODAY</a:t>
            </a:r>
            <a:endParaRPr lang="en-US" sz="1200" dirty="0"/>
          </a:p>
        </p:txBody>
      </p:sp>
      <p:sp>
        <p:nvSpPr>
          <p:cNvPr id="4" name="Text 2"/>
          <p:cNvSpPr/>
          <p:nvPr/>
        </p:nvSpPr>
        <p:spPr>
          <a:xfrm>
            <a:off x="812800" y="176024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41414"/>
                </a:solidFill>
                <a:latin typeface="Arial" pitchFamily="34" charset="0"/>
                <a:ea typeface="Arial" pitchFamily="34" charset="-122"/>
                <a:cs typeface="Arial" pitchFamily="34" charset="-120"/>
              </a:rPr>
              <a:t>760 hrs</a:t>
            </a:r>
            <a:endParaRPr lang="en-US" sz="1600" dirty="0"/>
          </a:p>
        </p:txBody>
      </p:sp>
      <p:sp>
        <p:nvSpPr>
          <p:cNvPr id="5" name="Shape 3"/>
          <p:cNvSpPr/>
          <p:nvPr/>
        </p:nvSpPr>
        <p:spPr>
          <a:xfrm>
            <a:off x="812800" y="2095500"/>
            <a:ext cx="1143000" cy="241300"/>
          </a:xfrm>
          <a:prstGeom prst="rect">
            <a:avLst/>
          </a:prstGeom>
          <a:solidFill>
            <a:srgbClr val="012F47"/>
          </a:solidFill>
          <a:ln/>
        </p:spPr>
      </p:sp>
      <p:sp>
        <p:nvSpPr>
          <p:cNvPr id="6" name="Shape 4"/>
          <p:cNvSpPr/>
          <p:nvPr/>
        </p:nvSpPr>
        <p:spPr>
          <a:xfrm>
            <a:off x="812800" y="2349500"/>
            <a:ext cx="1143000" cy="400050"/>
          </a:xfrm>
          <a:prstGeom prst="rect">
            <a:avLst/>
          </a:prstGeom>
          <a:solidFill>
            <a:srgbClr val="014E74"/>
          </a:solidFill>
          <a:ln/>
        </p:spPr>
      </p:sp>
      <p:sp>
        <p:nvSpPr>
          <p:cNvPr id="7" name="Shape 5"/>
          <p:cNvSpPr/>
          <p:nvPr/>
        </p:nvSpPr>
        <p:spPr>
          <a:xfrm>
            <a:off x="812800" y="2762250"/>
            <a:ext cx="1143000" cy="558800"/>
          </a:xfrm>
          <a:prstGeom prst="rect">
            <a:avLst/>
          </a:prstGeom>
          <a:solidFill>
            <a:srgbClr val="026597"/>
          </a:solidFill>
          <a:ln/>
        </p:spPr>
      </p:sp>
      <p:sp>
        <p:nvSpPr>
          <p:cNvPr id="8" name="Shape 6"/>
          <p:cNvSpPr/>
          <p:nvPr/>
        </p:nvSpPr>
        <p:spPr>
          <a:xfrm>
            <a:off x="812800" y="3333750"/>
            <a:ext cx="1143000" cy="723900"/>
          </a:xfrm>
          <a:prstGeom prst="rect">
            <a:avLst/>
          </a:prstGeom>
          <a:solidFill>
            <a:srgbClr val="0276B1"/>
          </a:solidFill>
          <a:ln/>
        </p:spPr>
      </p:sp>
      <p:sp>
        <p:nvSpPr>
          <p:cNvPr id="9" name="Shape 7"/>
          <p:cNvSpPr/>
          <p:nvPr/>
        </p:nvSpPr>
        <p:spPr>
          <a:xfrm>
            <a:off x="812800" y="4070350"/>
            <a:ext cx="1143000" cy="323850"/>
          </a:xfrm>
          <a:prstGeom prst="rect">
            <a:avLst/>
          </a:prstGeom>
          <a:solidFill>
            <a:srgbClr val="3A93C4"/>
          </a:solidFill>
          <a:ln/>
        </p:spPr>
      </p:sp>
      <p:sp>
        <p:nvSpPr>
          <p:cNvPr id="10" name="Shape 8"/>
          <p:cNvSpPr/>
          <p:nvPr/>
        </p:nvSpPr>
        <p:spPr>
          <a:xfrm>
            <a:off x="812800" y="4406900"/>
            <a:ext cx="1143000" cy="241300"/>
          </a:xfrm>
          <a:prstGeom prst="rect">
            <a:avLst/>
          </a:prstGeom>
          <a:solidFill>
            <a:srgbClr val="6FB0D4"/>
          </a:solidFill>
          <a:ln/>
        </p:spPr>
      </p:sp>
      <p:sp>
        <p:nvSpPr>
          <p:cNvPr id="11" name="Shape 9"/>
          <p:cNvSpPr/>
          <p:nvPr/>
        </p:nvSpPr>
        <p:spPr>
          <a:xfrm>
            <a:off x="812800" y="4660900"/>
            <a:ext cx="1143000" cy="400050"/>
          </a:xfrm>
          <a:prstGeom prst="rect">
            <a:avLst/>
          </a:prstGeom>
          <a:solidFill>
            <a:srgbClr val="A3CDE4"/>
          </a:solidFill>
          <a:ln/>
        </p:spPr>
      </p:sp>
      <p:sp>
        <p:nvSpPr>
          <p:cNvPr id="12" name="Shape 10"/>
          <p:cNvSpPr/>
          <p:nvPr/>
        </p:nvSpPr>
        <p:spPr>
          <a:xfrm>
            <a:off x="812800" y="5073650"/>
            <a:ext cx="1143000" cy="158750"/>
          </a:xfrm>
          <a:prstGeom prst="rect">
            <a:avLst/>
          </a:prstGeom>
          <a:solidFill>
            <a:srgbClr val="D0E6F2"/>
          </a:solidFill>
          <a:ln/>
        </p:spPr>
      </p:sp>
      <p:sp>
        <p:nvSpPr>
          <p:cNvPr id="13" name="Text 11"/>
          <p:cNvSpPr/>
          <p:nvPr/>
        </p:nvSpPr>
        <p:spPr>
          <a:xfrm>
            <a:off x="2108200" y="333127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WITH AI</a:t>
            </a:r>
            <a:endParaRPr lang="en-US" sz="1200" dirty="0"/>
          </a:p>
        </p:txBody>
      </p:sp>
      <p:sp>
        <p:nvSpPr>
          <p:cNvPr id="14" name="Text 12"/>
          <p:cNvSpPr/>
          <p:nvPr/>
        </p:nvSpPr>
        <p:spPr>
          <a:xfrm>
            <a:off x="2108200" y="3595390"/>
            <a:ext cx="1193800"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276B1"/>
                </a:solidFill>
                <a:latin typeface="Arial" pitchFamily="34" charset="0"/>
                <a:ea typeface="Arial" pitchFamily="34" charset="-122"/>
                <a:cs typeface="Arial" pitchFamily="34" charset="-120"/>
              </a:rPr>
              <a:t>300 hrs</a:t>
            </a:r>
            <a:endParaRPr lang="en-US" sz="1600" dirty="0"/>
          </a:p>
        </p:txBody>
      </p:sp>
      <p:sp>
        <p:nvSpPr>
          <p:cNvPr id="15" name="Shape 13"/>
          <p:cNvSpPr/>
          <p:nvPr/>
        </p:nvSpPr>
        <p:spPr>
          <a:xfrm>
            <a:off x="2108200" y="3930650"/>
            <a:ext cx="1143000" cy="82550"/>
          </a:xfrm>
          <a:prstGeom prst="rect">
            <a:avLst/>
          </a:prstGeom>
          <a:solidFill>
            <a:srgbClr val="012F47"/>
          </a:solidFill>
          <a:ln/>
        </p:spPr>
      </p:sp>
      <p:sp>
        <p:nvSpPr>
          <p:cNvPr id="16" name="Shape 14"/>
          <p:cNvSpPr/>
          <p:nvPr/>
        </p:nvSpPr>
        <p:spPr>
          <a:xfrm>
            <a:off x="2108200" y="4025900"/>
            <a:ext cx="1143000" cy="120650"/>
          </a:xfrm>
          <a:prstGeom prst="rect">
            <a:avLst/>
          </a:prstGeom>
          <a:solidFill>
            <a:srgbClr val="014E74"/>
          </a:solidFill>
          <a:ln/>
        </p:spPr>
      </p:sp>
      <p:sp>
        <p:nvSpPr>
          <p:cNvPr id="17" name="Shape 15"/>
          <p:cNvSpPr/>
          <p:nvPr/>
        </p:nvSpPr>
        <p:spPr>
          <a:xfrm>
            <a:off x="2108200" y="4159250"/>
            <a:ext cx="1143000" cy="203200"/>
          </a:xfrm>
          <a:prstGeom prst="rect">
            <a:avLst/>
          </a:prstGeom>
          <a:solidFill>
            <a:srgbClr val="026597"/>
          </a:solidFill>
          <a:ln/>
        </p:spPr>
      </p:sp>
      <p:sp>
        <p:nvSpPr>
          <p:cNvPr id="18" name="Shape 16"/>
          <p:cNvSpPr/>
          <p:nvPr/>
        </p:nvSpPr>
        <p:spPr>
          <a:xfrm>
            <a:off x="2108200" y="4375150"/>
            <a:ext cx="1143000" cy="241300"/>
          </a:xfrm>
          <a:prstGeom prst="rect">
            <a:avLst/>
          </a:prstGeom>
          <a:solidFill>
            <a:srgbClr val="0276B1"/>
          </a:solidFill>
          <a:ln/>
        </p:spPr>
      </p:sp>
      <p:sp>
        <p:nvSpPr>
          <p:cNvPr id="19" name="Shape 17"/>
          <p:cNvSpPr/>
          <p:nvPr/>
        </p:nvSpPr>
        <p:spPr>
          <a:xfrm>
            <a:off x="2108200" y="4629150"/>
            <a:ext cx="1143000" cy="120650"/>
          </a:xfrm>
          <a:prstGeom prst="rect">
            <a:avLst/>
          </a:prstGeom>
          <a:solidFill>
            <a:srgbClr val="3A93C4"/>
          </a:solidFill>
          <a:ln/>
        </p:spPr>
      </p:sp>
      <p:sp>
        <p:nvSpPr>
          <p:cNvPr id="20" name="Shape 18"/>
          <p:cNvSpPr/>
          <p:nvPr/>
        </p:nvSpPr>
        <p:spPr>
          <a:xfrm>
            <a:off x="2108200" y="4762500"/>
            <a:ext cx="1143000" cy="203200"/>
          </a:xfrm>
          <a:prstGeom prst="rect">
            <a:avLst/>
          </a:prstGeom>
          <a:solidFill>
            <a:srgbClr val="6FB0D4"/>
          </a:solidFill>
          <a:ln/>
        </p:spPr>
      </p:sp>
      <p:sp>
        <p:nvSpPr>
          <p:cNvPr id="21" name="Shape 19"/>
          <p:cNvSpPr/>
          <p:nvPr/>
        </p:nvSpPr>
        <p:spPr>
          <a:xfrm>
            <a:off x="2108200" y="4978400"/>
            <a:ext cx="1143000" cy="120650"/>
          </a:xfrm>
          <a:prstGeom prst="rect">
            <a:avLst/>
          </a:prstGeom>
          <a:solidFill>
            <a:srgbClr val="A3CDE4"/>
          </a:solidFill>
          <a:ln/>
        </p:spPr>
      </p:sp>
      <p:sp>
        <p:nvSpPr>
          <p:cNvPr id="22" name="Shape 20"/>
          <p:cNvSpPr/>
          <p:nvPr/>
        </p:nvSpPr>
        <p:spPr>
          <a:xfrm>
            <a:off x="2108200" y="5111750"/>
            <a:ext cx="1143000" cy="120650"/>
          </a:xfrm>
          <a:prstGeom prst="rect">
            <a:avLst/>
          </a:prstGeom>
          <a:solidFill>
            <a:srgbClr val="D0E6F2"/>
          </a:solidFill>
          <a:ln/>
        </p:spPr>
      </p:sp>
      <p:sp>
        <p:nvSpPr>
          <p:cNvPr id="23" name="Text 21"/>
          <p:cNvSpPr/>
          <p:nvPr/>
        </p:nvSpPr>
        <p:spPr>
          <a:xfrm>
            <a:off x="3556000" y="1483717"/>
            <a:ext cx="2059747"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STEP · ONE QUARTER</a:t>
            </a:r>
            <a:endParaRPr lang="en-US" sz="1200" dirty="0"/>
          </a:p>
        </p:txBody>
      </p:sp>
      <p:sp>
        <p:nvSpPr>
          <p:cNvPr id="24" name="Text 22"/>
          <p:cNvSpPr/>
          <p:nvPr/>
        </p:nvSpPr>
        <p:spPr>
          <a:xfrm>
            <a:off x="7393484" y="1483717"/>
            <a:ext cx="42971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HRS</a:t>
            </a:r>
            <a:endParaRPr lang="en-US" sz="1200" dirty="0"/>
          </a:p>
        </p:txBody>
      </p:sp>
      <p:sp>
        <p:nvSpPr>
          <p:cNvPr id="25" name="Shape 23"/>
          <p:cNvSpPr/>
          <p:nvPr/>
        </p:nvSpPr>
        <p:spPr>
          <a:xfrm>
            <a:off x="3556000" y="1797348"/>
            <a:ext cx="127000" cy="304800"/>
          </a:xfrm>
          <a:prstGeom prst="roundRect">
            <a:avLst>
              <a:gd name="adj" fmla="val 20000"/>
            </a:avLst>
          </a:prstGeom>
          <a:solidFill>
            <a:srgbClr val="012F47"/>
          </a:solidFill>
          <a:ln/>
        </p:spPr>
      </p:sp>
      <p:sp>
        <p:nvSpPr>
          <p:cNvPr id="26" name="Text 24"/>
          <p:cNvSpPr/>
          <p:nvPr/>
        </p:nvSpPr>
        <p:spPr>
          <a:xfrm>
            <a:off x="3784600" y="176053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Collect run results</a:t>
            </a:r>
            <a:endParaRPr lang="en-US" sz="1200" dirty="0"/>
          </a:p>
        </p:txBody>
      </p:sp>
      <p:sp>
        <p:nvSpPr>
          <p:cNvPr id="27" name="Text 25"/>
          <p:cNvSpPr/>
          <p:nvPr/>
        </p:nvSpPr>
        <p:spPr>
          <a:xfrm>
            <a:off x="3784600" y="195609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Gather outputs across portfolios</a:t>
            </a:r>
            <a:endParaRPr lang="en-US" sz="1200" dirty="0"/>
          </a:p>
        </p:txBody>
      </p:sp>
      <p:sp>
        <p:nvSpPr>
          <p:cNvPr id="28" name="Text 26"/>
          <p:cNvSpPr/>
          <p:nvPr/>
        </p:nvSpPr>
        <p:spPr>
          <a:xfrm>
            <a:off x="6896100" y="184308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60 → </a:t>
            </a:r>
            <a:r>
              <a:rPr lang="en-US" sz="1200" b="1" dirty="0">
                <a:solidFill>
                  <a:srgbClr val="0276B1"/>
                </a:solidFill>
                <a:latin typeface="Arial" pitchFamily="34" charset="0"/>
                <a:ea typeface="Arial" pitchFamily="34" charset="-122"/>
                <a:cs typeface="Arial" pitchFamily="34" charset="-120"/>
              </a:rPr>
              <a:t>20</a:t>
            </a:r>
            <a:endParaRPr lang="en-US" sz="1200" dirty="0"/>
          </a:p>
        </p:txBody>
      </p:sp>
      <p:sp>
        <p:nvSpPr>
          <p:cNvPr id="29" name="Shape 27"/>
          <p:cNvSpPr/>
          <p:nvPr/>
        </p:nvSpPr>
        <p:spPr>
          <a:xfrm>
            <a:off x="3556000" y="2239268"/>
            <a:ext cx="127000" cy="304800"/>
          </a:xfrm>
          <a:prstGeom prst="roundRect">
            <a:avLst>
              <a:gd name="adj" fmla="val 20000"/>
            </a:avLst>
          </a:prstGeom>
          <a:solidFill>
            <a:srgbClr val="014E74"/>
          </a:solidFill>
          <a:ln/>
        </p:spPr>
      </p:sp>
      <p:sp>
        <p:nvSpPr>
          <p:cNvPr id="30" name="Text 28"/>
          <p:cNvSpPr/>
          <p:nvPr/>
        </p:nvSpPr>
        <p:spPr>
          <a:xfrm>
            <a:off x="3784600" y="220245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Reconcile &amp; QC</a:t>
            </a:r>
            <a:endParaRPr lang="en-US" sz="1200" dirty="0"/>
          </a:p>
        </p:txBody>
      </p:sp>
      <p:sp>
        <p:nvSpPr>
          <p:cNvPr id="31" name="Text 29"/>
          <p:cNvSpPr/>
          <p:nvPr/>
        </p:nvSpPr>
        <p:spPr>
          <a:xfrm>
            <a:off x="3784600" y="239801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Tie out to source, check anomalies</a:t>
            </a:r>
            <a:endParaRPr lang="en-US" sz="1200" dirty="0"/>
          </a:p>
        </p:txBody>
      </p:sp>
      <p:sp>
        <p:nvSpPr>
          <p:cNvPr id="32" name="Text 30"/>
          <p:cNvSpPr/>
          <p:nvPr/>
        </p:nvSpPr>
        <p:spPr>
          <a:xfrm>
            <a:off x="6896100" y="228500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100 → </a:t>
            </a:r>
            <a:r>
              <a:rPr lang="en-US" sz="1200" b="1" dirty="0">
                <a:solidFill>
                  <a:srgbClr val="0276B1"/>
                </a:solidFill>
                <a:latin typeface="Arial" pitchFamily="34" charset="0"/>
                <a:ea typeface="Arial" pitchFamily="34" charset="-122"/>
                <a:cs typeface="Arial" pitchFamily="34" charset="-120"/>
              </a:rPr>
              <a:t>30</a:t>
            </a:r>
            <a:endParaRPr lang="en-US" sz="1200" dirty="0"/>
          </a:p>
        </p:txBody>
      </p:sp>
      <p:sp>
        <p:nvSpPr>
          <p:cNvPr id="33" name="Shape 31"/>
          <p:cNvSpPr/>
          <p:nvPr/>
        </p:nvSpPr>
        <p:spPr>
          <a:xfrm>
            <a:off x="3556000" y="2681188"/>
            <a:ext cx="127000" cy="304800"/>
          </a:xfrm>
          <a:prstGeom prst="roundRect">
            <a:avLst>
              <a:gd name="adj" fmla="val 20000"/>
            </a:avLst>
          </a:prstGeom>
          <a:solidFill>
            <a:srgbClr val="026597"/>
          </a:solidFill>
          <a:ln/>
        </p:spPr>
      </p:sp>
      <p:sp>
        <p:nvSpPr>
          <p:cNvPr id="34" name="Text 32"/>
          <p:cNvSpPr/>
          <p:nvPr/>
        </p:nvSpPr>
        <p:spPr>
          <a:xfrm>
            <a:off x="3784600" y="264437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Change analysis</a:t>
            </a:r>
            <a:endParaRPr lang="en-US" sz="1200" dirty="0"/>
          </a:p>
        </p:txBody>
      </p:sp>
      <p:sp>
        <p:nvSpPr>
          <p:cNvPr id="35" name="Text 33"/>
          <p:cNvSpPr/>
          <p:nvPr/>
        </p:nvSpPr>
        <p:spPr>
          <a:xfrm>
            <a:off x="3784600" y="2839938"/>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QoQ movement by portfolio, segment</a:t>
            </a:r>
            <a:endParaRPr lang="en-US" sz="1200" dirty="0"/>
          </a:p>
        </p:txBody>
      </p:sp>
      <p:sp>
        <p:nvSpPr>
          <p:cNvPr id="36" name="Text 34"/>
          <p:cNvSpPr/>
          <p:nvPr/>
        </p:nvSpPr>
        <p:spPr>
          <a:xfrm>
            <a:off x="6896100" y="272692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140 → </a:t>
            </a:r>
            <a:r>
              <a:rPr lang="en-US" sz="1200" b="1" dirty="0">
                <a:solidFill>
                  <a:srgbClr val="0276B1"/>
                </a:solidFill>
                <a:latin typeface="Arial" pitchFamily="34" charset="0"/>
                <a:ea typeface="Arial" pitchFamily="34" charset="-122"/>
                <a:cs typeface="Arial" pitchFamily="34" charset="-120"/>
              </a:rPr>
              <a:t>50</a:t>
            </a:r>
            <a:endParaRPr lang="en-US" sz="1200" dirty="0"/>
          </a:p>
        </p:txBody>
      </p:sp>
      <p:sp>
        <p:nvSpPr>
          <p:cNvPr id="37" name="Shape 35"/>
          <p:cNvSpPr/>
          <p:nvPr/>
        </p:nvSpPr>
        <p:spPr>
          <a:xfrm>
            <a:off x="3556000" y="3123109"/>
            <a:ext cx="127000" cy="304800"/>
          </a:xfrm>
          <a:prstGeom prst="roundRect">
            <a:avLst>
              <a:gd name="adj" fmla="val 20000"/>
            </a:avLst>
          </a:prstGeom>
          <a:solidFill>
            <a:srgbClr val="0276B1"/>
          </a:solidFill>
          <a:ln/>
        </p:spPr>
      </p:sp>
      <p:sp>
        <p:nvSpPr>
          <p:cNvPr id="38" name="Text 36"/>
          <p:cNvSpPr/>
          <p:nvPr/>
        </p:nvSpPr>
        <p:spPr>
          <a:xfrm>
            <a:off x="3784600" y="3086298"/>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Driver attribution</a:t>
            </a:r>
            <a:endParaRPr lang="en-US" sz="1200" dirty="0"/>
          </a:p>
        </p:txBody>
      </p:sp>
      <p:sp>
        <p:nvSpPr>
          <p:cNvPr id="39" name="Text 37"/>
          <p:cNvSpPr/>
          <p:nvPr/>
        </p:nvSpPr>
        <p:spPr>
          <a:xfrm>
            <a:off x="3784600" y="328185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Volume, mix, macro, credit quality</a:t>
            </a:r>
            <a:endParaRPr lang="en-US" sz="1200" dirty="0"/>
          </a:p>
        </p:txBody>
      </p:sp>
      <p:sp>
        <p:nvSpPr>
          <p:cNvPr id="40" name="Text 38"/>
          <p:cNvSpPr/>
          <p:nvPr/>
        </p:nvSpPr>
        <p:spPr>
          <a:xfrm>
            <a:off x="6896100" y="3168848"/>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180 → </a:t>
            </a:r>
            <a:r>
              <a:rPr lang="en-US" sz="1200" b="1" dirty="0">
                <a:solidFill>
                  <a:srgbClr val="0276B1"/>
                </a:solidFill>
                <a:latin typeface="Arial" pitchFamily="34" charset="0"/>
                <a:ea typeface="Arial" pitchFamily="34" charset="-122"/>
                <a:cs typeface="Arial" pitchFamily="34" charset="-120"/>
              </a:rPr>
              <a:t>60</a:t>
            </a:r>
            <a:endParaRPr lang="en-US" sz="1200" dirty="0"/>
          </a:p>
        </p:txBody>
      </p:sp>
      <p:sp>
        <p:nvSpPr>
          <p:cNvPr id="41" name="Shape 39"/>
          <p:cNvSpPr/>
          <p:nvPr/>
        </p:nvSpPr>
        <p:spPr>
          <a:xfrm>
            <a:off x="3556000" y="3565029"/>
            <a:ext cx="127000" cy="304800"/>
          </a:xfrm>
          <a:prstGeom prst="roundRect">
            <a:avLst>
              <a:gd name="adj" fmla="val 20000"/>
            </a:avLst>
          </a:prstGeom>
          <a:solidFill>
            <a:srgbClr val="3A93C4"/>
          </a:solidFill>
          <a:ln/>
        </p:spPr>
      </p:sp>
      <p:sp>
        <p:nvSpPr>
          <p:cNvPr id="42" name="Text 40"/>
          <p:cNvSpPr/>
          <p:nvPr/>
        </p:nvSpPr>
        <p:spPr>
          <a:xfrm>
            <a:off x="3784600" y="352821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Sensitivity &amp; scenarios</a:t>
            </a:r>
            <a:endParaRPr lang="en-US" sz="1200" dirty="0"/>
          </a:p>
        </p:txBody>
      </p:sp>
      <p:sp>
        <p:nvSpPr>
          <p:cNvPr id="43" name="Text 41"/>
          <p:cNvSpPr/>
          <p:nvPr/>
        </p:nvSpPr>
        <p:spPr>
          <a:xfrm>
            <a:off x="3784600" y="372377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What-ifs behind the key drivers</a:t>
            </a:r>
            <a:endParaRPr lang="en-US" sz="1200" dirty="0"/>
          </a:p>
        </p:txBody>
      </p:sp>
      <p:sp>
        <p:nvSpPr>
          <p:cNvPr id="44" name="Text 42"/>
          <p:cNvSpPr/>
          <p:nvPr/>
        </p:nvSpPr>
        <p:spPr>
          <a:xfrm>
            <a:off x="6896100" y="361076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80 → </a:t>
            </a:r>
            <a:r>
              <a:rPr lang="en-US" sz="1200" b="1" dirty="0">
                <a:solidFill>
                  <a:srgbClr val="0276B1"/>
                </a:solidFill>
                <a:latin typeface="Arial" pitchFamily="34" charset="0"/>
                <a:ea typeface="Arial" pitchFamily="34" charset="-122"/>
                <a:cs typeface="Arial" pitchFamily="34" charset="-120"/>
              </a:rPr>
              <a:t>30</a:t>
            </a:r>
            <a:endParaRPr lang="en-US" sz="1200" dirty="0"/>
          </a:p>
        </p:txBody>
      </p:sp>
      <p:sp>
        <p:nvSpPr>
          <p:cNvPr id="45" name="Shape 43"/>
          <p:cNvSpPr/>
          <p:nvPr/>
        </p:nvSpPr>
        <p:spPr>
          <a:xfrm>
            <a:off x="3556000" y="4006949"/>
            <a:ext cx="127000" cy="304800"/>
          </a:xfrm>
          <a:prstGeom prst="roundRect">
            <a:avLst>
              <a:gd name="adj" fmla="val 20000"/>
            </a:avLst>
          </a:prstGeom>
          <a:solidFill>
            <a:srgbClr val="6FB0D4"/>
          </a:solidFill>
          <a:ln/>
        </p:spPr>
      </p:sp>
      <p:sp>
        <p:nvSpPr>
          <p:cNvPr id="46" name="Text 44"/>
          <p:cNvSpPr/>
          <p:nvPr/>
        </p:nvSpPr>
        <p:spPr>
          <a:xfrm>
            <a:off x="3784600" y="397013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Overlay recommendations</a:t>
            </a:r>
            <a:endParaRPr lang="en-US" sz="1200" dirty="0"/>
          </a:p>
        </p:txBody>
      </p:sp>
      <p:sp>
        <p:nvSpPr>
          <p:cNvPr id="47" name="Text 45"/>
          <p:cNvSpPr/>
          <p:nvPr/>
        </p:nvSpPr>
        <p:spPr>
          <a:xfrm>
            <a:off x="3784600" y="4165699"/>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Propose management adjustments</a:t>
            </a:r>
            <a:endParaRPr lang="en-US" sz="1200" dirty="0"/>
          </a:p>
        </p:txBody>
      </p:sp>
      <p:sp>
        <p:nvSpPr>
          <p:cNvPr id="48" name="Text 46"/>
          <p:cNvSpPr/>
          <p:nvPr/>
        </p:nvSpPr>
        <p:spPr>
          <a:xfrm>
            <a:off x="6896100" y="405268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60 → </a:t>
            </a:r>
            <a:r>
              <a:rPr lang="en-US" sz="1200" b="1" dirty="0">
                <a:solidFill>
                  <a:srgbClr val="0276B1"/>
                </a:solidFill>
                <a:latin typeface="Arial" pitchFamily="34" charset="0"/>
                <a:ea typeface="Arial" pitchFamily="34" charset="-122"/>
                <a:cs typeface="Arial" pitchFamily="34" charset="-120"/>
              </a:rPr>
              <a:t>50</a:t>
            </a:r>
            <a:endParaRPr lang="en-US" sz="1200" dirty="0"/>
          </a:p>
        </p:txBody>
      </p:sp>
      <p:sp>
        <p:nvSpPr>
          <p:cNvPr id="49" name="Shape 47"/>
          <p:cNvSpPr/>
          <p:nvPr/>
        </p:nvSpPr>
        <p:spPr>
          <a:xfrm>
            <a:off x="3556000" y="4448870"/>
            <a:ext cx="127000" cy="304800"/>
          </a:xfrm>
          <a:prstGeom prst="roundRect">
            <a:avLst>
              <a:gd name="adj" fmla="val 20000"/>
            </a:avLst>
          </a:prstGeom>
          <a:solidFill>
            <a:srgbClr val="A3CDE4"/>
          </a:solidFill>
          <a:ln/>
        </p:spPr>
      </p:sp>
      <p:sp>
        <p:nvSpPr>
          <p:cNvPr id="50" name="Text 48"/>
          <p:cNvSpPr/>
          <p:nvPr/>
        </p:nvSpPr>
        <p:spPr>
          <a:xfrm>
            <a:off x="3784600" y="4412059"/>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Leadership summary</a:t>
            </a:r>
            <a:endParaRPr lang="en-US" sz="1200" dirty="0"/>
          </a:p>
        </p:txBody>
      </p:sp>
      <p:sp>
        <p:nvSpPr>
          <p:cNvPr id="51" name="Text 49"/>
          <p:cNvSpPr/>
          <p:nvPr/>
        </p:nvSpPr>
        <p:spPr>
          <a:xfrm>
            <a:off x="3784600" y="4607620"/>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Narrative and exhibits for leaders</a:t>
            </a:r>
            <a:endParaRPr lang="en-US" sz="1200" dirty="0"/>
          </a:p>
        </p:txBody>
      </p:sp>
      <p:sp>
        <p:nvSpPr>
          <p:cNvPr id="52" name="Text 50"/>
          <p:cNvSpPr/>
          <p:nvPr/>
        </p:nvSpPr>
        <p:spPr>
          <a:xfrm>
            <a:off x="6896100" y="4494609"/>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100 → </a:t>
            </a:r>
            <a:r>
              <a:rPr lang="en-US" sz="1200" b="1" dirty="0">
                <a:solidFill>
                  <a:srgbClr val="0276B1"/>
                </a:solidFill>
                <a:latin typeface="Arial" pitchFamily="34" charset="0"/>
                <a:ea typeface="Arial" pitchFamily="34" charset="-122"/>
                <a:cs typeface="Arial" pitchFamily="34" charset="-120"/>
              </a:rPr>
              <a:t>30</a:t>
            </a:r>
            <a:endParaRPr lang="en-US" sz="1200" dirty="0"/>
          </a:p>
        </p:txBody>
      </p:sp>
      <p:sp>
        <p:nvSpPr>
          <p:cNvPr id="53" name="Shape 51"/>
          <p:cNvSpPr/>
          <p:nvPr/>
        </p:nvSpPr>
        <p:spPr>
          <a:xfrm>
            <a:off x="3556000" y="4890790"/>
            <a:ext cx="127000" cy="304800"/>
          </a:xfrm>
          <a:prstGeom prst="roundRect">
            <a:avLst>
              <a:gd name="adj" fmla="val 20000"/>
            </a:avLst>
          </a:prstGeom>
          <a:solidFill>
            <a:srgbClr val="D0E6F2"/>
          </a:solidFill>
          <a:ln/>
        </p:spPr>
      </p:sp>
      <p:sp>
        <p:nvSpPr>
          <p:cNvPr id="54" name="Text 52"/>
          <p:cNvSpPr/>
          <p:nvPr/>
        </p:nvSpPr>
        <p:spPr>
          <a:xfrm>
            <a:off x="3784600" y="4853980"/>
            <a:ext cx="3152521" cy="208260"/>
          </a:xfrm>
          <a:prstGeom prst="rect">
            <a:avLst/>
          </a:prstGeom>
          <a:noFill/>
          <a:ln/>
        </p:spPr>
        <p:txBody>
          <a:bodyPr wrap="square" lIns="0" tIns="0" rIns="0" bIns="0" rtlCol="0" anchor="t">
            <a:normAutofit/>
          </a:bodyPr>
          <a:lstStyle/>
          <a:p>
            <a:pPr algn="l" indent="0" marL="0">
              <a:lnSpc>
                <a:spcPts val="1440"/>
              </a:lnSpc>
              <a:buNone/>
            </a:pPr>
            <a:r>
              <a:rPr lang="en-US" sz="1200" b="1" dirty="0">
                <a:solidFill>
                  <a:srgbClr val="141414"/>
                </a:solidFill>
                <a:latin typeface="Arial" pitchFamily="34" charset="0"/>
                <a:ea typeface="Arial" pitchFamily="34" charset="-122"/>
                <a:cs typeface="Arial" pitchFamily="34" charset="-120"/>
              </a:rPr>
              <a:t>Review &amp; challenge</a:t>
            </a:r>
            <a:endParaRPr lang="en-US" sz="1200" dirty="0"/>
          </a:p>
        </p:txBody>
      </p:sp>
      <p:sp>
        <p:nvSpPr>
          <p:cNvPr id="55" name="Text 53"/>
          <p:cNvSpPr/>
          <p:nvPr/>
        </p:nvSpPr>
        <p:spPr>
          <a:xfrm>
            <a:off x="3784600" y="5049540"/>
            <a:ext cx="3152521" cy="208260"/>
          </a:xfrm>
          <a:prstGeom prst="rect">
            <a:avLst/>
          </a:prstGeom>
          <a:noFill/>
          <a:ln/>
        </p:spPr>
        <p:txBody>
          <a:bodyPr wrap="square" lIns="0" tIns="0" rIns="0" bIns="0" rtlCol="0" anchor="t">
            <a:normAutofit/>
          </a:bodyPr>
          <a:lstStyle/>
          <a:p>
            <a:pPr algn="l" indent="0" marL="0">
              <a:lnSpc>
                <a:spcPts val="1440"/>
              </a:lnSpc>
              <a:buNone/>
            </a:pPr>
            <a:r>
              <a:rPr lang="en-US" sz="1200" dirty="0">
                <a:solidFill>
                  <a:srgbClr val="6B6B6B"/>
                </a:solidFill>
                <a:latin typeface="Arial" pitchFamily="34" charset="0"/>
                <a:ea typeface="Arial" pitchFamily="34" charset="-122"/>
                <a:cs typeface="Arial" pitchFamily="34" charset="-120"/>
              </a:rPr>
              <a:t>Senior review, iterate, sign-off</a:t>
            </a:r>
            <a:endParaRPr lang="en-US" sz="1200" dirty="0"/>
          </a:p>
        </p:txBody>
      </p:sp>
      <p:sp>
        <p:nvSpPr>
          <p:cNvPr id="56" name="Text 54"/>
          <p:cNvSpPr/>
          <p:nvPr/>
        </p:nvSpPr>
        <p:spPr>
          <a:xfrm>
            <a:off x="6896100" y="4936530"/>
            <a:ext cx="876300"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141414"/>
                </a:solidFill>
                <a:latin typeface="Arial" pitchFamily="34" charset="0"/>
                <a:ea typeface="Arial" pitchFamily="34" charset="-122"/>
                <a:cs typeface="Arial" pitchFamily="34" charset="-120"/>
              </a:rPr>
              <a:t>40 → </a:t>
            </a:r>
            <a:r>
              <a:rPr lang="en-US" sz="1200" b="1" dirty="0">
                <a:solidFill>
                  <a:srgbClr val="0276B1"/>
                </a:solidFill>
                <a:latin typeface="Arial" pitchFamily="34" charset="0"/>
                <a:ea typeface="Arial" pitchFamily="34" charset="-122"/>
                <a:cs typeface="Arial" pitchFamily="34" charset="-120"/>
              </a:rPr>
              <a:t>30</a:t>
            </a:r>
            <a:endParaRPr lang="en-US" sz="1200" dirty="0"/>
          </a:p>
        </p:txBody>
      </p:sp>
      <p:sp>
        <p:nvSpPr>
          <p:cNvPr id="57" name="Text 55"/>
          <p:cNvSpPr/>
          <p:nvPr/>
        </p:nvSpPr>
        <p:spPr>
          <a:xfrm>
            <a:off x="8077200" y="1412230"/>
            <a:ext cx="3401060" cy="578048"/>
          </a:xfrm>
          <a:prstGeom prst="rect">
            <a:avLst/>
          </a:prstGeom>
          <a:noFill/>
          <a:ln/>
        </p:spPr>
        <p:txBody>
          <a:bodyPr wrap="square" lIns="0" tIns="0" rIns="0" bIns="0" rtlCol="0" anchor="t">
            <a:normAutofit/>
          </a:bodyPr>
          <a:lstStyle/>
          <a:p>
            <a:pPr algn="l" indent="0" marL="0">
              <a:lnSpc>
                <a:spcPts val="4373"/>
              </a:lnSpc>
              <a:buNone/>
            </a:pPr>
            <a:r>
              <a:rPr lang="en-US" sz="3975" b="1" dirty="0">
                <a:solidFill>
                  <a:srgbClr val="0276B1"/>
                </a:solidFill>
                <a:latin typeface="Arial" pitchFamily="34" charset="0"/>
                <a:ea typeface="Arial" pitchFamily="34" charset="-122"/>
                <a:cs typeface="Arial" pitchFamily="34" charset="-120"/>
              </a:rPr>
              <a:t>−61%</a:t>
            </a:r>
            <a:endParaRPr lang="en-US" sz="3975" dirty="0"/>
          </a:p>
        </p:txBody>
      </p:sp>
      <p:sp>
        <p:nvSpPr>
          <p:cNvPr id="58" name="Text 56"/>
          <p:cNvSpPr/>
          <p:nvPr/>
        </p:nvSpPr>
        <p:spPr>
          <a:xfrm>
            <a:off x="8077200" y="2041079"/>
            <a:ext cx="3401060" cy="236339"/>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FTE hours per quarterly cycle</a:t>
            </a:r>
            <a:endParaRPr lang="en-US" sz="1196" dirty="0"/>
          </a:p>
        </p:txBody>
      </p:sp>
      <p:sp>
        <p:nvSpPr>
          <p:cNvPr id="59" name="Text 57"/>
          <p:cNvSpPr/>
          <p:nvPr/>
        </p:nvSpPr>
        <p:spPr>
          <a:xfrm>
            <a:off x="8077200" y="2328218"/>
            <a:ext cx="3401060" cy="236389"/>
          </a:xfrm>
          <a:prstGeom prst="rect">
            <a:avLst/>
          </a:prstGeom>
          <a:noFill/>
          <a:ln/>
        </p:spPr>
        <p:txBody>
          <a:bodyPr wrap="square" lIns="0" tIns="0" rIns="0" bIns="0" rtlCol="0" anchor="t">
            <a:normAutofit/>
          </a:bodyPr>
          <a:lstStyle/>
          <a:p>
            <a:pPr algn="l" indent="0" marL="0">
              <a:lnSpc>
                <a:spcPts val="1675"/>
              </a:lnSpc>
              <a:buNone/>
            </a:pPr>
            <a:r>
              <a:rPr lang="en-US" sz="1196" b="1" spc="150" kern="0" dirty="0">
                <a:solidFill>
                  <a:srgbClr val="6B6B6B"/>
                </a:solidFill>
                <a:latin typeface="Arial" pitchFamily="34" charset="0"/>
                <a:ea typeface="Arial" pitchFamily="34" charset="-122"/>
                <a:cs typeface="Arial" pitchFamily="34" charset="-120"/>
              </a:rPr>
              <a:t>WHAT MOVES THE BARS</a:t>
            </a:r>
            <a:endParaRPr lang="en-US" sz="1196" dirty="0"/>
          </a:p>
        </p:txBody>
      </p:sp>
      <p:sp>
        <p:nvSpPr>
          <p:cNvPr id="60" name="Shape 58"/>
          <p:cNvSpPr/>
          <p:nvPr/>
        </p:nvSpPr>
        <p:spPr>
          <a:xfrm>
            <a:off x="8080375" y="2618581"/>
            <a:ext cx="3295650" cy="590748"/>
          </a:xfrm>
          <a:prstGeom prst="roundRect">
            <a:avLst>
              <a:gd name="adj" fmla="val 3762"/>
            </a:avLst>
          </a:prstGeom>
          <a:solidFill>
            <a:srgbClr val="FFFFFF"/>
          </a:solidFill>
          <a:ln w="6350">
            <a:solidFill>
              <a:srgbClr val="E6E6E6"/>
            </a:solidFill>
            <a:prstDash val="solid"/>
          </a:ln>
        </p:spPr>
      </p:sp>
      <p:sp>
        <p:nvSpPr>
          <p:cNvPr id="61" name="Text 59"/>
          <p:cNvSpPr/>
          <p:nvPr/>
        </p:nvSpPr>
        <p:spPr>
          <a:xfrm>
            <a:off x="8235950" y="2697956"/>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Standardized forecast output data</a:t>
            </a:r>
            <a:endParaRPr lang="en-US" sz="1300" dirty="0"/>
          </a:p>
        </p:txBody>
      </p:sp>
      <p:sp>
        <p:nvSpPr>
          <p:cNvPr id="62" name="Text 60"/>
          <p:cNvSpPr/>
          <p:nvPr/>
        </p:nvSpPr>
        <p:spPr>
          <a:xfrm>
            <a:off x="8235950" y="2919115"/>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Collect, reconcile</a:t>
            </a:r>
            <a:endParaRPr lang="en-US" sz="1196" dirty="0"/>
          </a:p>
        </p:txBody>
      </p:sp>
      <p:sp>
        <p:nvSpPr>
          <p:cNvPr id="63" name="Shape 61"/>
          <p:cNvSpPr/>
          <p:nvPr/>
        </p:nvSpPr>
        <p:spPr>
          <a:xfrm>
            <a:off x="8080375" y="3291880"/>
            <a:ext cx="3295650" cy="590748"/>
          </a:xfrm>
          <a:prstGeom prst="roundRect">
            <a:avLst>
              <a:gd name="adj" fmla="val 3762"/>
            </a:avLst>
          </a:prstGeom>
          <a:solidFill>
            <a:srgbClr val="FFFFFF"/>
          </a:solidFill>
          <a:ln w="6350">
            <a:solidFill>
              <a:srgbClr val="E6E6E6"/>
            </a:solidFill>
            <a:prstDash val="solid"/>
          </a:ln>
        </p:spPr>
      </p:sp>
      <p:sp>
        <p:nvSpPr>
          <p:cNvPr id="64" name="Text 62"/>
          <p:cNvSpPr/>
          <p:nvPr/>
        </p:nvSpPr>
        <p:spPr>
          <a:xfrm>
            <a:off x="8235950" y="3371255"/>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 attribution calculations</a:t>
            </a:r>
            <a:endParaRPr lang="en-US" sz="1300" dirty="0"/>
          </a:p>
        </p:txBody>
      </p:sp>
      <p:sp>
        <p:nvSpPr>
          <p:cNvPr id="65" name="Text 63"/>
          <p:cNvSpPr/>
          <p:nvPr/>
        </p:nvSpPr>
        <p:spPr>
          <a:xfrm>
            <a:off x="8235950" y="3592413"/>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Change analysis, attribution</a:t>
            </a:r>
            <a:endParaRPr lang="en-US" sz="1196" dirty="0"/>
          </a:p>
        </p:txBody>
      </p:sp>
      <p:sp>
        <p:nvSpPr>
          <p:cNvPr id="66" name="Shape 64"/>
          <p:cNvSpPr/>
          <p:nvPr/>
        </p:nvSpPr>
        <p:spPr>
          <a:xfrm>
            <a:off x="8080375" y="3965178"/>
            <a:ext cx="3295650" cy="590748"/>
          </a:xfrm>
          <a:prstGeom prst="roundRect">
            <a:avLst>
              <a:gd name="adj" fmla="val 3762"/>
            </a:avLst>
          </a:prstGeom>
          <a:solidFill>
            <a:srgbClr val="FFFFFF"/>
          </a:solidFill>
          <a:ln w="6350">
            <a:solidFill>
              <a:srgbClr val="E6E6E6"/>
            </a:solidFill>
            <a:prstDash val="solid"/>
          </a:ln>
        </p:spPr>
      </p:sp>
      <p:sp>
        <p:nvSpPr>
          <p:cNvPr id="67" name="Text 65"/>
          <p:cNvSpPr/>
          <p:nvPr/>
        </p:nvSpPr>
        <p:spPr>
          <a:xfrm>
            <a:off x="8235950" y="4044553"/>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Outcome analysis agent</a:t>
            </a:r>
            <a:endParaRPr lang="en-US" sz="1300" dirty="0"/>
          </a:p>
        </p:txBody>
      </p:sp>
      <p:sp>
        <p:nvSpPr>
          <p:cNvPr id="68" name="Text 66"/>
          <p:cNvSpPr/>
          <p:nvPr/>
        </p:nvSpPr>
        <p:spPr>
          <a:xfrm>
            <a:off x="8235950" y="4265712"/>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Drivers, scenarios, overlays</a:t>
            </a:r>
            <a:endParaRPr lang="en-US" sz="1196" dirty="0"/>
          </a:p>
        </p:txBody>
      </p:sp>
      <p:sp>
        <p:nvSpPr>
          <p:cNvPr id="69" name="Shape 67"/>
          <p:cNvSpPr/>
          <p:nvPr/>
        </p:nvSpPr>
        <p:spPr>
          <a:xfrm>
            <a:off x="8080375" y="4638477"/>
            <a:ext cx="3295650" cy="590748"/>
          </a:xfrm>
          <a:prstGeom prst="roundRect">
            <a:avLst>
              <a:gd name="adj" fmla="val 3762"/>
            </a:avLst>
          </a:prstGeom>
          <a:solidFill>
            <a:srgbClr val="FFFFFF"/>
          </a:solidFill>
          <a:ln w="6350">
            <a:solidFill>
              <a:srgbClr val="E6E6E6"/>
            </a:solidFill>
            <a:prstDash val="solid"/>
          </a:ln>
        </p:spPr>
      </p:sp>
      <p:sp>
        <p:nvSpPr>
          <p:cNvPr id="70" name="Text 68"/>
          <p:cNvSpPr/>
          <p:nvPr/>
        </p:nvSpPr>
        <p:spPr>
          <a:xfrm>
            <a:off x="8235950" y="4717852"/>
            <a:ext cx="3074035" cy="221159"/>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Auto-drafted leadership summary</a:t>
            </a:r>
            <a:endParaRPr lang="en-US" sz="1300" dirty="0"/>
          </a:p>
        </p:txBody>
      </p:sp>
      <p:sp>
        <p:nvSpPr>
          <p:cNvPr id="71" name="Text 69"/>
          <p:cNvSpPr/>
          <p:nvPr/>
        </p:nvSpPr>
        <p:spPr>
          <a:xfrm>
            <a:off x="8235950" y="4939010"/>
            <a:ext cx="3074035" cy="236240"/>
          </a:xfrm>
          <a:prstGeom prst="rect">
            <a:avLst/>
          </a:prstGeom>
          <a:noFill/>
          <a:ln/>
        </p:spPr>
        <p:txBody>
          <a:bodyPr wrap="square" lIns="0" tIns="0" rIns="0" bIns="0" rtlCol="0" anchor="t">
            <a:normAutofit/>
          </a:bodyPr>
          <a:lstStyle/>
          <a:p>
            <a:pPr algn="l" indent="0" marL="0">
              <a:lnSpc>
                <a:spcPts val="1675"/>
              </a:lnSpc>
              <a:buNone/>
            </a:pPr>
            <a:r>
              <a:rPr lang="en-US" sz="1196" dirty="0">
                <a:solidFill>
                  <a:srgbClr val="6B6B6B"/>
                </a:solidFill>
                <a:latin typeface="Arial" pitchFamily="34" charset="0"/>
                <a:ea typeface="Arial" pitchFamily="34" charset="-122"/>
                <a:cs typeface="Arial" pitchFamily="34" charset="-120"/>
              </a:rPr>
              <a:t>Leadership summary, review</a:t>
            </a:r>
            <a:endParaRPr lang="en-US" sz="1196" dirty="0"/>
          </a:p>
        </p:txBody>
      </p:sp>
      <p:sp>
        <p:nvSpPr>
          <p:cNvPr id="72" name="Shape 70"/>
          <p:cNvSpPr/>
          <p:nvPr/>
        </p:nvSpPr>
        <p:spPr>
          <a:xfrm>
            <a:off x="812800" y="5384800"/>
            <a:ext cx="10566400" cy="457200"/>
          </a:xfrm>
          <a:prstGeom prst="roundRect">
            <a:avLst>
              <a:gd name="adj" fmla="val 11111"/>
            </a:avLst>
          </a:prstGeom>
          <a:solidFill>
            <a:srgbClr val="F4F4F4"/>
          </a:solidFill>
          <a:ln/>
        </p:spPr>
      </p:sp>
      <p:sp>
        <p:nvSpPr>
          <p:cNvPr id="73" name="Text 71"/>
          <p:cNvSpPr/>
          <p:nvPr/>
        </p:nvSpPr>
        <p:spPr>
          <a:xfrm>
            <a:off x="1016000" y="5506740"/>
            <a:ext cx="1153468"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HOW OFTEN</a:t>
            </a:r>
            <a:endParaRPr lang="en-US" sz="1200" dirty="0"/>
          </a:p>
        </p:txBody>
      </p:sp>
      <p:sp>
        <p:nvSpPr>
          <p:cNvPr id="74" name="Text 72"/>
          <p:cNvSpPr/>
          <p:nvPr/>
        </p:nvSpPr>
        <p:spPr>
          <a:xfrm>
            <a:off x="2321868" y="5473700"/>
            <a:ext cx="2109209"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141414"/>
                </a:solidFill>
                <a:latin typeface="Arial" pitchFamily="34" charset="0"/>
                <a:ea typeface="Arial" pitchFamily="34" charset="-122"/>
                <a:cs typeface="Arial" pitchFamily="34" charset="-120"/>
              </a:rPr>
              <a:t>4 cycles per year</a:t>
            </a:r>
            <a:endParaRPr lang="en-US" sz="2000" dirty="0"/>
          </a:p>
        </p:txBody>
      </p:sp>
      <p:sp>
        <p:nvSpPr>
          <p:cNvPr id="75" name="Text 73"/>
          <p:cNvSpPr/>
          <p:nvPr/>
        </p:nvSpPr>
        <p:spPr>
          <a:xfrm>
            <a:off x="4572843" y="5506740"/>
            <a:ext cx="33725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5252"/>
                </a:solidFill>
                <a:latin typeface="Arial" pitchFamily="34" charset="0"/>
                <a:ea typeface="Arial" pitchFamily="34" charset="-122"/>
                <a:cs typeface="Arial" pitchFamily="34" charset="-120"/>
              </a:rPr>
              <a:t>Each inside a [~2-week] window before earnings</a:t>
            </a:r>
            <a:endParaRPr lang="en-US" sz="1200" dirty="0"/>
          </a:p>
        </p:txBody>
      </p:sp>
      <p:sp>
        <p:nvSpPr>
          <p:cNvPr id="76" name="Text 7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Bars show FTE hours for a single quarterly cycle · Placeholder estimates, to be replaced with measured figures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77212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141414"/>
                </a:solidFill>
                <a:latin typeface="Arial" pitchFamily="34" charset="0"/>
                <a:ea typeface="Arial" pitchFamily="34" charset="-122"/>
                <a:cs typeface="Arial" pitchFamily="34" charset="-120"/>
              </a:rPr>
              <a:t>Unified data, standard calculations and drafting agents could halve each deal's effort</a:t>
            </a:r>
            <a:endParaRPr lang="en-US" sz="2800" dirty="0"/>
          </a:p>
        </p:txBody>
      </p:sp>
      <p:sp>
        <p:nvSpPr>
          <p:cNvPr id="3" name="Text 1"/>
          <p:cNvSpPr/>
          <p:nvPr/>
        </p:nvSpPr>
        <p:spPr>
          <a:xfrm>
            <a:off x="812800" y="1816695"/>
            <a:ext cx="1793834"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TODAY · ONE DEAL</a:t>
            </a:r>
            <a:endParaRPr lang="en-US" sz="1200" dirty="0"/>
          </a:p>
        </p:txBody>
      </p:sp>
      <p:sp>
        <p:nvSpPr>
          <p:cNvPr id="4" name="Text 2"/>
          <p:cNvSpPr/>
          <p:nvPr/>
        </p:nvSpPr>
        <p:spPr>
          <a:xfrm>
            <a:off x="3112443" y="1711920"/>
            <a:ext cx="79915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414"/>
                </a:solidFill>
                <a:latin typeface="Arial" pitchFamily="34" charset="0"/>
                <a:ea typeface="Arial" pitchFamily="34" charset="-122"/>
                <a:cs typeface="Arial" pitchFamily="34" charset="-120"/>
              </a:rPr>
              <a:t>34 hrs</a:t>
            </a:r>
            <a:endParaRPr lang="en-US" sz="2000" dirty="0"/>
          </a:p>
        </p:txBody>
      </p:sp>
      <p:sp>
        <p:nvSpPr>
          <p:cNvPr id="5" name="Shape 3"/>
          <p:cNvSpPr/>
          <p:nvPr/>
        </p:nvSpPr>
        <p:spPr>
          <a:xfrm>
            <a:off x="812800" y="2115245"/>
            <a:ext cx="3048000" cy="323850"/>
          </a:xfrm>
          <a:prstGeom prst="rect">
            <a:avLst/>
          </a:prstGeom>
          <a:solidFill>
            <a:srgbClr val="012F47"/>
          </a:solidFill>
          <a:ln/>
        </p:spPr>
      </p:sp>
      <p:sp>
        <p:nvSpPr>
          <p:cNvPr id="6" name="Text 4"/>
          <p:cNvSpPr/>
          <p:nvPr/>
        </p:nvSpPr>
        <p:spPr>
          <a:xfrm>
            <a:off x="914400" y="2200970"/>
            <a:ext cx="1397794"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Intake &amp; documents</a:t>
            </a:r>
            <a:endParaRPr lang="en-US" sz="1200" dirty="0"/>
          </a:p>
        </p:txBody>
      </p:sp>
      <p:sp>
        <p:nvSpPr>
          <p:cNvPr id="7" name="Text 5"/>
          <p:cNvSpPr/>
          <p:nvPr/>
        </p:nvSpPr>
        <p:spPr>
          <a:xfrm>
            <a:off x="3674418" y="2200970"/>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8" name="Shape 6"/>
          <p:cNvSpPr/>
          <p:nvPr/>
        </p:nvSpPr>
        <p:spPr>
          <a:xfrm>
            <a:off x="812800" y="2451795"/>
            <a:ext cx="3048000" cy="539750"/>
          </a:xfrm>
          <a:prstGeom prst="rect">
            <a:avLst/>
          </a:prstGeom>
          <a:solidFill>
            <a:srgbClr val="014E74"/>
          </a:solidFill>
          <a:ln/>
        </p:spPr>
      </p:sp>
      <p:sp>
        <p:nvSpPr>
          <p:cNvPr id="9" name="Text 7"/>
          <p:cNvSpPr/>
          <p:nvPr/>
        </p:nvSpPr>
        <p:spPr>
          <a:xfrm>
            <a:off x="914400" y="2645470"/>
            <a:ext cx="1372394"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Financial spreading</a:t>
            </a:r>
            <a:endParaRPr lang="en-US" sz="1200" dirty="0"/>
          </a:p>
        </p:txBody>
      </p:sp>
      <p:sp>
        <p:nvSpPr>
          <p:cNvPr id="10" name="Text 8"/>
          <p:cNvSpPr/>
          <p:nvPr/>
        </p:nvSpPr>
        <p:spPr>
          <a:xfrm>
            <a:off x="3674418" y="2645470"/>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1" name="Shape 9"/>
          <p:cNvSpPr/>
          <p:nvPr/>
        </p:nvSpPr>
        <p:spPr>
          <a:xfrm>
            <a:off x="812800" y="3004245"/>
            <a:ext cx="3048000" cy="539750"/>
          </a:xfrm>
          <a:prstGeom prst="rect">
            <a:avLst/>
          </a:prstGeom>
          <a:solidFill>
            <a:srgbClr val="026597"/>
          </a:solidFill>
          <a:ln/>
        </p:spPr>
      </p:sp>
      <p:sp>
        <p:nvSpPr>
          <p:cNvPr id="12" name="Text 10"/>
          <p:cNvSpPr/>
          <p:nvPr/>
        </p:nvSpPr>
        <p:spPr>
          <a:xfrm>
            <a:off x="914400" y="3197920"/>
            <a:ext cx="1312863"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Cash flow analysis</a:t>
            </a:r>
            <a:endParaRPr lang="en-US" sz="1200" dirty="0"/>
          </a:p>
        </p:txBody>
      </p:sp>
      <p:sp>
        <p:nvSpPr>
          <p:cNvPr id="13" name="Text 11"/>
          <p:cNvSpPr/>
          <p:nvPr/>
        </p:nvSpPr>
        <p:spPr>
          <a:xfrm>
            <a:off x="3674418" y="3197920"/>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14" name="Shape 12"/>
          <p:cNvSpPr/>
          <p:nvPr/>
        </p:nvSpPr>
        <p:spPr>
          <a:xfrm>
            <a:off x="812800" y="3556695"/>
            <a:ext cx="3048000" cy="323850"/>
          </a:xfrm>
          <a:prstGeom prst="rect">
            <a:avLst/>
          </a:prstGeom>
          <a:solidFill>
            <a:srgbClr val="0276B1"/>
          </a:solidFill>
          <a:ln/>
        </p:spPr>
      </p:sp>
      <p:sp>
        <p:nvSpPr>
          <p:cNvPr id="15" name="Text 13"/>
          <p:cNvSpPr/>
          <p:nvPr/>
        </p:nvSpPr>
        <p:spPr>
          <a:xfrm>
            <a:off x="914400" y="3642420"/>
            <a:ext cx="1473746"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Collateral &amp; structure</a:t>
            </a:r>
            <a:endParaRPr lang="en-US" sz="1200" dirty="0"/>
          </a:p>
        </p:txBody>
      </p:sp>
      <p:sp>
        <p:nvSpPr>
          <p:cNvPr id="16" name="Text 14"/>
          <p:cNvSpPr/>
          <p:nvPr/>
        </p:nvSpPr>
        <p:spPr>
          <a:xfrm>
            <a:off x="3674418" y="3642420"/>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7" name="Shape 15"/>
          <p:cNvSpPr/>
          <p:nvPr/>
        </p:nvSpPr>
        <p:spPr>
          <a:xfrm>
            <a:off x="812800" y="3893245"/>
            <a:ext cx="3048000" cy="431800"/>
          </a:xfrm>
          <a:prstGeom prst="rect">
            <a:avLst/>
          </a:prstGeom>
          <a:solidFill>
            <a:srgbClr val="3A93C4"/>
          </a:solidFill>
          <a:ln/>
        </p:spPr>
      </p:sp>
      <p:sp>
        <p:nvSpPr>
          <p:cNvPr id="18" name="Text 16"/>
          <p:cNvSpPr/>
          <p:nvPr/>
        </p:nvSpPr>
        <p:spPr>
          <a:xfrm>
            <a:off x="914400" y="4032945"/>
            <a:ext cx="1160463"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Industry &amp; peers</a:t>
            </a:r>
            <a:endParaRPr lang="en-US" sz="1200" dirty="0"/>
          </a:p>
        </p:txBody>
      </p:sp>
      <p:sp>
        <p:nvSpPr>
          <p:cNvPr id="19" name="Text 17"/>
          <p:cNvSpPr/>
          <p:nvPr/>
        </p:nvSpPr>
        <p:spPr>
          <a:xfrm>
            <a:off x="3674418" y="4032945"/>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4</a:t>
            </a:r>
            <a:endParaRPr lang="en-US" sz="1200" dirty="0"/>
          </a:p>
        </p:txBody>
      </p:sp>
      <p:sp>
        <p:nvSpPr>
          <p:cNvPr id="20" name="Shape 18"/>
          <p:cNvSpPr/>
          <p:nvPr/>
        </p:nvSpPr>
        <p:spPr>
          <a:xfrm>
            <a:off x="812800" y="4337745"/>
            <a:ext cx="3048000" cy="215900"/>
          </a:xfrm>
          <a:prstGeom prst="rect">
            <a:avLst/>
          </a:prstGeom>
          <a:solidFill>
            <a:srgbClr val="6FB0D4"/>
          </a:solidFill>
          <a:ln/>
        </p:spPr>
      </p:sp>
      <p:sp>
        <p:nvSpPr>
          <p:cNvPr id="21" name="Text 19"/>
          <p:cNvSpPr/>
          <p:nvPr/>
        </p:nvSpPr>
        <p:spPr>
          <a:xfrm>
            <a:off x="914400" y="4369495"/>
            <a:ext cx="77068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Risk rating</a:t>
            </a:r>
            <a:endParaRPr lang="en-US" sz="1200" dirty="0"/>
          </a:p>
        </p:txBody>
      </p:sp>
      <p:sp>
        <p:nvSpPr>
          <p:cNvPr id="22" name="Text 20"/>
          <p:cNvSpPr/>
          <p:nvPr/>
        </p:nvSpPr>
        <p:spPr>
          <a:xfrm>
            <a:off x="3674418" y="4369495"/>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2</a:t>
            </a:r>
            <a:endParaRPr lang="en-US" sz="1200" dirty="0"/>
          </a:p>
        </p:txBody>
      </p:sp>
      <p:sp>
        <p:nvSpPr>
          <p:cNvPr id="23" name="Shape 21"/>
          <p:cNvSpPr/>
          <p:nvPr/>
        </p:nvSpPr>
        <p:spPr>
          <a:xfrm>
            <a:off x="812800" y="4566345"/>
            <a:ext cx="3048000" cy="863600"/>
          </a:xfrm>
          <a:prstGeom prst="rect">
            <a:avLst/>
          </a:prstGeom>
          <a:solidFill>
            <a:srgbClr val="A3CDE4"/>
          </a:solidFill>
          <a:ln/>
        </p:spPr>
      </p:sp>
      <p:sp>
        <p:nvSpPr>
          <p:cNvPr id="24" name="Text 22"/>
          <p:cNvSpPr/>
          <p:nvPr/>
        </p:nvSpPr>
        <p:spPr>
          <a:xfrm>
            <a:off x="914400" y="4921945"/>
            <a:ext cx="92308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Credit memo</a:t>
            </a:r>
            <a:endParaRPr lang="en-US" sz="1200" dirty="0"/>
          </a:p>
        </p:txBody>
      </p:sp>
      <p:sp>
        <p:nvSpPr>
          <p:cNvPr id="25" name="Text 23"/>
          <p:cNvSpPr/>
          <p:nvPr/>
        </p:nvSpPr>
        <p:spPr>
          <a:xfrm>
            <a:off x="3674418" y="4921945"/>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8</a:t>
            </a:r>
            <a:endParaRPr lang="en-US" sz="1200" dirty="0"/>
          </a:p>
        </p:txBody>
      </p:sp>
      <p:sp>
        <p:nvSpPr>
          <p:cNvPr id="26" name="Shape 24"/>
          <p:cNvSpPr/>
          <p:nvPr/>
        </p:nvSpPr>
        <p:spPr>
          <a:xfrm>
            <a:off x="812800" y="5442645"/>
            <a:ext cx="3048000" cy="431800"/>
          </a:xfrm>
          <a:prstGeom prst="rect">
            <a:avLst/>
          </a:prstGeom>
          <a:solidFill>
            <a:srgbClr val="D0E6F2"/>
          </a:solidFill>
          <a:ln/>
        </p:spPr>
      </p:sp>
      <p:sp>
        <p:nvSpPr>
          <p:cNvPr id="27" name="Text 25"/>
          <p:cNvSpPr/>
          <p:nvPr/>
        </p:nvSpPr>
        <p:spPr>
          <a:xfrm>
            <a:off x="914400" y="5582345"/>
            <a:ext cx="127029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Committee review</a:t>
            </a:r>
            <a:endParaRPr lang="en-US" sz="1200" dirty="0"/>
          </a:p>
        </p:txBody>
      </p:sp>
      <p:sp>
        <p:nvSpPr>
          <p:cNvPr id="28" name="Text 26"/>
          <p:cNvSpPr/>
          <p:nvPr/>
        </p:nvSpPr>
        <p:spPr>
          <a:xfrm>
            <a:off x="3674418" y="5582345"/>
            <a:ext cx="135582"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4</a:t>
            </a:r>
            <a:endParaRPr lang="en-US" sz="1200" dirty="0"/>
          </a:p>
        </p:txBody>
      </p:sp>
      <p:sp>
        <p:nvSpPr>
          <p:cNvPr id="29" name="Text 27"/>
          <p:cNvSpPr/>
          <p:nvPr/>
        </p:nvSpPr>
        <p:spPr>
          <a:xfrm>
            <a:off x="4267200" y="1623616"/>
            <a:ext cx="1588839"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0276B1"/>
                </a:solidFill>
                <a:latin typeface="Arial" pitchFamily="34" charset="0"/>
                <a:ea typeface="Arial" pitchFamily="34" charset="-122"/>
                <a:cs typeface="Arial" pitchFamily="34" charset="-120"/>
              </a:rPr>
              <a:t>−56%</a:t>
            </a:r>
            <a:endParaRPr lang="en-US" sz="4800" dirty="0"/>
          </a:p>
        </p:txBody>
      </p:sp>
      <p:sp>
        <p:nvSpPr>
          <p:cNvPr id="30" name="Text 28"/>
          <p:cNvSpPr/>
          <p:nvPr/>
        </p:nvSpPr>
        <p:spPr>
          <a:xfrm>
            <a:off x="5957639" y="1925836"/>
            <a:ext cx="20261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effort per deal</a:t>
            </a:r>
            <a:endParaRPr lang="en-US" sz="1200" dirty="0"/>
          </a:p>
        </p:txBody>
      </p:sp>
      <p:sp>
        <p:nvSpPr>
          <p:cNvPr id="31" name="Text 29"/>
          <p:cNvSpPr/>
          <p:nvPr/>
        </p:nvSpPr>
        <p:spPr>
          <a:xfrm>
            <a:off x="5957639" y="2164556"/>
            <a:ext cx="2026175"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414"/>
                </a:solidFill>
                <a:latin typeface="Arial" pitchFamily="34" charset="0"/>
                <a:ea typeface="Arial" pitchFamily="34" charset="-122"/>
                <a:cs typeface="Arial" pitchFamily="34" charset="-120"/>
              </a:rPr>
              <a:t>[Hundreds] deals a year</a:t>
            </a:r>
            <a:endParaRPr lang="en-US" sz="1400" dirty="0"/>
          </a:p>
        </p:txBody>
      </p:sp>
      <p:sp>
        <p:nvSpPr>
          <p:cNvPr id="32" name="Text 30"/>
          <p:cNvSpPr/>
          <p:nvPr/>
        </p:nvSpPr>
        <p:spPr>
          <a:xfrm>
            <a:off x="4267200" y="3028702"/>
            <a:ext cx="3767328" cy="210641"/>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6B6B6B"/>
                </a:solidFill>
                <a:latin typeface="Arial" pitchFamily="34" charset="0"/>
                <a:ea typeface="Arial" pitchFamily="34" charset="-122"/>
                <a:cs typeface="Arial" pitchFamily="34" charset="-120"/>
              </a:rPr>
              <a:t>HOW WE MOVE THE BARS</a:t>
            </a:r>
            <a:endParaRPr lang="en-US" sz="1050" dirty="0"/>
          </a:p>
        </p:txBody>
      </p:sp>
      <p:sp>
        <p:nvSpPr>
          <p:cNvPr id="33" name="Shape 31"/>
          <p:cNvSpPr/>
          <p:nvPr/>
        </p:nvSpPr>
        <p:spPr>
          <a:xfrm>
            <a:off x="4270375" y="3293318"/>
            <a:ext cx="3651250" cy="574477"/>
          </a:xfrm>
          <a:prstGeom prst="roundRect">
            <a:avLst>
              <a:gd name="adj" fmla="val 3869"/>
            </a:avLst>
          </a:prstGeom>
          <a:solidFill>
            <a:srgbClr val="FFFFFF"/>
          </a:solidFill>
          <a:ln w="6350">
            <a:solidFill>
              <a:srgbClr val="E6E6E6"/>
            </a:solidFill>
            <a:prstDash val="solid"/>
          </a:ln>
        </p:spPr>
      </p:sp>
      <p:sp>
        <p:nvSpPr>
          <p:cNvPr id="34" name="Text 32"/>
          <p:cNvSpPr/>
          <p:nvPr/>
        </p:nvSpPr>
        <p:spPr>
          <a:xfrm>
            <a:off x="4400550" y="3371155"/>
            <a:ext cx="1757453"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Unified borrower data</a:t>
            </a:r>
            <a:endParaRPr lang="en-US" sz="1300" dirty="0"/>
          </a:p>
        </p:txBody>
      </p:sp>
      <p:sp>
        <p:nvSpPr>
          <p:cNvPr id="35" name="Shape 33"/>
          <p:cNvSpPr/>
          <p:nvPr/>
        </p:nvSpPr>
        <p:spPr>
          <a:xfrm>
            <a:off x="7562850" y="3419376"/>
            <a:ext cx="101600" cy="101600"/>
          </a:xfrm>
          <a:prstGeom prst="roundRect">
            <a:avLst>
              <a:gd name="adj" fmla="val 12500"/>
            </a:avLst>
          </a:prstGeom>
          <a:solidFill>
            <a:srgbClr val="012F47"/>
          </a:solidFill>
          <a:ln/>
        </p:spPr>
      </p:sp>
      <p:sp>
        <p:nvSpPr>
          <p:cNvPr id="36" name="Shape 34"/>
          <p:cNvSpPr/>
          <p:nvPr/>
        </p:nvSpPr>
        <p:spPr>
          <a:xfrm>
            <a:off x="7689850" y="3419376"/>
            <a:ext cx="101600" cy="101600"/>
          </a:xfrm>
          <a:prstGeom prst="roundRect">
            <a:avLst>
              <a:gd name="adj" fmla="val 12500"/>
            </a:avLst>
          </a:prstGeom>
          <a:solidFill>
            <a:srgbClr val="014E74"/>
          </a:solidFill>
          <a:ln/>
        </p:spPr>
      </p:sp>
      <p:sp>
        <p:nvSpPr>
          <p:cNvPr id="37" name="Text 35"/>
          <p:cNvSpPr/>
          <p:nvPr/>
        </p:nvSpPr>
        <p:spPr>
          <a:xfrm>
            <a:off x="4400550" y="3593108"/>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Financials and KYC arrive pre-loaded</a:t>
            </a:r>
            <a:endParaRPr lang="en-US" sz="1050" dirty="0"/>
          </a:p>
        </p:txBody>
      </p:sp>
      <p:sp>
        <p:nvSpPr>
          <p:cNvPr id="38" name="Shape 36"/>
          <p:cNvSpPr/>
          <p:nvPr/>
        </p:nvSpPr>
        <p:spPr>
          <a:xfrm>
            <a:off x="4270375" y="3950345"/>
            <a:ext cx="3651250" cy="574427"/>
          </a:xfrm>
          <a:prstGeom prst="roundRect">
            <a:avLst>
              <a:gd name="adj" fmla="val 3869"/>
            </a:avLst>
          </a:prstGeom>
          <a:solidFill>
            <a:srgbClr val="FFFFFF"/>
          </a:solidFill>
          <a:ln w="6350">
            <a:solidFill>
              <a:srgbClr val="E6E6E6"/>
            </a:solidFill>
            <a:prstDash val="solid"/>
          </a:ln>
        </p:spPr>
      </p:sp>
      <p:sp>
        <p:nvSpPr>
          <p:cNvPr id="39" name="Text 37"/>
          <p:cNvSpPr/>
          <p:nvPr/>
        </p:nvSpPr>
        <p:spPr>
          <a:xfrm>
            <a:off x="4400550" y="4028182"/>
            <a:ext cx="2277474"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 credit calculations</a:t>
            </a:r>
            <a:endParaRPr lang="en-US" sz="1300" dirty="0"/>
          </a:p>
        </p:txBody>
      </p:sp>
      <p:sp>
        <p:nvSpPr>
          <p:cNvPr id="40" name="Shape 38"/>
          <p:cNvSpPr/>
          <p:nvPr/>
        </p:nvSpPr>
        <p:spPr>
          <a:xfrm>
            <a:off x="7308850" y="4076402"/>
            <a:ext cx="101600" cy="101600"/>
          </a:xfrm>
          <a:prstGeom prst="roundRect">
            <a:avLst>
              <a:gd name="adj" fmla="val 12500"/>
            </a:avLst>
          </a:prstGeom>
          <a:solidFill>
            <a:srgbClr val="014E74"/>
          </a:solidFill>
          <a:ln/>
        </p:spPr>
      </p:sp>
      <p:sp>
        <p:nvSpPr>
          <p:cNvPr id="41" name="Shape 39"/>
          <p:cNvSpPr/>
          <p:nvPr/>
        </p:nvSpPr>
        <p:spPr>
          <a:xfrm>
            <a:off x="7435850" y="4076402"/>
            <a:ext cx="101600" cy="101600"/>
          </a:xfrm>
          <a:prstGeom prst="roundRect">
            <a:avLst>
              <a:gd name="adj" fmla="val 12500"/>
            </a:avLst>
          </a:prstGeom>
          <a:solidFill>
            <a:srgbClr val="026597"/>
          </a:solidFill>
          <a:ln/>
        </p:spPr>
      </p:sp>
      <p:sp>
        <p:nvSpPr>
          <p:cNvPr id="42" name="Shape 40"/>
          <p:cNvSpPr/>
          <p:nvPr/>
        </p:nvSpPr>
        <p:spPr>
          <a:xfrm>
            <a:off x="7562850" y="4076402"/>
            <a:ext cx="101600" cy="101600"/>
          </a:xfrm>
          <a:prstGeom prst="roundRect">
            <a:avLst>
              <a:gd name="adj" fmla="val 12500"/>
            </a:avLst>
          </a:prstGeom>
          <a:solidFill>
            <a:srgbClr val="0276B1"/>
          </a:solidFill>
          <a:ln/>
        </p:spPr>
      </p:sp>
      <p:sp>
        <p:nvSpPr>
          <p:cNvPr id="43" name="Shape 41"/>
          <p:cNvSpPr/>
          <p:nvPr/>
        </p:nvSpPr>
        <p:spPr>
          <a:xfrm>
            <a:off x="7689850" y="4076402"/>
            <a:ext cx="101600" cy="101600"/>
          </a:xfrm>
          <a:prstGeom prst="roundRect">
            <a:avLst>
              <a:gd name="adj" fmla="val 12500"/>
            </a:avLst>
          </a:prstGeom>
          <a:solidFill>
            <a:srgbClr val="6FB0D4"/>
          </a:solidFill>
          <a:ln/>
        </p:spPr>
      </p:sp>
      <p:sp>
        <p:nvSpPr>
          <p:cNvPr id="44" name="Text 42"/>
          <p:cNvSpPr/>
          <p:nvPr/>
        </p:nvSpPr>
        <p:spPr>
          <a:xfrm>
            <a:off x="4400550" y="4250085"/>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One engine for spreads, DSCR and ratings</a:t>
            </a:r>
            <a:endParaRPr lang="en-US" sz="1050" dirty="0"/>
          </a:p>
        </p:txBody>
      </p:sp>
      <p:sp>
        <p:nvSpPr>
          <p:cNvPr id="45" name="Shape 43"/>
          <p:cNvSpPr/>
          <p:nvPr/>
        </p:nvSpPr>
        <p:spPr>
          <a:xfrm>
            <a:off x="4270375" y="4607322"/>
            <a:ext cx="3651250" cy="574477"/>
          </a:xfrm>
          <a:prstGeom prst="roundRect">
            <a:avLst>
              <a:gd name="adj" fmla="val 3869"/>
            </a:avLst>
          </a:prstGeom>
          <a:solidFill>
            <a:srgbClr val="FFFFFF"/>
          </a:solidFill>
          <a:ln w="6350">
            <a:solidFill>
              <a:srgbClr val="E6E6E6"/>
            </a:solidFill>
            <a:prstDash val="solid"/>
          </a:ln>
        </p:spPr>
      </p:sp>
      <p:sp>
        <p:nvSpPr>
          <p:cNvPr id="46" name="Text 44"/>
          <p:cNvSpPr/>
          <p:nvPr/>
        </p:nvSpPr>
        <p:spPr>
          <a:xfrm>
            <a:off x="4400550" y="4685159"/>
            <a:ext cx="1927966"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Industry research agent</a:t>
            </a:r>
            <a:endParaRPr lang="en-US" sz="1300" dirty="0"/>
          </a:p>
        </p:txBody>
      </p:sp>
      <p:sp>
        <p:nvSpPr>
          <p:cNvPr id="47" name="Shape 45"/>
          <p:cNvSpPr/>
          <p:nvPr/>
        </p:nvSpPr>
        <p:spPr>
          <a:xfrm>
            <a:off x="7689850" y="4733379"/>
            <a:ext cx="101600" cy="101600"/>
          </a:xfrm>
          <a:prstGeom prst="roundRect">
            <a:avLst>
              <a:gd name="adj" fmla="val 12500"/>
            </a:avLst>
          </a:prstGeom>
          <a:solidFill>
            <a:srgbClr val="3A93C4"/>
          </a:solidFill>
          <a:ln/>
        </p:spPr>
      </p:sp>
      <p:sp>
        <p:nvSpPr>
          <p:cNvPr id="48" name="Text 46"/>
          <p:cNvSpPr/>
          <p:nvPr/>
        </p:nvSpPr>
        <p:spPr>
          <a:xfrm>
            <a:off x="4400550" y="4907111"/>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Drafts industry and peer views on demand</a:t>
            </a:r>
            <a:endParaRPr lang="en-US" sz="1050" dirty="0"/>
          </a:p>
        </p:txBody>
      </p:sp>
      <p:sp>
        <p:nvSpPr>
          <p:cNvPr id="49" name="Shape 47"/>
          <p:cNvSpPr/>
          <p:nvPr/>
        </p:nvSpPr>
        <p:spPr>
          <a:xfrm>
            <a:off x="4270375" y="5264348"/>
            <a:ext cx="3651250" cy="574477"/>
          </a:xfrm>
          <a:prstGeom prst="roundRect">
            <a:avLst>
              <a:gd name="adj" fmla="val 3869"/>
            </a:avLst>
          </a:prstGeom>
          <a:solidFill>
            <a:srgbClr val="FFFFFF"/>
          </a:solidFill>
          <a:ln w="6350">
            <a:solidFill>
              <a:srgbClr val="E6E6E6"/>
            </a:solidFill>
            <a:prstDash val="solid"/>
          </a:ln>
        </p:spPr>
      </p:sp>
      <p:sp>
        <p:nvSpPr>
          <p:cNvPr id="50" name="Text 48"/>
          <p:cNvSpPr/>
          <p:nvPr/>
        </p:nvSpPr>
        <p:spPr>
          <a:xfrm>
            <a:off x="4400550" y="5342186"/>
            <a:ext cx="154617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Credit memo agent</a:t>
            </a:r>
            <a:endParaRPr lang="en-US" sz="1300" dirty="0"/>
          </a:p>
        </p:txBody>
      </p:sp>
      <p:sp>
        <p:nvSpPr>
          <p:cNvPr id="51" name="Shape 49"/>
          <p:cNvSpPr/>
          <p:nvPr/>
        </p:nvSpPr>
        <p:spPr>
          <a:xfrm>
            <a:off x="7562850" y="5390406"/>
            <a:ext cx="101600" cy="101600"/>
          </a:xfrm>
          <a:prstGeom prst="roundRect">
            <a:avLst>
              <a:gd name="adj" fmla="val 12500"/>
            </a:avLst>
          </a:prstGeom>
          <a:solidFill>
            <a:srgbClr val="A3CDE4"/>
          </a:solidFill>
          <a:ln/>
        </p:spPr>
      </p:sp>
      <p:sp>
        <p:nvSpPr>
          <p:cNvPr id="52" name="Shape 50"/>
          <p:cNvSpPr/>
          <p:nvPr/>
        </p:nvSpPr>
        <p:spPr>
          <a:xfrm>
            <a:off x="7693025" y="5393581"/>
            <a:ext cx="95250" cy="95250"/>
          </a:xfrm>
          <a:prstGeom prst="roundRect">
            <a:avLst>
              <a:gd name="adj" fmla="val 10000"/>
            </a:avLst>
          </a:prstGeom>
          <a:solidFill>
            <a:srgbClr val="D0E6F2"/>
          </a:solidFill>
          <a:ln w="6350">
            <a:solidFill>
              <a:srgbClr val="A3CDE4"/>
            </a:solidFill>
            <a:prstDash val="solid"/>
          </a:ln>
        </p:spPr>
      </p:sp>
      <p:sp>
        <p:nvSpPr>
          <p:cNvPr id="53" name="Text 51"/>
          <p:cNvSpPr/>
          <p:nvPr/>
        </p:nvSpPr>
        <p:spPr>
          <a:xfrm>
            <a:off x="4400550" y="5564138"/>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Drafts the memo; the officer edits and decides</a:t>
            </a:r>
            <a:endParaRPr lang="en-US" sz="1050" dirty="0"/>
          </a:p>
        </p:txBody>
      </p:sp>
      <p:sp>
        <p:nvSpPr>
          <p:cNvPr id="54" name="Text 52"/>
          <p:cNvSpPr/>
          <p:nvPr/>
        </p:nvSpPr>
        <p:spPr>
          <a:xfrm>
            <a:off x="8331200" y="3832225"/>
            <a:ext cx="76259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WITH AI</a:t>
            </a:r>
            <a:endParaRPr lang="en-US" sz="1200" dirty="0"/>
          </a:p>
        </p:txBody>
      </p:sp>
      <p:sp>
        <p:nvSpPr>
          <p:cNvPr id="55" name="Text 53"/>
          <p:cNvSpPr/>
          <p:nvPr/>
        </p:nvSpPr>
        <p:spPr>
          <a:xfrm>
            <a:off x="10630843" y="3727450"/>
            <a:ext cx="799157"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276B1"/>
                </a:solidFill>
                <a:latin typeface="Arial" pitchFamily="34" charset="0"/>
                <a:ea typeface="Arial" pitchFamily="34" charset="-122"/>
                <a:cs typeface="Arial" pitchFamily="34" charset="-120"/>
              </a:rPr>
              <a:t>15 hrs</a:t>
            </a:r>
            <a:endParaRPr lang="en-US" sz="2000" dirty="0"/>
          </a:p>
        </p:txBody>
      </p:sp>
      <p:sp>
        <p:nvSpPr>
          <p:cNvPr id="56" name="Shape 54"/>
          <p:cNvSpPr/>
          <p:nvPr/>
        </p:nvSpPr>
        <p:spPr>
          <a:xfrm>
            <a:off x="8331200" y="4133850"/>
            <a:ext cx="3048000" cy="107950"/>
          </a:xfrm>
          <a:prstGeom prst="rect">
            <a:avLst/>
          </a:prstGeom>
          <a:solidFill>
            <a:srgbClr val="012F47"/>
          </a:solidFill>
          <a:ln/>
        </p:spPr>
      </p:sp>
      <p:sp>
        <p:nvSpPr>
          <p:cNvPr id="57" name="Shape 55"/>
          <p:cNvSpPr/>
          <p:nvPr/>
        </p:nvSpPr>
        <p:spPr>
          <a:xfrm>
            <a:off x="8331200" y="4254500"/>
            <a:ext cx="3048000" cy="215900"/>
          </a:xfrm>
          <a:prstGeom prst="rect">
            <a:avLst/>
          </a:prstGeom>
          <a:solidFill>
            <a:srgbClr val="014E74"/>
          </a:solidFill>
          <a:ln/>
        </p:spPr>
      </p:sp>
      <p:sp>
        <p:nvSpPr>
          <p:cNvPr id="58" name="Shape 56"/>
          <p:cNvSpPr/>
          <p:nvPr/>
        </p:nvSpPr>
        <p:spPr>
          <a:xfrm>
            <a:off x="8331200" y="4483100"/>
            <a:ext cx="3048000" cy="215900"/>
          </a:xfrm>
          <a:prstGeom prst="rect">
            <a:avLst/>
          </a:prstGeom>
          <a:solidFill>
            <a:srgbClr val="026597"/>
          </a:solidFill>
          <a:ln/>
        </p:spPr>
      </p:sp>
      <p:sp>
        <p:nvSpPr>
          <p:cNvPr id="59" name="Shape 57"/>
          <p:cNvSpPr/>
          <p:nvPr/>
        </p:nvSpPr>
        <p:spPr>
          <a:xfrm>
            <a:off x="8331200" y="4711700"/>
            <a:ext cx="3048000" cy="215900"/>
          </a:xfrm>
          <a:prstGeom prst="rect">
            <a:avLst/>
          </a:prstGeom>
          <a:solidFill>
            <a:srgbClr val="0276B1"/>
          </a:solidFill>
          <a:ln/>
        </p:spPr>
      </p:sp>
      <p:sp>
        <p:nvSpPr>
          <p:cNvPr id="60" name="Shape 58"/>
          <p:cNvSpPr/>
          <p:nvPr/>
        </p:nvSpPr>
        <p:spPr>
          <a:xfrm>
            <a:off x="8331200" y="4940300"/>
            <a:ext cx="3048000" cy="107950"/>
          </a:xfrm>
          <a:prstGeom prst="rect">
            <a:avLst/>
          </a:prstGeom>
          <a:solidFill>
            <a:srgbClr val="3A93C4"/>
          </a:solidFill>
          <a:ln/>
        </p:spPr>
      </p:sp>
      <p:sp>
        <p:nvSpPr>
          <p:cNvPr id="61" name="Shape 59"/>
          <p:cNvSpPr/>
          <p:nvPr/>
        </p:nvSpPr>
        <p:spPr>
          <a:xfrm>
            <a:off x="8331200" y="5060950"/>
            <a:ext cx="3048000" cy="107950"/>
          </a:xfrm>
          <a:prstGeom prst="rect">
            <a:avLst/>
          </a:prstGeom>
          <a:solidFill>
            <a:srgbClr val="6FB0D4"/>
          </a:solidFill>
          <a:ln/>
        </p:spPr>
      </p:sp>
      <p:sp>
        <p:nvSpPr>
          <p:cNvPr id="62" name="Shape 60"/>
          <p:cNvSpPr/>
          <p:nvPr/>
        </p:nvSpPr>
        <p:spPr>
          <a:xfrm>
            <a:off x="8331200" y="5181600"/>
            <a:ext cx="3048000" cy="323850"/>
          </a:xfrm>
          <a:prstGeom prst="rect">
            <a:avLst/>
          </a:prstGeom>
          <a:solidFill>
            <a:srgbClr val="A3CDE4"/>
          </a:solidFill>
          <a:ln/>
        </p:spPr>
      </p:sp>
      <p:sp>
        <p:nvSpPr>
          <p:cNvPr id="63" name="Shape 61"/>
          <p:cNvSpPr/>
          <p:nvPr/>
        </p:nvSpPr>
        <p:spPr>
          <a:xfrm>
            <a:off x="8331200" y="5518150"/>
            <a:ext cx="3048000" cy="323850"/>
          </a:xfrm>
          <a:prstGeom prst="rect">
            <a:avLst/>
          </a:prstGeom>
          <a:solidFill>
            <a:srgbClr val="D0E6F2"/>
          </a:solidFill>
          <a:ln/>
        </p:spPr>
      </p:sp>
      <p:sp>
        <p:nvSpPr>
          <p:cNvPr id="64" name="Text 6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FTE hours · placeholder estimates · colored squares show which steps each project shrinks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77212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141414"/>
                </a:solidFill>
                <a:latin typeface="Arial" pitchFamily="34" charset="0"/>
                <a:ea typeface="Arial" pitchFamily="34" charset="-122"/>
                <a:cs typeface="Arial" pitchFamily="34" charset="-120"/>
              </a:rPr>
              <a:t>Curated data, shared calculations and Claude Code could halve model build and deployment effort</a:t>
            </a:r>
            <a:endParaRPr lang="en-US" sz="2800" dirty="0"/>
          </a:p>
        </p:txBody>
      </p:sp>
      <p:sp>
        <p:nvSpPr>
          <p:cNvPr id="3" name="Text 1"/>
          <p:cNvSpPr/>
          <p:nvPr/>
        </p:nvSpPr>
        <p:spPr>
          <a:xfrm>
            <a:off x="812800" y="1816695"/>
            <a:ext cx="1952748"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TODAY · ONE MODEL</a:t>
            </a:r>
            <a:endParaRPr lang="en-US" sz="1200" dirty="0"/>
          </a:p>
        </p:txBody>
      </p:sp>
      <p:sp>
        <p:nvSpPr>
          <p:cNvPr id="4" name="Text 2"/>
          <p:cNvSpPr/>
          <p:nvPr/>
        </p:nvSpPr>
        <p:spPr>
          <a:xfrm>
            <a:off x="2759472" y="1711920"/>
            <a:ext cx="1152128" cy="7366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414"/>
                </a:solidFill>
                <a:latin typeface="Arial" pitchFamily="34" charset="0"/>
                <a:ea typeface="Arial" pitchFamily="34" charset="-122"/>
                <a:cs typeface="Arial" pitchFamily="34" charset="-120"/>
              </a:rPr>
              <a:t>1,500 hrs</a:t>
            </a:r>
            <a:endParaRPr lang="en-US" sz="2000" dirty="0"/>
          </a:p>
        </p:txBody>
      </p:sp>
      <p:sp>
        <p:nvSpPr>
          <p:cNvPr id="5" name="Shape 3"/>
          <p:cNvSpPr/>
          <p:nvPr/>
        </p:nvSpPr>
        <p:spPr>
          <a:xfrm>
            <a:off x="812800" y="2409875"/>
            <a:ext cx="3048000" cy="444500"/>
          </a:xfrm>
          <a:prstGeom prst="rect">
            <a:avLst/>
          </a:prstGeom>
          <a:solidFill>
            <a:srgbClr val="012F47"/>
          </a:solidFill>
          <a:ln/>
        </p:spPr>
      </p:sp>
      <p:sp>
        <p:nvSpPr>
          <p:cNvPr id="6" name="Text 4"/>
          <p:cNvSpPr/>
          <p:nvPr/>
        </p:nvSpPr>
        <p:spPr>
          <a:xfrm>
            <a:off x="914400" y="2555925"/>
            <a:ext cx="991096"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Data sourcing</a:t>
            </a:r>
            <a:endParaRPr lang="en-US" sz="1200" dirty="0"/>
          </a:p>
        </p:txBody>
      </p:sp>
      <p:sp>
        <p:nvSpPr>
          <p:cNvPr id="7" name="Text 5"/>
          <p:cNvSpPr/>
          <p:nvPr/>
        </p:nvSpPr>
        <p:spPr>
          <a:xfrm>
            <a:off x="3504902" y="255592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180</a:t>
            </a:r>
            <a:endParaRPr lang="en-US" sz="1200" dirty="0"/>
          </a:p>
        </p:txBody>
      </p:sp>
      <p:sp>
        <p:nvSpPr>
          <p:cNvPr id="8" name="Shape 6"/>
          <p:cNvSpPr/>
          <p:nvPr/>
        </p:nvSpPr>
        <p:spPr>
          <a:xfrm>
            <a:off x="812800" y="2867075"/>
            <a:ext cx="3048000" cy="736600"/>
          </a:xfrm>
          <a:prstGeom prst="rect">
            <a:avLst/>
          </a:prstGeom>
          <a:solidFill>
            <a:srgbClr val="014E74"/>
          </a:solidFill>
          <a:ln/>
        </p:spPr>
      </p:sp>
      <p:sp>
        <p:nvSpPr>
          <p:cNvPr id="9" name="Text 7"/>
          <p:cNvSpPr/>
          <p:nvPr/>
        </p:nvSpPr>
        <p:spPr>
          <a:xfrm>
            <a:off x="914400" y="3159175"/>
            <a:ext cx="98276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Data cleaning</a:t>
            </a:r>
            <a:endParaRPr lang="en-US" sz="1200" dirty="0"/>
          </a:p>
        </p:txBody>
      </p:sp>
      <p:sp>
        <p:nvSpPr>
          <p:cNvPr id="10" name="Text 8"/>
          <p:cNvSpPr/>
          <p:nvPr/>
        </p:nvSpPr>
        <p:spPr>
          <a:xfrm>
            <a:off x="3504902" y="315917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300</a:t>
            </a:r>
            <a:endParaRPr lang="en-US" sz="1200" dirty="0"/>
          </a:p>
        </p:txBody>
      </p:sp>
      <p:sp>
        <p:nvSpPr>
          <p:cNvPr id="11" name="Shape 9"/>
          <p:cNvSpPr/>
          <p:nvPr/>
        </p:nvSpPr>
        <p:spPr>
          <a:xfrm>
            <a:off x="812800" y="3616375"/>
            <a:ext cx="3048000" cy="368300"/>
          </a:xfrm>
          <a:prstGeom prst="rect">
            <a:avLst/>
          </a:prstGeom>
          <a:solidFill>
            <a:srgbClr val="026597"/>
          </a:solidFill>
          <a:ln/>
        </p:spPr>
      </p:sp>
      <p:sp>
        <p:nvSpPr>
          <p:cNvPr id="12" name="Text 10"/>
          <p:cNvSpPr/>
          <p:nvPr/>
        </p:nvSpPr>
        <p:spPr>
          <a:xfrm>
            <a:off x="914400" y="3724325"/>
            <a:ext cx="1533227"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Segments &amp; variables</a:t>
            </a:r>
            <a:endParaRPr lang="en-US" sz="1200" dirty="0"/>
          </a:p>
        </p:txBody>
      </p:sp>
      <p:sp>
        <p:nvSpPr>
          <p:cNvPr id="13" name="Text 11"/>
          <p:cNvSpPr/>
          <p:nvPr/>
        </p:nvSpPr>
        <p:spPr>
          <a:xfrm>
            <a:off x="3504902" y="372432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150</a:t>
            </a:r>
            <a:endParaRPr lang="en-US" sz="1200" dirty="0"/>
          </a:p>
        </p:txBody>
      </p:sp>
      <p:sp>
        <p:nvSpPr>
          <p:cNvPr id="14" name="Shape 12"/>
          <p:cNvSpPr/>
          <p:nvPr/>
        </p:nvSpPr>
        <p:spPr>
          <a:xfrm>
            <a:off x="812800" y="3997375"/>
            <a:ext cx="3048000" cy="368300"/>
          </a:xfrm>
          <a:prstGeom prst="rect">
            <a:avLst/>
          </a:prstGeom>
          <a:solidFill>
            <a:srgbClr val="0276B1"/>
          </a:solidFill>
          <a:ln/>
        </p:spPr>
      </p:sp>
      <p:sp>
        <p:nvSpPr>
          <p:cNvPr id="15" name="Text 13"/>
          <p:cNvSpPr/>
          <p:nvPr/>
        </p:nvSpPr>
        <p:spPr>
          <a:xfrm>
            <a:off x="914400" y="4105325"/>
            <a:ext cx="1202829"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Model estimation</a:t>
            </a:r>
            <a:endParaRPr lang="en-US" sz="1200" dirty="0"/>
          </a:p>
        </p:txBody>
      </p:sp>
      <p:sp>
        <p:nvSpPr>
          <p:cNvPr id="16" name="Text 14"/>
          <p:cNvSpPr/>
          <p:nvPr/>
        </p:nvSpPr>
        <p:spPr>
          <a:xfrm>
            <a:off x="3504902" y="410532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150</a:t>
            </a:r>
            <a:endParaRPr lang="en-US" sz="1200" dirty="0"/>
          </a:p>
        </p:txBody>
      </p:sp>
      <p:sp>
        <p:nvSpPr>
          <p:cNvPr id="17" name="Shape 15"/>
          <p:cNvSpPr/>
          <p:nvPr/>
        </p:nvSpPr>
        <p:spPr>
          <a:xfrm>
            <a:off x="812800" y="4378375"/>
            <a:ext cx="3048000" cy="488950"/>
          </a:xfrm>
          <a:prstGeom prst="rect">
            <a:avLst/>
          </a:prstGeom>
          <a:solidFill>
            <a:srgbClr val="3A93C4"/>
          </a:solidFill>
          <a:ln/>
        </p:spPr>
      </p:sp>
      <p:sp>
        <p:nvSpPr>
          <p:cNvPr id="18" name="Text 16"/>
          <p:cNvSpPr/>
          <p:nvPr/>
        </p:nvSpPr>
        <p:spPr>
          <a:xfrm>
            <a:off x="914400" y="4546650"/>
            <a:ext cx="1490960"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Testing &amp; backtesting</a:t>
            </a:r>
            <a:endParaRPr lang="en-US" sz="1200" dirty="0"/>
          </a:p>
        </p:txBody>
      </p:sp>
      <p:sp>
        <p:nvSpPr>
          <p:cNvPr id="19" name="Text 17"/>
          <p:cNvSpPr/>
          <p:nvPr/>
        </p:nvSpPr>
        <p:spPr>
          <a:xfrm>
            <a:off x="3504902" y="4546650"/>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200</a:t>
            </a:r>
            <a:endParaRPr lang="en-US" sz="1200" dirty="0"/>
          </a:p>
        </p:txBody>
      </p:sp>
      <p:sp>
        <p:nvSpPr>
          <p:cNvPr id="20" name="Shape 18"/>
          <p:cNvSpPr/>
          <p:nvPr/>
        </p:nvSpPr>
        <p:spPr>
          <a:xfrm>
            <a:off x="812800" y="4880025"/>
            <a:ext cx="3048000" cy="615950"/>
          </a:xfrm>
          <a:prstGeom prst="rect">
            <a:avLst/>
          </a:prstGeom>
          <a:solidFill>
            <a:srgbClr val="6FB0D4"/>
          </a:solidFill>
          <a:ln/>
        </p:spPr>
      </p:sp>
      <p:sp>
        <p:nvSpPr>
          <p:cNvPr id="21" name="Text 19"/>
          <p:cNvSpPr/>
          <p:nvPr/>
        </p:nvSpPr>
        <p:spPr>
          <a:xfrm>
            <a:off x="914400" y="5111800"/>
            <a:ext cx="1075879"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Documentation</a:t>
            </a:r>
            <a:endParaRPr lang="en-US" sz="1200" dirty="0"/>
          </a:p>
        </p:txBody>
      </p:sp>
      <p:sp>
        <p:nvSpPr>
          <p:cNvPr id="22" name="Text 20"/>
          <p:cNvSpPr/>
          <p:nvPr/>
        </p:nvSpPr>
        <p:spPr>
          <a:xfrm>
            <a:off x="3504902" y="5111800"/>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250</a:t>
            </a:r>
            <a:endParaRPr lang="en-US" sz="1200" dirty="0"/>
          </a:p>
        </p:txBody>
      </p:sp>
      <p:sp>
        <p:nvSpPr>
          <p:cNvPr id="23" name="Shape 21"/>
          <p:cNvSpPr/>
          <p:nvPr/>
        </p:nvSpPr>
        <p:spPr>
          <a:xfrm>
            <a:off x="812800" y="5508675"/>
            <a:ext cx="3048000" cy="292100"/>
          </a:xfrm>
          <a:prstGeom prst="rect">
            <a:avLst/>
          </a:prstGeom>
          <a:solidFill>
            <a:srgbClr val="A3CDE4"/>
          </a:solidFill>
          <a:ln/>
        </p:spPr>
      </p:sp>
      <p:sp>
        <p:nvSpPr>
          <p:cNvPr id="24" name="Text 22"/>
          <p:cNvSpPr/>
          <p:nvPr/>
        </p:nvSpPr>
        <p:spPr>
          <a:xfrm>
            <a:off x="914400" y="5578525"/>
            <a:ext cx="125953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Validation support</a:t>
            </a:r>
            <a:endParaRPr lang="en-US" sz="1200" dirty="0"/>
          </a:p>
        </p:txBody>
      </p:sp>
      <p:sp>
        <p:nvSpPr>
          <p:cNvPr id="25" name="Text 23"/>
          <p:cNvSpPr/>
          <p:nvPr/>
        </p:nvSpPr>
        <p:spPr>
          <a:xfrm>
            <a:off x="3504902" y="557852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120</a:t>
            </a:r>
            <a:endParaRPr lang="en-US" sz="1200" dirty="0"/>
          </a:p>
        </p:txBody>
      </p:sp>
      <p:sp>
        <p:nvSpPr>
          <p:cNvPr id="26" name="Shape 24"/>
          <p:cNvSpPr/>
          <p:nvPr/>
        </p:nvSpPr>
        <p:spPr>
          <a:xfrm>
            <a:off x="812800" y="5813475"/>
            <a:ext cx="3048000" cy="368300"/>
          </a:xfrm>
          <a:prstGeom prst="rect">
            <a:avLst/>
          </a:prstGeom>
          <a:solidFill>
            <a:srgbClr val="D0E6F2"/>
          </a:solidFill>
          <a:ln/>
        </p:spPr>
      </p:sp>
      <p:sp>
        <p:nvSpPr>
          <p:cNvPr id="27" name="Text 25"/>
          <p:cNvSpPr/>
          <p:nvPr/>
        </p:nvSpPr>
        <p:spPr>
          <a:xfrm>
            <a:off x="914400" y="5921425"/>
            <a:ext cx="863997"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Deployment</a:t>
            </a:r>
            <a:endParaRPr lang="en-US" sz="1200" dirty="0"/>
          </a:p>
        </p:txBody>
      </p:sp>
      <p:sp>
        <p:nvSpPr>
          <p:cNvPr id="28" name="Text 26"/>
          <p:cNvSpPr/>
          <p:nvPr/>
        </p:nvSpPr>
        <p:spPr>
          <a:xfrm>
            <a:off x="3504902" y="592142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150</a:t>
            </a:r>
            <a:endParaRPr lang="en-US" sz="1200" dirty="0"/>
          </a:p>
        </p:txBody>
      </p:sp>
      <p:sp>
        <p:nvSpPr>
          <p:cNvPr id="29" name="Text 27"/>
          <p:cNvSpPr/>
          <p:nvPr/>
        </p:nvSpPr>
        <p:spPr>
          <a:xfrm>
            <a:off x="4267200" y="1623616"/>
            <a:ext cx="1573609"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0276B1"/>
                </a:solidFill>
                <a:latin typeface="Arial" pitchFamily="34" charset="0"/>
                <a:ea typeface="Arial" pitchFamily="34" charset="-122"/>
                <a:cs typeface="Arial" pitchFamily="34" charset="-120"/>
              </a:rPr>
              <a:t>−56%</a:t>
            </a:r>
            <a:endParaRPr lang="en-US" sz="4800" dirty="0"/>
          </a:p>
        </p:txBody>
      </p:sp>
      <p:sp>
        <p:nvSpPr>
          <p:cNvPr id="30" name="Text 28"/>
          <p:cNvSpPr/>
          <p:nvPr/>
        </p:nvSpPr>
        <p:spPr>
          <a:xfrm>
            <a:off x="5942409" y="1943646"/>
            <a:ext cx="2041862"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build + deploy effort per model</a:t>
            </a:r>
            <a:endParaRPr lang="en-US" sz="1200" dirty="0"/>
          </a:p>
        </p:txBody>
      </p:sp>
      <p:sp>
        <p:nvSpPr>
          <p:cNvPr id="31" name="Text 29"/>
          <p:cNvSpPr/>
          <p:nvPr/>
        </p:nvSpPr>
        <p:spPr>
          <a:xfrm>
            <a:off x="5942409" y="2395686"/>
            <a:ext cx="204186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414"/>
                </a:solidFill>
                <a:latin typeface="Arial" pitchFamily="34" charset="0"/>
                <a:ea typeface="Arial" pitchFamily="34" charset="-122"/>
                <a:cs typeface="Arial" pitchFamily="34" charset="-120"/>
              </a:rPr>
              <a:t>[1–2] models a year</a:t>
            </a:r>
            <a:endParaRPr lang="en-US" sz="1400" dirty="0"/>
          </a:p>
        </p:txBody>
      </p:sp>
      <p:sp>
        <p:nvSpPr>
          <p:cNvPr id="32" name="Text 30"/>
          <p:cNvSpPr/>
          <p:nvPr/>
        </p:nvSpPr>
        <p:spPr>
          <a:xfrm>
            <a:off x="4267200" y="3028702"/>
            <a:ext cx="3767328" cy="210641"/>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6B6B6B"/>
                </a:solidFill>
                <a:latin typeface="Arial" pitchFamily="34" charset="0"/>
                <a:ea typeface="Arial" pitchFamily="34" charset="-122"/>
                <a:cs typeface="Arial" pitchFamily="34" charset="-120"/>
              </a:rPr>
              <a:t>HOW WE MOVE THE BARS</a:t>
            </a:r>
            <a:endParaRPr lang="en-US" sz="1050" dirty="0"/>
          </a:p>
        </p:txBody>
      </p:sp>
      <p:sp>
        <p:nvSpPr>
          <p:cNvPr id="33" name="Shape 31"/>
          <p:cNvSpPr/>
          <p:nvPr/>
        </p:nvSpPr>
        <p:spPr>
          <a:xfrm>
            <a:off x="4270375" y="3293318"/>
            <a:ext cx="3651250" cy="574477"/>
          </a:xfrm>
          <a:prstGeom prst="roundRect">
            <a:avLst>
              <a:gd name="adj" fmla="val 3869"/>
            </a:avLst>
          </a:prstGeom>
          <a:solidFill>
            <a:srgbClr val="FFFFFF"/>
          </a:solidFill>
          <a:ln w="6350">
            <a:solidFill>
              <a:srgbClr val="E6E6E6"/>
            </a:solidFill>
            <a:prstDash val="solid"/>
          </a:ln>
        </p:spPr>
      </p:sp>
      <p:sp>
        <p:nvSpPr>
          <p:cNvPr id="34" name="Text 32"/>
          <p:cNvSpPr/>
          <p:nvPr/>
        </p:nvSpPr>
        <p:spPr>
          <a:xfrm>
            <a:off x="4400550" y="3371155"/>
            <a:ext cx="1965267"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Curated, monitored data</a:t>
            </a:r>
            <a:endParaRPr lang="en-US" sz="1300" dirty="0"/>
          </a:p>
        </p:txBody>
      </p:sp>
      <p:sp>
        <p:nvSpPr>
          <p:cNvPr id="35" name="Shape 33"/>
          <p:cNvSpPr/>
          <p:nvPr/>
        </p:nvSpPr>
        <p:spPr>
          <a:xfrm>
            <a:off x="7562850" y="3419376"/>
            <a:ext cx="101600" cy="101600"/>
          </a:xfrm>
          <a:prstGeom prst="roundRect">
            <a:avLst>
              <a:gd name="adj" fmla="val 12500"/>
            </a:avLst>
          </a:prstGeom>
          <a:solidFill>
            <a:srgbClr val="012F47"/>
          </a:solidFill>
          <a:ln/>
        </p:spPr>
      </p:sp>
      <p:sp>
        <p:nvSpPr>
          <p:cNvPr id="36" name="Shape 34"/>
          <p:cNvSpPr/>
          <p:nvPr/>
        </p:nvSpPr>
        <p:spPr>
          <a:xfrm>
            <a:off x="7689850" y="3419376"/>
            <a:ext cx="101600" cy="101600"/>
          </a:xfrm>
          <a:prstGeom prst="roundRect">
            <a:avLst>
              <a:gd name="adj" fmla="val 12500"/>
            </a:avLst>
          </a:prstGeom>
          <a:solidFill>
            <a:srgbClr val="014E74"/>
          </a:solidFill>
          <a:ln/>
        </p:spPr>
      </p:sp>
      <p:sp>
        <p:nvSpPr>
          <p:cNvPr id="37" name="Text 35"/>
          <p:cNvSpPr/>
          <p:nvPr/>
        </p:nvSpPr>
        <p:spPr>
          <a:xfrm>
            <a:off x="4400550" y="3593108"/>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Clean, documented history ready to use</a:t>
            </a:r>
            <a:endParaRPr lang="en-US" sz="1050" dirty="0"/>
          </a:p>
        </p:txBody>
      </p:sp>
      <p:sp>
        <p:nvSpPr>
          <p:cNvPr id="38" name="Shape 36"/>
          <p:cNvSpPr/>
          <p:nvPr/>
        </p:nvSpPr>
        <p:spPr>
          <a:xfrm>
            <a:off x="4270375" y="3950345"/>
            <a:ext cx="3651250" cy="574427"/>
          </a:xfrm>
          <a:prstGeom prst="roundRect">
            <a:avLst>
              <a:gd name="adj" fmla="val 3869"/>
            </a:avLst>
          </a:prstGeom>
          <a:solidFill>
            <a:srgbClr val="FFFFFF"/>
          </a:solidFill>
          <a:ln w="6350">
            <a:solidFill>
              <a:srgbClr val="E6E6E6"/>
            </a:solidFill>
            <a:prstDash val="solid"/>
          </a:ln>
        </p:spPr>
      </p:sp>
      <p:sp>
        <p:nvSpPr>
          <p:cNvPr id="39" name="Text 37"/>
          <p:cNvSpPr/>
          <p:nvPr/>
        </p:nvSpPr>
        <p:spPr>
          <a:xfrm>
            <a:off x="4400550" y="4028182"/>
            <a:ext cx="223971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 calculation library</a:t>
            </a:r>
            <a:endParaRPr lang="en-US" sz="1300" dirty="0"/>
          </a:p>
        </p:txBody>
      </p:sp>
      <p:sp>
        <p:nvSpPr>
          <p:cNvPr id="40" name="Shape 38"/>
          <p:cNvSpPr/>
          <p:nvPr/>
        </p:nvSpPr>
        <p:spPr>
          <a:xfrm>
            <a:off x="7562850" y="4076402"/>
            <a:ext cx="101600" cy="101600"/>
          </a:xfrm>
          <a:prstGeom prst="roundRect">
            <a:avLst>
              <a:gd name="adj" fmla="val 12500"/>
            </a:avLst>
          </a:prstGeom>
          <a:solidFill>
            <a:srgbClr val="026597"/>
          </a:solidFill>
          <a:ln/>
        </p:spPr>
      </p:sp>
      <p:sp>
        <p:nvSpPr>
          <p:cNvPr id="41" name="Shape 39"/>
          <p:cNvSpPr/>
          <p:nvPr/>
        </p:nvSpPr>
        <p:spPr>
          <a:xfrm>
            <a:off x="7689850" y="4076402"/>
            <a:ext cx="101600" cy="101600"/>
          </a:xfrm>
          <a:prstGeom prst="roundRect">
            <a:avLst>
              <a:gd name="adj" fmla="val 12500"/>
            </a:avLst>
          </a:prstGeom>
          <a:solidFill>
            <a:srgbClr val="3A93C4"/>
          </a:solidFill>
          <a:ln/>
        </p:spPr>
      </p:sp>
      <p:sp>
        <p:nvSpPr>
          <p:cNvPr id="42" name="Text 40"/>
          <p:cNvSpPr/>
          <p:nvPr/>
        </p:nvSpPr>
        <p:spPr>
          <a:xfrm>
            <a:off x="4400550" y="4250085"/>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Reusable, validated metrics and tests</a:t>
            </a:r>
            <a:endParaRPr lang="en-US" sz="1050" dirty="0"/>
          </a:p>
        </p:txBody>
      </p:sp>
      <p:sp>
        <p:nvSpPr>
          <p:cNvPr id="43" name="Shape 41"/>
          <p:cNvSpPr/>
          <p:nvPr/>
        </p:nvSpPr>
        <p:spPr>
          <a:xfrm>
            <a:off x="4270375" y="4607322"/>
            <a:ext cx="3651250" cy="574477"/>
          </a:xfrm>
          <a:prstGeom prst="roundRect">
            <a:avLst>
              <a:gd name="adj" fmla="val 3869"/>
            </a:avLst>
          </a:prstGeom>
          <a:solidFill>
            <a:srgbClr val="FFFFFF"/>
          </a:solidFill>
          <a:ln w="6350">
            <a:solidFill>
              <a:srgbClr val="E6E6E6"/>
            </a:solidFill>
            <a:prstDash val="solid"/>
          </a:ln>
        </p:spPr>
      </p:sp>
      <p:sp>
        <p:nvSpPr>
          <p:cNvPr id="44" name="Text 42"/>
          <p:cNvSpPr/>
          <p:nvPr/>
        </p:nvSpPr>
        <p:spPr>
          <a:xfrm>
            <a:off x="4400550" y="4685159"/>
            <a:ext cx="2116618"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Claude Code for modelers</a:t>
            </a:r>
            <a:endParaRPr lang="en-US" sz="1300" dirty="0"/>
          </a:p>
        </p:txBody>
      </p:sp>
      <p:sp>
        <p:nvSpPr>
          <p:cNvPr id="45" name="Shape 43"/>
          <p:cNvSpPr/>
          <p:nvPr/>
        </p:nvSpPr>
        <p:spPr>
          <a:xfrm>
            <a:off x="7308850" y="4733379"/>
            <a:ext cx="101600" cy="101600"/>
          </a:xfrm>
          <a:prstGeom prst="roundRect">
            <a:avLst>
              <a:gd name="adj" fmla="val 12500"/>
            </a:avLst>
          </a:prstGeom>
          <a:solidFill>
            <a:srgbClr val="0276B1"/>
          </a:solidFill>
          <a:ln/>
        </p:spPr>
      </p:sp>
      <p:sp>
        <p:nvSpPr>
          <p:cNvPr id="46" name="Shape 44"/>
          <p:cNvSpPr/>
          <p:nvPr/>
        </p:nvSpPr>
        <p:spPr>
          <a:xfrm>
            <a:off x="7435850" y="4733379"/>
            <a:ext cx="101600" cy="101600"/>
          </a:xfrm>
          <a:prstGeom prst="roundRect">
            <a:avLst>
              <a:gd name="adj" fmla="val 12500"/>
            </a:avLst>
          </a:prstGeom>
          <a:solidFill>
            <a:srgbClr val="3A93C4"/>
          </a:solidFill>
          <a:ln/>
        </p:spPr>
      </p:sp>
      <p:sp>
        <p:nvSpPr>
          <p:cNvPr id="47" name="Shape 45"/>
          <p:cNvSpPr/>
          <p:nvPr/>
        </p:nvSpPr>
        <p:spPr>
          <a:xfrm>
            <a:off x="7562850" y="4733379"/>
            <a:ext cx="101600" cy="101600"/>
          </a:xfrm>
          <a:prstGeom prst="roundRect">
            <a:avLst>
              <a:gd name="adj" fmla="val 12500"/>
            </a:avLst>
          </a:prstGeom>
          <a:solidFill>
            <a:srgbClr val="6FB0D4"/>
          </a:solidFill>
          <a:ln/>
        </p:spPr>
      </p:sp>
      <p:sp>
        <p:nvSpPr>
          <p:cNvPr id="48" name="Shape 46"/>
          <p:cNvSpPr/>
          <p:nvPr/>
        </p:nvSpPr>
        <p:spPr>
          <a:xfrm>
            <a:off x="7689850" y="4733379"/>
            <a:ext cx="101600" cy="101600"/>
          </a:xfrm>
          <a:prstGeom prst="roundRect">
            <a:avLst>
              <a:gd name="adj" fmla="val 12500"/>
            </a:avLst>
          </a:prstGeom>
          <a:solidFill>
            <a:srgbClr val="A3CDE4"/>
          </a:solidFill>
          <a:ln/>
        </p:spPr>
      </p:sp>
      <p:sp>
        <p:nvSpPr>
          <p:cNvPr id="49" name="Text 47"/>
          <p:cNvSpPr/>
          <p:nvPr/>
        </p:nvSpPr>
        <p:spPr>
          <a:xfrm>
            <a:off x="4400550" y="4907111"/>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Writes code, tests and draft documents</a:t>
            </a:r>
            <a:endParaRPr lang="en-US" sz="1050" dirty="0"/>
          </a:p>
        </p:txBody>
      </p:sp>
      <p:sp>
        <p:nvSpPr>
          <p:cNvPr id="50" name="Shape 48"/>
          <p:cNvSpPr/>
          <p:nvPr/>
        </p:nvSpPr>
        <p:spPr>
          <a:xfrm>
            <a:off x="4270375" y="5264348"/>
            <a:ext cx="3651250" cy="574477"/>
          </a:xfrm>
          <a:prstGeom prst="roundRect">
            <a:avLst>
              <a:gd name="adj" fmla="val 3869"/>
            </a:avLst>
          </a:prstGeom>
          <a:solidFill>
            <a:srgbClr val="FFFFFF"/>
          </a:solidFill>
          <a:ln w="6350">
            <a:solidFill>
              <a:srgbClr val="E6E6E6"/>
            </a:solidFill>
            <a:prstDash val="solid"/>
          </a:ln>
        </p:spPr>
      </p:sp>
      <p:sp>
        <p:nvSpPr>
          <p:cNvPr id="51" name="Text 49"/>
          <p:cNvSpPr/>
          <p:nvPr/>
        </p:nvSpPr>
        <p:spPr>
          <a:xfrm>
            <a:off x="4400550" y="5342186"/>
            <a:ext cx="188964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Automated deployment</a:t>
            </a:r>
            <a:endParaRPr lang="en-US" sz="1300" dirty="0"/>
          </a:p>
        </p:txBody>
      </p:sp>
      <p:sp>
        <p:nvSpPr>
          <p:cNvPr id="52" name="Shape 50"/>
          <p:cNvSpPr/>
          <p:nvPr/>
        </p:nvSpPr>
        <p:spPr>
          <a:xfrm>
            <a:off x="7693025" y="5393581"/>
            <a:ext cx="95250" cy="95250"/>
          </a:xfrm>
          <a:prstGeom prst="roundRect">
            <a:avLst>
              <a:gd name="adj" fmla="val 10000"/>
            </a:avLst>
          </a:prstGeom>
          <a:solidFill>
            <a:srgbClr val="D0E6F2"/>
          </a:solidFill>
          <a:ln w="6350">
            <a:solidFill>
              <a:srgbClr val="A3CDE4"/>
            </a:solidFill>
            <a:prstDash val="solid"/>
          </a:ln>
        </p:spPr>
      </p:sp>
      <p:sp>
        <p:nvSpPr>
          <p:cNvPr id="53" name="Text 51"/>
          <p:cNvSpPr/>
          <p:nvPr/>
        </p:nvSpPr>
        <p:spPr>
          <a:xfrm>
            <a:off x="4400550" y="5564138"/>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One-click release to enterprise platform</a:t>
            </a:r>
            <a:endParaRPr lang="en-US" sz="1050" dirty="0"/>
          </a:p>
        </p:txBody>
      </p:sp>
      <p:sp>
        <p:nvSpPr>
          <p:cNvPr id="54" name="Text 52"/>
          <p:cNvSpPr/>
          <p:nvPr/>
        </p:nvSpPr>
        <p:spPr>
          <a:xfrm>
            <a:off x="8331200" y="3832225"/>
            <a:ext cx="76259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WITH AI</a:t>
            </a:r>
            <a:endParaRPr lang="en-US" sz="1200" dirty="0"/>
          </a:p>
        </p:txBody>
      </p:sp>
      <p:sp>
        <p:nvSpPr>
          <p:cNvPr id="55" name="Text 53"/>
          <p:cNvSpPr/>
          <p:nvPr/>
        </p:nvSpPr>
        <p:spPr>
          <a:xfrm>
            <a:off x="10489555" y="3727450"/>
            <a:ext cx="94044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276B1"/>
                </a:solidFill>
                <a:latin typeface="Arial" pitchFamily="34" charset="0"/>
                <a:ea typeface="Arial" pitchFamily="34" charset="-122"/>
                <a:cs typeface="Arial" pitchFamily="34" charset="-120"/>
              </a:rPr>
              <a:t>660 hrs</a:t>
            </a:r>
            <a:endParaRPr lang="en-US" sz="2000" dirty="0"/>
          </a:p>
        </p:txBody>
      </p:sp>
      <p:sp>
        <p:nvSpPr>
          <p:cNvPr id="56" name="Shape 54"/>
          <p:cNvSpPr/>
          <p:nvPr/>
        </p:nvSpPr>
        <p:spPr>
          <a:xfrm>
            <a:off x="8331200" y="4133850"/>
            <a:ext cx="3048000" cy="196850"/>
          </a:xfrm>
          <a:prstGeom prst="rect">
            <a:avLst/>
          </a:prstGeom>
          <a:solidFill>
            <a:srgbClr val="012F47"/>
          </a:solidFill>
          <a:ln/>
        </p:spPr>
      </p:sp>
      <p:sp>
        <p:nvSpPr>
          <p:cNvPr id="57" name="Shape 55"/>
          <p:cNvSpPr/>
          <p:nvPr/>
        </p:nvSpPr>
        <p:spPr>
          <a:xfrm>
            <a:off x="8331200" y="4343400"/>
            <a:ext cx="3048000" cy="292100"/>
          </a:xfrm>
          <a:prstGeom prst="rect">
            <a:avLst/>
          </a:prstGeom>
          <a:solidFill>
            <a:srgbClr val="014E74"/>
          </a:solidFill>
          <a:ln/>
        </p:spPr>
      </p:sp>
      <p:sp>
        <p:nvSpPr>
          <p:cNvPr id="58" name="Shape 56"/>
          <p:cNvSpPr/>
          <p:nvPr/>
        </p:nvSpPr>
        <p:spPr>
          <a:xfrm>
            <a:off x="8331200" y="4648200"/>
            <a:ext cx="3048000" cy="196850"/>
          </a:xfrm>
          <a:prstGeom prst="rect">
            <a:avLst/>
          </a:prstGeom>
          <a:solidFill>
            <a:srgbClr val="026597"/>
          </a:solidFill>
          <a:ln/>
        </p:spPr>
      </p:sp>
      <p:sp>
        <p:nvSpPr>
          <p:cNvPr id="59" name="Shape 57"/>
          <p:cNvSpPr/>
          <p:nvPr/>
        </p:nvSpPr>
        <p:spPr>
          <a:xfrm>
            <a:off x="8331200" y="4857750"/>
            <a:ext cx="3048000" cy="171450"/>
          </a:xfrm>
          <a:prstGeom prst="rect">
            <a:avLst/>
          </a:prstGeom>
          <a:solidFill>
            <a:srgbClr val="0276B1"/>
          </a:solidFill>
          <a:ln/>
        </p:spPr>
      </p:sp>
      <p:sp>
        <p:nvSpPr>
          <p:cNvPr id="60" name="Shape 58"/>
          <p:cNvSpPr/>
          <p:nvPr/>
        </p:nvSpPr>
        <p:spPr>
          <a:xfrm>
            <a:off x="8331200" y="5041900"/>
            <a:ext cx="3048000" cy="222250"/>
          </a:xfrm>
          <a:prstGeom prst="rect">
            <a:avLst/>
          </a:prstGeom>
          <a:solidFill>
            <a:srgbClr val="3A93C4"/>
          </a:solidFill>
          <a:ln/>
        </p:spPr>
      </p:sp>
      <p:sp>
        <p:nvSpPr>
          <p:cNvPr id="61" name="Shape 59"/>
          <p:cNvSpPr/>
          <p:nvPr/>
        </p:nvSpPr>
        <p:spPr>
          <a:xfrm>
            <a:off x="8331200" y="5276850"/>
            <a:ext cx="3048000" cy="222250"/>
          </a:xfrm>
          <a:prstGeom prst="rect">
            <a:avLst/>
          </a:prstGeom>
          <a:solidFill>
            <a:srgbClr val="6FB0D4"/>
          </a:solidFill>
          <a:ln/>
        </p:spPr>
      </p:sp>
      <p:sp>
        <p:nvSpPr>
          <p:cNvPr id="62" name="Shape 60"/>
          <p:cNvSpPr/>
          <p:nvPr/>
        </p:nvSpPr>
        <p:spPr>
          <a:xfrm>
            <a:off x="8331200" y="5511800"/>
            <a:ext cx="3048000" cy="171450"/>
          </a:xfrm>
          <a:prstGeom prst="rect">
            <a:avLst/>
          </a:prstGeom>
          <a:solidFill>
            <a:srgbClr val="A3CDE4"/>
          </a:solidFill>
          <a:ln/>
        </p:spPr>
      </p:sp>
      <p:sp>
        <p:nvSpPr>
          <p:cNvPr id="63" name="Shape 61"/>
          <p:cNvSpPr/>
          <p:nvPr/>
        </p:nvSpPr>
        <p:spPr>
          <a:xfrm>
            <a:off x="8331200" y="5695950"/>
            <a:ext cx="3048000" cy="146050"/>
          </a:xfrm>
          <a:prstGeom prst="rect">
            <a:avLst/>
          </a:prstGeom>
          <a:solidFill>
            <a:srgbClr val="D0E6F2"/>
          </a:solidFill>
          <a:ln/>
        </p:spPr>
      </p:sp>
      <p:sp>
        <p:nvSpPr>
          <p:cNvPr id="64" name="Text 6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FTE hours · placeholder estimates · colored squares show which steps each project shrinks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772120"/>
          </a:xfrm>
          <a:prstGeom prst="rect">
            <a:avLst/>
          </a:prstGeom>
          <a:noFill/>
          <a:ln/>
        </p:spPr>
        <p:txBody>
          <a:bodyPr wrap="square" lIns="0" tIns="0" rIns="0" bIns="0" rtlCol="0" anchor="t">
            <a:normAutofit/>
          </a:bodyPr>
          <a:lstStyle/>
          <a:p>
            <a:pPr algn="l" indent="0" marL="0">
              <a:lnSpc>
                <a:spcPts val="2940"/>
              </a:lnSpc>
              <a:buNone/>
            </a:pPr>
            <a:r>
              <a:rPr lang="en-US" sz="2800" b="1" dirty="0">
                <a:solidFill>
                  <a:srgbClr val="141414"/>
                </a:solidFill>
                <a:latin typeface="Arial" pitchFamily="34" charset="0"/>
                <a:ea typeface="Arial" pitchFamily="34" charset="-122"/>
                <a:cs typeface="Arial" pitchFamily="34" charset="-120"/>
              </a:rPr>
              <a:t>Standard outputs and an analysis agent could cut quarterly allowance analysis by 60%</a:t>
            </a:r>
            <a:endParaRPr lang="en-US" sz="2800" dirty="0"/>
          </a:p>
        </p:txBody>
      </p:sp>
      <p:sp>
        <p:nvSpPr>
          <p:cNvPr id="3" name="Text 1"/>
          <p:cNvSpPr/>
          <p:nvPr/>
        </p:nvSpPr>
        <p:spPr>
          <a:xfrm>
            <a:off x="812800" y="1816695"/>
            <a:ext cx="2179826" cy="452041"/>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6B6B6B"/>
                </a:solidFill>
                <a:latin typeface="Arial" pitchFamily="34" charset="0"/>
                <a:ea typeface="Arial" pitchFamily="34" charset="-122"/>
                <a:cs typeface="Arial" pitchFamily="34" charset="-120"/>
              </a:rPr>
              <a:t>TODAY · ONE QUARTER</a:t>
            </a:r>
            <a:endParaRPr lang="en-US" sz="1200" dirty="0"/>
          </a:p>
        </p:txBody>
      </p:sp>
      <p:sp>
        <p:nvSpPr>
          <p:cNvPr id="4" name="Text 2"/>
          <p:cNvSpPr/>
          <p:nvPr/>
        </p:nvSpPr>
        <p:spPr>
          <a:xfrm>
            <a:off x="2979936" y="1711920"/>
            <a:ext cx="931664" cy="7366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41414"/>
                </a:solidFill>
                <a:latin typeface="Arial" pitchFamily="34" charset="0"/>
                <a:ea typeface="Arial" pitchFamily="34" charset="-122"/>
                <a:cs typeface="Arial" pitchFamily="34" charset="-120"/>
              </a:rPr>
              <a:t>760 hrs</a:t>
            </a:r>
            <a:endParaRPr lang="en-US" sz="2000" dirty="0"/>
          </a:p>
        </p:txBody>
      </p:sp>
      <p:sp>
        <p:nvSpPr>
          <p:cNvPr id="5" name="Shape 3"/>
          <p:cNvSpPr/>
          <p:nvPr/>
        </p:nvSpPr>
        <p:spPr>
          <a:xfrm>
            <a:off x="812800" y="2409875"/>
            <a:ext cx="3048000" cy="292100"/>
          </a:xfrm>
          <a:prstGeom prst="rect">
            <a:avLst/>
          </a:prstGeom>
          <a:solidFill>
            <a:srgbClr val="012F47"/>
          </a:solidFill>
          <a:ln/>
        </p:spPr>
      </p:sp>
      <p:sp>
        <p:nvSpPr>
          <p:cNvPr id="6" name="Text 4"/>
          <p:cNvSpPr/>
          <p:nvPr/>
        </p:nvSpPr>
        <p:spPr>
          <a:xfrm>
            <a:off x="914400" y="2479725"/>
            <a:ext cx="1007864"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Collect results</a:t>
            </a:r>
            <a:endParaRPr lang="en-US" sz="1200" dirty="0"/>
          </a:p>
        </p:txBody>
      </p:sp>
      <p:sp>
        <p:nvSpPr>
          <p:cNvPr id="7" name="Text 5"/>
          <p:cNvSpPr/>
          <p:nvPr/>
        </p:nvSpPr>
        <p:spPr>
          <a:xfrm>
            <a:off x="3589685" y="2479725"/>
            <a:ext cx="220315"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60</a:t>
            </a:r>
            <a:endParaRPr lang="en-US" sz="1200" dirty="0"/>
          </a:p>
        </p:txBody>
      </p:sp>
      <p:sp>
        <p:nvSpPr>
          <p:cNvPr id="8" name="Shape 6"/>
          <p:cNvSpPr/>
          <p:nvPr/>
        </p:nvSpPr>
        <p:spPr>
          <a:xfrm>
            <a:off x="812800" y="2714675"/>
            <a:ext cx="3048000" cy="482600"/>
          </a:xfrm>
          <a:prstGeom prst="rect">
            <a:avLst/>
          </a:prstGeom>
          <a:solidFill>
            <a:srgbClr val="014E74"/>
          </a:solidFill>
          <a:ln/>
        </p:spPr>
      </p:sp>
      <p:sp>
        <p:nvSpPr>
          <p:cNvPr id="9" name="Text 7"/>
          <p:cNvSpPr/>
          <p:nvPr/>
        </p:nvSpPr>
        <p:spPr>
          <a:xfrm>
            <a:off x="914400" y="2879775"/>
            <a:ext cx="1134963"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Reconcile &amp; QC</a:t>
            </a:r>
            <a:endParaRPr lang="en-US" sz="1200" dirty="0"/>
          </a:p>
        </p:txBody>
      </p:sp>
      <p:sp>
        <p:nvSpPr>
          <p:cNvPr id="10" name="Text 8"/>
          <p:cNvSpPr/>
          <p:nvPr/>
        </p:nvSpPr>
        <p:spPr>
          <a:xfrm>
            <a:off x="3504902" y="287977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100</a:t>
            </a:r>
            <a:endParaRPr lang="en-US" sz="1200" dirty="0"/>
          </a:p>
        </p:txBody>
      </p:sp>
      <p:sp>
        <p:nvSpPr>
          <p:cNvPr id="11" name="Shape 9"/>
          <p:cNvSpPr/>
          <p:nvPr/>
        </p:nvSpPr>
        <p:spPr>
          <a:xfrm>
            <a:off x="812800" y="3209975"/>
            <a:ext cx="3048000" cy="679450"/>
          </a:xfrm>
          <a:prstGeom prst="rect">
            <a:avLst/>
          </a:prstGeom>
          <a:solidFill>
            <a:srgbClr val="026597"/>
          </a:solidFill>
          <a:ln/>
        </p:spPr>
      </p:sp>
      <p:sp>
        <p:nvSpPr>
          <p:cNvPr id="12" name="Text 10"/>
          <p:cNvSpPr/>
          <p:nvPr/>
        </p:nvSpPr>
        <p:spPr>
          <a:xfrm>
            <a:off x="914400" y="3473500"/>
            <a:ext cx="1177578"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Change analysis</a:t>
            </a:r>
            <a:endParaRPr lang="en-US" sz="1200" dirty="0"/>
          </a:p>
        </p:txBody>
      </p:sp>
      <p:sp>
        <p:nvSpPr>
          <p:cNvPr id="13" name="Text 11"/>
          <p:cNvSpPr/>
          <p:nvPr/>
        </p:nvSpPr>
        <p:spPr>
          <a:xfrm>
            <a:off x="3504902" y="3473500"/>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140</a:t>
            </a:r>
            <a:endParaRPr lang="en-US" sz="1200" dirty="0"/>
          </a:p>
        </p:txBody>
      </p:sp>
      <p:sp>
        <p:nvSpPr>
          <p:cNvPr id="14" name="Shape 12"/>
          <p:cNvSpPr/>
          <p:nvPr/>
        </p:nvSpPr>
        <p:spPr>
          <a:xfrm>
            <a:off x="812800" y="3902125"/>
            <a:ext cx="3048000" cy="869950"/>
          </a:xfrm>
          <a:prstGeom prst="rect">
            <a:avLst/>
          </a:prstGeom>
          <a:solidFill>
            <a:srgbClr val="0276B1"/>
          </a:solidFill>
          <a:ln/>
        </p:spPr>
      </p:sp>
      <p:sp>
        <p:nvSpPr>
          <p:cNvPr id="15" name="Text 13"/>
          <p:cNvSpPr/>
          <p:nvPr/>
        </p:nvSpPr>
        <p:spPr>
          <a:xfrm>
            <a:off x="914400" y="4260900"/>
            <a:ext cx="1168797"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FFFFFF"/>
                </a:solidFill>
                <a:latin typeface="Arial" pitchFamily="34" charset="0"/>
                <a:ea typeface="Arial" pitchFamily="34" charset="-122"/>
                <a:cs typeface="Arial" pitchFamily="34" charset="-120"/>
              </a:rPr>
              <a:t>Driver attribution</a:t>
            </a:r>
            <a:endParaRPr lang="en-US" sz="1200" dirty="0"/>
          </a:p>
        </p:txBody>
      </p:sp>
      <p:sp>
        <p:nvSpPr>
          <p:cNvPr id="16" name="Text 14"/>
          <p:cNvSpPr/>
          <p:nvPr/>
        </p:nvSpPr>
        <p:spPr>
          <a:xfrm>
            <a:off x="3504902" y="4260900"/>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FFFFFF"/>
                </a:solidFill>
                <a:latin typeface="Arial" pitchFamily="34" charset="0"/>
                <a:ea typeface="Arial" pitchFamily="34" charset="-122"/>
                <a:cs typeface="Arial" pitchFamily="34" charset="-120"/>
              </a:rPr>
              <a:t>180</a:t>
            </a:r>
            <a:endParaRPr lang="en-US" sz="1200" dirty="0"/>
          </a:p>
        </p:txBody>
      </p:sp>
      <p:sp>
        <p:nvSpPr>
          <p:cNvPr id="17" name="Shape 15"/>
          <p:cNvSpPr/>
          <p:nvPr/>
        </p:nvSpPr>
        <p:spPr>
          <a:xfrm>
            <a:off x="812800" y="4784775"/>
            <a:ext cx="3048000" cy="387350"/>
          </a:xfrm>
          <a:prstGeom prst="rect">
            <a:avLst/>
          </a:prstGeom>
          <a:solidFill>
            <a:srgbClr val="3A93C4"/>
          </a:solidFill>
          <a:ln/>
        </p:spPr>
      </p:sp>
      <p:sp>
        <p:nvSpPr>
          <p:cNvPr id="18" name="Text 16"/>
          <p:cNvSpPr/>
          <p:nvPr/>
        </p:nvSpPr>
        <p:spPr>
          <a:xfrm>
            <a:off x="914400" y="4902250"/>
            <a:ext cx="1439912"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Scenarios &amp; what-ifs</a:t>
            </a:r>
            <a:endParaRPr lang="en-US" sz="1200" dirty="0"/>
          </a:p>
        </p:txBody>
      </p:sp>
      <p:sp>
        <p:nvSpPr>
          <p:cNvPr id="19" name="Text 17"/>
          <p:cNvSpPr/>
          <p:nvPr/>
        </p:nvSpPr>
        <p:spPr>
          <a:xfrm>
            <a:off x="3589685" y="4902250"/>
            <a:ext cx="220315"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80</a:t>
            </a:r>
            <a:endParaRPr lang="en-US" sz="1200" dirty="0"/>
          </a:p>
        </p:txBody>
      </p:sp>
      <p:sp>
        <p:nvSpPr>
          <p:cNvPr id="20" name="Shape 18"/>
          <p:cNvSpPr/>
          <p:nvPr/>
        </p:nvSpPr>
        <p:spPr>
          <a:xfrm>
            <a:off x="812800" y="5184825"/>
            <a:ext cx="3048000" cy="292100"/>
          </a:xfrm>
          <a:prstGeom prst="rect">
            <a:avLst/>
          </a:prstGeom>
          <a:solidFill>
            <a:srgbClr val="6FB0D4"/>
          </a:solidFill>
          <a:ln/>
        </p:spPr>
      </p:sp>
      <p:sp>
        <p:nvSpPr>
          <p:cNvPr id="21" name="Text 19"/>
          <p:cNvSpPr/>
          <p:nvPr/>
        </p:nvSpPr>
        <p:spPr>
          <a:xfrm>
            <a:off x="914400" y="5254675"/>
            <a:ext cx="1832106"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Overlay recommendations</a:t>
            </a:r>
            <a:endParaRPr lang="en-US" sz="1200" dirty="0"/>
          </a:p>
        </p:txBody>
      </p:sp>
      <p:sp>
        <p:nvSpPr>
          <p:cNvPr id="22" name="Text 20"/>
          <p:cNvSpPr/>
          <p:nvPr/>
        </p:nvSpPr>
        <p:spPr>
          <a:xfrm>
            <a:off x="3589685" y="5254675"/>
            <a:ext cx="220315"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60</a:t>
            </a:r>
            <a:endParaRPr lang="en-US" sz="1200" dirty="0"/>
          </a:p>
        </p:txBody>
      </p:sp>
      <p:sp>
        <p:nvSpPr>
          <p:cNvPr id="23" name="Shape 21"/>
          <p:cNvSpPr/>
          <p:nvPr/>
        </p:nvSpPr>
        <p:spPr>
          <a:xfrm>
            <a:off x="812800" y="5489625"/>
            <a:ext cx="3048000" cy="482600"/>
          </a:xfrm>
          <a:prstGeom prst="rect">
            <a:avLst/>
          </a:prstGeom>
          <a:solidFill>
            <a:srgbClr val="A3CDE4"/>
          </a:solidFill>
          <a:ln/>
        </p:spPr>
      </p:sp>
      <p:sp>
        <p:nvSpPr>
          <p:cNvPr id="24" name="Text 22"/>
          <p:cNvSpPr/>
          <p:nvPr/>
        </p:nvSpPr>
        <p:spPr>
          <a:xfrm>
            <a:off x="914400" y="5654725"/>
            <a:ext cx="1473845"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Leadership summary</a:t>
            </a:r>
            <a:endParaRPr lang="en-US" sz="1200" dirty="0"/>
          </a:p>
        </p:txBody>
      </p:sp>
      <p:sp>
        <p:nvSpPr>
          <p:cNvPr id="25" name="Text 23"/>
          <p:cNvSpPr/>
          <p:nvPr/>
        </p:nvSpPr>
        <p:spPr>
          <a:xfrm>
            <a:off x="3504902" y="5654725"/>
            <a:ext cx="305098"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100</a:t>
            </a:r>
            <a:endParaRPr lang="en-US" sz="1200" dirty="0"/>
          </a:p>
        </p:txBody>
      </p:sp>
      <p:sp>
        <p:nvSpPr>
          <p:cNvPr id="26" name="Shape 24"/>
          <p:cNvSpPr/>
          <p:nvPr/>
        </p:nvSpPr>
        <p:spPr>
          <a:xfrm>
            <a:off x="812800" y="5984925"/>
            <a:ext cx="3048000" cy="196850"/>
          </a:xfrm>
          <a:prstGeom prst="rect">
            <a:avLst/>
          </a:prstGeom>
          <a:solidFill>
            <a:srgbClr val="D0E6F2"/>
          </a:solidFill>
          <a:ln/>
        </p:spPr>
      </p:sp>
      <p:sp>
        <p:nvSpPr>
          <p:cNvPr id="27" name="Text 25"/>
          <p:cNvSpPr/>
          <p:nvPr/>
        </p:nvSpPr>
        <p:spPr>
          <a:xfrm>
            <a:off x="914400" y="6007150"/>
            <a:ext cx="1233835" cy="177800"/>
          </a:xfrm>
          <a:prstGeom prst="rect">
            <a:avLst/>
          </a:prstGeom>
          <a:noFill/>
          <a:ln/>
        </p:spPr>
        <p:txBody>
          <a:bodyPr wrap="square" lIns="0" tIns="0" rIns="0" bIns="0" rtlCol="0" anchor="t">
            <a:normAutofit/>
          </a:bodyPr>
          <a:lstStyle/>
          <a:p>
            <a:pPr algn="l" indent="0" marL="0">
              <a:lnSpc>
                <a:spcPts val="1200"/>
              </a:lnSpc>
              <a:buNone/>
            </a:pPr>
            <a:r>
              <a:rPr lang="en-US" sz="1200" dirty="0">
                <a:solidFill>
                  <a:srgbClr val="141414"/>
                </a:solidFill>
                <a:latin typeface="Arial" pitchFamily="34" charset="0"/>
                <a:ea typeface="Arial" pitchFamily="34" charset="-122"/>
                <a:cs typeface="Arial" pitchFamily="34" charset="-120"/>
              </a:rPr>
              <a:t>Review &amp; sign-off</a:t>
            </a:r>
            <a:endParaRPr lang="en-US" sz="1200" dirty="0"/>
          </a:p>
        </p:txBody>
      </p:sp>
      <p:sp>
        <p:nvSpPr>
          <p:cNvPr id="28" name="Text 26"/>
          <p:cNvSpPr/>
          <p:nvPr/>
        </p:nvSpPr>
        <p:spPr>
          <a:xfrm>
            <a:off x="3589685" y="6007150"/>
            <a:ext cx="220315" cy="177800"/>
          </a:xfrm>
          <a:prstGeom prst="rect">
            <a:avLst/>
          </a:prstGeom>
          <a:noFill/>
          <a:ln/>
        </p:spPr>
        <p:txBody>
          <a:bodyPr wrap="square" lIns="0" tIns="0" rIns="0" bIns="0" rtlCol="0" anchor="t">
            <a:normAutofit/>
          </a:bodyPr>
          <a:lstStyle/>
          <a:p>
            <a:pPr algn="l" indent="0" marL="0">
              <a:lnSpc>
                <a:spcPts val="1200"/>
              </a:lnSpc>
              <a:buNone/>
            </a:pPr>
            <a:r>
              <a:rPr lang="en-US" sz="1200" b="1" dirty="0">
                <a:solidFill>
                  <a:srgbClr val="141414"/>
                </a:solidFill>
                <a:latin typeface="Arial" pitchFamily="34" charset="0"/>
                <a:ea typeface="Arial" pitchFamily="34" charset="-122"/>
                <a:cs typeface="Arial" pitchFamily="34" charset="-120"/>
              </a:rPr>
              <a:t>40</a:t>
            </a:r>
            <a:endParaRPr lang="en-US" sz="1200" dirty="0"/>
          </a:p>
        </p:txBody>
      </p:sp>
      <p:sp>
        <p:nvSpPr>
          <p:cNvPr id="29" name="Text 27"/>
          <p:cNvSpPr/>
          <p:nvPr/>
        </p:nvSpPr>
        <p:spPr>
          <a:xfrm>
            <a:off x="4267200" y="1623616"/>
            <a:ext cx="1487984" cy="1366441"/>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0276B1"/>
                </a:solidFill>
                <a:latin typeface="Arial" pitchFamily="34" charset="0"/>
                <a:ea typeface="Arial" pitchFamily="34" charset="-122"/>
                <a:cs typeface="Arial" pitchFamily="34" charset="-120"/>
              </a:rPr>
              <a:t>−61%</a:t>
            </a:r>
            <a:endParaRPr lang="en-US" sz="4800" dirty="0"/>
          </a:p>
        </p:txBody>
      </p:sp>
      <p:sp>
        <p:nvSpPr>
          <p:cNvPr id="30" name="Text 28"/>
          <p:cNvSpPr/>
          <p:nvPr/>
        </p:nvSpPr>
        <p:spPr>
          <a:xfrm>
            <a:off x="5856784" y="1925836"/>
            <a:ext cx="21300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effort per quarter</a:t>
            </a:r>
            <a:endParaRPr lang="en-US" sz="1200" dirty="0"/>
          </a:p>
        </p:txBody>
      </p:sp>
      <p:sp>
        <p:nvSpPr>
          <p:cNvPr id="31" name="Text 29"/>
          <p:cNvSpPr/>
          <p:nvPr/>
        </p:nvSpPr>
        <p:spPr>
          <a:xfrm>
            <a:off x="5856784" y="2164556"/>
            <a:ext cx="2130057" cy="52318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41414"/>
                </a:solidFill>
                <a:latin typeface="Arial" pitchFamily="34" charset="0"/>
                <a:ea typeface="Arial" pitchFamily="34" charset="-122"/>
                <a:cs typeface="Arial" pitchFamily="34" charset="-120"/>
              </a:rPr>
              <a:t>4 a year, [~2-week] window</a:t>
            </a:r>
            <a:endParaRPr lang="en-US" sz="1400" dirty="0"/>
          </a:p>
        </p:txBody>
      </p:sp>
      <p:sp>
        <p:nvSpPr>
          <p:cNvPr id="32" name="Text 30"/>
          <p:cNvSpPr/>
          <p:nvPr/>
        </p:nvSpPr>
        <p:spPr>
          <a:xfrm>
            <a:off x="4267200" y="3028702"/>
            <a:ext cx="3767328" cy="210641"/>
          </a:xfrm>
          <a:prstGeom prst="rect">
            <a:avLst/>
          </a:prstGeom>
          <a:noFill/>
          <a:ln/>
        </p:spPr>
        <p:txBody>
          <a:bodyPr wrap="square" lIns="0" tIns="0" rIns="0" bIns="0" rtlCol="0" anchor="t">
            <a:normAutofit/>
          </a:bodyPr>
          <a:lstStyle/>
          <a:p>
            <a:pPr algn="l" indent="0" marL="0">
              <a:lnSpc>
                <a:spcPts val="1470"/>
              </a:lnSpc>
              <a:buNone/>
            </a:pPr>
            <a:r>
              <a:rPr lang="en-US" sz="1050" b="1" spc="150" kern="0" dirty="0">
                <a:solidFill>
                  <a:srgbClr val="6B6B6B"/>
                </a:solidFill>
                <a:latin typeface="Arial" pitchFamily="34" charset="0"/>
                <a:ea typeface="Arial" pitchFamily="34" charset="-122"/>
                <a:cs typeface="Arial" pitchFamily="34" charset="-120"/>
              </a:rPr>
              <a:t>HOW WE MOVE THE BARS</a:t>
            </a:r>
            <a:endParaRPr lang="en-US" sz="1050" dirty="0"/>
          </a:p>
        </p:txBody>
      </p:sp>
      <p:sp>
        <p:nvSpPr>
          <p:cNvPr id="33" name="Shape 31"/>
          <p:cNvSpPr/>
          <p:nvPr/>
        </p:nvSpPr>
        <p:spPr>
          <a:xfrm>
            <a:off x="4270375" y="3293318"/>
            <a:ext cx="3651250" cy="574477"/>
          </a:xfrm>
          <a:prstGeom prst="roundRect">
            <a:avLst>
              <a:gd name="adj" fmla="val 3869"/>
            </a:avLst>
          </a:prstGeom>
          <a:solidFill>
            <a:srgbClr val="FFFFFF"/>
          </a:solidFill>
          <a:ln w="6350">
            <a:solidFill>
              <a:srgbClr val="E6E6E6"/>
            </a:solidFill>
            <a:prstDash val="solid"/>
          </a:ln>
        </p:spPr>
      </p:sp>
      <p:sp>
        <p:nvSpPr>
          <p:cNvPr id="34" name="Text 32"/>
          <p:cNvSpPr/>
          <p:nvPr/>
        </p:nvSpPr>
        <p:spPr>
          <a:xfrm>
            <a:off x="4400550" y="3371155"/>
            <a:ext cx="2116465"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 forecast outputs</a:t>
            </a:r>
            <a:endParaRPr lang="en-US" sz="1300" dirty="0"/>
          </a:p>
        </p:txBody>
      </p:sp>
      <p:sp>
        <p:nvSpPr>
          <p:cNvPr id="35" name="Shape 33"/>
          <p:cNvSpPr/>
          <p:nvPr/>
        </p:nvSpPr>
        <p:spPr>
          <a:xfrm>
            <a:off x="7562850" y="3419376"/>
            <a:ext cx="101600" cy="101600"/>
          </a:xfrm>
          <a:prstGeom prst="roundRect">
            <a:avLst>
              <a:gd name="adj" fmla="val 12500"/>
            </a:avLst>
          </a:prstGeom>
          <a:solidFill>
            <a:srgbClr val="012F47"/>
          </a:solidFill>
          <a:ln/>
        </p:spPr>
      </p:sp>
      <p:sp>
        <p:nvSpPr>
          <p:cNvPr id="36" name="Shape 34"/>
          <p:cNvSpPr/>
          <p:nvPr/>
        </p:nvSpPr>
        <p:spPr>
          <a:xfrm>
            <a:off x="7689850" y="3419376"/>
            <a:ext cx="101600" cy="101600"/>
          </a:xfrm>
          <a:prstGeom prst="roundRect">
            <a:avLst>
              <a:gd name="adj" fmla="val 12500"/>
            </a:avLst>
          </a:prstGeom>
          <a:solidFill>
            <a:srgbClr val="014E74"/>
          </a:solidFill>
          <a:ln/>
        </p:spPr>
      </p:sp>
      <p:sp>
        <p:nvSpPr>
          <p:cNvPr id="37" name="Text 35"/>
          <p:cNvSpPr/>
          <p:nvPr/>
        </p:nvSpPr>
        <p:spPr>
          <a:xfrm>
            <a:off x="4400550" y="3593108"/>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Results land in one reconciled format</a:t>
            </a:r>
            <a:endParaRPr lang="en-US" sz="1050" dirty="0"/>
          </a:p>
        </p:txBody>
      </p:sp>
      <p:sp>
        <p:nvSpPr>
          <p:cNvPr id="38" name="Shape 36"/>
          <p:cNvSpPr/>
          <p:nvPr/>
        </p:nvSpPr>
        <p:spPr>
          <a:xfrm>
            <a:off x="4270375" y="3950345"/>
            <a:ext cx="3651250" cy="574427"/>
          </a:xfrm>
          <a:prstGeom prst="roundRect">
            <a:avLst>
              <a:gd name="adj" fmla="val 3869"/>
            </a:avLst>
          </a:prstGeom>
          <a:solidFill>
            <a:srgbClr val="FFFFFF"/>
          </a:solidFill>
          <a:ln w="6350">
            <a:solidFill>
              <a:srgbClr val="E6E6E6"/>
            </a:solidFill>
            <a:prstDash val="solid"/>
          </a:ln>
        </p:spPr>
      </p:sp>
      <p:sp>
        <p:nvSpPr>
          <p:cNvPr id="39" name="Text 37"/>
          <p:cNvSpPr/>
          <p:nvPr/>
        </p:nvSpPr>
        <p:spPr>
          <a:xfrm>
            <a:off x="4400550" y="4028182"/>
            <a:ext cx="2097712"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Standard attribution calcs</a:t>
            </a:r>
            <a:endParaRPr lang="en-US" sz="1300" dirty="0"/>
          </a:p>
        </p:txBody>
      </p:sp>
      <p:sp>
        <p:nvSpPr>
          <p:cNvPr id="40" name="Shape 38"/>
          <p:cNvSpPr/>
          <p:nvPr/>
        </p:nvSpPr>
        <p:spPr>
          <a:xfrm>
            <a:off x="7562850" y="4076402"/>
            <a:ext cx="101600" cy="101600"/>
          </a:xfrm>
          <a:prstGeom prst="roundRect">
            <a:avLst>
              <a:gd name="adj" fmla="val 12500"/>
            </a:avLst>
          </a:prstGeom>
          <a:solidFill>
            <a:srgbClr val="026597"/>
          </a:solidFill>
          <a:ln/>
        </p:spPr>
      </p:sp>
      <p:sp>
        <p:nvSpPr>
          <p:cNvPr id="41" name="Shape 39"/>
          <p:cNvSpPr/>
          <p:nvPr/>
        </p:nvSpPr>
        <p:spPr>
          <a:xfrm>
            <a:off x="7689850" y="4076402"/>
            <a:ext cx="101600" cy="101600"/>
          </a:xfrm>
          <a:prstGeom prst="roundRect">
            <a:avLst>
              <a:gd name="adj" fmla="val 12500"/>
            </a:avLst>
          </a:prstGeom>
          <a:solidFill>
            <a:srgbClr val="0276B1"/>
          </a:solidFill>
          <a:ln/>
        </p:spPr>
      </p:sp>
      <p:sp>
        <p:nvSpPr>
          <p:cNvPr id="42" name="Text 40"/>
          <p:cNvSpPr/>
          <p:nvPr/>
        </p:nvSpPr>
        <p:spPr>
          <a:xfrm>
            <a:off x="4400550" y="4250085"/>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Changes split by driver automatically</a:t>
            </a:r>
            <a:endParaRPr lang="en-US" sz="1050" dirty="0"/>
          </a:p>
        </p:txBody>
      </p:sp>
      <p:sp>
        <p:nvSpPr>
          <p:cNvPr id="43" name="Shape 41"/>
          <p:cNvSpPr/>
          <p:nvPr/>
        </p:nvSpPr>
        <p:spPr>
          <a:xfrm>
            <a:off x="4270375" y="4607322"/>
            <a:ext cx="3651250" cy="574477"/>
          </a:xfrm>
          <a:prstGeom prst="roundRect">
            <a:avLst>
              <a:gd name="adj" fmla="val 3869"/>
            </a:avLst>
          </a:prstGeom>
          <a:solidFill>
            <a:srgbClr val="FFFFFF"/>
          </a:solidFill>
          <a:ln w="6350">
            <a:solidFill>
              <a:srgbClr val="E6E6E6"/>
            </a:solidFill>
            <a:prstDash val="solid"/>
          </a:ln>
        </p:spPr>
      </p:sp>
      <p:sp>
        <p:nvSpPr>
          <p:cNvPr id="44" name="Text 42"/>
          <p:cNvSpPr/>
          <p:nvPr/>
        </p:nvSpPr>
        <p:spPr>
          <a:xfrm>
            <a:off x="4400550" y="4685159"/>
            <a:ext cx="1956274"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Outcome analysis agent</a:t>
            </a:r>
            <a:endParaRPr lang="en-US" sz="1300" dirty="0"/>
          </a:p>
        </p:txBody>
      </p:sp>
      <p:sp>
        <p:nvSpPr>
          <p:cNvPr id="45" name="Shape 43"/>
          <p:cNvSpPr/>
          <p:nvPr/>
        </p:nvSpPr>
        <p:spPr>
          <a:xfrm>
            <a:off x="7435850" y="4733379"/>
            <a:ext cx="101600" cy="101600"/>
          </a:xfrm>
          <a:prstGeom prst="roundRect">
            <a:avLst>
              <a:gd name="adj" fmla="val 12500"/>
            </a:avLst>
          </a:prstGeom>
          <a:solidFill>
            <a:srgbClr val="0276B1"/>
          </a:solidFill>
          <a:ln/>
        </p:spPr>
      </p:sp>
      <p:sp>
        <p:nvSpPr>
          <p:cNvPr id="46" name="Shape 44"/>
          <p:cNvSpPr/>
          <p:nvPr/>
        </p:nvSpPr>
        <p:spPr>
          <a:xfrm>
            <a:off x="7562850" y="4733379"/>
            <a:ext cx="101600" cy="101600"/>
          </a:xfrm>
          <a:prstGeom prst="roundRect">
            <a:avLst>
              <a:gd name="adj" fmla="val 12500"/>
            </a:avLst>
          </a:prstGeom>
          <a:solidFill>
            <a:srgbClr val="3A93C4"/>
          </a:solidFill>
          <a:ln/>
        </p:spPr>
      </p:sp>
      <p:sp>
        <p:nvSpPr>
          <p:cNvPr id="47" name="Shape 45"/>
          <p:cNvSpPr/>
          <p:nvPr/>
        </p:nvSpPr>
        <p:spPr>
          <a:xfrm>
            <a:off x="7689850" y="4733379"/>
            <a:ext cx="101600" cy="101600"/>
          </a:xfrm>
          <a:prstGeom prst="roundRect">
            <a:avLst>
              <a:gd name="adj" fmla="val 12500"/>
            </a:avLst>
          </a:prstGeom>
          <a:solidFill>
            <a:srgbClr val="6FB0D4"/>
          </a:solidFill>
          <a:ln/>
        </p:spPr>
      </p:sp>
      <p:sp>
        <p:nvSpPr>
          <p:cNvPr id="48" name="Text 46"/>
          <p:cNvSpPr/>
          <p:nvPr/>
        </p:nvSpPr>
        <p:spPr>
          <a:xfrm>
            <a:off x="4400550" y="4907111"/>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Explains drivers and runs what-ifs</a:t>
            </a:r>
            <a:endParaRPr lang="en-US" sz="1050" dirty="0"/>
          </a:p>
        </p:txBody>
      </p:sp>
      <p:sp>
        <p:nvSpPr>
          <p:cNvPr id="49" name="Shape 47"/>
          <p:cNvSpPr/>
          <p:nvPr/>
        </p:nvSpPr>
        <p:spPr>
          <a:xfrm>
            <a:off x="4270375" y="5264348"/>
            <a:ext cx="3651250" cy="574477"/>
          </a:xfrm>
          <a:prstGeom prst="roundRect">
            <a:avLst>
              <a:gd name="adj" fmla="val 3869"/>
            </a:avLst>
          </a:prstGeom>
          <a:solidFill>
            <a:srgbClr val="FFFFFF"/>
          </a:solidFill>
          <a:ln w="6350">
            <a:solidFill>
              <a:srgbClr val="E6E6E6"/>
            </a:solidFill>
            <a:prstDash val="solid"/>
          </a:ln>
        </p:spPr>
      </p:sp>
      <p:sp>
        <p:nvSpPr>
          <p:cNvPr id="50" name="Text 48"/>
          <p:cNvSpPr/>
          <p:nvPr/>
        </p:nvSpPr>
        <p:spPr>
          <a:xfrm>
            <a:off x="4400550" y="5342186"/>
            <a:ext cx="1823624" cy="223490"/>
          </a:xfrm>
          <a:prstGeom prst="rect">
            <a:avLst/>
          </a:prstGeom>
          <a:noFill/>
          <a:ln/>
        </p:spPr>
        <p:txBody>
          <a:bodyPr wrap="square" lIns="0" tIns="0" rIns="0" bIns="0" rtlCol="0" anchor="t">
            <a:normAutofit/>
          </a:bodyPr>
          <a:lstStyle/>
          <a:p>
            <a:pPr algn="l" indent="0" marL="0">
              <a:lnSpc>
                <a:spcPts val="1560"/>
              </a:lnSpc>
              <a:buNone/>
            </a:pPr>
            <a:r>
              <a:rPr lang="en-US" sz="1300" b="1" dirty="0">
                <a:solidFill>
                  <a:srgbClr val="141414"/>
                </a:solidFill>
                <a:latin typeface="Arial" pitchFamily="34" charset="0"/>
                <a:ea typeface="Arial" pitchFamily="34" charset="-122"/>
                <a:cs typeface="Arial" pitchFamily="34" charset="-120"/>
              </a:rPr>
              <a:t>Auto-drafted summary</a:t>
            </a:r>
            <a:endParaRPr lang="en-US" sz="1300" dirty="0"/>
          </a:p>
        </p:txBody>
      </p:sp>
      <p:sp>
        <p:nvSpPr>
          <p:cNvPr id="51" name="Shape 49"/>
          <p:cNvSpPr/>
          <p:nvPr/>
        </p:nvSpPr>
        <p:spPr>
          <a:xfrm>
            <a:off x="7562850" y="5390406"/>
            <a:ext cx="101600" cy="101600"/>
          </a:xfrm>
          <a:prstGeom prst="roundRect">
            <a:avLst>
              <a:gd name="adj" fmla="val 12500"/>
            </a:avLst>
          </a:prstGeom>
          <a:solidFill>
            <a:srgbClr val="A3CDE4"/>
          </a:solidFill>
          <a:ln/>
        </p:spPr>
      </p:sp>
      <p:sp>
        <p:nvSpPr>
          <p:cNvPr id="52" name="Shape 50"/>
          <p:cNvSpPr/>
          <p:nvPr/>
        </p:nvSpPr>
        <p:spPr>
          <a:xfrm>
            <a:off x="7693025" y="5393581"/>
            <a:ext cx="95250" cy="95250"/>
          </a:xfrm>
          <a:prstGeom prst="roundRect">
            <a:avLst>
              <a:gd name="adj" fmla="val 10000"/>
            </a:avLst>
          </a:prstGeom>
          <a:solidFill>
            <a:srgbClr val="D0E6F2"/>
          </a:solidFill>
          <a:ln w="6350">
            <a:solidFill>
              <a:srgbClr val="A3CDE4"/>
            </a:solidFill>
            <a:prstDash val="solid"/>
          </a:ln>
        </p:spPr>
      </p:sp>
      <p:sp>
        <p:nvSpPr>
          <p:cNvPr id="53" name="Text 51"/>
          <p:cNvSpPr/>
          <p:nvPr/>
        </p:nvSpPr>
        <p:spPr>
          <a:xfrm>
            <a:off x="4400550" y="5564138"/>
            <a:ext cx="3492627" cy="208012"/>
          </a:xfrm>
          <a:prstGeom prst="rect">
            <a:avLst/>
          </a:prstGeom>
          <a:noFill/>
          <a:ln/>
        </p:spPr>
        <p:txBody>
          <a:bodyPr wrap="square" lIns="0" tIns="0" rIns="0" bIns="0" rtlCol="0" anchor="t">
            <a:normAutofit/>
          </a:bodyPr>
          <a:lstStyle/>
          <a:p>
            <a:pPr algn="l" indent="0" marL="0">
              <a:lnSpc>
                <a:spcPts val="1470"/>
              </a:lnSpc>
              <a:buNone/>
            </a:pPr>
            <a:r>
              <a:rPr lang="en-US" sz="1050" dirty="0">
                <a:solidFill>
                  <a:srgbClr val="525252"/>
                </a:solidFill>
                <a:latin typeface="Arial" pitchFamily="34" charset="0"/>
                <a:ea typeface="Arial" pitchFamily="34" charset="-122"/>
                <a:cs typeface="Arial" pitchFamily="34" charset="-120"/>
              </a:rPr>
              <a:t>Exec-ready narrative and exhibits</a:t>
            </a:r>
            <a:endParaRPr lang="en-US" sz="1050" dirty="0"/>
          </a:p>
        </p:txBody>
      </p:sp>
      <p:sp>
        <p:nvSpPr>
          <p:cNvPr id="54" name="Text 52"/>
          <p:cNvSpPr/>
          <p:nvPr/>
        </p:nvSpPr>
        <p:spPr>
          <a:xfrm>
            <a:off x="8331200" y="3997325"/>
            <a:ext cx="762595"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0276B1"/>
                </a:solidFill>
                <a:latin typeface="Arial" pitchFamily="34" charset="0"/>
                <a:ea typeface="Arial" pitchFamily="34" charset="-122"/>
                <a:cs typeface="Arial" pitchFamily="34" charset="-120"/>
              </a:rPr>
              <a:t>WITH AI</a:t>
            </a:r>
            <a:endParaRPr lang="en-US" sz="1200" dirty="0"/>
          </a:p>
        </p:txBody>
      </p:sp>
      <p:sp>
        <p:nvSpPr>
          <p:cNvPr id="55" name="Text 53"/>
          <p:cNvSpPr/>
          <p:nvPr/>
        </p:nvSpPr>
        <p:spPr>
          <a:xfrm>
            <a:off x="10489555" y="3892550"/>
            <a:ext cx="940445"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0276B1"/>
                </a:solidFill>
                <a:latin typeface="Arial" pitchFamily="34" charset="0"/>
                <a:ea typeface="Arial" pitchFamily="34" charset="-122"/>
                <a:cs typeface="Arial" pitchFamily="34" charset="-120"/>
              </a:rPr>
              <a:t>300 hrs</a:t>
            </a:r>
            <a:endParaRPr lang="en-US" sz="2000" dirty="0"/>
          </a:p>
        </p:txBody>
      </p:sp>
      <p:sp>
        <p:nvSpPr>
          <p:cNvPr id="56" name="Shape 54"/>
          <p:cNvSpPr/>
          <p:nvPr/>
        </p:nvSpPr>
        <p:spPr>
          <a:xfrm>
            <a:off x="8331200" y="4298950"/>
            <a:ext cx="3048000" cy="95250"/>
          </a:xfrm>
          <a:prstGeom prst="rect">
            <a:avLst/>
          </a:prstGeom>
          <a:solidFill>
            <a:srgbClr val="012F47"/>
          </a:solidFill>
          <a:ln/>
        </p:spPr>
      </p:sp>
      <p:sp>
        <p:nvSpPr>
          <p:cNvPr id="57" name="Shape 55"/>
          <p:cNvSpPr/>
          <p:nvPr/>
        </p:nvSpPr>
        <p:spPr>
          <a:xfrm>
            <a:off x="8331200" y="4406900"/>
            <a:ext cx="3048000" cy="146050"/>
          </a:xfrm>
          <a:prstGeom prst="rect">
            <a:avLst/>
          </a:prstGeom>
          <a:solidFill>
            <a:srgbClr val="014E74"/>
          </a:solidFill>
          <a:ln/>
        </p:spPr>
      </p:sp>
      <p:sp>
        <p:nvSpPr>
          <p:cNvPr id="58" name="Shape 56"/>
          <p:cNvSpPr/>
          <p:nvPr/>
        </p:nvSpPr>
        <p:spPr>
          <a:xfrm>
            <a:off x="8331200" y="4565650"/>
            <a:ext cx="3048000" cy="241300"/>
          </a:xfrm>
          <a:prstGeom prst="rect">
            <a:avLst/>
          </a:prstGeom>
          <a:solidFill>
            <a:srgbClr val="026597"/>
          </a:solidFill>
          <a:ln/>
        </p:spPr>
      </p:sp>
      <p:sp>
        <p:nvSpPr>
          <p:cNvPr id="59" name="Shape 57"/>
          <p:cNvSpPr/>
          <p:nvPr/>
        </p:nvSpPr>
        <p:spPr>
          <a:xfrm>
            <a:off x="8331200" y="4819650"/>
            <a:ext cx="3048000" cy="292100"/>
          </a:xfrm>
          <a:prstGeom prst="rect">
            <a:avLst/>
          </a:prstGeom>
          <a:solidFill>
            <a:srgbClr val="0276B1"/>
          </a:solidFill>
          <a:ln/>
        </p:spPr>
      </p:sp>
      <p:sp>
        <p:nvSpPr>
          <p:cNvPr id="60" name="Shape 58"/>
          <p:cNvSpPr/>
          <p:nvPr/>
        </p:nvSpPr>
        <p:spPr>
          <a:xfrm>
            <a:off x="8331200" y="5124450"/>
            <a:ext cx="3048000" cy="146050"/>
          </a:xfrm>
          <a:prstGeom prst="rect">
            <a:avLst/>
          </a:prstGeom>
          <a:solidFill>
            <a:srgbClr val="3A93C4"/>
          </a:solidFill>
          <a:ln/>
        </p:spPr>
      </p:sp>
      <p:sp>
        <p:nvSpPr>
          <p:cNvPr id="61" name="Shape 59"/>
          <p:cNvSpPr/>
          <p:nvPr/>
        </p:nvSpPr>
        <p:spPr>
          <a:xfrm>
            <a:off x="8331200" y="5283200"/>
            <a:ext cx="3048000" cy="241300"/>
          </a:xfrm>
          <a:prstGeom prst="rect">
            <a:avLst/>
          </a:prstGeom>
          <a:solidFill>
            <a:srgbClr val="6FB0D4"/>
          </a:solidFill>
          <a:ln/>
        </p:spPr>
      </p:sp>
      <p:sp>
        <p:nvSpPr>
          <p:cNvPr id="62" name="Shape 60"/>
          <p:cNvSpPr/>
          <p:nvPr/>
        </p:nvSpPr>
        <p:spPr>
          <a:xfrm>
            <a:off x="8331200" y="5537200"/>
            <a:ext cx="3048000" cy="146050"/>
          </a:xfrm>
          <a:prstGeom prst="rect">
            <a:avLst/>
          </a:prstGeom>
          <a:solidFill>
            <a:srgbClr val="A3CDE4"/>
          </a:solidFill>
          <a:ln/>
        </p:spPr>
      </p:sp>
      <p:sp>
        <p:nvSpPr>
          <p:cNvPr id="63" name="Shape 61"/>
          <p:cNvSpPr/>
          <p:nvPr/>
        </p:nvSpPr>
        <p:spPr>
          <a:xfrm>
            <a:off x="8331200" y="5695950"/>
            <a:ext cx="3048000" cy="146050"/>
          </a:xfrm>
          <a:prstGeom prst="rect">
            <a:avLst/>
          </a:prstGeom>
          <a:solidFill>
            <a:srgbClr val="D0E6F2"/>
          </a:solidFill>
          <a:ln/>
        </p:spPr>
      </p:sp>
      <p:sp>
        <p:nvSpPr>
          <p:cNvPr id="64" name="Text 62"/>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6B6B"/>
                </a:solidFill>
                <a:latin typeface="Arial" pitchFamily="34" charset="0"/>
                <a:ea typeface="Arial" pitchFamily="34" charset="-122"/>
                <a:cs typeface="Arial" pitchFamily="34" charset="-120"/>
              </a:rPr>
              <a:t>FTE hours · placeholder estimates · colored squares show which steps each project shrinks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Our AI Journey: Investing Below the Waterline</dc:title>
  <dc:subject>PptxGenJS Presentation</dc:subject>
  <dc:creator>PptxGenJS</dc:creator>
  <cp:lastModifiedBy>PptxGenJS</cp:lastModifiedBy>
  <cp:revision>1</cp:revision>
  <dcterms:created xsi:type="dcterms:W3CDTF">2026-09-27T18:48:03Z</dcterms:created>
  <dcterms:modified xsi:type="dcterms:W3CDTF">2026-09-27T18:48:03Z</dcterms:modified>
</cp:coreProperties>
</file>