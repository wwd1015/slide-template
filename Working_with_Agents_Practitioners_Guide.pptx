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Optimist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Optimist Sans"/>
              </a:rPr>
              <a:t>INTERNAL SHARE   ·   PRACTITIONER'S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181818"/>
                </a:solidFill>
                <a:latin typeface="Optimist Display"/>
              </a:rPr>
              <a:t>Delegating to agents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181818"/>
                </a:solidFill>
                <a:latin typeface="Optimist Display"/>
              </a:rPr>
              <a:t>that stay scoped, stay cheap,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CC785C"/>
                </a:solidFill>
                <a:latin typeface="Optimist Display"/>
              </a:rPr>
              <a:t>and keep your context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7223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6B6B"/>
                </a:solidFill>
                <a:latin typeface="Optimist Sans"/>
              </a:rPr>
              <a:t>A practitioner's playbook for single-agent work — the built-in team you already have, when a sub-agent earns its keep, how to write one Claude actually triggers, and the one misuse that quietly makes everything slower.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4617720"/>
            <a:ext cx="2926080" cy="1417320"/>
          </a:xfrm>
          <a:prstGeom prst="rect">
            <a:avLst/>
          </a:prstGeom>
          <a:solidFill>
            <a:srgbClr val="EE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4764024"/>
            <a:ext cx="2523744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Distilled from Gary's Claude Code walkthrough, Nate Herk's agent videos, and field notes from a 20-hour sub-agent best-practices test. Claude Code examples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Optimist Sans"/>
              </a:rPr>
              <a:t>All examples adapted for English enterprise share.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PREMISE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The most misused feature in Claude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Spawning a sub-agent is one line. Getting value from one is not. Used wrong, sub-agents are slower, burn more tokens, and produce worse results than just doing the task in your main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50292" cy="17373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05456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The promise: clean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88920"/>
            <a:ext cx="2953512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A sub-agent does the noisy work — reads dozens of files, runs the whole test suite — in its own window, and hands back a short summary. Your main conversation stays uncluttered.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532888"/>
            <a:ext cx="50292" cy="17373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505456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The trap: a mini-developer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788920"/>
            <a:ext cx="2953512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Most people spin up a 'frontend agent' and a 'backend agent' to write code. Each runs blind to the others, and your main agent can't see what they did. Debugging falls apart.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532888"/>
            <a:ext cx="50292" cy="17373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505456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This deck's spine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788920"/>
            <a:ext cx="2953512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Three pillars — the built-in team, sub-agents, and custom agents — plus the one reframing that fixes the trap.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11064240" cy="128016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55464"/>
            <a:ext cx="10661904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1818"/>
                </a:solidFill>
                <a:latin typeface="Optimist Display"/>
              </a:rPr>
              <a:t>The one reframing, up front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A sub-agent is a researcher, not an implementer. It finds information and proposes a plan; your main agent — which holds the full context — decides and builds. Everything that follows is a consequence of that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ANATOMY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What a sub-agent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Before the how, the mental model. A sub-agent is not a smaller chat window — it's a separate worker with walls around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749039" cy="338328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15184"/>
            <a:ext cx="3346703" cy="3090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1818"/>
                </a:solidFill>
                <a:latin typeface="Optimist Display"/>
              </a:rPr>
              <a:t>The mental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An intern you hand a self-contained task. It works in its own room, out of your sight, and hands back a memo. You never see the mess on its desk — only the memo. That wall is the whole point: the mess never enters your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32888"/>
            <a:ext cx="50292" cy="14173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505456"/>
            <a:ext cx="26791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Own context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788920"/>
            <a:ext cx="267919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Its file reads, searches, and logs never touch your main conversation.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532888"/>
            <a:ext cx="50292" cy="14173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2505456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Own system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788920"/>
            <a:ext cx="2770632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A focused role you write — not the full Claude Code system prompt.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270248"/>
            <a:ext cx="50292" cy="14173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2336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242816"/>
            <a:ext cx="26791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Own tools &amp; permissions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526280"/>
            <a:ext cx="267919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You decide exactly what it can touch — read-only, no Bash, no MCP.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270248"/>
            <a:ext cx="50292" cy="14173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42336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4242816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Returns only a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4526280"/>
            <a:ext cx="2770632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The intermediate steps are discarded. You get the result, not the transcript.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MECHANICS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Why it exists: the token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The whole point is context optimization. Here's the arithmetic that makes it worth the trouble.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394960" cy="2788920"/>
          </a:xfrm>
          <a:prstGeom prst="rect">
            <a:avLst/>
          </a:prstGeom>
          <a:solidFill>
            <a:srgbClr val="F3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785C"/>
                </a:solidFill>
                <a:latin typeface="Optimist Sans"/>
              </a:rPr>
              <a:t>WITHOUT A SUB-AGENT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6324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1818"/>
                </a:solidFill>
                <a:latin typeface="Optimist Sans"/>
              </a:rPr>
              <a:t>The main agent reads files, lists directories, greps the codebase — and every file's full contents land in the conversation history. Tokens balloon, the session hits 'compact conversation,' and the model loses the thread. Quality drops off a cliff.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468880"/>
            <a:ext cx="5394960" cy="278892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6334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785C"/>
                </a:solidFill>
                <a:latin typeface="Optimist Sans"/>
              </a:rPr>
              <a:t>WITH A SUB-AGENT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06324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1818"/>
                </a:solidFill>
                <a:latin typeface="Optimist Sans"/>
              </a:rPr>
              <a:t>The same reads and searches happen inside the sub-agent's window. What returns to you is a few-hundred-token summary. The expensive work still happened — the cost just didn't follow it home.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86400"/>
            <a:ext cx="11064240" cy="658368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32704"/>
            <a:ext cx="10661904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C896"/>
                </a:solidFill>
                <a:latin typeface="Optimist Sans"/>
              </a:rPr>
              <a:t>The core engineer's line, confirmed after field testing: a sub-agent's best job is to find information and return a small summary to the main thread.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BUILT-IN TEAM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You already have 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You don't have to write anything to start. Claude Code ships with a roster of agents it delegates to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32304"/>
            <a:ext cx="11064240" cy="73152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5511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Optimist Mono"/>
              </a:rP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0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C785C"/>
                </a:solidFill>
                <a:latin typeface="Optimist Sans"/>
              </a:rPr>
              <a:t>fast · read-only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42032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Optimist Sans"/>
              </a:rPr>
              <a:t>Searches and understands the codebase without changing it. Claude sends it to find files and read code, so the results stay out of your main window.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4972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238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Optimist Mono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530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C785C"/>
                </a:solidFill>
                <a:latin typeface="Optimist Sans"/>
              </a:rPr>
              <a:t>research · read-only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31470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Optimist Sans"/>
              </a:rPr>
              <a:t>Gathers context during plan mode before proposing a plan. Write and Edit are denied — it looks, it doesn't touch.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11064240" cy="73152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Optimist Mono"/>
              </a:rPr>
              <a:t>general-purpose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256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C785C"/>
                </a:solidFill>
                <a:latin typeface="Optimist Sans"/>
              </a:rPr>
              <a:t>all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087368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Optimist Sans"/>
              </a:rPr>
              <a:t>The all-rounder for complex, multi-step work that needs both exploration and action. Inherits every tool.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0307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691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Optimist Mono"/>
              </a:rPr>
              <a:t>+ helpers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1983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C785C"/>
                </a:solidFill>
                <a:latin typeface="Optimist Sans"/>
              </a:rPr>
              <a:t>auto-invoked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860036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Optimist Sans"/>
              </a:rPr>
              <a:t>statusline-setup and claude-code-guide are quietly called for specific chores — you rarely invoke them by hand.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42432"/>
            <a:ext cx="11064240" cy="54864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888736"/>
            <a:ext cx="10661904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Notice: the two you'll lean on most — Explore and Plan — are read-only researchers. That's the pattern the whole deck is built around.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DECISION  ·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When a task earns a sub-agent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Making one is cheap; using one wrongly is not. Reach for a sub-agent when any one of these 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50292" cy="17830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0545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Verbose output you won't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26664"/>
            <a:ext cx="2907791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Running tests, fetching docs, chewing through logs. You want the verdict, not the transcript sitting in your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532888"/>
            <a:ext cx="50292" cy="17830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250545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You need a hard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3026664"/>
            <a:ext cx="2907791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A research agent that literally cannot write files or run shell commands has a different risk profile. Constrain by construction.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532888"/>
            <a:ext cx="50292" cy="17830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50545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Self-contained, returns a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3026664"/>
            <a:ext cx="2907791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The work has a clean input and a clean output, and doesn't need your running conversation to make sense.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11064240" cy="1371600"/>
          </a:xfrm>
          <a:prstGeom prst="rect">
            <a:avLst/>
          </a:prstGeom>
          <a:solidFill>
            <a:srgbClr val="F3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646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785C"/>
                </a:solidFill>
                <a:latin typeface="Optimist Sans"/>
              </a:rPr>
              <a:t>STAY IN THE MAIN SESSION WHEN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230368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1818"/>
                </a:solidFill>
                <a:latin typeface="Optimist Sans"/>
              </a:rPr>
              <a:t>the task needs frequent back-and-forth  ·  multiple phases share context (plan → build → test)  ·  it's a quick, targeted change  ·  latency matters, because a sub-agent starts cold and must gather context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EXAMPLE  ·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Running example: a feature in unfamiliar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One example for the rest of the deck — you're adding Stripe billing to your app, using a UI kit (Shadcn) and library versions you don't have memorized.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7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81818"/>
                </a:solidFill>
                <a:latin typeface="Optimist Display"/>
              </a:rPr>
              <a:t>Why this is a good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98648"/>
            <a:ext cx="50292" cy="137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7121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Domain knowledge the model is fuzzy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92424"/>
            <a:ext cx="290779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Latest Stripe + Shadcn APIs, and your repo's own conventions.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898648"/>
            <a:ext cx="50292" cy="137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8620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87121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High-volume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3392424"/>
            <a:ext cx="290779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Reading the codebase and the library docs would flood your main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898648"/>
            <a:ext cx="50292" cy="137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8620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87121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Clean plan / build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392424"/>
            <a:ext cx="290779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Working out the approach is separable from writing the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81818"/>
                </a:solidFill>
                <a:latin typeface="Optimist Display"/>
              </a:rPr>
              <a:t>The workflow the agents capture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2651760" cy="128016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Research Stripe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595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Optimist Sans"/>
              </a:rPr>
              <a:t>A Stripe specialist finds the integration points.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27832" y="4800600"/>
            <a:ext cx="2651760" cy="128016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4937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525780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Research the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55595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Optimist Sans"/>
              </a:rPr>
              <a:t>A Shadcn specialist finds the right components.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98464" y="4800600"/>
            <a:ext cx="2651760" cy="1280160"/>
          </a:xfrm>
          <a:prstGeom prst="rect">
            <a:avLst/>
          </a:prstGeom>
          <a:solidFill>
            <a:srgbClr val="EE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4937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525780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Write a plan to disk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5595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Optimist Sans"/>
              </a:rPr>
              <a:t>Each specialist saves a plan file — not chat.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69096" y="4800600"/>
            <a:ext cx="2651760" cy="1280160"/>
          </a:xfrm>
          <a:prstGeom prst="rect">
            <a:avLst/>
          </a:prstGeom>
          <a:solidFill>
            <a:srgbClr val="EE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51976" y="4937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785C"/>
                </a:solidFill>
                <a:latin typeface="Optimist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1976" y="525780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Main agent builds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1976" y="555955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Optimist Sans"/>
              </a:rPr>
              <a:t>It reads the plans and implements, in full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THE CENTRAL LESSON  ·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Pitfall 1: don't make it an implementer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The most common mistake — and the one the 20-hour test was built to warn about. You picture a frontend-agent and a backend-agent each writing code while the main agent 'orchestrates.' It falls apart.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70048"/>
            <a:ext cx="50292" cy="1828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4261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Isolated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26079"/>
            <a:ext cx="2907791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The frontend agent can't see the backend agent's work — or even its own last run. Each task is a fresh, blind conversation.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670048"/>
            <a:ext cx="50292" cy="1828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6334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264261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The main agent flies blind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926079"/>
            <a:ext cx="2907791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It sees only 'task assigned' and 'task done.' It doesn't know which files were created or what's inside them, so it can't debug.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670048"/>
            <a:ext cx="50292" cy="1828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6334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64261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Context can't be shared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26079"/>
            <a:ext cx="2907791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The very isolation that saves tokens also starves the workers of the whole picture they'd need to implement well.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064240" cy="123444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38344"/>
            <a:ext cx="10661904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1818"/>
                </a:solidFill>
                <a:latin typeface="Optimist Display"/>
              </a:rPr>
              <a:t>The fix is one sentence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A sub-agent is a researcher and planner, not an implementer. It finds and proposes; the main agent decides and builds. Reposition every 'developer agent' as a 'researcher agent' and the failures above disappear.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THE FIX  ·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The pattern that made sub-agents pay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Three moves turned sub-agents from a net loss into a net gain across the field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05456"/>
            <a:ext cx="50292" cy="19659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478024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Specialists that plan, never 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99232"/>
            <a:ext cx="2907791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Each domain agent analyzes the code and writes a proposed plan. Its standing order: 'design a detailed plan and never execute the implementation.'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505456"/>
            <a:ext cx="50292" cy="19659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2478024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The filesystem is shared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999232"/>
            <a:ext cx="2907791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Don't keep results in chat history. Agents write markdown to disk — a context_session.md plus one plan file per feature. (From the Manus context-engineering playbook.)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505456"/>
            <a:ext cx="50292" cy="19659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46888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478024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The main agent owns the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99232"/>
            <a:ext cx="2907791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It reads the plans, then does all the actual coding and bug-fixing — because it holds the fullest context and is best placed to debug.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064240" cy="123444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29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896"/>
                </a:solidFill>
                <a:latin typeface="Optimist Sans"/>
              </a:rPr>
              <a:t>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94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C896"/>
                </a:solidFill>
                <a:latin typeface="Optimist Mono"/>
              </a:rPr>
              <a:t>main writes context_session.md  →  delegates to specialist  →  specialist reads it, researches, writes plan.md, updates context  →  main reads plan and implements.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CUSTOM AGENTS  ·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Anatomy of a custom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A custom sub-agent is just a Markdown file with YAML frontmatter. The body becomes its system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6035040" cy="324612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5669279" cy="2916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name: stripe-researcher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description: Researches Stripe integration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  and writes an implementation plan. Use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  proactively when adding payments or billing.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tools: Read, Grep, Glob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model: sonnet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You are a Stripe integration specialist.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Analyze the codebase and the latest Stripe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docs, then write a detailed implementation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plan to disk. Never write application code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C896"/>
                </a:solidFill>
                <a:latin typeface="Optimist Mono"/>
              </a:rPr>
              <a:t>yourself.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871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C785C"/>
                </a:solidFill>
                <a:latin typeface="Optimist Mono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3405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Lowercase + hyphens, unique across your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272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C785C"/>
                </a:solidFill>
                <a:latin typeface="Optimist Mono"/>
              </a:rPr>
              <a:t>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37413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When Claude should delegate — this is the trigger.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673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C785C"/>
                </a:solidFill>
                <a:latin typeface="Optimist Mono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1421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Omit to inherit all; list to restrict. Read-only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4074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C785C"/>
                </a:solidFill>
                <a:latin typeface="Optimist Mono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5429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sonnet · opus · haiku · inherit — a cost + power dial.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0474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C785C"/>
                </a:solidFill>
                <a:latin typeface="Optimist Mono"/>
              </a:rPr>
              <a:t>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29437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Becomes the system prompt: the role and the guardrail.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97296"/>
            <a:ext cx="11064240" cy="512064"/>
          </a:xfrm>
          <a:prstGeom prst="rect">
            <a:avLst/>
          </a:prstGeom>
          <a:solidFill>
            <a:srgbClr val="EE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619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Where it lives: .claude/agents/ (project — check into git so the team shares it) or ~/.claude/agents/ (all your projects).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GOTCHA  ·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Pitfall 2: the description is the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Claude decides whether to delegate by reading the description. Weak description → the sub-agent never fires, and Claude just does the work inline.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0545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Both WHAT and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88920"/>
            <a:ext cx="473659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What the agent does, and the situations that should invoke it. One without the other leaves Claude guessing.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93008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46557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Add 'use proactively'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749039"/>
            <a:ext cx="473659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The phrase that nudges Claude to delegate on its own, instead of waiting to be told.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53127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1655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2569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Trigger words users actually say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709159"/>
            <a:ext cx="473659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'payments', 'billing', 'checkout' — the words in real requests, not an internal codename.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487168"/>
            <a:ext cx="5394960" cy="160020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6151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C896"/>
                </a:solidFill>
                <a:latin typeface="Optimist Sans"/>
              </a:rPr>
              <a:t>BEFORE — never fires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926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C896"/>
                </a:solidFill>
                <a:latin typeface="Optimist Mono"/>
              </a:rPr>
              <a:t>description: "Helps with Stripe stuff."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832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BCA6"/>
                </a:solidFill>
                <a:latin typeface="Optimist Sans"/>
              </a:rPr>
              <a:t>Claude shrugs and writes payment code itself, in the main context — no delegation.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224528"/>
            <a:ext cx="5394960" cy="1874519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3525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C785C"/>
                </a:solidFill>
                <a:latin typeface="Optimist Sans"/>
              </a:rPr>
              <a:t>AFTER — fires, in the right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681728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81818"/>
                </a:solidFill>
                <a:latin typeface="Optimist Mono"/>
              </a:rPr>
              <a:t>description: "Researches Stripe integration and writes an implementation plan. Use proactively when the user mentions payments, billing, checkout, or subscriptions."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7424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Optimist Sans"/>
              </a:rPr>
              <a:t>Both WHAT and WHEN, real trigger words, proactive.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CONTROL  ·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Control the blast radius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The frontmatter is where you make a sub-agent both safe and cheap. Three dials.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50292" cy="2011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0545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Tools / disallowedTools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88920"/>
            <a:ext cx="2907791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Allowlist the minimum. tools: Read, Grep, Glob = a researcher that physically cannot write a file or run a command. Or disallowedTools: Write, Edit to keep everything except edits.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532888"/>
            <a:ext cx="50292" cy="2011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250545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788920"/>
            <a:ext cx="2907791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Route cheap, high-volume research to Haiku while your main session runs Sonnet or Opus. Pay intern rates for intern work — Nate Herk's 'cheap specialists, one smart model running the show.'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532888"/>
            <a:ext cx="50292" cy="2011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4963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50545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permissionMode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788920"/>
            <a:ext cx="2907791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default · plan · acceptEdits and more. Pair plan with a read-only researcher for a truly hands-off scout that can look but never 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064240" cy="123444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38344"/>
            <a:ext cx="10661904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1818"/>
                </a:solidFill>
                <a:latin typeface="Optimist Display"/>
              </a:rPr>
              <a:t>Constrain by construction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A read-only agent can't wreck your repo even if its prompt is imperfect. Tool limits are a stronger guarantee than instructions — the agent isn't trusted to behave; it's structurally unable to misbehave.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GOTCHA  ·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Pitfall 3: over-delegation and result bloat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Sub-agents aren't free. Three ways they quietly turn back into a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78608"/>
            <a:ext cx="50292" cy="19202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5117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Summaries add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34639"/>
            <a:ext cx="2907791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Many sub-agents each returning a detailed report re-floods the very context you were protecting. Ask for tight summaries, not essays.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578608"/>
            <a:ext cx="50292" cy="19202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42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255117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Parallel edits collide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834639"/>
            <a:ext cx="2907791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Two agents editing the same file at once corrupt each other's work. Parallelize research — never parallelize writes to shared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578608"/>
            <a:ext cx="50292" cy="19202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542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55117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Overhead beats the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834639"/>
            <a:ext cx="2907791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For a quick fix, or a question about what's already on screen, a cold-starting sub-agent costs more than it saves. Just do it inline (or use /btw).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064240" cy="123444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38344"/>
            <a:ext cx="10661904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1818"/>
                </a:solidFill>
                <a:latin typeface="Optimist Display"/>
              </a:rPr>
              <a:t>The test to run before you delegate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Will the noise I keep out of my context exceed the summary I pay to bring back? If yes, delegate. If not, stay in the main session. Delegation is a trade, not a reflex.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USAGE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Invoking agents, and the patterns worth memorizing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Three ways to reach a sub-agent — escalating from a suggestion to a session-wide default — plus the workflows that pay off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14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059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81818"/>
                </a:solidFill>
                <a:latin typeface="Optimist Display"/>
              </a:rPr>
              <a:t>How to invoke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44368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1693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Natural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200400"/>
            <a:ext cx="473659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Name it; Claude decides. "Use the stripe-researcher agent to plan the billing page."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04487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87705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@-mention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160520"/>
            <a:ext cx="473659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Pick it from the typeahead — guarantees that specific agent runs for one task.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64607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28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83717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--agent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120640"/>
            <a:ext cx="473659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The whole session takes on that agent's prompt, tools, and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5059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81818"/>
                </a:solidFill>
                <a:latin typeface="Optimist Display"/>
              </a:rPr>
              <a:t>Patterns worth memorizing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944368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0779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916936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Isolate high-volume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200400"/>
            <a:ext cx="455371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"Run the test suite and report only the failing tests with their errors."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04487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6791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877056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Parallel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0520"/>
            <a:ext cx="455371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Investigate auth, DB, and API in separate agents, then synthesize the findings.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64607"/>
            <a:ext cx="5029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828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837176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5120640"/>
            <a:ext cx="455371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Reviewer finds the issues → optimizer fixes them. Each hands off a summary.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9768"/>
            <a:ext cx="146304" cy="14630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  <a:latin typeface="Optimist Sans"/>
              </a:rPr>
              <a:t>MAINTENANCE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81818"/>
                </a:solidFill>
                <a:latin typeface="Optimist Display"/>
              </a:rPr>
              <a:t>Agents compound — if you keep them honest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Optimist Sans"/>
              </a:rPr>
              <a:t>Like skills, agents get more valuable over time, but only if you keep them lean and their descriptions true. Two habits.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Working with Agents — Practitioner's Guide   |   Internal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Optimist Sans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78608"/>
            <a:ext cx="50292" cy="19659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5117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Start Claude-generated, then tighten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34639"/>
            <a:ext cx="473659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Ask Claude to write the first version, run it on a real task, then refine the description and trim the tool list based on what actually happened. Version-control project agents so the whole team improves them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578608"/>
            <a:ext cx="50292" cy="19659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4203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785C"/>
                </a:solidFill>
                <a:latin typeface="Optimist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551176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Optimist Sans"/>
              </a:rPr>
              <a:t>Revisit on every model upgrade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834639"/>
            <a:ext cx="473659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Optimist Sans"/>
              </a:rPr>
              <a:t>Newer models handle natively what you once patched around. Re-test each agent on the new model and delete the crutches — cleaner prompts mean sharper delegation and fewer surprises.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11064240" cy="1234440"/>
          </a:xfrm>
          <a:prstGeom prst="rect">
            <a:avLst/>
          </a:prstGeom>
          <a:solidFill>
            <a:srgbClr val="E8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38344"/>
            <a:ext cx="10661904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1818"/>
                </a:solidFill>
                <a:latin typeface="Optimist Display"/>
              </a:rPr>
              <a:t>When delegation gets flaky, look at the description first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1818"/>
                </a:solidFill>
                <a:latin typeface="Optimist Sans"/>
              </a:rPr>
              <a:t>The most common failure isn't a bad system prompt — it's a description that has drifted from what the agent really does now. It's the trigger, not decoration. Fix it before you touch anything else.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896"/>
                </a:solidFill>
                <a:latin typeface="Optimist San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961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896"/>
                </a:solidFill>
                <a:latin typeface="Optimist Sans"/>
              </a:rPr>
              <a:t>THE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Optimist Display"/>
              </a:rPr>
              <a:t>A sub-agent is a researcher.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E8C896"/>
                </a:solidFill>
                <a:latin typeface="Optimist Display"/>
              </a:rPr>
              <a:t>Your main session is the builder.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FC6B5"/>
                </a:solidFill>
                <a:latin typeface="Optimist Sans"/>
              </a:rPr>
              <a:t>Every failure mode in this deck comes from forgetting that one line. Get it right and single-agent work gets you clean context, real cost control, and safety by construction — for the price of one Markdown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Optimist Sans"/>
              </a:rPr>
              <a:t>1.  Sub-agents research and plan; the main agent decides and builds.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Optimist Sans"/>
              </a:rPr>
              <a:t>2.  The description is the trigger — WHAT + WHEN, 'use proactively', real user words.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Optimist Sans"/>
              </a:rPr>
              <a:t>3.  Constrain by construction — least-privilege tools, cheap model for cheap work.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Optimist Sans"/>
              </a:rPr>
              <a:t>4.  Delegate only when the noise you avoid beats the summary you pay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C896"/>
                </a:solidFill>
                <a:latin typeface="Optimist Sans"/>
              </a:rPr>
              <a:t>Pick one noisy, self-contained task you did this week. Turn it into a read-only researcher agent this afternoon.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